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61" r:id="rId3"/>
    <p:sldId id="262" r:id="rId4"/>
    <p:sldId id="263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C"/>
    <a:srgbClr val="333333"/>
    <a:srgbClr val="4D4D4D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9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2832" y="-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DD6B7-C47D-4BDE-8D39-1E2C74DB968D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8CD58-E866-43DE-B15B-267E75692D34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Picture 3" descr="D:\Now work\神启LOGO-文件\邮件签名-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14338" y="8429652"/>
            <a:ext cx="2065518" cy="91987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3883852" y="8684826"/>
            <a:ext cx="2972547" cy="457711"/>
          </a:xfrm>
          <a:prstGeom prst="rect">
            <a:avLst/>
          </a:prstGeom>
        </p:spPr>
        <p:txBody>
          <a:bodyPr/>
          <a:lstStyle/>
          <a:p>
            <a:fld id="{618E1395-9A05-4BCE-AC6B-B5680D7D7AC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000">
                <a:solidFill>
                  <a:schemeClr val="tx1"/>
                </a:solidFill>
                <a:latin typeface="Verdana" charset="0"/>
                <a:ea typeface="宋体" charset="0"/>
              </a:defRPr>
            </a:lvl1pPr>
            <a:lvl2pPr marL="728165" indent="-280064" eaLnBrk="0" hangingPunct="0">
              <a:defRPr sz="1000">
                <a:solidFill>
                  <a:schemeClr val="tx1"/>
                </a:solidFill>
                <a:latin typeface="Verdana" charset="0"/>
                <a:ea typeface="宋体" charset="0"/>
              </a:defRPr>
            </a:lvl2pPr>
            <a:lvl3pPr marL="1120254" indent="-224051" eaLnBrk="0" hangingPunct="0">
              <a:defRPr sz="1000">
                <a:solidFill>
                  <a:schemeClr val="tx1"/>
                </a:solidFill>
                <a:latin typeface="Verdana" charset="0"/>
                <a:ea typeface="宋体" charset="0"/>
              </a:defRPr>
            </a:lvl3pPr>
            <a:lvl4pPr marL="1568356" indent="-224051" eaLnBrk="0" hangingPunct="0">
              <a:defRPr sz="1000">
                <a:solidFill>
                  <a:schemeClr val="tx1"/>
                </a:solidFill>
                <a:latin typeface="Verdana" charset="0"/>
                <a:ea typeface="宋体" charset="0"/>
              </a:defRPr>
            </a:lvl4pPr>
            <a:lvl5pPr marL="2016458" indent="-224051" eaLnBrk="0" hangingPunct="0">
              <a:defRPr sz="1000">
                <a:solidFill>
                  <a:schemeClr val="tx1"/>
                </a:solidFill>
                <a:latin typeface="Verdana" charset="0"/>
                <a:ea typeface="宋体" charset="0"/>
              </a:defRPr>
            </a:lvl5pPr>
            <a:lvl6pPr marL="2464559" indent="-224051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charset="0"/>
                <a:ea typeface="宋体" charset="0"/>
              </a:defRPr>
            </a:lvl6pPr>
            <a:lvl7pPr marL="2912661" indent="-224051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charset="0"/>
                <a:ea typeface="宋体" charset="0"/>
              </a:defRPr>
            </a:lvl7pPr>
            <a:lvl8pPr marL="3360763" indent="-224051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charset="0"/>
                <a:ea typeface="宋体" charset="0"/>
              </a:defRPr>
            </a:lvl8pPr>
            <a:lvl9pPr marL="3808865" indent="-224051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Verdana" charset="0"/>
                <a:ea typeface="宋体" charset="0"/>
              </a:defRPr>
            </a:lvl9pPr>
          </a:lstStyle>
          <a:p>
            <a:pPr eaLnBrk="1" hangingPunct="1"/>
            <a:fld id="{C542A2B4-D59A-C546-86A1-171F93D0833E}" type="slidenum">
              <a:rPr lang="zh-CN" altLang="en-US" sz="1200">
                <a:latin typeface="Arial" charset="0"/>
                <a:ea typeface="SimSun" charset="0"/>
              </a:rPr>
              <a:pPr eaLnBrk="1" hangingPunct="1"/>
              <a:t>4</a:t>
            </a:fld>
            <a:endParaRPr lang="en-US" altLang="zh-CN" sz="1200">
              <a:latin typeface="Arial" charset="0"/>
              <a:ea typeface="SimSun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6650" y="703263"/>
            <a:ext cx="4581525" cy="3436937"/>
          </a:xfrm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4326" y="4350499"/>
            <a:ext cx="4996942" cy="4144593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7729" tIns="43864" rIns="87729" bIns="43864"/>
          <a:lstStyle/>
          <a:p>
            <a:pPr eaLnBrk="1" hangingPunct="1"/>
            <a:endParaRPr lang="zh-CN" altLang="en-US">
              <a:ea typeface="SimSun" charset="0"/>
              <a:cs typeface="SimSu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2836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A3334-46B5-40D4-A8B7-EFB301839A0B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7CA6-A647-48A2-9838-1AC5506745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A3334-46B5-40D4-A8B7-EFB301839A0B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7CA6-A647-48A2-9838-1AC5506745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A3334-46B5-40D4-A8B7-EFB301839A0B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7CA6-A647-48A2-9838-1AC5506745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A3334-46B5-40D4-A8B7-EFB301839A0B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7CA6-A647-48A2-9838-1AC5506745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A3334-46B5-40D4-A8B7-EFB301839A0B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7CA6-A647-48A2-9838-1AC5506745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A3334-46B5-40D4-A8B7-EFB301839A0B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7CA6-A647-48A2-9838-1AC5506745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A3334-46B5-40D4-A8B7-EFB301839A0B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7CA6-A647-48A2-9838-1AC5506745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A3334-46B5-40D4-A8B7-EFB301839A0B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7CA6-A647-48A2-9838-1AC5506745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A3334-46B5-40D4-A8B7-EFB301839A0B}" type="datetimeFigureOut">
              <a:rPr lang="zh-CN" altLang="en-US" smtClean="0"/>
              <a:pPr/>
              <a:t>2026/2/25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67CA6-A647-48A2-9838-1AC55067454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&amp; Footer (Light Vers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title"/>
          </p:nvPr>
        </p:nvSpPr>
        <p:spPr>
          <a:xfrm>
            <a:off x="744732" y="171127"/>
            <a:ext cx="7654543" cy="741979"/>
          </a:xfrm>
          <a:prstGeom prst="rect">
            <a:avLst/>
          </a:prstGeom>
        </p:spPr>
        <p:txBody>
          <a:bodyPr anchor="t"/>
          <a:lstStyle>
            <a:lvl1pPr>
              <a:defRPr sz="38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标题文本</a:t>
            </a:r>
          </a:p>
        </p:txBody>
      </p:sp>
      <p:sp>
        <p:nvSpPr>
          <p:cNvPr id="21" name="Shape 21"/>
          <p:cNvSpPr>
            <a:spLocks noGrp="1"/>
          </p:cNvSpPr>
          <p:nvPr>
            <p:ph type="sldNum" sz="quarter" idx="2"/>
          </p:nvPr>
        </p:nvSpPr>
        <p:spPr>
          <a:xfrm>
            <a:off x="8639617" y="6540501"/>
            <a:ext cx="150883" cy="218009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  <p:grpSp>
        <p:nvGrpSpPr>
          <p:cNvPr id="2" name="Group 24">
            <a:hlinkClick r:id="" action="ppaction://hlinkshowjump?jump=previousslide"/>
          </p:cNvPr>
          <p:cNvGrpSpPr/>
          <p:nvPr/>
        </p:nvGrpSpPr>
        <p:grpSpPr>
          <a:xfrm>
            <a:off x="8488689" y="6575221"/>
            <a:ext cx="109845" cy="146460"/>
            <a:chOff x="0" y="0"/>
            <a:chExt cx="292918" cy="292918"/>
          </a:xfrm>
        </p:grpSpPr>
        <p:sp>
          <p:nvSpPr>
            <p:cNvPr id="22" name="Shape 22"/>
            <p:cNvSpPr/>
            <p:nvPr/>
          </p:nvSpPr>
          <p:spPr>
            <a:xfrm>
              <a:off x="0" y="0"/>
              <a:ext cx="292919" cy="292919"/>
            </a:xfrm>
            <a:prstGeom prst="ellips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/>
              </a:pPr>
              <a:endParaRPr/>
            </a:p>
          </p:txBody>
        </p:sp>
        <p:sp>
          <p:nvSpPr>
            <p:cNvPr id="23" name="Shape 23"/>
            <p:cNvSpPr/>
            <p:nvPr/>
          </p:nvSpPr>
          <p:spPr>
            <a:xfrm>
              <a:off x="52688" y="60642"/>
              <a:ext cx="136985" cy="171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10237"/>
                  </a:lnTo>
                  <a:lnTo>
                    <a:pt x="21600" y="21600"/>
                  </a:lnTo>
                  <a:lnTo>
                    <a:pt x="21600" y="16791"/>
                  </a:lnTo>
                  <a:lnTo>
                    <a:pt x="9612" y="10491"/>
                  </a:lnTo>
                  <a:lnTo>
                    <a:pt x="21600" y="480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/>
              </a:pPr>
              <a:endParaRPr/>
            </a:p>
          </p:txBody>
        </p:sp>
      </p:grpSp>
      <p:grpSp>
        <p:nvGrpSpPr>
          <p:cNvPr id="3" name="Group 27">
            <a:hlinkClick r:id="" action="ppaction://hlinkshowjump?jump=nextslide"/>
          </p:cNvPr>
          <p:cNvGrpSpPr/>
          <p:nvPr/>
        </p:nvGrpSpPr>
        <p:grpSpPr>
          <a:xfrm flipH="1">
            <a:off x="8807778" y="6575221"/>
            <a:ext cx="109845" cy="146460"/>
            <a:chOff x="0" y="0"/>
            <a:chExt cx="292918" cy="292918"/>
          </a:xfrm>
        </p:grpSpPr>
        <p:sp>
          <p:nvSpPr>
            <p:cNvPr id="25" name="Shape 25"/>
            <p:cNvSpPr/>
            <p:nvPr/>
          </p:nvSpPr>
          <p:spPr>
            <a:xfrm>
              <a:off x="0" y="0"/>
              <a:ext cx="292919" cy="292919"/>
            </a:xfrm>
            <a:prstGeom prst="ellips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" name="Shape 26"/>
            <p:cNvSpPr/>
            <p:nvPr/>
          </p:nvSpPr>
          <p:spPr>
            <a:xfrm>
              <a:off x="52688" y="60642"/>
              <a:ext cx="136985" cy="171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10237"/>
                  </a:lnTo>
                  <a:lnTo>
                    <a:pt x="21600" y="21600"/>
                  </a:lnTo>
                  <a:lnTo>
                    <a:pt x="21600" y="16791"/>
                  </a:lnTo>
                  <a:lnTo>
                    <a:pt x="9612" y="10491"/>
                  </a:lnTo>
                  <a:lnTo>
                    <a:pt x="21600" y="480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200"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08943690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A3334-46B5-40D4-A8B7-EFB301839A0B}" type="datetimeFigureOut">
              <a:rPr lang="zh-CN" altLang="en-US" smtClean="0"/>
              <a:pPr/>
              <a:t>2026/2/25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267CA6-A647-48A2-9838-1AC55067454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Picture 6" descr="b69ceffe-5cac-4518-b6eb-812850a0256b_ti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1" r:id="rId10"/>
    <p:sldLayoutId id="214748366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tiff"/><Relationship Id="rId3" Type="http://schemas.openxmlformats.org/officeDocument/2006/relationships/image" Target="../media/image3.tiff"/><Relationship Id="rId4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诺诚M7创意园 @ 沪太路1866号…"/>
          <p:cNvSpPr txBox="1">
            <a:spLocks noGrp="1"/>
          </p:cNvSpPr>
          <p:nvPr>
            <p:ph type="body" sz="half" idx="1"/>
          </p:nvPr>
        </p:nvSpPr>
        <p:spPr>
          <a:xfrm>
            <a:off x="5816472" y="1297959"/>
            <a:ext cx="3184684" cy="4917123"/>
          </a:xfrm>
          <a:prstGeom prst="rect">
            <a:avLst/>
          </a:prstGeom>
        </p:spPr>
        <p:txBody>
          <a:bodyPr>
            <a:normAutofit fontScale="80000" lnSpcReduction="20000"/>
          </a:bodyPr>
          <a:lstStyle/>
          <a:p>
            <a:pPr marL="0" indent="0" defTabSz="188824">
              <a:lnSpc>
                <a:spcPct val="120000"/>
              </a:lnSpc>
              <a:spcBef>
                <a:spcPts val="0"/>
              </a:spcBef>
              <a:buNone/>
              <a:defRPr sz="462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zh-CN" altLang="en-US" sz="18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地址：上海市宝山区</a:t>
            </a:r>
            <a:r>
              <a:rPr sz="18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沪太路1866号</a:t>
            </a:r>
            <a:r>
              <a:rPr lang="zh-CN" altLang="en-US" sz="18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诺诚</a:t>
            </a:r>
            <a:r>
              <a:rPr lang="en-US" sz="18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M7</a:t>
            </a:r>
            <a:r>
              <a:rPr lang="zh-CN" altLang="en-US" sz="18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创意园 </a:t>
            </a:r>
            <a:r>
              <a:rPr lang="en-US" sz="18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A415</a:t>
            </a:r>
            <a:r>
              <a:rPr lang="zh-CN" altLang="en-US" sz="18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室</a:t>
            </a:r>
            <a:endParaRPr sz="1800" b="1" dirty="0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marL="0" indent="0" defTabSz="188824">
              <a:lnSpc>
                <a:spcPct val="120000"/>
              </a:lnSpc>
              <a:spcBef>
                <a:spcPts val="0"/>
              </a:spcBef>
              <a:buNone/>
              <a:defRPr sz="2925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dirty="0">
              <a:latin typeface="PingFang SC Light" panose="020B0400000000000000" charset="-122"/>
              <a:ea typeface="PingFang SC Light" panose="020B0400000000000000" charset="-122"/>
              <a:cs typeface="PingFang SC Light" panose="020B0400000000000000" charset="-122"/>
            </a:endParaRPr>
          </a:p>
          <a:p>
            <a:pPr marL="0" indent="0" defTabSz="188824">
              <a:lnSpc>
                <a:spcPct val="120000"/>
              </a:lnSpc>
              <a:spcBef>
                <a:spcPts val="0"/>
              </a:spcBef>
              <a:buNone/>
              <a:defRPr sz="2925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sz="1700" dirty="0">
                <a:latin typeface="PingFang SC Light" panose="020B0400000000000000" charset="-122"/>
                <a:ea typeface="PingFang SC Light" panose="020B0400000000000000" charset="-122"/>
                <a:cs typeface="PingFang SC Light" panose="020B0400000000000000" charset="-122"/>
              </a:rPr>
              <a:t>坐落在上海</a:t>
            </a:r>
            <a:r>
              <a:rPr sz="1700" b="1" dirty="0">
                <a:latin typeface="PingFang SC Semibold" panose="020B0400000000000000" charset="-122"/>
                <a:ea typeface="PingFang SC Semibold" panose="020B0400000000000000" charset="-122"/>
                <a:cs typeface="PingFang SC Light" panose="020B0400000000000000" charset="-122"/>
              </a:rPr>
              <a:t>三大市辖区的交界处</a:t>
            </a:r>
            <a:r>
              <a:rPr sz="1700" dirty="0">
                <a:latin typeface="PingFang SC Light" panose="020B0400000000000000" charset="-122"/>
                <a:ea typeface="PingFang SC Light" panose="020B0400000000000000" charset="-122"/>
                <a:cs typeface="PingFang SC Light" panose="020B0400000000000000" charset="-122"/>
              </a:rPr>
              <a:t>（宝山，静安和普陀)，与众多行业巨头（宜家，百安居，亚振，红星美凯龙）为邻；靠近两大商业圈（静安大融城和大场日月光中心）</a:t>
            </a:r>
            <a:r>
              <a:rPr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地铁7号线直达</a:t>
            </a:r>
            <a:r>
              <a:rPr lang="zh-CN" altLang="en-US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（大场镇站</a:t>
            </a:r>
            <a:r>
              <a:rPr lang="en-US" altLang="zh-CN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r>
              <a:rPr lang="zh-CN" altLang="en-US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号口下车右转直行约</a:t>
            </a:r>
            <a:r>
              <a:rPr lang="en-US" altLang="zh-CN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150</a:t>
            </a:r>
            <a:r>
              <a:rPr lang="zh-CN" altLang="en-US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米）</a:t>
            </a:r>
            <a:r>
              <a:rPr sz="1700" dirty="0">
                <a:latin typeface="PingFang SC Light" panose="020B0400000000000000" charset="-122"/>
                <a:ea typeface="PingFang SC Light" panose="020B0400000000000000" charset="-122"/>
                <a:cs typeface="PingFang SC Light" panose="020B0400000000000000" charset="-122"/>
              </a:rPr>
              <a:t>，邻近中环高架，可方便快捷到达中心城区，浦东新区以及虹桥和浦东两大机场</a:t>
            </a:r>
          </a:p>
          <a:p>
            <a:pPr marL="0" indent="0" defTabSz="188824">
              <a:lnSpc>
                <a:spcPct val="120000"/>
              </a:lnSpc>
              <a:spcBef>
                <a:spcPts val="0"/>
              </a:spcBef>
              <a:buNone/>
              <a:defRPr sz="2925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sz="1700" dirty="0">
              <a:latin typeface="PingFang SC Light" panose="020B0400000000000000" charset="-122"/>
              <a:ea typeface="PingFang SC Light" panose="020B0400000000000000" charset="-122"/>
              <a:cs typeface="PingFang SC Light" panose="020B0400000000000000" charset="-122"/>
            </a:endParaRPr>
          </a:p>
          <a:p>
            <a:pPr marL="0" indent="0" defTabSz="188824">
              <a:lnSpc>
                <a:spcPct val="120000"/>
              </a:lnSpc>
              <a:spcBef>
                <a:spcPts val="0"/>
              </a:spcBef>
              <a:buNone/>
              <a:defRPr sz="2925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sz="1700" dirty="0">
                <a:latin typeface="PingFang SC Light" panose="020B0400000000000000" charset="-122"/>
                <a:ea typeface="PingFang SC Light" panose="020B0400000000000000" charset="-122"/>
                <a:cs typeface="PingFang SC Light" panose="020B0400000000000000" charset="-122"/>
              </a:rPr>
              <a:t>除了交通便捷，木质几何设计风格大堂给来访的宾客们留下最深刻的印象。</a:t>
            </a:r>
          </a:p>
          <a:p>
            <a:pPr marL="0" indent="0" defTabSz="188824">
              <a:lnSpc>
                <a:spcPct val="120000"/>
              </a:lnSpc>
              <a:spcBef>
                <a:spcPts val="0"/>
              </a:spcBef>
              <a:buNone/>
              <a:defRPr sz="2925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sz="1700" dirty="0">
              <a:latin typeface="PingFang SC Light" panose="020B0400000000000000" charset="-122"/>
              <a:ea typeface="PingFang SC Light" panose="020B0400000000000000" charset="-122"/>
              <a:cs typeface="PingFang SC Light" panose="020B0400000000000000" charset="-122"/>
            </a:endParaRPr>
          </a:p>
          <a:p>
            <a:pPr marL="0" indent="0" defTabSz="188824">
              <a:lnSpc>
                <a:spcPct val="120000"/>
              </a:lnSpc>
              <a:spcBef>
                <a:spcPts val="0"/>
              </a:spcBef>
              <a:buNone/>
              <a:defRPr sz="2925" b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sz="1700" dirty="0">
                <a:latin typeface="PingFang SC Light" panose="020B0400000000000000" charset="-122"/>
                <a:ea typeface="PingFang SC Light" panose="020B0400000000000000" charset="-122"/>
                <a:cs typeface="PingFang SC Light" panose="020B0400000000000000" charset="-122"/>
              </a:rPr>
              <a:t>除此之外，园区备有</a:t>
            </a:r>
            <a:r>
              <a:rPr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200个地下停车位</a:t>
            </a:r>
            <a:r>
              <a:rPr sz="1700" dirty="0">
                <a:latin typeface="PingFang SC Light" panose="020B0400000000000000" charset="-122"/>
                <a:ea typeface="PingFang SC Light" panose="020B0400000000000000" charset="-122"/>
                <a:cs typeface="PingFang SC Light" panose="020B0400000000000000" charset="-122"/>
              </a:rPr>
              <a:t>，新能源汽车</a:t>
            </a:r>
            <a:r>
              <a:rPr sz="1700" b="1" dirty="0">
                <a:latin typeface="PingFang SC Semibold" panose="020B0400000000000000" charset="-122"/>
                <a:ea typeface="PingFang SC Semibold" panose="020B0400000000000000" charset="-122"/>
                <a:cs typeface="PingFang SC Light" panose="020B0400000000000000" charset="-122"/>
              </a:rPr>
              <a:t>充电桩</a:t>
            </a:r>
            <a:r>
              <a:rPr sz="1700" dirty="0">
                <a:latin typeface="PingFang SC Light" panose="020B0400000000000000" charset="-122"/>
                <a:ea typeface="PingFang SC Light" panose="020B0400000000000000" charset="-122"/>
                <a:cs typeface="PingFang SC Light" panose="020B0400000000000000" charset="-122"/>
              </a:rPr>
              <a:t>，现代化卫生间和便利店；带有一丝意的闹中取静。</a:t>
            </a:r>
          </a:p>
        </p:txBody>
      </p:sp>
      <p:pic>
        <p:nvPicPr>
          <p:cNvPr id="281" name="Image" descr="Image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19559" y="1285860"/>
            <a:ext cx="1838325" cy="183653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82" name="Image" descr="Image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20035" y="3286124"/>
            <a:ext cx="1837849" cy="293131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文本框 10">
            <a:extLst>
              <a:ext uri="{FF2B5EF4-FFF2-40B4-BE49-F238E27FC236}">
                <a16:creationId xmlns:a16="http://schemas.microsoft.com/office/drawing/2014/main" id="{71642DFA-27FE-4901-85B4-28B74830F6F6}"/>
              </a:ext>
            </a:extLst>
          </p:cNvPr>
          <p:cNvSpPr txBox="1"/>
          <p:nvPr/>
        </p:nvSpPr>
        <p:spPr>
          <a:xfrm>
            <a:off x="-410800" y="-72940"/>
            <a:ext cx="4903064" cy="991988"/>
          </a:xfrm>
          <a:prstGeom prst="rect">
            <a:avLst/>
          </a:prstGeom>
          <a:noFill/>
        </p:spPr>
        <p:txBody>
          <a:bodyPr wrap="square" lIns="98474" tIns="49237" rIns="98474" bIns="49237" rtlCol="0">
            <a:spAutoFit/>
          </a:bodyPr>
          <a:lstStyle/>
          <a:p>
            <a:r>
              <a:rPr lang="zh-CN" altLang="en-US" sz="5800" b="1" dirty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     </a:t>
            </a:r>
            <a:endParaRPr lang="zh-CN" altLang="en-US" sz="2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Light"/>
            </a:endParaRPr>
          </a:p>
        </p:txBody>
      </p:sp>
      <p:sp>
        <p:nvSpPr>
          <p:cNvPr id="9" name="文本框 24"/>
          <p:cNvSpPr txBox="1"/>
          <p:nvPr/>
        </p:nvSpPr>
        <p:spPr>
          <a:xfrm>
            <a:off x="285720" y="392885"/>
            <a:ext cx="3206160" cy="4996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6894" tIns="56894" rIns="56894" bIns="56894" numCol="1" spcCol="42671" rtlCol="0" anchor="ctr">
            <a:spAutoFit/>
          </a:bodyPr>
          <a:lstStyle/>
          <a:p>
            <a:pPr defTabSz="924537"/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会议室位置介绍</a:t>
            </a:r>
          </a:p>
        </p:txBody>
      </p:sp>
      <p:pic>
        <p:nvPicPr>
          <p:cNvPr id="10" name="图片 9" descr="/private/var/folders/r9/v8zvz0ts3kd806qmmhl8wwg80000gn/T/com.kingsoft.wpsoffice.mac/picturecompress_20221010120623/output_1.jpgoutput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458552" y="1815816"/>
            <a:ext cx="4917566" cy="385765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32"/>
          <p:cNvSpPr txBox="1"/>
          <p:nvPr/>
        </p:nvSpPr>
        <p:spPr>
          <a:xfrm>
            <a:off x="4973712" y="1071546"/>
            <a:ext cx="4170288" cy="884266"/>
          </a:xfrm>
          <a:prstGeom prst="rect">
            <a:avLst/>
          </a:prstGeom>
          <a:noFill/>
        </p:spPr>
        <p:txBody>
          <a:bodyPr wrap="square" lIns="98474" tIns="49237" rIns="98474" bIns="49237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地址：</a:t>
            </a:r>
            <a:r>
              <a:rPr lang="zh-CN" altLang="en-US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上海市宝山区沪太路</a:t>
            </a:r>
            <a:r>
              <a:rPr lang="en-US" altLang="zh-CN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1866</a:t>
            </a:r>
            <a:r>
              <a:rPr lang="zh-CN" altLang="en-US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号诺诚</a:t>
            </a:r>
            <a:r>
              <a:rPr lang="en-US" altLang="zh-CN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M7</a:t>
            </a:r>
            <a:r>
              <a:rPr lang="zh-CN" altLang="en-US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创意园 </a:t>
            </a:r>
            <a:r>
              <a:rPr lang="en-US" altLang="zh-CN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A415</a:t>
            </a:r>
            <a:r>
              <a:rPr lang="zh-CN" altLang="en-US" sz="1700" b="1" dirty="0"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室</a:t>
            </a:r>
            <a:endParaRPr lang="en-US" altLang="zh-CN" sz="17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Freeform 283">
            <a:extLst>
              <a:ext uri="{FF2B5EF4-FFF2-40B4-BE49-F238E27FC236}">
                <a16:creationId xmlns:a16="http://schemas.microsoft.com/office/drawing/2014/main" id="{8F855369-6E68-41A4-AD28-EB537D31BBAF}"/>
              </a:ext>
            </a:extLst>
          </p:cNvPr>
          <p:cNvSpPr>
            <a:spLocks/>
          </p:cNvSpPr>
          <p:nvPr/>
        </p:nvSpPr>
        <p:spPr bwMode="auto">
          <a:xfrm>
            <a:off x="4241599" y="1000108"/>
            <a:ext cx="670289" cy="832503"/>
          </a:xfrm>
          <a:custGeom>
            <a:avLst/>
            <a:gdLst>
              <a:gd name="connsiteX0" fmla="*/ 129243 w 607561"/>
              <a:gd name="connsiteY0" fmla="*/ 432873 h 606645"/>
              <a:gd name="connsiteX1" fmla="*/ 148582 w 607561"/>
              <a:gd name="connsiteY1" fmla="*/ 433539 h 606645"/>
              <a:gd name="connsiteX2" fmla="*/ 161134 w 607561"/>
              <a:gd name="connsiteY2" fmla="*/ 467045 h 606645"/>
              <a:gd name="connsiteX3" fmla="*/ 151876 w 607561"/>
              <a:gd name="connsiteY3" fmla="*/ 505618 h 606645"/>
              <a:gd name="connsiteX4" fmla="*/ 126505 w 607561"/>
              <a:gd name="connsiteY4" fmla="*/ 530858 h 606645"/>
              <a:gd name="connsiteX5" fmla="*/ 101224 w 607561"/>
              <a:gd name="connsiteY5" fmla="*/ 505618 h 606645"/>
              <a:gd name="connsiteX6" fmla="*/ 115111 w 607561"/>
              <a:gd name="connsiteY6" fmla="*/ 446071 h 606645"/>
              <a:gd name="connsiteX7" fmla="*/ 129243 w 607561"/>
              <a:gd name="connsiteY7" fmla="*/ 432873 h 606645"/>
              <a:gd name="connsiteX8" fmla="*/ 230233 w 607561"/>
              <a:gd name="connsiteY8" fmla="*/ 359160 h 606645"/>
              <a:gd name="connsiteX9" fmla="*/ 260234 w 607561"/>
              <a:gd name="connsiteY9" fmla="*/ 378534 h 606645"/>
              <a:gd name="connsiteX10" fmla="*/ 240738 w 607561"/>
              <a:gd name="connsiteY10" fmla="*/ 408573 h 606645"/>
              <a:gd name="connsiteX11" fmla="*/ 201033 w 607561"/>
              <a:gd name="connsiteY11" fmla="*/ 423326 h 606645"/>
              <a:gd name="connsiteX12" fmla="*/ 188392 w 607561"/>
              <a:gd name="connsiteY12" fmla="*/ 426703 h 606645"/>
              <a:gd name="connsiteX13" fmla="*/ 166492 w 607561"/>
              <a:gd name="connsiteY13" fmla="*/ 414083 h 606645"/>
              <a:gd name="connsiteX14" fmla="*/ 175661 w 607561"/>
              <a:gd name="connsiteY14" fmla="*/ 379601 h 606645"/>
              <a:gd name="connsiteX15" fmla="*/ 230233 w 607561"/>
              <a:gd name="connsiteY15" fmla="*/ 359160 h 606645"/>
              <a:gd name="connsiteX16" fmla="*/ 466517 w 607561"/>
              <a:gd name="connsiteY16" fmla="*/ 300854 h 606645"/>
              <a:gd name="connsiteX17" fmla="*/ 485587 w 607561"/>
              <a:gd name="connsiteY17" fmla="*/ 304187 h 606645"/>
              <a:gd name="connsiteX18" fmla="*/ 493425 w 607561"/>
              <a:gd name="connsiteY18" fmla="*/ 339114 h 606645"/>
              <a:gd name="connsiteX19" fmla="*/ 446133 w 607561"/>
              <a:gd name="connsiteY19" fmla="*/ 380884 h 606645"/>
              <a:gd name="connsiteX20" fmla="*/ 434376 w 607561"/>
              <a:gd name="connsiteY20" fmla="*/ 383728 h 606645"/>
              <a:gd name="connsiteX21" fmla="*/ 411933 w 607561"/>
              <a:gd name="connsiteY21" fmla="*/ 370219 h 606645"/>
              <a:gd name="connsiteX22" fmla="*/ 422620 w 607561"/>
              <a:gd name="connsiteY22" fmla="*/ 336092 h 606645"/>
              <a:gd name="connsiteX23" fmla="*/ 450586 w 607561"/>
              <a:gd name="connsiteY23" fmla="*/ 311919 h 606645"/>
              <a:gd name="connsiteX24" fmla="*/ 466517 w 607561"/>
              <a:gd name="connsiteY24" fmla="*/ 300854 h 606645"/>
              <a:gd name="connsiteX25" fmla="*/ 50624 w 607561"/>
              <a:gd name="connsiteY25" fmla="*/ 202164 h 606645"/>
              <a:gd name="connsiteX26" fmla="*/ 151905 w 607561"/>
              <a:gd name="connsiteY26" fmla="*/ 202164 h 606645"/>
              <a:gd name="connsiteX27" fmla="*/ 177181 w 607561"/>
              <a:gd name="connsiteY27" fmla="*/ 227494 h 606645"/>
              <a:gd name="connsiteX28" fmla="*/ 151905 w 607561"/>
              <a:gd name="connsiteY28" fmla="*/ 252735 h 606645"/>
              <a:gd name="connsiteX29" fmla="*/ 74209 w 607561"/>
              <a:gd name="connsiteY29" fmla="*/ 252735 h 606645"/>
              <a:gd name="connsiteX30" fmla="*/ 52493 w 607561"/>
              <a:gd name="connsiteY30" fmla="*/ 556074 h 606645"/>
              <a:gd name="connsiteX31" fmla="*/ 555070 w 607561"/>
              <a:gd name="connsiteY31" fmla="*/ 556074 h 606645"/>
              <a:gd name="connsiteX32" fmla="*/ 533354 w 607561"/>
              <a:gd name="connsiteY32" fmla="*/ 252735 h 606645"/>
              <a:gd name="connsiteX33" fmla="*/ 455658 w 607561"/>
              <a:gd name="connsiteY33" fmla="*/ 252735 h 606645"/>
              <a:gd name="connsiteX34" fmla="*/ 430382 w 607561"/>
              <a:gd name="connsiteY34" fmla="*/ 227494 h 606645"/>
              <a:gd name="connsiteX35" fmla="*/ 455658 w 607561"/>
              <a:gd name="connsiteY35" fmla="*/ 202164 h 606645"/>
              <a:gd name="connsiteX36" fmla="*/ 556939 w 607561"/>
              <a:gd name="connsiteY36" fmla="*/ 202164 h 606645"/>
              <a:gd name="connsiteX37" fmla="*/ 582125 w 607561"/>
              <a:gd name="connsiteY37" fmla="*/ 225717 h 606645"/>
              <a:gd name="connsiteX38" fmla="*/ 607490 w 607561"/>
              <a:gd name="connsiteY38" fmla="*/ 579627 h 606645"/>
              <a:gd name="connsiteX39" fmla="*/ 600726 w 607561"/>
              <a:gd name="connsiteY39" fmla="*/ 598646 h 606645"/>
              <a:gd name="connsiteX40" fmla="*/ 582214 w 607561"/>
              <a:gd name="connsiteY40" fmla="*/ 606645 h 606645"/>
              <a:gd name="connsiteX41" fmla="*/ 25260 w 607561"/>
              <a:gd name="connsiteY41" fmla="*/ 606645 h 606645"/>
              <a:gd name="connsiteX42" fmla="*/ 6748 w 607561"/>
              <a:gd name="connsiteY42" fmla="*/ 598646 h 606645"/>
              <a:gd name="connsiteX43" fmla="*/ 73 w 607561"/>
              <a:gd name="connsiteY43" fmla="*/ 579627 h 606645"/>
              <a:gd name="connsiteX44" fmla="*/ 25349 w 607561"/>
              <a:gd name="connsiteY44" fmla="*/ 225717 h 606645"/>
              <a:gd name="connsiteX45" fmla="*/ 50624 w 607561"/>
              <a:gd name="connsiteY45" fmla="*/ 202164 h 606645"/>
              <a:gd name="connsiteX46" fmla="*/ 303736 w 607561"/>
              <a:gd name="connsiteY46" fmla="*/ 101117 h 606645"/>
              <a:gd name="connsiteX47" fmla="*/ 278455 w 607561"/>
              <a:gd name="connsiteY47" fmla="*/ 126357 h 606645"/>
              <a:gd name="connsiteX48" fmla="*/ 303736 w 607561"/>
              <a:gd name="connsiteY48" fmla="*/ 151596 h 606645"/>
              <a:gd name="connsiteX49" fmla="*/ 329106 w 607561"/>
              <a:gd name="connsiteY49" fmla="*/ 126357 h 606645"/>
              <a:gd name="connsiteX50" fmla="*/ 303736 w 607561"/>
              <a:gd name="connsiteY50" fmla="*/ 101117 h 606645"/>
              <a:gd name="connsiteX51" fmla="*/ 275662 w 607561"/>
              <a:gd name="connsiteY51" fmla="*/ 3114 h 606645"/>
              <a:gd name="connsiteX52" fmla="*/ 332845 w 607561"/>
              <a:gd name="connsiteY52" fmla="*/ 3270 h 606645"/>
              <a:gd name="connsiteX53" fmla="*/ 424534 w 607561"/>
              <a:gd name="connsiteY53" fmla="*/ 88320 h 606645"/>
              <a:gd name="connsiteX54" fmla="*/ 416611 w 607561"/>
              <a:gd name="connsiteY54" fmla="*/ 182968 h 606645"/>
              <a:gd name="connsiteX55" fmla="*/ 416611 w 607561"/>
              <a:gd name="connsiteY55" fmla="*/ 183057 h 606645"/>
              <a:gd name="connsiteX56" fmla="*/ 413763 w 607561"/>
              <a:gd name="connsiteY56" fmla="*/ 188478 h 606645"/>
              <a:gd name="connsiteX57" fmla="*/ 393556 w 607561"/>
              <a:gd name="connsiteY57" fmla="*/ 231759 h 606645"/>
              <a:gd name="connsiteX58" fmla="*/ 341925 w 607561"/>
              <a:gd name="connsiteY58" fmla="*/ 353957 h 606645"/>
              <a:gd name="connsiteX59" fmla="*/ 359105 w 607561"/>
              <a:gd name="connsiteY59" fmla="*/ 352890 h 606645"/>
              <a:gd name="connsiteX60" fmla="*/ 386790 w 607561"/>
              <a:gd name="connsiteY60" fmla="*/ 375553 h 606645"/>
              <a:gd name="connsiteX61" fmla="*/ 364090 w 607561"/>
              <a:gd name="connsiteY61" fmla="*/ 403192 h 606645"/>
              <a:gd name="connsiteX62" fmla="*/ 326169 w 607561"/>
              <a:gd name="connsiteY62" fmla="*/ 404969 h 606645"/>
              <a:gd name="connsiteX63" fmla="*/ 310234 w 607561"/>
              <a:gd name="connsiteY63" fmla="*/ 404703 h 606645"/>
              <a:gd name="connsiteX64" fmla="*/ 307030 w 607561"/>
              <a:gd name="connsiteY64" fmla="*/ 403992 h 606645"/>
              <a:gd name="connsiteX65" fmla="*/ 303736 w 607561"/>
              <a:gd name="connsiteY65" fmla="*/ 404436 h 606645"/>
              <a:gd name="connsiteX66" fmla="*/ 280413 w 607561"/>
              <a:gd name="connsiteY66" fmla="*/ 388972 h 606645"/>
              <a:gd name="connsiteX67" fmla="*/ 214718 w 607561"/>
              <a:gd name="connsiteY67" fmla="*/ 233803 h 606645"/>
              <a:gd name="connsiteX68" fmla="*/ 194155 w 607561"/>
              <a:gd name="connsiteY68" fmla="*/ 189189 h 606645"/>
              <a:gd name="connsiteX69" fmla="*/ 190772 w 607561"/>
              <a:gd name="connsiteY69" fmla="*/ 182701 h 606645"/>
              <a:gd name="connsiteX70" fmla="*/ 177152 w 607561"/>
              <a:gd name="connsiteY70" fmla="*/ 126357 h 606645"/>
              <a:gd name="connsiteX71" fmla="*/ 224688 w 607561"/>
              <a:gd name="connsiteY71" fmla="*/ 27620 h 606645"/>
              <a:gd name="connsiteX72" fmla="*/ 275662 w 607561"/>
              <a:gd name="connsiteY72" fmla="*/ 3114 h 606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07561" h="606645">
                <a:moveTo>
                  <a:pt x="129243" y="432873"/>
                </a:moveTo>
                <a:cubicBezTo>
                  <a:pt x="135318" y="430606"/>
                  <a:pt x="142262" y="430651"/>
                  <a:pt x="148582" y="433539"/>
                </a:cubicBezTo>
                <a:cubicBezTo>
                  <a:pt x="161312" y="439316"/>
                  <a:pt x="166920" y="454336"/>
                  <a:pt x="161134" y="467045"/>
                </a:cubicBezTo>
                <a:cubicBezTo>
                  <a:pt x="151965" y="487220"/>
                  <a:pt x="151876" y="504818"/>
                  <a:pt x="151876" y="505618"/>
                </a:cubicBezTo>
                <a:cubicBezTo>
                  <a:pt x="151876" y="519571"/>
                  <a:pt x="140481" y="530858"/>
                  <a:pt x="126505" y="530858"/>
                </a:cubicBezTo>
                <a:cubicBezTo>
                  <a:pt x="112529" y="530858"/>
                  <a:pt x="101224" y="519571"/>
                  <a:pt x="101224" y="505618"/>
                </a:cubicBezTo>
                <a:cubicBezTo>
                  <a:pt x="101224" y="500729"/>
                  <a:pt x="101847" y="475044"/>
                  <a:pt x="115111" y="446071"/>
                </a:cubicBezTo>
                <a:cubicBezTo>
                  <a:pt x="117960" y="439716"/>
                  <a:pt x="123167" y="435139"/>
                  <a:pt x="129243" y="432873"/>
                </a:cubicBezTo>
                <a:close/>
                <a:moveTo>
                  <a:pt x="230233" y="359160"/>
                </a:moveTo>
                <a:cubicBezTo>
                  <a:pt x="243854" y="356138"/>
                  <a:pt x="257296" y="364937"/>
                  <a:pt x="260234" y="378534"/>
                </a:cubicBezTo>
                <a:cubicBezTo>
                  <a:pt x="263172" y="392221"/>
                  <a:pt x="254448" y="405640"/>
                  <a:pt x="240738" y="408573"/>
                </a:cubicBezTo>
                <a:cubicBezTo>
                  <a:pt x="225782" y="411773"/>
                  <a:pt x="212428" y="416661"/>
                  <a:pt x="201033" y="423326"/>
                </a:cubicBezTo>
                <a:cubicBezTo>
                  <a:pt x="197027" y="425637"/>
                  <a:pt x="192665" y="426703"/>
                  <a:pt x="188392" y="426703"/>
                </a:cubicBezTo>
                <a:cubicBezTo>
                  <a:pt x="179667" y="426703"/>
                  <a:pt x="171121" y="422171"/>
                  <a:pt x="166492" y="414083"/>
                </a:cubicBezTo>
                <a:cubicBezTo>
                  <a:pt x="159370" y="401997"/>
                  <a:pt x="163554" y="386533"/>
                  <a:pt x="175661" y="379601"/>
                </a:cubicBezTo>
                <a:cubicBezTo>
                  <a:pt x="191686" y="370269"/>
                  <a:pt x="210025" y="363426"/>
                  <a:pt x="230233" y="359160"/>
                </a:cubicBezTo>
                <a:close/>
                <a:moveTo>
                  <a:pt x="466517" y="300854"/>
                </a:moveTo>
                <a:cubicBezTo>
                  <a:pt x="472851" y="299454"/>
                  <a:pt x="479709" y="300454"/>
                  <a:pt x="485587" y="304187"/>
                </a:cubicBezTo>
                <a:cubicBezTo>
                  <a:pt x="497433" y="311741"/>
                  <a:pt x="500906" y="327383"/>
                  <a:pt x="493425" y="339114"/>
                </a:cubicBezTo>
                <a:cubicBezTo>
                  <a:pt x="482559" y="356089"/>
                  <a:pt x="466617" y="370131"/>
                  <a:pt x="446133" y="380884"/>
                </a:cubicBezTo>
                <a:cubicBezTo>
                  <a:pt x="442392" y="382840"/>
                  <a:pt x="438384" y="383728"/>
                  <a:pt x="434376" y="383728"/>
                </a:cubicBezTo>
                <a:cubicBezTo>
                  <a:pt x="425292" y="383728"/>
                  <a:pt x="416475" y="378840"/>
                  <a:pt x="411933" y="370219"/>
                </a:cubicBezTo>
                <a:cubicBezTo>
                  <a:pt x="405431" y="357866"/>
                  <a:pt x="410240" y="342580"/>
                  <a:pt x="422620" y="336092"/>
                </a:cubicBezTo>
                <a:cubicBezTo>
                  <a:pt x="435178" y="329516"/>
                  <a:pt x="444618" y="321339"/>
                  <a:pt x="450586" y="311919"/>
                </a:cubicBezTo>
                <a:cubicBezTo>
                  <a:pt x="454371" y="306053"/>
                  <a:pt x="460182" y="302254"/>
                  <a:pt x="466517" y="300854"/>
                </a:cubicBezTo>
                <a:close/>
                <a:moveTo>
                  <a:pt x="50624" y="202164"/>
                </a:moveTo>
                <a:lnTo>
                  <a:pt x="151905" y="202164"/>
                </a:lnTo>
                <a:cubicBezTo>
                  <a:pt x="165878" y="202164"/>
                  <a:pt x="177181" y="213541"/>
                  <a:pt x="177181" y="227494"/>
                </a:cubicBezTo>
                <a:cubicBezTo>
                  <a:pt x="177181" y="241448"/>
                  <a:pt x="165878" y="252735"/>
                  <a:pt x="151905" y="252735"/>
                </a:cubicBezTo>
                <a:lnTo>
                  <a:pt x="74209" y="252735"/>
                </a:lnTo>
                <a:lnTo>
                  <a:pt x="52493" y="556074"/>
                </a:lnTo>
                <a:lnTo>
                  <a:pt x="555070" y="556074"/>
                </a:lnTo>
                <a:lnTo>
                  <a:pt x="533354" y="252735"/>
                </a:lnTo>
                <a:lnTo>
                  <a:pt x="455658" y="252735"/>
                </a:lnTo>
                <a:cubicBezTo>
                  <a:pt x="441685" y="252735"/>
                  <a:pt x="430382" y="241448"/>
                  <a:pt x="430382" y="227494"/>
                </a:cubicBezTo>
                <a:cubicBezTo>
                  <a:pt x="430382" y="213541"/>
                  <a:pt x="441685" y="202164"/>
                  <a:pt x="455658" y="202164"/>
                </a:cubicBezTo>
                <a:lnTo>
                  <a:pt x="556939" y="202164"/>
                </a:lnTo>
                <a:cubicBezTo>
                  <a:pt x="570200" y="202164"/>
                  <a:pt x="581235" y="212474"/>
                  <a:pt x="582125" y="225717"/>
                </a:cubicBezTo>
                <a:lnTo>
                  <a:pt x="607490" y="579627"/>
                </a:lnTo>
                <a:cubicBezTo>
                  <a:pt x="608024" y="586648"/>
                  <a:pt x="605532" y="593491"/>
                  <a:pt x="600726" y="598646"/>
                </a:cubicBezTo>
                <a:cubicBezTo>
                  <a:pt x="596009" y="603801"/>
                  <a:pt x="589245" y="606645"/>
                  <a:pt x="582214" y="606645"/>
                </a:cubicBezTo>
                <a:lnTo>
                  <a:pt x="25260" y="606645"/>
                </a:lnTo>
                <a:cubicBezTo>
                  <a:pt x="18318" y="606645"/>
                  <a:pt x="11554" y="603801"/>
                  <a:pt x="6748" y="598646"/>
                </a:cubicBezTo>
                <a:cubicBezTo>
                  <a:pt x="1942" y="593491"/>
                  <a:pt x="-461" y="586648"/>
                  <a:pt x="73" y="579627"/>
                </a:cubicBezTo>
                <a:lnTo>
                  <a:pt x="25349" y="225717"/>
                </a:lnTo>
                <a:cubicBezTo>
                  <a:pt x="26328" y="212474"/>
                  <a:pt x="37364" y="202164"/>
                  <a:pt x="50624" y="202164"/>
                </a:cubicBezTo>
                <a:close/>
                <a:moveTo>
                  <a:pt x="303736" y="101117"/>
                </a:moveTo>
                <a:cubicBezTo>
                  <a:pt x="289760" y="101117"/>
                  <a:pt x="278455" y="112404"/>
                  <a:pt x="278455" y="126357"/>
                </a:cubicBezTo>
                <a:cubicBezTo>
                  <a:pt x="278455" y="140310"/>
                  <a:pt x="289760" y="151596"/>
                  <a:pt x="303736" y="151596"/>
                </a:cubicBezTo>
                <a:cubicBezTo>
                  <a:pt x="317712" y="151596"/>
                  <a:pt x="329106" y="140310"/>
                  <a:pt x="329106" y="126357"/>
                </a:cubicBezTo>
                <a:cubicBezTo>
                  <a:pt x="329106" y="112404"/>
                  <a:pt x="317712" y="101117"/>
                  <a:pt x="303736" y="101117"/>
                </a:cubicBezTo>
                <a:close/>
                <a:moveTo>
                  <a:pt x="275662" y="3114"/>
                </a:moveTo>
                <a:cubicBezTo>
                  <a:pt x="294100" y="-1041"/>
                  <a:pt x="313573" y="-1085"/>
                  <a:pt x="332845" y="3270"/>
                </a:cubicBezTo>
                <a:cubicBezTo>
                  <a:pt x="375752" y="12868"/>
                  <a:pt x="411715" y="46284"/>
                  <a:pt x="424534" y="88320"/>
                </a:cubicBezTo>
                <a:cubicBezTo>
                  <a:pt x="434504" y="120758"/>
                  <a:pt x="431744" y="153552"/>
                  <a:pt x="416611" y="182968"/>
                </a:cubicBezTo>
                <a:lnTo>
                  <a:pt x="416611" y="183057"/>
                </a:lnTo>
                <a:lnTo>
                  <a:pt x="413763" y="188478"/>
                </a:lnTo>
                <a:cubicBezTo>
                  <a:pt x="406107" y="203231"/>
                  <a:pt x="398897" y="217272"/>
                  <a:pt x="393556" y="231759"/>
                </a:cubicBezTo>
                <a:lnTo>
                  <a:pt x="341925" y="353957"/>
                </a:lnTo>
                <a:cubicBezTo>
                  <a:pt x="347800" y="353690"/>
                  <a:pt x="353675" y="353424"/>
                  <a:pt x="359105" y="352890"/>
                </a:cubicBezTo>
                <a:cubicBezTo>
                  <a:pt x="372903" y="351469"/>
                  <a:pt x="385455" y="361689"/>
                  <a:pt x="386790" y="375553"/>
                </a:cubicBezTo>
                <a:cubicBezTo>
                  <a:pt x="388214" y="389417"/>
                  <a:pt x="378066" y="401859"/>
                  <a:pt x="364090" y="403192"/>
                </a:cubicBezTo>
                <a:cubicBezTo>
                  <a:pt x="352251" y="404436"/>
                  <a:pt x="339432" y="404969"/>
                  <a:pt x="326169" y="404969"/>
                </a:cubicBezTo>
                <a:cubicBezTo>
                  <a:pt x="321006" y="404969"/>
                  <a:pt x="315754" y="404880"/>
                  <a:pt x="310234" y="404703"/>
                </a:cubicBezTo>
                <a:cubicBezTo>
                  <a:pt x="309077" y="404703"/>
                  <a:pt x="308098" y="404169"/>
                  <a:pt x="307030" y="403992"/>
                </a:cubicBezTo>
                <a:cubicBezTo>
                  <a:pt x="305873" y="404081"/>
                  <a:pt x="304893" y="404436"/>
                  <a:pt x="303736" y="404436"/>
                </a:cubicBezTo>
                <a:cubicBezTo>
                  <a:pt x="293588" y="404436"/>
                  <a:pt x="284419" y="398393"/>
                  <a:pt x="280413" y="388972"/>
                </a:cubicBezTo>
                <a:lnTo>
                  <a:pt x="214718" y="233803"/>
                </a:lnTo>
                <a:cubicBezTo>
                  <a:pt x="208932" y="218072"/>
                  <a:pt x="201721" y="204031"/>
                  <a:pt x="194155" y="189189"/>
                </a:cubicBezTo>
                <a:lnTo>
                  <a:pt x="190772" y="182701"/>
                </a:lnTo>
                <a:cubicBezTo>
                  <a:pt x="181781" y="165016"/>
                  <a:pt x="177152" y="145997"/>
                  <a:pt x="177152" y="126357"/>
                </a:cubicBezTo>
                <a:cubicBezTo>
                  <a:pt x="177152" y="87787"/>
                  <a:pt x="194511" y="51794"/>
                  <a:pt x="224688" y="27620"/>
                </a:cubicBezTo>
                <a:cubicBezTo>
                  <a:pt x="239821" y="15534"/>
                  <a:pt x="257224" y="7269"/>
                  <a:pt x="275662" y="3114"/>
                </a:cubicBezTo>
                <a:close/>
              </a:path>
            </a:pathLst>
          </a:custGeom>
          <a:solidFill>
            <a:srgbClr val="FF5050"/>
          </a:solidFill>
          <a:ln>
            <a:solidFill>
              <a:schemeClr val="bg1"/>
            </a:solidFill>
          </a:ln>
        </p:spPr>
        <p:txBody>
          <a:bodyPr vert="horz" wrap="square" lIns="98474" tIns="49237" rIns="98474" bIns="49237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984737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973712" y="1928802"/>
            <a:ext cx="4170288" cy="1276681"/>
          </a:xfrm>
          <a:prstGeom prst="rect">
            <a:avLst/>
          </a:prstGeom>
        </p:spPr>
        <p:txBody>
          <a:bodyPr wrap="square" lIns="98474" tIns="49237" rIns="98474" bIns="49237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Room A415, </a:t>
            </a:r>
            <a:r>
              <a:rPr lang="en-US" altLang="zh-CN" sz="17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Nuocheng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M7    Creative Park, No. 1866, </a:t>
            </a:r>
            <a:r>
              <a:rPr lang="en-US" altLang="zh-CN" sz="17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Hutai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Road, </a:t>
            </a:r>
            <a:r>
              <a:rPr lang="en-US" altLang="zh-CN" sz="17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Baoshan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District, Shanghai</a:t>
            </a:r>
          </a:p>
        </p:txBody>
      </p:sp>
      <p:sp>
        <p:nvSpPr>
          <p:cNvPr id="29" name="文本框 24"/>
          <p:cNvSpPr txBox="1"/>
          <p:nvPr/>
        </p:nvSpPr>
        <p:spPr>
          <a:xfrm>
            <a:off x="285720" y="392885"/>
            <a:ext cx="3429024" cy="4996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6894" tIns="56894" rIns="56894" bIns="56894" numCol="1" spcCol="42671" rtlCol="0" anchor="ctr">
            <a:spAutoFit/>
          </a:bodyPr>
          <a:lstStyle/>
          <a:p>
            <a:pPr defTabSz="924537"/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会议室地图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&amp;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联糸方式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6735BA-DB82-51AF-216A-610C8F725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14" y="942498"/>
            <a:ext cx="3827077" cy="5522617"/>
          </a:xfrm>
          <a:prstGeom prst="rect">
            <a:avLst/>
          </a:prstGeom>
        </p:spPr>
      </p:pic>
      <p:sp>
        <p:nvSpPr>
          <p:cNvPr id="9" name="文本框 30">
            <a:extLst>
              <a:ext uri="{FF2B5EF4-FFF2-40B4-BE49-F238E27FC236}">
                <a16:creationId xmlns:a16="http://schemas.microsoft.com/office/drawing/2014/main" id="{2D328469-2635-8A97-4B2A-00AFD8BE5F4D}"/>
              </a:ext>
            </a:extLst>
          </p:cNvPr>
          <p:cNvSpPr txBox="1"/>
          <p:nvPr/>
        </p:nvSpPr>
        <p:spPr>
          <a:xfrm>
            <a:off x="4973712" y="4276234"/>
            <a:ext cx="4385483" cy="361046"/>
          </a:xfrm>
          <a:prstGeom prst="rect">
            <a:avLst/>
          </a:prstGeom>
          <a:noFill/>
        </p:spPr>
        <p:txBody>
          <a:bodyPr wrap="square" lIns="98474" tIns="49237" rIns="98474" bIns="49237" rtlCol="0">
            <a:spAutoFit/>
          </a:bodyPr>
          <a:lstStyle/>
          <a:p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姓名：凌佳 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陈郁</a:t>
            </a:r>
            <a:endParaRPr lang="en-US" altLang="zh-CN" sz="1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28">
            <a:extLst>
              <a:ext uri="{FF2B5EF4-FFF2-40B4-BE49-F238E27FC236}">
                <a16:creationId xmlns:a16="http://schemas.microsoft.com/office/drawing/2014/main" id="{46161F28-70D7-4A96-A013-4721088AF67A}"/>
              </a:ext>
            </a:extLst>
          </p:cNvPr>
          <p:cNvGrpSpPr/>
          <p:nvPr/>
        </p:nvGrpSpPr>
        <p:grpSpPr>
          <a:xfrm>
            <a:off x="4214810" y="4243746"/>
            <a:ext cx="670289" cy="672693"/>
            <a:chOff x="1393788" y="3929632"/>
            <a:chExt cx="304037" cy="245302"/>
          </a:xfrm>
          <a:solidFill>
            <a:srgbClr val="FF5050"/>
          </a:solidFill>
          <a:effectLst>
            <a:outerShdw blurRad="50800" dist="254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11" name="Freeform 283">
              <a:extLst>
                <a:ext uri="{FF2B5EF4-FFF2-40B4-BE49-F238E27FC236}">
                  <a16:creationId xmlns:a16="http://schemas.microsoft.com/office/drawing/2014/main" id="{645D3765-E9A5-023A-3223-9781AE3FC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3788" y="3929632"/>
              <a:ext cx="304037" cy="115742"/>
            </a:xfrm>
            <a:custGeom>
              <a:avLst/>
              <a:gdLst>
                <a:gd name="T0" fmla="*/ 285 w 288"/>
                <a:gd name="T1" fmla="*/ 44 h 111"/>
                <a:gd name="T2" fmla="*/ 144 w 288"/>
                <a:gd name="T3" fmla="*/ 0 h 111"/>
                <a:gd name="T4" fmla="*/ 4 w 288"/>
                <a:gd name="T5" fmla="*/ 44 h 111"/>
                <a:gd name="T6" fmla="*/ 0 w 288"/>
                <a:gd name="T7" fmla="*/ 54 h 111"/>
                <a:gd name="T8" fmla="*/ 0 w 288"/>
                <a:gd name="T9" fmla="*/ 106 h 111"/>
                <a:gd name="T10" fmla="*/ 6 w 288"/>
                <a:gd name="T11" fmla="*/ 110 h 111"/>
                <a:gd name="T12" fmla="*/ 67 w 288"/>
                <a:gd name="T13" fmla="*/ 95 h 111"/>
                <a:gd name="T14" fmla="*/ 72 w 288"/>
                <a:gd name="T15" fmla="*/ 87 h 111"/>
                <a:gd name="T16" fmla="*/ 72 w 288"/>
                <a:gd name="T17" fmla="*/ 65 h 111"/>
                <a:gd name="T18" fmla="*/ 76 w 288"/>
                <a:gd name="T19" fmla="*/ 55 h 111"/>
                <a:gd name="T20" fmla="*/ 144 w 288"/>
                <a:gd name="T21" fmla="*/ 40 h 111"/>
                <a:gd name="T22" fmla="*/ 212 w 288"/>
                <a:gd name="T23" fmla="*/ 55 h 111"/>
                <a:gd name="T24" fmla="*/ 216 w 288"/>
                <a:gd name="T25" fmla="*/ 65 h 111"/>
                <a:gd name="T26" fmla="*/ 216 w 288"/>
                <a:gd name="T27" fmla="*/ 84 h 111"/>
                <a:gd name="T28" fmla="*/ 222 w 288"/>
                <a:gd name="T29" fmla="*/ 92 h 111"/>
                <a:gd name="T30" fmla="*/ 283 w 288"/>
                <a:gd name="T31" fmla="*/ 110 h 111"/>
                <a:gd name="T32" fmla="*/ 288 w 288"/>
                <a:gd name="T33" fmla="*/ 106 h 111"/>
                <a:gd name="T34" fmla="*/ 288 w 288"/>
                <a:gd name="T35" fmla="*/ 54 h 111"/>
                <a:gd name="T36" fmla="*/ 285 w 288"/>
                <a:gd name="T37" fmla="*/ 4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8" h="111">
                  <a:moveTo>
                    <a:pt x="285" y="44"/>
                  </a:moveTo>
                  <a:cubicBezTo>
                    <a:pt x="285" y="44"/>
                    <a:pt x="252" y="0"/>
                    <a:pt x="144" y="0"/>
                  </a:cubicBezTo>
                  <a:cubicBezTo>
                    <a:pt x="37" y="0"/>
                    <a:pt x="4" y="44"/>
                    <a:pt x="4" y="44"/>
                  </a:cubicBezTo>
                  <a:cubicBezTo>
                    <a:pt x="2" y="46"/>
                    <a:pt x="0" y="51"/>
                    <a:pt x="0" y="54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10"/>
                    <a:pt x="3" y="111"/>
                    <a:pt x="6" y="110"/>
                  </a:cubicBezTo>
                  <a:cubicBezTo>
                    <a:pt x="67" y="95"/>
                    <a:pt x="67" y="95"/>
                    <a:pt x="67" y="95"/>
                  </a:cubicBezTo>
                  <a:cubicBezTo>
                    <a:pt x="70" y="94"/>
                    <a:pt x="72" y="90"/>
                    <a:pt x="72" y="87"/>
                  </a:cubicBezTo>
                  <a:cubicBezTo>
                    <a:pt x="72" y="65"/>
                    <a:pt x="72" y="65"/>
                    <a:pt x="72" y="65"/>
                  </a:cubicBezTo>
                  <a:cubicBezTo>
                    <a:pt x="72" y="61"/>
                    <a:pt x="74" y="57"/>
                    <a:pt x="76" y="55"/>
                  </a:cubicBezTo>
                  <a:cubicBezTo>
                    <a:pt x="76" y="55"/>
                    <a:pt x="91" y="40"/>
                    <a:pt x="144" y="40"/>
                  </a:cubicBezTo>
                  <a:cubicBezTo>
                    <a:pt x="198" y="40"/>
                    <a:pt x="212" y="55"/>
                    <a:pt x="212" y="55"/>
                  </a:cubicBezTo>
                  <a:cubicBezTo>
                    <a:pt x="215" y="57"/>
                    <a:pt x="216" y="61"/>
                    <a:pt x="216" y="65"/>
                  </a:cubicBezTo>
                  <a:cubicBezTo>
                    <a:pt x="216" y="84"/>
                    <a:pt x="216" y="84"/>
                    <a:pt x="216" y="84"/>
                  </a:cubicBezTo>
                  <a:cubicBezTo>
                    <a:pt x="216" y="87"/>
                    <a:pt x="219" y="90"/>
                    <a:pt x="222" y="92"/>
                  </a:cubicBezTo>
                  <a:cubicBezTo>
                    <a:pt x="283" y="110"/>
                    <a:pt x="283" y="110"/>
                    <a:pt x="283" y="110"/>
                  </a:cubicBezTo>
                  <a:cubicBezTo>
                    <a:pt x="286" y="111"/>
                    <a:pt x="288" y="110"/>
                    <a:pt x="288" y="106"/>
                  </a:cubicBezTo>
                  <a:cubicBezTo>
                    <a:pt x="288" y="54"/>
                    <a:pt x="288" y="54"/>
                    <a:pt x="288" y="54"/>
                  </a:cubicBezTo>
                  <a:cubicBezTo>
                    <a:pt x="288" y="51"/>
                    <a:pt x="287" y="46"/>
                    <a:pt x="285" y="4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84737">
                <a:defRPr/>
              </a:pPr>
              <a:endParaRPr lang="zh-CN" altLang="en-US" sz="19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2" name="Freeform 284">
              <a:extLst>
                <a:ext uri="{FF2B5EF4-FFF2-40B4-BE49-F238E27FC236}">
                  <a16:creationId xmlns:a16="http://schemas.microsoft.com/office/drawing/2014/main" id="{DB728555-037E-1684-4E89-E42DBB2F94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09334" y="3991821"/>
              <a:ext cx="271216" cy="183113"/>
            </a:xfrm>
            <a:custGeom>
              <a:avLst/>
              <a:gdLst>
                <a:gd name="T0" fmla="*/ 246 w 258"/>
                <a:gd name="T1" fmla="*/ 99 h 174"/>
                <a:gd name="T2" fmla="*/ 196 w 258"/>
                <a:gd name="T3" fmla="*/ 52 h 174"/>
                <a:gd name="T4" fmla="*/ 185 w 258"/>
                <a:gd name="T5" fmla="*/ 46 h 174"/>
                <a:gd name="T6" fmla="*/ 177 w 258"/>
                <a:gd name="T7" fmla="*/ 12 h 174"/>
                <a:gd name="T8" fmla="*/ 163 w 258"/>
                <a:gd name="T9" fmla="*/ 0 h 174"/>
                <a:gd name="T10" fmla="*/ 96 w 258"/>
                <a:gd name="T11" fmla="*/ 0 h 174"/>
                <a:gd name="T12" fmla="*/ 81 w 258"/>
                <a:gd name="T13" fmla="*/ 12 h 174"/>
                <a:gd name="T14" fmla="*/ 74 w 258"/>
                <a:gd name="T15" fmla="*/ 46 h 174"/>
                <a:gd name="T16" fmla="*/ 63 w 258"/>
                <a:gd name="T17" fmla="*/ 52 h 174"/>
                <a:gd name="T18" fmla="*/ 13 w 258"/>
                <a:gd name="T19" fmla="*/ 99 h 174"/>
                <a:gd name="T20" fmla="*/ 3 w 258"/>
                <a:gd name="T21" fmla="*/ 119 h 174"/>
                <a:gd name="T22" fmla="*/ 1 w 258"/>
                <a:gd name="T23" fmla="*/ 162 h 174"/>
                <a:gd name="T24" fmla="*/ 12 w 258"/>
                <a:gd name="T25" fmla="*/ 174 h 174"/>
                <a:gd name="T26" fmla="*/ 246 w 258"/>
                <a:gd name="T27" fmla="*/ 174 h 174"/>
                <a:gd name="T28" fmla="*/ 258 w 258"/>
                <a:gd name="T29" fmla="*/ 162 h 174"/>
                <a:gd name="T30" fmla="*/ 255 w 258"/>
                <a:gd name="T31" fmla="*/ 119 h 174"/>
                <a:gd name="T32" fmla="*/ 246 w 258"/>
                <a:gd name="T33" fmla="*/ 99 h 174"/>
                <a:gd name="T34" fmla="*/ 129 w 258"/>
                <a:gd name="T35" fmla="*/ 154 h 174"/>
                <a:gd name="T36" fmla="*/ 71 w 258"/>
                <a:gd name="T37" fmla="*/ 96 h 174"/>
                <a:gd name="T38" fmla="*/ 129 w 258"/>
                <a:gd name="T39" fmla="*/ 38 h 174"/>
                <a:gd name="T40" fmla="*/ 187 w 258"/>
                <a:gd name="T41" fmla="*/ 96 h 174"/>
                <a:gd name="T42" fmla="*/ 129 w 258"/>
                <a:gd name="T43" fmla="*/ 15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8" h="174">
                  <a:moveTo>
                    <a:pt x="246" y="99"/>
                  </a:moveTo>
                  <a:cubicBezTo>
                    <a:pt x="196" y="52"/>
                    <a:pt x="196" y="52"/>
                    <a:pt x="196" y="52"/>
                  </a:cubicBezTo>
                  <a:cubicBezTo>
                    <a:pt x="193" y="49"/>
                    <a:pt x="189" y="47"/>
                    <a:pt x="185" y="46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6" y="6"/>
                    <a:pt x="169" y="0"/>
                    <a:pt x="163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89" y="0"/>
                    <a:pt x="83" y="6"/>
                    <a:pt x="81" y="12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0" y="47"/>
                    <a:pt x="65" y="49"/>
                    <a:pt x="63" y="52"/>
                  </a:cubicBezTo>
                  <a:cubicBezTo>
                    <a:pt x="13" y="99"/>
                    <a:pt x="13" y="99"/>
                    <a:pt x="13" y="99"/>
                  </a:cubicBezTo>
                  <a:cubicBezTo>
                    <a:pt x="8" y="104"/>
                    <a:pt x="4" y="113"/>
                    <a:pt x="3" y="119"/>
                  </a:cubicBezTo>
                  <a:cubicBezTo>
                    <a:pt x="1" y="162"/>
                    <a:pt x="1" y="162"/>
                    <a:pt x="1" y="162"/>
                  </a:cubicBezTo>
                  <a:cubicBezTo>
                    <a:pt x="0" y="168"/>
                    <a:pt x="5" y="174"/>
                    <a:pt x="12" y="174"/>
                  </a:cubicBezTo>
                  <a:cubicBezTo>
                    <a:pt x="246" y="174"/>
                    <a:pt x="246" y="174"/>
                    <a:pt x="246" y="174"/>
                  </a:cubicBezTo>
                  <a:cubicBezTo>
                    <a:pt x="253" y="174"/>
                    <a:pt x="258" y="168"/>
                    <a:pt x="258" y="162"/>
                  </a:cubicBezTo>
                  <a:cubicBezTo>
                    <a:pt x="255" y="119"/>
                    <a:pt x="255" y="119"/>
                    <a:pt x="255" y="119"/>
                  </a:cubicBezTo>
                  <a:cubicBezTo>
                    <a:pt x="255" y="113"/>
                    <a:pt x="250" y="104"/>
                    <a:pt x="246" y="99"/>
                  </a:cubicBezTo>
                  <a:close/>
                  <a:moveTo>
                    <a:pt x="129" y="154"/>
                  </a:moveTo>
                  <a:cubicBezTo>
                    <a:pt x="97" y="154"/>
                    <a:pt x="71" y="128"/>
                    <a:pt x="71" y="96"/>
                  </a:cubicBezTo>
                  <a:cubicBezTo>
                    <a:pt x="71" y="64"/>
                    <a:pt x="97" y="38"/>
                    <a:pt x="129" y="38"/>
                  </a:cubicBezTo>
                  <a:cubicBezTo>
                    <a:pt x="161" y="38"/>
                    <a:pt x="187" y="64"/>
                    <a:pt x="187" y="96"/>
                  </a:cubicBezTo>
                  <a:cubicBezTo>
                    <a:pt x="187" y="128"/>
                    <a:pt x="161" y="154"/>
                    <a:pt x="129" y="154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84737">
                <a:defRPr/>
              </a:pPr>
              <a:endParaRPr lang="zh-CN" altLang="en-US" sz="19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3" name="Oval 285">
              <a:extLst>
                <a:ext uri="{FF2B5EF4-FFF2-40B4-BE49-F238E27FC236}">
                  <a16:creationId xmlns:a16="http://schemas.microsoft.com/office/drawing/2014/main" id="{B7D8A970-DB87-0907-C622-A7EC74E2E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074" y="4050556"/>
              <a:ext cx="79464" cy="81192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84737">
                <a:defRPr/>
              </a:pPr>
              <a:endParaRPr lang="zh-CN" altLang="en-US" sz="1900" dirty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14" name="文本框 30">
            <a:extLst>
              <a:ext uri="{FF2B5EF4-FFF2-40B4-BE49-F238E27FC236}">
                <a16:creationId xmlns:a16="http://schemas.microsoft.com/office/drawing/2014/main" id="{FBC77887-4580-CF61-3A04-DB203614B633}"/>
              </a:ext>
            </a:extLst>
          </p:cNvPr>
          <p:cNvSpPr txBox="1"/>
          <p:nvPr/>
        </p:nvSpPr>
        <p:spPr>
          <a:xfrm>
            <a:off x="4973712" y="4652130"/>
            <a:ext cx="4385483" cy="361046"/>
          </a:xfrm>
          <a:prstGeom prst="rect">
            <a:avLst/>
          </a:prstGeom>
          <a:noFill/>
        </p:spPr>
        <p:txBody>
          <a:bodyPr wrap="square" lIns="98474" tIns="49237" rIns="98474" bIns="49237" rtlCol="0">
            <a:spAutoFit/>
          </a:bodyPr>
          <a:lstStyle/>
          <a:p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电话：</a:t>
            </a:r>
            <a:r>
              <a:rPr lang="en-US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13826401946 / 18611884156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4032" y="3475148"/>
            <a:ext cx="396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4942" y="3475148"/>
            <a:ext cx="396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文本框 7"/>
          <p:cNvSpPr txBox="1"/>
          <p:nvPr/>
        </p:nvSpPr>
        <p:spPr>
          <a:xfrm>
            <a:off x="-31" y="4347324"/>
            <a:ext cx="1254974" cy="5457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6894" tIns="56894" rIns="56894" bIns="56894" numCol="1" spcCol="42671" rtlCol="0" anchor="ctr">
            <a:spAutoFit/>
          </a:bodyPr>
          <a:lstStyle/>
          <a:p>
            <a:pPr defTabSz="924537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接待室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18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平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-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可座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10-15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人</a:t>
            </a:r>
          </a:p>
        </p:txBody>
      </p:sp>
      <p:sp>
        <p:nvSpPr>
          <p:cNvPr id="13" name="文本框 75"/>
          <p:cNvSpPr txBox="1"/>
          <p:nvPr/>
        </p:nvSpPr>
        <p:spPr>
          <a:xfrm>
            <a:off x="8082919" y="1697600"/>
            <a:ext cx="1061081" cy="3611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6894" tIns="56894" rIns="56894" bIns="56894" numCol="1" spcCol="42671" rtlCol="0" anchor="ctr">
            <a:spAutoFit/>
          </a:bodyPr>
          <a:lstStyle/>
          <a:p>
            <a:pPr defTabSz="924537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公司前台</a:t>
            </a:r>
          </a:p>
        </p:txBody>
      </p:sp>
      <p:pic>
        <p:nvPicPr>
          <p:cNvPr id="1026" name="Picture 2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32" y="260438"/>
            <a:ext cx="396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29058" y="260438"/>
            <a:ext cx="396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文本框 24">
            <a:extLst>
              <a:ext uri="{FF2B5EF4-FFF2-40B4-BE49-F238E27FC236}">
                <a16:creationId xmlns:a16="http://schemas.microsoft.com/office/drawing/2014/main" id="{81B89C12-DFD2-F11E-3016-0E45353B3458}"/>
              </a:ext>
            </a:extLst>
          </p:cNvPr>
          <p:cNvSpPr txBox="1"/>
          <p:nvPr/>
        </p:nvSpPr>
        <p:spPr>
          <a:xfrm>
            <a:off x="0" y="142852"/>
            <a:ext cx="4355976" cy="4996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6894" tIns="56894" rIns="56894" bIns="56894" numCol="1" spcCol="42671" rtlCol="0" anchor="ctr">
            <a:spAutoFit/>
          </a:bodyPr>
          <a:lstStyle/>
          <a:p>
            <a:pPr defTabSz="924537"/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场地介绍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-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前台和接待室</a:t>
            </a:r>
          </a:p>
        </p:txBody>
      </p:sp>
    </p:spTree>
    <p:extLst>
      <p:ext uri="{BB962C8B-B14F-4D97-AF65-F5344CB8AC3E}">
        <p14:creationId xmlns:p14="http://schemas.microsoft.com/office/powerpoint/2010/main" val="127406873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5497" y="4347324"/>
            <a:ext cx="1219446" cy="5457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6894" tIns="56894" rIns="56894" bIns="56894" numCol="1" spcCol="42671" rtlCol="0" anchor="ctr">
            <a:spAutoFit/>
          </a:bodyPr>
          <a:lstStyle/>
          <a:p>
            <a:pPr defTabSz="924537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监控室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25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平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-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可座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15-20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人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7889058" y="1605266"/>
            <a:ext cx="1254943" cy="5457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6894" tIns="56894" rIns="56894" bIns="56894" numCol="1" spcCol="42671" rtlCol="0" anchor="ctr">
            <a:spAutoFit/>
          </a:bodyPr>
          <a:lstStyle/>
          <a:p>
            <a:pPr defTabSz="924537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会议室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25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平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-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可开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6-12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人会</a:t>
            </a:r>
          </a:p>
        </p:txBody>
      </p:sp>
      <p:pic>
        <p:nvPicPr>
          <p:cNvPr id="1028" name="Picture 4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4032" y="3429000"/>
            <a:ext cx="396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54942" y="3429000"/>
            <a:ext cx="396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14290"/>
            <a:ext cx="396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29058" y="214290"/>
            <a:ext cx="3960000" cy="32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文本框 24">
            <a:extLst>
              <a:ext uri="{FF2B5EF4-FFF2-40B4-BE49-F238E27FC236}">
                <a16:creationId xmlns:a16="http://schemas.microsoft.com/office/drawing/2014/main" id="{895772A1-8AE9-3BC8-92B6-76AEFFD5ED3D}"/>
              </a:ext>
            </a:extLst>
          </p:cNvPr>
          <p:cNvSpPr txBox="1"/>
          <p:nvPr/>
        </p:nvSpPr>
        <p:spPr>
          <a:xfrm>
            <a:off x="0" y="142852"/>
            <a:ext cx="4355976" cy="4996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6894" tIns="56894" rIns="56894" bIns="56894" numCol="1" spcCol="42671" rtlCol="0" anchor="ctr">
            <a:spAutoFit/>
          </a:bodyPr>
          <a:lstStyle/>
          <a:p>
            <a:pPr defTabSz="924537"/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场地介绍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-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会议室</a:t>
            </a:r>
            <a:r>
              <a:rPr lang="en-US" altLang="zh-CN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&amp;</a:t>
            </a:r>
            <a:r>
              <a:rPr lang="zh-CN" altLang="en-US" sz="2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Light"/>
              </a:rPr>
              <a:t>监控室</a:t>
            </a:r>
          </a:p>
        </p:txBody>
      </p:sp>
    </p:spTree>
    <p:extLst>
      <p:ext uri="{BB962C8B-B14F-4D97-AF65-F5344CB8AC3E}">
        <p14:creationId xmlns:p14="http://schemas.microsoft.com/office/powerpoint/2010/main" val="157513043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179</Words>
  <Application>Microsoft Office PowerPoint</Application>
  <PresentationFormat>全屏显示(4:3)</PresentationFormat>
  <Paragraphs>22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PingFang SC Light</vt:lpstr>
      <vt:lpstr>PingFang SC Semibold</vt:lpstr>
      <vt:lpstr>思源宋体 CN Heavy</vt:lpstr>
      <vt:lpstr>SimSun</vt:lpstr>
      <vt:lpstr>微软雅黑</vt:lpstr>
      <vt:lpstr>Arial</vt:lpstr>
      <vt:lpstr>Calibri</vt:lpstr>
      <vt:lpstr>Helvetica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会议室@神启数据</dc:title>
  <dc:creator>A</dc:creator>
  <cp:lastModifiedBy>yu chen</cp:lastModifiedBy>
  <cp:revision>25</cp:revision>
  <dcterms:created xsi:type="dcterms:W3CDTF">2023-02-03T02:17:04Z</dcterms:created>
  <dcterms:modified xsi:type="dcterms:W3CDTF">2026-02-25T08:23:09Z</dcterms:modified>
  <dc:description>﻿﻿﻿﻿​﻿⁢﻿﻿﻿﻿﻿﻿﻿﻿﻿﻿﻿﻿﻿‍​‌⁢﻿⁡﻿‍</dc:description>
</cp:coreProperties>
</file>