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6"/>
  </p:notesMasterIdLst>
  <p:handoutMasterIdLst>
    <p:handoutMasterId r:id="rId27"/>
  </p:handoutMasterIdLst>
  <p:sldIdLst>
    <p:sldId id="9336323" r:id="rId2"/>
    <p:sldId id="9336362" r:id="rId3"/>
    <p:sldId id="9336364" r:id="rId4"/>
    <p:sldId id="9336381" r:id="rId5"/>
    <p:sldId id="9336382" r:id="rId6"/>
    <p:sldId id="9336366" r:id="rId7"/>
    <p:sldId id="9336383" r:id="rId8"/>
    <p:sldId id="9336367" r:id="rId9"/>
    <p:sldId id="9336370" r:id="rId10"/>
    <p:sldId id="9336384" r:id="rId11"/>
    <p:sldId id="9336371" r:id="rId12"/>
    <p:sldId id="9336348" r:id="rId13"/>
    <p:sldId id="9336385" r:id="rId14"/>
    <p:sldId id="9336390" r:id="rId15"/>
    <p:sldId id="9336391" r:id="rId16"/>
    <p:sldId id="9336372" r:id="rId17"/>
    <p:sldId id="9336386" r:id="rId18"/>
    <p:sldId id="9336373" r:id="rId19"/>
    <p:sldId id="9336374" r:id="rId20"/>
    <p:sldId id="9336375" r:id="rId21"/>
    <p:sldId id="9336387" r:id="rId22"/>
    <p:sldId id="9336376" r:id="rId23"/>
    <p:sldId id="9336388" r:id="rId24"/>
    <p:sldId id="9336314" r:id="rId25"/>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8479F7F8-D6F7-4FB5-A6E4-CD1DC14A0B70}">
          <p14:sldIdLst>
            <p14:sldId id="9336323"/>
            <p14:sldId id="9336362"/>
            <p14:sldId id="9336364"/>
            <p14:sldId id="9336381"/>
            <p14:sldId id="9336382"/>
            <p14:sldId id="9336366"/>
            <p14:sldId id="9336383"/>
            <p14:sldId id="9336367"/>
            <p14:sldId id="9336370"/>
            <p14:sldId id="9336384"/>
            <p14:sldId id="9336371"/>
            <p14:sldId id="9336348"/>
            <p14:sldId id="9336385"/>
            <p14:sldId id="9336390"/>
            <p14:sldId id="9336391"/>
            <p14:sldId id="9336372"/>
            <p14:sldId id="9336386"/>
            <p14:sldId id="9336373"/>
            <p14:sldId id="9336374"/>
            <p14:sldId id="9336375"/>
            <p14:sldId id="9336387"/>
            <p14:sldId id="9336376"/>
            <p14:sldId id="9336388"/>
            <p14:sldId id="9336314"/>
          </p14:sldIdLst>
        </p14:section>
      </p14:sectionLst>
    </p:ext>
    <p:ext uri="{EFAFB233-063F-42B5-8137-9DF3F51BA10A}">
      <p15:sldGuideLst xmlns:p15="http://schemas.microsoft.com/office/powerpoint/2012/main">
        <p15:guide id="1" orient="horz" pos="2276"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何远明" initials="何远明" lastIdx="1" clrIdx="0"/>
  <p:cmAuthor id="2" name="邢 华洋" initials="邢" lastIdx="1" clrIdx="1"/>
  <p:cmAuthor id="3" name="Vincent Liu" initials="VL"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F3FF"/>
    <a:srgbClr val="FF0000"/>
    <a:srgbClr val="F2F2F2"/>
    <a:srgbClr val="DEDEDE"/>
    <a:srgbClr val="4BC3FF"/>
    <a:srgbClr val="6E737A"/>
    <a:srgbClr val="585858"/>
    <a:srgbClr val="7F7F7F"/>
    <a:srgbClr val="FFFFFF"/>
    <a:srgbClr val="EFF1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815" autoAdjust="0"/>
    <p:restoredTop sz="96395" autoAdjust="0"/>
  </p:normalViewPr>
  <p:slideViewPr>
    <p:cSldViewPr snapToGrid="0" showGuides="1">
      <p:cViewPr>
        <p:scale>
          <a:sx n="81" d="100"/>
          <a:sy n="81" d="100"/>
        </p:scale>
        <p:origin x="869" y="374"/>
      </p:cViewPr>
      <p:guideLst>
        <p:guide orient="horz" pos="2276"/>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75" d="100"/>
        <a:sy n="75" d="100"/>
      </p:scale>
      <p:origin x="0" y="0"/>
    </p:cViewPr>
  </p:sorterViewPr>
  <p:notesViewPr>
    <p:cSldViewPr snapToGrid="0">
      <p:cViewPr varScale="1">
        <p:scale>
          <a:sx n="99" d="100"/>
          <a:sy n="99" d="100"/>
        </p:scale>
        <p:origin x="375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 Type="http://schemas.openxmlformats.org/officeDocument/2006/relationships/slide" Target="slides/slide1.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handoutMaster" Target="handoutMasters/handoutMaster1.xml"/><Relationship Id="rId28" Type="http://schemas.openxmlformats.org/officeDocument/2006/relationships/tags" Target="tags/tag1.xml"/><Relationship Id="rId29" Type="http://schemas.openxmlformats.org/officeDocument/2006/relationships/commentAuthors" Target="commentAuthors.xml"/><Relationship Id="rId3" Type="http://schemas.openxmlformats.org/officeDocument/2006/relationships/slide" Target="slides/slide2.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0D0AD29-D2CB-4930-8D9E-BB08DD7C7803}" type="datetimeFigureOut">
              <a:rPr lang="zh-CN" altLang="en-US" smtClean="0"/>
              <a:t>2026/3/9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0CC26F-C6FF-43E2-A352-9B1ED310C819}"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t>2026/3/9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203191A-92A8-4D0F-9BC0-492B7FA552F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12165-A4B7-C4F4-8736-E8C10516942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EADAF85-B573-0680-94FD-CC1964AE06B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1840BB3-C072-D55B-DB4E-7B77C7090FF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C40660E-9A9E-BBEC-E829-E8A14708067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2316528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8E68A-FB54-551C-7C32-F4AC6AA3379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83E4535-6920-4129-2693-ADA6A46C70D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8B5A071-E946-E1E1-515D-C910C9C5E0B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FF6D0FA-A71C-D7B3-60D6-25B9E47BBB0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9623569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9C94C-7D08-8529-7C6F-0AAA25D39AE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DE1DC79-5333-E904-8CA9-876923D0FBD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952B514-9815-2F8F-FDCC-6D8675AB08D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1026719-A528-1292-B451-79D2FD9B17A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6538442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82338-E5B4-818A-7C4E-1D6D074BC4A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9DA73EB-546F-0253-0BAE-6764D81BAAD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27C6F24-3347-4ADE-832C-7114E6452F4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3204343-F460-91B8-8451-CB566FA0853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6</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2947815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8E305-832C-8AAD-E029-97CA85A244C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D0AAF54-820D-2360-6E94-C044FB6ABCE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1F2B1A6-3E6C-22F1-A949-A33AA541987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9E77A4D-9DF0-FB5C-9A36-94F0100BFDB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4014410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EBEA1-E523-D41A-5953-3CE0CC13DD4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45B19A7-3169-2740-E17A-4E7C013C2D3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6A99E01-EE6A-9348-9746-C71BDB543B0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AFE18A5-3D8A-6F39-38EE-F7453FEE066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8</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8239836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5EEDE-63C1-5D95-9BDD-E0FCFC361B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EC4A3A3-D3B5-F4C1-45D1-DC76C626AE3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E8927EC-9823-9F93-02C7-37474EC3A1C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87CCFAB-FC32-5629-44B3-AFE6F325ECB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9</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5269264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4F753-D875-783A-AC90-F694D3CBD81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32F3816-2440-CB51-362D-C76DB2CE0DF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ED71375-6501-E319-7B73-133964C178E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AC0434D-2D6F-B069-B95A-F2E1274775D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10</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4971205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4CAD6-A2E9-662E-150B-4B2E7FC126D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9F3BFC4-F4B4-7D98-03CD-5DDDE68B70F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FFDC0B4-FA60-0588-9AB4-0E3BEC2EAC0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D3B44D5-B233-8F45-F154-F116B587DB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2363306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27958-DA15-D8F4-5C8B-8C8AF03E91C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12010BB-9A91-659F-AF8D-73B6689CCCB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6CA2E3C-DFA9-6135-1ADC-E8BB15230B2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450A1FC-BDC1-B4DB-1FCA-D6CB905E0E5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5016100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3239D-BE8B-40D3-2A65-3A59C0FEEA4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E1A5E3B-6E21-095E-4B14-7AD8FDC8BC8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AFE480B-E65D-DC94-6D5E-C47A440B256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44A306E-34D2-581C-9B08-87BE967F6B3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9809262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F1170-1D50-739F-6AC0-5E3944263F5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A0B8524-23E6-60D8-E1FD-3F590077016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1A37500-2541-9C1C-8675-81AB8C49147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B834481-2248-56ED-4E74-3D8307148E7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8669376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98ACA-59A3-6E2B-3651-40D288708F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3A229BC-08C1-4C96-2FE8-0FB4366F441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49F814F-9ED1-B604-BEB8-38D5ADE3F76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2D976E6-39EB-5294-D358-5BBD2BC639D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16</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42200076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FE1BD-8609-66F8-6109-55084AEE4ED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B1674F6-911E-4871-4587-F26CDE42CEE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E762EFD-8854-100F-D92C-1B950EA5F19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8012584-586E-D613-BAE4-B169EEB782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5237707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46617-A402-BE4D-6A4B-10E1E45E98D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9083A21-77F8-F1EA-EA24-0254F2AE856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8C7BF9C-D9F4-2FAE-812B-13C332EA437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D08627A-11A8-A989-19AE-DD69709E0D2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18</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2247144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3BBCC-0CF3-C598-89D6-33C7F72E8E4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6EAEA62-F5D6-AA07-E7BA-7BDEF406A9D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09528BA-1227-0B88-4A4A-B03D1FD6D0D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6432959-3F27-291C-2E9F-0CC4FF4B164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19</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41302145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EC8F6-7975-4CEE-4646-FAC0C269F68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9D4AF7E-4118-6C7C-0773-CC3ACC03624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09A80ED-71EB-0E29-74CC-E5AF092CF24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950F9FD-4BC9-0097-29A4-55BC0290E6E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20</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6005860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46E7B-CFE7-975B-7361-5EF2B3E0C74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7542BDA-E28B-8432-737A-84E1050FC7A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E3ACA05-BF41-E069-FB79-3CCFF0E52CA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1A1AD68-DEB1-5E12-356E-29F67AF3B43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1131565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44CC9-B952-D095-38B8-9AC1DB6618D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039B9FF-0BFF-4661-15FF-62AA5327B55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BD67A31-6AF2-9D80-2DAE-E36D7E7C041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E5153F0-233E-CCA6-7A30-7D485CEE281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3997694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EECDF-0F80-07FF-1BD6-A37F9A9F1D2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A5F3173-95B4-E91E-D251-3D6982F2F8F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9F8A900-0DC0-D5C3-7349-168BA6B7512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720AC23-E0D0-D8A5-AD12-A97834D91BB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E6FDB6-6D2B-46C1-9FA1-D82906A37C3A}"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731148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21" name="图形 20"/>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0"/>
            <a:ext cx="12192000" cy="6858000"/>
          </a:xfrm>
          <a:prstGeom prst="rect">
            <a:avLst/>
          </a:prstGeom>
        </p:spPr>
      </p:pic>
      <p:grpSp>
        <p:nvGrpSpPr>
          <p:cNvPr id="33" name="组合 32"/>
          <p:cNvGrpSpPr/>
          <p:nvPr userDrawn="1"/>
        </p:nvGrpSpPr>
        <p:grpSpPr>
          <a:xfrm>
            <a:off x="5650534" y="2839475"/>
            <a:ext cx="4995718" cy="1832979"/>
            <a:chOff x="5650534" y="2735779"/>
            <a:chExt cx="4995718" cy="1832979"/>
          </a:xfrm>
        </p:grpSpPr>
        <p:sp>
          <p:nvSpPr>
            <p:cNvPr id="34" name="文本框 33"/>
            <p:cNvSpPr txBox="1"/>
            <p:nvPr/>
          </p:nvSpPr>
          <p:spPr>
            <a:xfrm>
              <a:off x="5650534" y="2735779"/>
              <a:ext cx="1528111" cy="1832979"/>
            </a:xfrm>
            <a:prstGeom prst="rect">
              <a:avLst/>
            </a:prstGeom>
            <a:noFill/>
          </p:spPr>
          <p:txBody>
            <a:bodyPr wrap="none" rtlCol="0">
              <a:prstTxWarp prst="textPlain">
                <a:avLst/>
              </a:prstTxWarp>
              <a:spAutoFit/>
            </a:bodyPr>
            <a:lstStyle/>
            <a:p>
              <a:r>
                <a:rPr lang="en-US" altLang="zh-CN" sz="9600" dirty="0">
                  <a:solidFill>
                    <a:schemeClr val="tx2">
                      <a:alpha val="16000"/>
                    </a:schemeClr>
                  </a:solidFill>
                  <a:latin typeface="Impact" panose="020B0806030902050204" pitchFamily="34" charset="0"/>
                </a:rPr>
                <a:t>2</a:t>
              </a:r>
              <a:endParaRPr lang="zh-CN" altLang="en-US" sz="9600" dirty="0">
                <a:solidFill>
                  <a:schemeClr val="tx2">
                    <a:alpha val="16000"/>
                  </a:schemeClr>
                </a:solidFill>
                <a:latin typeface="Impact" panose="020B0806030902050204" pitchFamily="34" charset="0"/>
              </a:endParaRPr>
            </a:p>
          </p:txBody>
        </p:sp>
        <p:sp>
          <p:nvSpPr>
            <p:cNvPr id="35" name="文本框 34"/>
            <p:cNvSpPr txBox="1"/>
            <p:nvPr/>
          </p:nvSpPr>
          <p:spPr>
            <a:xfrm>
              <a:off x="6806403" y="2735779"/>
              <a:ext cx="1528111" cy="1832979"/>
            </a:xfrm>
            <a:prstGeom prst="rect">
              <a:avLst/>
            </a:prstGeom>
            <a:noFill/>
          </p:spPr>
          <p:txBody>
            <a:bodyPr wrap="none" rtlCol="0">
              <a:prstTxWarp prst="textPlain">
                <a:avLst/>
              </a:prstTxWarp>
              <a:spAutoFit/>
            </a:bodyPr>
            <a:lstStyle/>
            <a:p>
              <a:r>
                <a:rPr lang="en-US" altLang="zh-CN" sz="9600" dirty="0">
                  <a:solidFill>
                    <a:schemeClr val="tx2">
                      <a:alpha val="16000"/>
                    </a:schemeClr>
                  </a:solidFill>
                  <a:latin typeface="Impact" panose="020B0806030902050204" pitchFamily="34" charset="0"/>
                </a:rPr>
                <a:t>0</a:t>
              </a:r>
              <a:endParaRPr lang="zh-CN" altLang="en-US" sz="9600" dirty="0">
                <a:solidFill>
                  <a:schemeClr val="tx2">
                    <a:alpha val="16000"/>
                  </a:schemeClr>
                </a:solidFill>
                <a:latin typeface="Impact" panose="020B0806030902050204" pitchFamily="34" charset="0"/>
              </a:endParaRPr>
            </a:p>
          </p:txBody>
        </p:sp>
        <p:sp>
          <p:nvSpPr>
            <p:cNvPr id="36" name="文本框 35"/>
            <p:cNvSpPr txBox="1"/>
            <p:nvPr/>
          </p:nvSpPr>
          <p:spPr>
            <a:xfrm>
              <a:off x="7962271" y="2735779"/>
              <a:ext cx="1528111" cy="1832979"/>
            </a:xfrm>
            <a:prstGeom prst="rect">
              <a:avLst/>
            </a:prstGeom>
            <a:noFill/>
          </p:spPr>
          <p:txBody>
            <a:bodyPr wrap="none" rtlCol="0">
              <a:prstTxWarp prst="textPlain">
                <a:avLst/>
              </a:prstTxWarp>
              <a:spAutoFit/>
            </a:bodyPr>
            <a:lstStyle/>
            <a:p>
              <a:r>
                <a:rPr lang="en-US" altLang="zh-CN" sz="9600" dirty="0">
                  <a:solidFill>
                    <a:schemeClr val="tx2">
                      <a:alpha val="16000"/>
                    </a:schemeClr>
                  </a:solidFill>
                  <a:latin typeface="Impact" panose="020B0806030902050204" pitchFamily="34" charset="0"/>
                </a:rPr>
                <a:t>2</a:t>
              </a:r>
              <a:endParaRPr lang="zh-CN" altLang="en-US" sz="9600" dirty="0">
                <a:solidFill>
                  <a:schemeClr val="tx2">
                    <a:alpha val="16000"/>
                  </a:schemeClr>
                </a:solidFill>
                <a:latin typeface="Impact" panose="020B0806030902050204" pitchFamily="34" charset="0"/>
              </a:endParaRPr>
            </a:p>
          </p:txBody>
        </p:sp>
        <p:sp>
          <p:nvSpPr>
            <p:cNvPr id="37" name="文本框 36"/>
            <p:cNvSpPr txBox="1"/>
            <p:nvPr/>
          </p:nvSpPr>
          <p:spPr>
            <a:xfrm>
              <a:off x="9118141" y="2735779"/>
              <a:ext cx="1528111" cy="1832979"/>
            </a:xfrm>
            <a:prstGeom prst="rect">
              <a:avLst/>
            </a:prstGeom>
            <a:noFill/>
          </p:spPr>
          <p:txBody>
            <a:bodyPr wrap="none" rtlCol="0">
              <a:prstTxWarp prst="textPlain">
                <a:avLst/>
              </a:prstTxWarp>
              <a:spAutoFit/>
            </a:bodyPr>
            <a:lstStyle/>
            <a:p>
              <a:r>
                <a:rPr lang="en-US" altLang="zh-CN" sz="9600" dirty="0">
                  <a:solidFill>
                    <a:schemeClr val="tx2">
                      <a:alpha val="16000"/>
                    </a:schemeClr>
                  </a:solidFill>
                  <a:latin typeface="Impact" panose="020B0806030902050204" pitchFamily="34" charset="0"/>
                </a:rPr>
                <a:t>6</a:t>
              </a:r>
              <a:endParaRPr lang="zh-CN" altLang="en-US" sz="9600" dirty="0">
                <a:solidFill>
                  <a:schemeClr val="tx2">
                    <a:alpha val="16000"/>
                  </a:schemeClr>
                </a:solidFill>
                <a:latin typeface="Impact" panose="020B0806030902050204" pitchFamily="34" charset="0"/>
              </a:endParaRPr>
            </a:p>
          </p:txBody>
        </p:sp>
      </p:grpSp>
      <p:sp>
        <p:nvSpPr>
          <p:cNvPr id="39" name="副标题 9800"/>
          <p:cNvSpPr>
            <a:spLocks noGrp="1"/>
          </p:cNvSpPr>
          <p:nvPr>
            <p:ph type="subTitle" idx="1"/>
          </p:nvPr>
        </p:nvSpPr>
        <p:spPr>
          <a:xfrm>
            <a:off x="1041399" y="5633743"/>
            <a:ext cx="7175501" cy="558799"/>
          </a:xfrm>
          <a:prstGeom prst="rect">
            <a:avLst/>
          </a:prstGeom>
        </p:spPr>
        <p:txBody>
          <a:bodyPr anchor="t">
            <a:normAutofit/>
          </a:bodyPr>
          <a:lstStyle>
            <a:lvl1pPr marL="0" indent="0" algn="l">
              <a:buNone/>
              <a:defRPr sz="1600">
                <a:solidFill>
                  <a:srgbClr val="3F82C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0" name="标题 9801"/>
          <p:cNvSpPr>
            <a:spLocks noGrp="1"/>
          </p:cNvSpPr>
          <p:nvPr>
            <p:ph type="ctrTitle"/>
          </p:nvPr>
        </p:nvSpPr>
        <p:spPr>
          <a:xfrm>
            <a:off x="1041399" y="3086100"/>
            <a:ext cx="7175501" cy="2237785"/>
          </a:xfrm>
        </p:spPr>
        <p:txBody>
          <a:bodyPr anchor="b">
            <a:normAutofit/>
          </a:bodyPr>
          <a:lstStyle>
            <a:lvl1pPr algn="l">
              <a:defRPr sz="4000">
                <a:solidFill>
                  <a:srgbClr val="3F82C4"/>
                </a:solidFill>
              </a:defRPr>
            </a:lvl1pPr>
          </a:lstStyle>
          <a:p>
            <a:r>
              <a:rPr lang="en-US" dirty="0"/>
              <a:t>Click to edit Master title style</a:t>
            </a:r>
            <a:endParaRPr lang="zh-CN" altLang="en-US" dirty="0"/>
          </a:p>
        </p:txBody>
      </p:sp>
      <p:sp>
        <p:nvSpPr>
          <p:cNvPr id="41" name="文本占位符 11"/>
          <p:cNvSpPr>
            <a:spLocks noGrp="1"/>
          </p:cNvSpPr>
          <p:nvPr>
            <p:ph type="body" sz="quarter" idx="10" hasCustomPrompt="1"/>
          </p:nvPr>
        </p:nvSpPr>
        <p:spPr>
          <a:xfrm>
            <a:off x="8331199" y="3086100"/>
            <a:ext cx="2565401" cy="245363"/>
          </a:xfrm>
          <a:prstGeom prst="rect">
            <a:avLst/>
          </a:prstGeom>
        </p:spPr>
        <p:txBody>
          <a:bodyPr vert="horz" anchor="ctr">
            <a:noAutofit/>
          </a:bodyPr>
          <a:lstStyle>
            <a:lvl1pPr marL="0" indent="0" algn="l">
              <a:buNone/>
              <a:defRPr sz="1400" b="0">
                <a:solidFill>
                  <a:schemeClr val="accent1">
                    <a:lumMod val="60000"/>
                    <a:lumOff val="4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
        <p:nvSpPr>
          <p:cNvPr id="42" name="文本占位符 12"/>
          <p:cNvSpPr>
            <a:spLocks noGrp="1"/>
          </p:cNvSpPr>
          <p:nvPr>
            <p:ph type="body" sz="quarter" idx="11" hasCustomPrompt="1"/>
          </p:nvPr>
        </p:nvSpPr>
        <p:spPr>
          <a:xfrm>
            <a:off x="8331199" y="3382371"/>
            <a:ext cx="2565401" cy="245363"/>
          </a:xfrm>
          <a:prstGeom prst="rect">
            <a:avLst/>
          </a:prstGeom>
        </p:spPr>
        <p:txBody>
          <a:bodyPr vert="horz" anchor="ctr">
            <a:noAutofit/>
          </a:bodyPr>
          <a:lstStyle>
            <a:lvl1pPr marL="0" indent="0" algn="l">
              <a:buNone/>
              <a:defRPr sz="1400" b="0">
                <a:solidFill>
                  <a:schemeClr val="accent1">
                    <a:lumMod val="60000"/>
                    <a:lumOff val="4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cxnSp>
        <p:nvCxnSpPr>
          <p:cNvPr id="43" name="直接连接符 42"/>
          <p:cNvCxnSpPr/>
          <p:nvPr userDrawn="1"/>
        </p:nvCxnSpPr>
        <p:spPr>
          <a:xfrm>
            <a:off x="1041399" y="5511167"/>
            <a:ext cx="7175501" cy="0"/>
          </a:xfrm>
          <a:prstGeom prst="line">
            <a:avLst/>
          </a:prstGeom>
          <a:ln>
            <a:solidFill>
              <a:srgbClr val="D1E1EB"/>
            </a:solidFill>
          </a:ln>
        </p:spPr>
        <p:style>
          <a:lnRef idx="1">
            <a:schemeClr val="accent1"/>
          </a:lnRef>
          <a:fillRef idx="0">
            <a:schemeClr val="accent1"/>
          </a:fillRef>
          <a:effectRef idx="0">
            <a:schemeClr val="accent1"/>
          </a:effectRef>
          <a:fontRef idx="minor">
            <a:schemeClr val="tx1"/>
          </a:fontRef>
        </p:style>
      </p:cxnSp>
      <p:pic>
        <p:nvPicPr>
          <p:cNvPr id="44" name="图片 43" descr="3车云logo(1)"/>
          <p:cNvPicPr>
            <a:picLocks noChangeAspect="1"/>
          </p:cNvPicPr>
          <p:nvPr userDrawn="1"/>
        </p:nvPicPr>
        <p:blipFill>
          <a:blip r:embed="rId4"/>
          <a:stretch>
            <a:fillRect/>
          </a:stretch>
        </p:blipFill>
        <p:spPr>
          <a:xfrm>
            <a:off x="5406599" y="463050"/>
            <a:ext cx="2799607" cy="720000"/>
          </a:xfrm>
          <a:prstGeom prst="rect">
            <a:avLst/>
          </a:prstGeom>
          <a:effectLst>
            <a:outerShdw blurRad="76200" dir="13500000" sy="23000" kx="1200000" algn="br" rotWithShape="0">
              <a:prstClr val="black">
                <a:alpha val="20000"/>
              </a:prstClr>
            </a:outerShdw>
            <a:reflection stA="45000" endPos="0" dist="50800" dir="5400000" sy="-100000" algn="bl" rotWithShape="0"/>
          </a:effectLst>
        </p:spPr>
      </p:pic>
      <p:sp>
        <p:nvSpPr>
          <p:cNvPr id="45" name="副标题 10"/>
          <p:cNvSpPr txBox="1"/>
          <p:nvPr userDrawn="1"/>
        </p:nvSpPr>
        <p:spPr>
          <a:xfrm>
            <a:off x="1041399" y="5633743"/>
            <a:ext cx="7175501" cy="558799"/>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400" dirty="0">
                <a:solidFill>
                  <a:schemeClr val="accent5"/>
                </a:solidFill>
                <a:latin typeface="+mn-lt"/>
              </a:rPr>
              <a:t>Copyright(c) www.cheyun.com</a:t>
            </a:r>
            <a:endParaRPr lang="zh-CN" altLang="en-US" sz="1400" dirty="0">
              <a:solidFill>
                <a:schemeClr val="accent5"/>
              </a:solidFill>
              <a:latin typeface="+mn-lt"/>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文本占位符 6"/>
          <p:cNvSpPr>
            <a:spLocks noGrp="1"/>
          </p:cNvSpPr>
          <p:nvPr>
            <p:ph type="body" sz="quarter" idx="14"/>
          </p:nvPr>
        </p:nvSpPr>
        <p:spPr>
          <a:xfrm>
            <a:off x="669925" y="1130300"/>
            <a:ext cx="10850563" cy="418191"/>
          </a:xfrm>
          <a:prstGeom prst="rect">
            <a:avLst/>
          </a:prstGeom>
        </p:spPr>
        <p:txBody>
          <a:bodyPr>
            <a:spAutoFit/>
          </a:bodyPr>
          <a:lstStyle>
            <a:lvl1pPr>
              <a:lnSpc>
                <a:spcPct val="150000"/>
              </a:lnSpc>
              <a:defRPr sz="1600">
                <a:latin typeface="+mn-ea"/>
                <a:ea typeface="+mn-ea"/>
              </a:defRPr>
            </a:lvl1pPr>
            <a:lvl2pPr marL="457200" indent="0">
              <a:buNone/>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lang="zh-CN" altLang="en-US" dirty="0"/>
              <a:t>单击此处编辑母版文本样式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dirty="0"/>
              <a:t>Click to edit Master title style</a:t>
            </a:r>
            <a:endParaRPr lang="en-US" dirty="0"/>
          </a:p>
        </p:txBody>
      </p:sp>
      <p:grpSp>
        <p:nvGrpSpPr>
          <p:cNvPr id="3" name="组合 2"/>
          <p:cNvGrpSpPr/>
          <p:nvPr userDrawn="1"/>
        </p:nvGrpSpPr>
        <p:grpSpPr>
          <a:xfrm>
            <a:off x="0" y="0"/>
            <a:ext cx="5467546" cy="360000"/>
            <a:chOff x="0" y="0"/>
            <a:chExt cx="5467546" cy="433637"/>
          </a:xfrm>
        </p:grpSpPr>
        <p:sp>
          <p:nvSpPr>
            <p:cNvPr id="17" name="iṧ1iḑé"/>
            <p:cNvSpPr/>
            <p:nvPr userDrawn="1"/>
          </p:nvSpPr>
          <p:spPr bwMode="auto">
            <a:xfrm>
              <a:off x="0" y="0"/>
              <a:ext cx="1696826" cy="431736"/>
            </a:xfrm>
            <a:prstGeom prst="rect">
              <a:avLst/>
            </a:prstGeom>
            <a:solidFill>
              <a:schemeClr val="accent1">
                <a:lumMod val="100000"/>
              </a:schemeClr>
            </a:solidFill>
            <a:ln w="19050">
              <a:noFill/>
              <a:round/>
            </a:ln>
          </p:spPr>
          <p:txBody>
            <a:bodyPr wrap="square" lIns="91440" tIns="45720" rIns="91440" bIns="45720" anchor="t">
              <a:noAutofit/>
            </a:bodyPr>
            <a:lstStyle/>
            <a:p>
              <a:r>
                <a:rPr lang="en-US" altLang="zh-CN" sz="1600" i="1" u="sng" dirty="0">
                  <a:solidFill>
                    <a:schemeClr val="bg1"/>
                  </a:solidFill>
                  <a:latin typeface="Arial Black" panose="020B0A04020102020204" pitchFamily="34" charset="0"/>
                </a:rPr>
                <a:t>1</a:t>
              </a:r>
              <a:endParaRPr sz="1600" i="1" u="sng" dirty="0">
                <a:solidFill>
                  <a:schemeClr val="bg1"/>
                </a:solidFill>
                <a:latin typeface="Arial Black" panose="020B0A04020102020204" pitchFamily="34" charset="0"/>
              </a:endParaRPr>
            </a:p>
          </p:txBody>
        </p:sp>
        <p:sp>
          <p:nvSpPr>
            <p:cNvPr id="18" name="iṣľïḋé"/>
            <p:cNvSpPr/>
            <p:nvPr userDrawn="1"/>
          </p:nvSpPr>
          <p:spPr>
            <a:xfrm>
              <a:off x="490037" y="0"/>
              <a:ext cx="1206788" cy="431736"/>
            </a:xfrm>
            <a:prstGeom prst="rect">
              <a:avLst/>
            </a:prstGeom>
            <a:noFill/>
          </p:spPr>
          <p:txBody>
            <a:bodyPr wrap="square" lIns="91440" tIns="45720" rIns="91440" bIns="45720" anchor="ctr">
              <a:noAutofit/>
            </a:bodyPr>
            <a:lstStyle/>
            <a:p>
              <a:pPr algn="r"/>
              <a:r>
                <a:rPr lang="zh-CN" altLang="en-US" sz="1400" dirty="0">
                  <a:solidFill>
                    <a:schemeClr val="bg1"/>
                  </a:solidFill>
                  <a:latin typeface="+mn-ea"/>
                </a:rPr>
                <a:t>车云研究院</a:t>
              </a:r>
            </a:p>
          </p:txBody>
        </p:sp>
        <p:sp>
          <p:nvSpPr>
            <p:cNvPr id="15" name="iṥ1iďé"/>
            <p:cNvSpPr/>
            <p:nvPr userDrawn="1"/>
          </p:nvSpPr>
          <p:spPr bwMode="auto">
            <a:xfrm>
              <a:off x="1706759" y="1901"/>
              <a:ext cx="1984338" cy="431736"/>
            </a:xfrm>
            <a:prstGeom prst="rect">
              <a:avLst/>
            </a:prstGeom>
            <a:solidFill>
              <a:schemeClr val="bg1">
                <a:lumMod val="65000"/>
              </a:schemeClr>
            </a:solidFill>
            <a:ln w="19050">
              <a:noFill/>
              <a:round/>
            </a:ln>
          </p:spPr>
          <p:txBody>
            <a:bodyPr wrap="square" lIns="91440" tIns="45720" rIns="91440" bIns="45720" anchor="t">
              <a:normAutofit/>
            </a:bodyPr>
            <a:lstStyle/>
            <a:p>
              <a:r>
                <a:rPr lang="en-US" altLang="zh-CN" sz="1600" i="1" u="sng" dirty="0">
                  <a:solidFill>
                    <a:schemeClr val="bg1"/>
                  </a:solidFill>
                  <a:latin typeface="Arial Black" panose="020B0A04020102020204" pitchFamily="34" charset="0"/>
                </a:rPr>
                <a:t>2</a:t>
              </a:r>
              <a:endParaRPr sz="1600" i="1" u="sng" dirty="0">
                <a:solidFill>
                  <a:schemeClr val="bg1"/>
                </a:solidFill>
                <a:latin typeface="Arial Black" panose="020B0A04020102020204" pitchFamily="34" charset="0"/>
              </a:endParaRPr>
            </a:p>
          </p:txBody>
        </p:sp>
        <p:sp>
          <p:nvSpPr>
            <p:cNvPr id="16" name="iṣľïḋé"/>
            <p:cNvSpPr/>
            <p:nvPr userDrawn="1"/>
          </p:nvSpPr>
          <p:spPr>
            <a:xfrm>
              <a:off x="2152037" y="1901"/>
              <a:ext cx="1539060" cy="431736"/>
            </a:xfrm>
            <a:prstGeom prst="rect">
              <a:avLst/>
            </a:prstGeom>
            <a:noFill/>
          </p:spPr>
          <p:txBody>
            <a:bodyPr wrap="square" lIns="91440" tIns="45720" rIns="91440" bIns="45720" anchor="ctr">
              <a:noAutofit/>
            </a:bodyPr>
            <a:lstStyle/>
            <a:p>
              <a:pPr algn="r"/>
              <a:r>
                <a:rPr lang="zh-CN" altLang="en-US" sz="1400" dirty="0">
                  <a:solidFill>
                    <a:schemeClr val="bg1"/>
                  </a:solidFill>
                  <a:latin typeface="+mn-ea"/>
                </a:rPr>
                <a:t>优势及咨询经验</a:t>
              </a:r>
            </a:p>
          </p:txBody>
        </p:sp>
        <p:sp>
          <p:nvSpPr>
            <p:cNvPr id="13" name="iṥ1iďé"/>
            <p:cNvSpPr/>
            <p:nvPr userDrawn="1"/>
          </p:nvSpPr>
          <p:spPr bwMode="auto">
            <a:xfrm>
              <a:off x="3700526" y="1901"/>
              <a:ext cx="1767020" cy="431736"/>
            </a:xfrm>
            <a:prstGeom prst="rect">
              <a:avLst/>
            </a:prstGeom>
            <a:solidFill>
              <a:schemeClr val="bg1">
                <a:lumMod val="65000"/>
              </a:schemeClr>
            </a:solidFill>
            <a:ln w="19050">
              <a:noFill/>
              <a:round/>
            </a:ln>
          </p:spPr>
          <p:txBody>
            <a:bodyPr wrap="square" lIns="91440" tIns="45720" rIns="91440" bIns="45720" anchor="t">
              <a:normAutofit/>
            </a:bodyPr>
            <a:lstStyle/>
            <a:p>
              <a:r>
                <a:rPr lang="en-US" altLang="zh-CN" sz="1600" i="1" u="sng" dirty="0">
                  <a:solidFill>
                    <a:schemeClr val="bg1"/>
                  </a:solidFill>
                  <a:latin typeface="Arial Black" panose="020B0A04020102020204" pitchFamily="34" charset="0"/>
                </a:rPr>
                <a:t>3</a:t>
              </a:r>
              <a:endParaRPr sz="1600" i="1" u="sng" dirty="0">
                <a:solidFill>
                  <a:schemeClr val="bg1"/>
                </a:solidFill>
                <a:latin typeface="Arial Black" panose="020B0A04020102020204" pitchFamily="34" charset="0"/>
              </a:endParaRPr>
            </a:p>
          </p:txBody>
        </p:sp>
        <p:sp>
          <p:nvSpPr>
            <p:cNvPr id="14" name="iṣľïḋé"/>
            <p:cNvSpPr/>
            <p:nvPr userDrawn="1"/>
          </p:nvSpPr>
          <p:spPr>
            <a:xfrm>
              <a:off x="4199102" y="1901"/>
              <a:ext cx="1268443" cy="431736"/>
            </a:xfrm>
            <a:prstGeom prst="rect">
              <a:avLst/>
            </a:prstGeom>
            <a:noFill/>
          </p:spPr>
          <p:txBody>
            <a:bodyPr wrap="square" lIns="91440" tIns="45720" rIns="91440" bIns="45720" anchor="ctr">
              <a:noAutofit/>
            </a:bodyPr>
            <a:lstStyle/>
            <a:p>
              <a:pPr algn="r"/>
              <a:r>
                <a:rPr lang="zh-CN" altLang="en-US" sz="1400" dirty="0">
                  <a:solidFill>
                    <a:schemeClr val="bg1"/>
                  </a:solidFill>
                  <a:latin typeface="+mn-ea"/>
                </a:rPr>
                <a:t>咨询服务团队</a:t>
              </a:r>
            </a:p>
          </p:txBody>
        </p:sp>
      </p:grpSp>
      <p:sp>
        <p:nvSpPr>
          <p:cNvPr id="19" name="文本占位符 6"/>
          <p:cNvSpPr>
            <a:spLocks noGrp="1"/>
          </p:cNvSpPr>
          <p:nvPr userDrawn="1">
            <p:ph type="body" sz="quarter" idx="14"/>
          </p:nvPr>
        </p:nvSpPr>
        <p:spPr>
          <a:xfrm>
            <a:off x="669925" y="1130300"/>
            <a:ext cx="10850563" cy="418191"/>
          </a:xfrm>
          <a:prstGeom prst="rect">
            <a:avLst/>
          </a:prstGeom>
        </p:spPr>
        <p:txBody>
          <a:bodyPr>
            <a:spAutoFit/>
          </a:bodyPr>
          <a:lstStyle>
            <a:lvl1pPr>
              <a:lnSpc>
                <a:spcPct val="150000"/>
              </a:lnSpc>
              <a:defRPr sz="1600">
                <a:latin typeface="+mn-ea"/>
                <a:ea typeface="+mn-ea"/>
              </a:defRPr>
            </a:lvl1pPr>
            <a:lvl2pPr marL="457200" indent="0">
              <a:buNone/>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lang="zh-CN" altLang="en-US" dirty="0"/>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dirty="0"/>
              <a:t>Click to edit Master title style</a:t>
            </a:r>
            <a:endParaRPr lang="en-US" dirty="0"/>
          </a:p>
        </p:txBody>
      </p:sp>
      <p:sp>
        <p:nvSpPr>
          <p:cNvPr id="19" name="文本占位符 6"/>
          <p:cNvSpPr>
            <a:spLocks noGrp="1"/>
          </p:cNvSpPr>
          <p:nvPr userDrawn="1">
            <p:ph type="body" sz="quarter" idx="14"/>
          </p:nvPr>
        </p:nvSpPr>
        <p:spPr>
          <a:xfrm>
            <a:off x="669925" y="1130300"/>
            <a:ext cx="10850563" cy="418191"/>
          </a:xfrm>
          <a:prstGeom prst="rect">
            <a:avLst/>
          </a:prstGeom>
        </p:spPr>
        <p:txBody>
          <a:bodyPr>
            <a:spAutoFit/>
          </a:bodyPr>
          <a:lstStyle>
            <a:lvl1pPr>
              <a:lnSpc>
                <a:spcPct val="150000"/>
              </a:lnSpc>
              <a:defRPr sz="1600">
                <a:latin typeface="+mn-ea"/>
                <a:ea typeface="+mn-ea"/>
              </a:defRPr>
            </a:lvl1pPr>
            <a:lvl2pPr marL="457200" indent="0">
              <a:buNone/>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lang="zh-CN" altLang="en-US" dirty="0"/>
              <a:t>单击此处编辑母版文本样式</a:t>
            </a:r>
          </a:p>
        </p:txBody>
      </p:sp>
      <p:grpSp>
        <p:nvGrpSpPr>
          <p:cNvPr id="9" name="组合 8"/>
          <p:cNvGrpSpPr/>
          <p:nvPr userDrawn="1"/>
        </p:nvGrpSpPr>
        <p:grpSpPr>
          <a:xfrm>
            <a:off x="0" y="0"/>
            <a:ext cx="5467546" cy="360000"/>
            <a:chOff x="0" y="0"/>
            <a:chExt cx="5467546" cy="433637"/>
          </a:xfrm>
        </p:grpSpPr>
        <p:sp>
          <p:nvSpPr>
            <p:cNvPr id="20" name="iṧ1iḑé"/>
            <p:cNvSpPr/>
            <p:nvPr userDrawn="1"/>
          </p:nvSpPr>
          <p:spPr bwMode="auto">
            <a:xfrm>
              <a:off x="0" y="0"/>
              <a:ext cx="1696826" cy="431736"/>
            </a:xfrm>
            <a:prstGeom prst="rect">
              <a:avLst/>
            </a:prstGeom>
            <a:solidFill>
              <a:schemeClr val="bg1">
                <a:lumMod val="65000"/>
              </a:schemeClr>
            </a:solidFill>
            <a:ln w="19050">
              <a:noFill/>
              <a:round/>
            </a:ln>
          </p:spPr>
          <p:txBody>
            <a:bodyPr wrap="square" lIns="91440" tIns="45720" rIns="91440" bIns="45720" anchor="t">
              <a:normAutofit/>
            </a:bodyPr>
            <a:lstStyle/>
            <a:p>
              <a:pPr lvl="0"/>
              <a:r>
                <a:rPr lang="en-US" altLang="zh-CN" sz="1600" i="1" u="sng" dirty="0">
                  <a:solidFill>
                    <a:schemeClr val="bg1"/>
                  </a:solidFill>
                  <a:latin typeface="Arial Black" panose="020B0A04020102020204" pitchFamily="34" charset="0"/>
                </a:rPr>
                <a:t>1</a:t>
              </a:r>
              <a:endParaRPr sz="1600" i="1" u="sng" dirty="0">
                <a:solidFill>
                  <a:schemeClr val="bg1"/>
                </a:solidFill>
                <a:latin typeface="Arial Black" panose="020B0A04020102020204" pitchFamily="34" charset="0"/>
              </a:endParaRPr>
            </a:p>
          </p:txBody>
        </p:sp>
        <p:sp>
          <p:nvSpPr>
            <p:cNvPr id="21" name="iṣľïḋé"/>
            <p:cNvSpPr/>
            <p:nvPr userDrawn="1"/>
          </p:nvSpPr>
          <p:spPr>
            <a:xfrm>
              <a:off x="490037" y="0"/>
              <a:ext cx="1206788" cy="431736"/>
            </a:xfrm>
            <a:prstGeom prst="rect">
              <a:avLst/>
            </a:prstGeom>
            <a:noFill/>
          </p:spPr>
          <p:txBody>
            <a:bodyPr wrap="square" lIns="91440" tIns="45720" rIns="91440" bIns="45720" anchor="ctr">
              <a:noAutofit/>
            </a:bodyPr>
            <a:lstStyle/>
            <a:p>
              <a:pPr algn="r"/>
              <a:r>
                <a:rPr lang="zh-CN" altLang="en-US" sz="1400" dirty="0">
                  <a:solidFill>
                    <a:schemeClr val="bg1"/>
                  </a:solidFill>
                  <a:latin typeface="+mn-ea"/>
                </a:rPr>
                <a:t>车云研究院</a:t>
              </a:r>
            </a:p>
          </p:txBody>
        </p:sp>
        <p:sp>
          <p:nvSpPr>
            <p:cNvPr id="22" name="iṥ1iďé"/>
            <p:cNvSpPr/>
            <p:nvPr userDrawn="1"/>
          </p:nvSpPr>
          <p:spPr bwMode="auto">
            <a:xfrm>
              <a:off x="1706759" y="1901"/>
              <a:ext cx="1984338" cy="431736"/>
            </a:xfrm>
            <a:prstGeom prst="rect">
              <a:avLst/>
            </a:prstGeom>
            <a:solidFill>
              <a:schemeClr val="accent1">
                <a:lumMod val="100000"/>
              </a:schemeClr>
            </a:solidFill>
            <a:ln w="19050">
              <a:noFill/>
              <a:round/>
            </a:ln>
          </p:spPr>
          <p:txBody>
            <a:bodyPr wrap="square" lIns="91440" tIns="45720" rIns="91440" bIns="45720" anchor="t">
              <a:noAutofit/>
            </a:bodyPr>
            <a:lstStyle/>
            <a:p>
              <a:pPr lvl="0"/>
              <a:r>
                <a:rPr lang="en-US" altLang="zh-CN" sz="1600" i="1" u="sng" dirty="0">
                  <a:solidFill>
                    <a:schemeClr val="bg1"/>
                  </a:solidFill>
                  <a:latin typeface="Arial Black" panose="020B0A04020102020204" pitchFamily="34" charset="0"/>
                </a:rPr>
                <a:t>2</a:t>
              </a:r>
              <a:endParaRPr sz="1600" i="1" u="sng" dirty="0">
                <a:solidFill>
                  <a:schemeClr val="bg1"/>
                </a:solidFill>
                <a:latin typeface="Arial Black" panose="020B0A04020102020204" pitchFamily="34" charset="0"/>
              </a:endParaRPr>
            </a:p>
          </p:txBody>
        </p:sp>
        <p:sp>
          <p:nvSpPr>
            <p:cNvPr id="23" name="iṣľïḋé"/>
            <p:cNvSpPr/>
            <p:nvPr userDrawn="1"/>
          </p:nvSpPr>
          <p:spPr>
            <a:xfrm>
              <a:off x="2152037" y="1901"/>
              <a:ext cx="1539060" cy="431736"/>
            </a:xfrm>
            <a:prstGeom prst="rect">
              <a:avLst/>
            </a:prstGeom>
            <a:noFill/>
          </p:spPr>
          <p:txBody>
            <a:bodyPr wrap="square" lIns="91440" tIns="45720" rIns="91440" bIns="45720" anchor="ctr">
              <a:noAutofit/>
            </a:bodyPr>
            <a:lstStyle/>
            <a:p>
              <a:pPr algn="r"/>
              <a:r>
                <a:rPr lang="zh-CN" altLang="en-US" sz="1400" dirty="0">
                  <a:solidFill>
                    <a:schemeClr val="bg1"/>
                  </a:solidFill>
                  <a:latin typeface="+mn-ea"/>
                </a:rPr>
                <a:t>优势及咨询经验</a:t>
              </a:r>
            </a:p>
          </p:txBody>
        </p:sp>
        <p:sp>
          <p:nvSpPr>
            <p:cNvPr id="24" name="iṥ1iďé"/>
            <p:cNvSpPr/>
            <p:nvPr userDrawn="1"/>
          </p:nvSpPr>
          <p:spPr bwMode="auto">
            <a:xfrm>
              <a:off x="3700526" y="1901"/>
              <a:ext cx="1767020" cy="431736"/>
            </a:xfrm>
            <a:prstGeom prst="rect">
              <a:avLst/>
            </a:prstGeom>
            <a:solidFill>
              <a:schemeClr val="bg1">
                <a:lumMod val="65000"/>
              </a:schemeClr>
            </a:solidFill>
            <a:ln w="19050">
              <a:noFill/>
              <a:round/>
            </a:ln>
          </p:spPr>
          <p:txBody>
            <a:bodyPr wrap="square" lIns="91440" tIns="45720" rIns="91440" bIns="45720" anchor="t">
              <a:normAutofit/>
            </a:bodyPr>
            <a:lstStyle/>
            <a:p>
              <a:r>
                <a:rPr lang="en-US" altLang="zh-CN" sz="1600" i="1" u="sng" dirty="0">
                  <a:solidFill>
                    <a:schemeClr val="bg1"/>
                  </a:solidFill>
                  <a:latin typeface="Arial Black" panose="020B0A04020102020204" pitchFamily="34" charset="0"/>
                </a:rPr>
                <a:t>3</a:t>
              </a:r>
              <a:endParaRPr sz="1600" i="1" u="sng" dirty="0">
                <a:solidFill>
                  <a:schemeClr val="bg1"/>
                </a:solidFill>
                <a:latin typeface="Arial Black" panose="020B0A04020102020204" pitchFamily="34" charset="0"/>
              </a:endParaRPr>
            </a:p>
          </p:txBody>
        </p:sp>
        <p:sp>
          <p:nvSpPr>
            <p:cNvPr id="25" name="iṣľïḋé"/>
            <p:cNvSpPr/>
            <p:nvPr userDrawn="1"/>
          </p:nvSpPr>
          <p:spPr>
            <a:xfrm>
              <a:off x="4199102" y="1901"/>
              <a:ext cx="1268443" cy="431736"/>
            </a:xfrm>
            <a:prstGeom prst="rect">
              <a:avLst/>
            </a:prstGeom>
            <a:noFill/>
          </p:spPr>
          <p:txBody>
            <a:bodyPr wrap="square" lIns="91440" tIns="45720" rIns="91440" bIns="45720" anchor="ctr">
              <a:noAutofit/>
            </a:bodyPr>
            <a:lstStyle/>
            <a:p>
              <a:pPr algn="r"/>
              <a:r>
                <a:rPr lang="zh-CN" altLang="en-US" sz="1400" dirty="0">
                  <a:solidFill>
                    <a:schemeClr val="bg1"/>
                  </a:solidFill>
                  <a:latin typeface="+mn-ea"/>
                </a:rPr>
                <a:t>咨询服务团队</a:t>
              </a: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dirty="0"/>
              <a:t>Click to edit Master title style</a:t>
            </a:r>
            <a:endParaRPr lang="en-US" dirty="0"/>
          </a:p>
        </p:txBody>
      </p:sp>
      <p:sp>
        <p:nvSpPr>
          <p:cNvPr id="19" name="文本占位符 6"/>
          <p:cNvSpPr>
            <a:spLocks noGrp="1"/>
          </p:cNvSpPr>
          <p:nvPr userDrawn="1">
            <p:ph type="body" sz="quarter" idx="14"/>
          </p:nvPr>
        </p:nvSpPr>
        <p:spPr>
          <a:xfrm>
            <a:off x="669925" y="1130300"/>
            <a:ext cx="10850563" cy="418191"/>
          </a:xfrm>
          <a:prstGeom prst="rect">
            <a:avLst/>
          </a:prstGeom>
        </p:spPr>
        <p:txBody>
          <a:bodyPr>
            <a:spAutoFit/>
          </a:bodyPr>
          <a:lstStyle>
            <a:lvl1pPr>
              <a:lnSpc>
                <a:spcPct val="150000"/>
              </a:lnSpc>
              <a:defRPr sz="1600">
                <a:latin typeface="+mn-ea"/>
                <a:ea typeface="+mn-ea"/>
              </a:defRPr>
            </a:lvl1pPr>
            <a:lvl2pPr marL="457200" indent="0">
              <a:buNone/>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lang="zh-CN" altLang="en-US" dirty="0"/>
              <a:t>单击此处编辑母版文本样式</a:t>
            </a:r>
          </a:p>
        </p:txBody>
      </p:sp>
      <p:grpSp>
        <p:nvGrpSpPr>
          <p:cNvPr id="7" name="组合 6"/>
          <p:cNvGrpSpPr/>
          <p:nvPr userDrawn="1"/>
        </p:nvGrpSpPr>
        <p:grpSpPr>
          <a:xfrm>
            <a:off x="0" y="0"/>
            <a:ext cx="5467546" cy="360000"/>
            <a:chOff x="0" y="0"/>
            <a:chExt cx="5467546" cy="433637"/>
          </a:xfrm>
        </p:grpSpPr>
        <p:sp>
          <p:nvSpPr>
            <p:cNvPr id="20" name="iṧ1iḑé"/>
            <p:cNvSpPr/>
            <p:nvPr userDrawn="1"/>
          </p:nvSpPr>
          <p:spPr bwMode="auto">
            <a:xfrm>
              <a:off x="0" y="0"/>
              <a:ext cx="1696826" cy="431736"/>
            </a:xfrm>
            <a:prstGeom prst="rect">
              <a:avLst/>
            </a:prstGeom>
            <a:solidFill>
              <a:schemeClr val="bg1">
                <a:lumMod val="65000"/>
              </a:schemeClr>
            </a:solidFill>
            <a:ln w="19050">
              <a:noFill/>
              <a:round/>
            </a:ln>
          </p:spPr>
          <p:txBody>
            <a:bodyPr wrap="square" lIns="91440" tIns="45720" rIns="91440" bIns="45720" anchor="t">
              <a:normAutofit/>
            </a:bodyPr>
            <a:lstStyle/>
            <a:p>
              <a:pPr lvl="0"/>
              <a:r>
                <a:rPr lang="en-US" altLang="zh-CN" sz="1600" i="1" u="sng" dirty="0">
                  <a:solidFill>
                    <a:schemeClr val="bg1"/>
                  </a:solidFill>
                  <a:latin typeface="Arial Black" panose="020B0A04020102020204" pitchFamily="34" charset="0"/>
                </a:rPr>
                <a:t>1</a:t>
              </a:r>
              <a:endParaRPr sz="1600" i="1" u="sng" dirty="0">
                <a:solidFill>
                  <a:schemeClr val="bg1"/>
                </a:solidFill>
                <a:latin typeface="Arial Black" panose="020B0A04020102020204" pitchFamily="34" charset="0"/>
              </a:endParaRPr>
            </a:p>
          </p:txBody>
        </p:sp>
        <p:sp>
          <p:nvSpPr>
            <p:cNvPr id="21" name="iṣľïḋé"/>
            <p:cNvSpPr/>
            <p:nvPr userDrawn="1"/>
          </p:nvSpPr>
          <p:spPr>
            <a:xfrm>
              <a:off x="490037" y="0"/>
              <a:ext cx="1206788" cy="431736"/>
            </a:xfrm>
            <a:prstGeom prst="rect">
              <a:avLst/>
            </a:prstGeom>
            <a:noFill/>
          </p:spPr>
          <p:txBody>
            <a:bodyPr wrap="square" lIns="91440" tIns="45720" rIns="91440" bIns="45720" anchor="ctr">
              <a:noAutofit/>
            </a:bodyPr>
            <a:lstStyle/>
            <a:p>
              <a:pPr algn="r"/>
              <a:r>
                <a:rPr lang="zh-CN" altLang="en-US" sz="1400" dirty="0">
                  <a:solidFill>
                    <a:schemeClr val="bg1"/>
                  </a:solidFill>
                  <a:latin typeface="+mn-ea"/>
                </a:rPr>
                <a:t>车云研究院</a:t>
              </a:r>
            </a:p>
          </p:txBody>
        </p:sp>
        <p:sp>
          <p:nvSpPr>
            <p:cNvPr id="22" name="iṥ1iďé"/>
            <p:cNvSpPr/>
            <p:nvPr userDrawn="1"/>
          </p:nvSpPr>
          <p:spPr bwMode="auto">
            <a:xfrm>
              <a:off x="1706759" y="1901"/>
              <a:ext cx="1984338" cy="431736"/>
            </a:xfrm>
            <a:prstGeom prst="rect">
              <a:avLst/>
            </a:prstGeom>
            <a:solidFill>
              <a:schemeClr val="bg1">
                <a:lumMod val="65000"/>
              </a:schemeClr>
            </a:solidFill>
            <a:ln w="19050">
              <a:noFill/>
              <a:round/>
            </a:ln>
          </p:spPr>
          <p:txBody>
            <a:bodyPr wrap="square" lIns="91440" tIns="45720" rIns="91440" bIns="45720" anchor="t">
              <a:normAutofit/>
            </a:bodyPr>
            <a:lstStyle/>
            <a:p>
              <a:r>
                <a:rPr lang="en-US" altLang="zh-CN" sz="1600" i="1" u="sng" dirty="0">
                  <a:solidFill>
                    <a:schemeClr val="bg1"/>
                  </a:solidFill>
                  <a:latin typeface="Arial Black" panose="020B0A04020102020204" pitchFamily="34" charset="0"/>
                </a:rPr>
                <a:t>2</a:t>
              </a:r>
              <a:endParaRPr sz="1600" i="1" u="sng" dirty="0">
                <a:solidFill>
                  <a:schemeClr val="bg1"/>
                </a:solidFill>
                <a:latin typeface="Arial Black" panose="020B0A04020102020204" pitchFamily="34" charset="0"/>
              </a:endParaRPr>
            </a:p>
          </p:txBody>
        </p:sp>
        <p:sp>
          <p:nvSpPr>
            <p:cNvPr id="23" name="iṣľïḋé"/>
            <p:cNvSpPr/>
            <p:nvPr userDrawn="1"/>
          </p:nvSpPr>
          <p:spPr>
            <a:xfrm>
              <a:off x="2152037" y="1901"/>
              <a:ext cx="1539060" cy="431736"/>
            </a:xfrm>
            <a:prstGeom prst="rect">
              <a:avLst/>
            </a:prstGeom>
            <a:noFill/>
          </p:spPr>
          <p:txBody>
            <a:bodyPr wrap="square" lIns="91440" tIns="45720" rIns="91440" bIns="45720" anchor="ctr">
              <a:noAutofit/>
            </a:bodyPr>
            <a:lstStyle/>
            <a:p>
              <a:pPr algn="r"/>
              <a:r>
                <a:rPr lang="zh-CN" altLang="en-US" sz="1400" dirty="0">
                  <a:solidFill>
                    <a:schemeClr val="bg1"/>
                  </a:solidFill>
                  <a:latin typeface="+mn-ea"/>
                </a:rPr>
                <a:t>优势及咨询经验</a:t>
              </a:r>
            </a:p>
          </p:txBody>
        </p:sp>
        <p:sp>
          <p:nvSpPr>
            <p:cNvPr id="24" name="iṥ1iďé"/>
            <p:cNvSpPr/>
            <p:nvPr userDrawn="1"/>
          </p:nvSpPr>
          <p:spPr bwMode="auto">
            <a:xfrm>
              <a:off x="3700526" y="1901"/>
              <a:ext cx="1767020" cy="431736"/>
            </a:xfrm>
            <a:prstGeom prst="rect">
              <a:avLst/>
            </a:prstGeom>
            <a:solidFill>
              <a:schemeClr val="accent1">
                <a:lumMod val="100000"/>
              </a:schemeClr>
            </a:solidFill>
            <a:ln w="19050">
              <a:noFill/>
              <a:round/>
            </a:ln>
          </p:spPr>
          <p:txBody>
            <a:bodyPr wrap="square" lIns="91440" tIns="45720" rIns="91440" bIns="45720" anchor="t">
              <a:noAutofit/>
            </a:bodyPr>
            <a:lstStyle/>
            <a:p>
              <a:pPr lvl="0"/>
              <a:r>
                <a:rPr lang="en-US" altLang="zh-CN" sz="1600" i="1" u="sng" dirty="0">
                  <a:solidFill>
                    <a:schemeClr val="bg1"/>
                  </a:solidFill>
                  <a:latin typeface="Arial Black" panose="020B0A04020102020204" pitchFamily="34" charset="0"/>
                </a:rPr>
                <a:t>3</a:t>
              </a:r>
              <a:endParaRPr sz="1600" i="1" u="sng" dirty="0">
                <a:solidFill>
                  <a:schemeClr val="bg1"/>
                </a:solidFill>
                <a:latin typeface="Arial Black" panose="020B0A04020102020204" pitchFamily="34" charset="0"/>
              </a:endParaRPr>
            </a:p>
          </p:txBody>
        </p:sp>
        <p:sp>
          <p:nvSpPr>
            <p:cNvPr id="25" name="iṣľïḋé"/>
            <p:cNvSpPr/>
            <p:nvPr userDrawn="1"/>
          </p:nvSpPr>
          <p:spPr>
            <a:xfrm>
              <a:off x="4199102" y="1901"/>
              <a:ext cx="1268443" cy="431736"/>
            </a:xfrm>
            <a:prstGeom prst="rect">
              <a:avLst/>
            </a:prstGeom>
            <a:noFill/>
          </p:spPr>
          <p:txBody>
            <a:bodyPr wrap="square" lIns="91440" tIns="45720" rIns="91440" bIns="45720" anchor="ctr">
              <a:noAutofit/>
            </a:bodyPr>
            <a:lstStyle/>
            <a:p>
              <a:pPr algn="r"/>
              <a:r>
                <a:rPr lang="zh-CN" altLang="en-US" sz="1400" dirty="0">
                  <a:solidFill>
                    <a:schemeClr val="bg1"/>
                  </a:solidFill>
                  <a:latin typeface="+mn-ea"/>
                </a:rPr>
                <a:t>咨询服务团队</a:t>
              </a: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14" name="文本占位符 6"/>
          <p:cNvSpPr>
            <a:spLocks noGrp="1"/>
          </p:cNvSpPr>
          <p:nvPr>
            <p:ph type="body" sz="quarter" idx="14"/>
          </p:nvPr>
        </p:nvSpPr>
        <p:spPr>
          <a:xfrm>
            <a:off x="669925" y="1130300"/>
            <a:ext cx="10850563" cy="418191"/>
          </a:xfrm>
          <a:prstGeom prst="rect">
            <a:avLst/>
          </a:prstGeom>
        </p:spPr>
        <p:txBody>
          <a:bodyPr>
            <a:spAutoFit/>
          </a:bodyPr>
          <a:lstStyle>
            <a:lvl1pPr>
              <a:lnSpc>
                <a:spcPct val="150000"/>
              </a:lnSpc>
              <a:defRPr sz="1600">
                <a:latin typeface="+mn-ea"/>
                <a:ea typeface="+mn-ea"/>
              </a:defRPr>
            </a:lvl1pPr>
            <a:lvl2pPr marL="457200" indent="0">
              <a:buNone/>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lang="zh-CN" altLang="en-US" dirty="0"/>
              <a:t>单击此处编辑母版文本样式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空白">
    <p:spTree>
      <p:nvGrpSpPr>
        <p:cNvPr id="1" name=""/>
        <p:cNvGrpSpPr/>
        <p:nvPr/>
      </p:nvGrpSpPr>
      <p:grpSpPr>
        <a:xfrm>
          <a:off x="0" y="0"/>
          <a:ext cx="0" cy="0"/>
          <a:chOff x="0" y="0"/>
          <a:chExt cx="0" cy="0"/>
        </a:xfrm>
      </p:grpSpPr>
      <p:pic>
        <p:nvPicPr>
          <p:cNvPr id="2" name="图形 1"/>
          <p:cNvPicPr>
            <a:picLocks noChangeAspect="1"/>
          </p:cNvPicPr>
          <p:nvPr userDrawn="1"/>
        </p:nvPicPr>
        <p:blipFill rotWithShape="1">
          <a:blip r:embed="rId2">
            <a:extLst>
              <a:ext uri="{96DAC541-7B7A-43D3-8B79-37D633B846F1}">
                <asvg:svgBlip xmlns:asvg="http://schemas.microsoft.com/office/drawing/2016/SVG/main" r:embed="rId3"/>
              </a:ext>
            </a:extLst>
          </a:blip>
          <a:srcRect l="469" r="65582"/>
          <a:stretch>
            <a:fillRect/>
          </a:stretch>
        </p:blipFill>
        <p:spPr>
          <a:xfrm flipH="1" flipV="1">
            <a:off x="8013701" y="0"/>
            <a:ext cx="4178299" cy="6858000"/>
          </a:xfrm>
          <a:prstGeom prst="rect">
            <a:avLst/>
          </a:prstGeom>
        </p:spPr>
      </p:pic>
      <p:sp>
        <p:nvSpPr>
          <p:cNvPr id="3" name="标题 19"/>
          <p:cNvSpPr>
            <a:spLocks noGrp="1"/>
          </p:cNvSpPr>
          <p:nvPr>
            <p:ph type="title"/>
          </p:nvPr>
        </p:nvSpPr>
        <p:spPr>
          <a:xfrm>
            <a:off x="2352098" y="2533650"/>
            <a:ext cx="5419185" cy="895350"/>
          </a:xfrm>
        </p:spPr>
        <p:txBody>
          <a:bodyPr anchor="b">
            <a:normAutofit/>
          </a:bodyPr>
          <a:lstStyle>
            <a:lvl1pPr algn="l">
              <a:defRPr sz="2400" b="1">
                <a:solidFill>
                  <a:schemeClr val="tx1"/>
                </a:solidFill>
              </a:defRPr>
            </a:lvl1pPr>
          </a:lstStyle>
          <a:p>
            <a:r>
              <a:rPr lang="en-US" dirty="0"/>
              <a:t>Click to edit Master title style</a:t>
            </a:r>
            <a:endParaRPr lang="zh-CN" altLang="en-US" dirty="0"/>
          </a:p>
        </p:txBody>
      </p:sp>
      <p:sp>
        <p:nvSpPr>
          <p:cNvPr id="4" name="文本占位符 20"/>
          <p:cNvSpPr>
            <a:spLocks noGrp="1"/>
          </p:cNvSpPr>
          <p:nvPr>
            <p:ph type="body" idx="1"/>
          </p:nvPr>
        </p:nvSpPr>
        <p:spPr>
          <a:xfrm>
            <a:off x="2353214" y="3733086"/>
            <a:ext cx="5419185" cy="1015623"/>
          </a:xfrm>
          <a:prstGeom prst="rect">
            <a:avLst/>
          </a:prstGeom>
        </p:spPr>
        <p:txBody>
          <a:bodyPr anchor="t">
            <a:normAutofit/>
          </a:bodyPr>
          <a:lstStyle>
            <a:lvl1pPr marL="0" indent="0" algn="l">
              <a:lnSpc>
                <a:spcPct val="150000"/>
              </a:lnSpc>
              <a:spcBef>
                <a:spcPts val="0"/>
              </a:spcBef>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cxnSp>
        <p:nvCxnSpPr>
          <p:cNvPr id="5" name="直接连接符 4"/>
          <p:cNvCxnSpPr/>
          <p:nvPr userDrawn="1"/>
        </p:nvCxnSpPr>
        <p:spPr>
          <a:xfrm>
            <a:off x="2352098" y="3590746"/>
            <a:ext cx="7175501" cy="0"/>
          </a:xfrm>
          <a:prstGeom prst="line">
            <a:avLst/>
          </a:prstGeom>
          <a:ln>
            <a:solidFill>
              <a:srgbClr val="D1E1EB"/>
            </a:solidFill>
          </a:ln>
        </p:spPr>
        <p:style>
          <a:lnRef idx="1">
            <a:schemeClr val="accent1"/>
          </a:lnRef>
          <a:fillRef idx="0">
            <a:schemeClr val="accent1"/>
          </a:fillRef>
          <a:effectRef idx="0">
            <a:schemeClr val="accent1"/>
          </a:effectRef>
          <a:fontRef idx="minor">
            <a:schemeClr val="tx1"/>
          </a:fontRef>
        </p:style>
      </p:cxnSp>
      <p:pic>
        <p:nvPicPr>
          <p:cNvPr id="7" name="图片 6" descr="3车云logo(1)"/>
          <p:cNvPicPr>
            <a:picLocks noChangeAspect="1"/>
          </p:cNvPicPr>
          <p:nvPr userDrawn="1"/>
        </p:nvPicPr>
        <p:blipFill>
          <a:blip r:embed="rId4"/>
          <a:stretch>
            <a:fillRect/>
          </a:stretch>
        </p:blipFill>
        <p:spPr>
          <a:xfrm>
            <a:off x="872810" y="850235"/>
            <a:ext cx="1399808" cy="360000"/>
          </a:xfrm>
          <a:prstGeom prst="rect">
            <a:avLst/>
          </a:prstGeom>
          <a:effectLst>
            <a:outerShdw blurRad="76200" dir="13500000" sy="23000" kx="1200000" algn="br" rotWithShape="0">
              <a:prstClr val="black">
                <a:alpha val="20000"/>
              </a:prstClr>
            </a:outerShdw>
            <a:reflection stA="45000" endPos="0" dist="50800" dir="5400000" sy="-100000" algn="bl" rotWithShape="0"/>
          </a:effectLst>
        </p:spPr>
      </p:pic>
      <p:sp>
        <p:nvSpPr>
          <p:cNvPr id="8" name="矩形 7"/>
          <p:cNvSpPr/>
          <p:nvPr userDrawn="1"/>
        </p:nvSpPr>
        <p:spPr>
          <a:xfrm>
            <a:off x="381561" y="0"/>
            <a:ext cx="162000" cy="121023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583265" y="605117"/>
            <a:ext cx="161366" cy="6051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cxnSp>
        <p:nvCxnSpPr>
          <p:cNvPr id="30" name="直接连接符 29"/>
          <p:cNvCxnSpPr/>
          <p:nvPr userDrawn="1"/>
        </p:nvCxnSpPr>
        <p:spPr>
          <a:xfrm>
            <a:off x="1346202" y="4850767"/>
            <a:ext cx="6426198" cy="0"/>
          </a:xfrm>
          <a:prstGeom prst="line">
            <a:avLst/>
          </a:prstGeom>
          <a:ln>
            <a:solidFill>
              <a:srgbClr val="D1E1EB"/>
            </a:solidFill>
          </a:ln>
        </p:spPr>
        <p:style>
          <a:lnRef idx="1">
            <a:schemeClr val="accent1"/>
          </a:lnRef>
          <a:fillRef idx="0">
            <a:schemeClr val="accent1"/>
          </a:fillRef>
          <a:effectRef idx="0">
            <a:schemeClr val="accent1"/>
          </a:effectRef>
          <a:fontRef idx="minor">
            <a:schemeClr val="tx1"/>
          </a:fontRef>
        </p:style>
      </p:cxnSp>
      <p:pic>
        <p:nvPicPr>
          <p:cNvPr id="23" name="图片 22" descr="3车云logo(1)"/>
          <p:cNvPicPr>
            <a:picLocks noChangeAspect="1"/>
          </p:cNvPicPr>
          <p:nvPr userDrawn="1"/>
        </p:nvPicPr>
        <p:blipFill>
          <a:blip r:embed="rId2"/>
          <a:stretch>
            <a:fillRect/>
          </a:stretch>
        </p:blipFill>
        <p:spPr>
          <a:xfrm>
            <a:off x="8243694" y="2709000"/>
            <a:ext cx="2799607" cy="720000"/>
          </a:xfrm>
          <a:prstGeom prst="rect">
            <a:avLst/>
          </a:prstGeom>
          <a:effectLst>
            <a:outerShdw blurRad="76200" dir="13500000" sy="23000" kx="1200000" algn="br" rotWithShape="0">
              <a:prstClr val="black">
                <a:alpha val="20000"/>
              </a:prstClr>
            </a:outerShdw>
            <a:reflection stA="45000" endPos="0" dist="50800" dir="5400000" sy="-100000" algn="bl" rotWithShape="0"/>
          </a:effectLst>
        </p:spPr>
      </p:pic>
      <p:sp>
        <p:nvSpPr>
          <p:cNvPr id="2" name="文本框 1"/>
          <p:cNvSpPr txBox="1"/>
          <p:nvPr userDrawn="1"/>
        </p:nvSpPr>
        <p:spPr>
          <a:xfrm>
            <a:off x="1346202" y="3963374"/>
            <a:ext cx="6426198" cy="646331"/>
          </a:xfrm>
          <a:prstGeom prst="rect">
            <a:avLst/>
          </a:prstGeom>
          <a:noFill/>
        </p:spPr>
        <p:txBody>
          <a:bodyPr wrap="square" rtlCol="0" anchor="b">
            <a:spAutoFit/>
          </a:bodyPr>
          <a:lstStyle/>
          <a:p>
            <a:r>
              <a:rPr lang="en-US" altLang="zh-CN" sz="3600" dirty="0">
                <a:solidFill>
                  <a:schemeClr val="accent4"/>
                </a:solidFill>
                <a:latin typeface="Arial Black" panose="020B0A04020102020204" pitchFamily="34" charset="0"/>
              </a:rPr>
              <a:t>THANKS</a:t>
            </a:r>
            <a:endParaRPr lang="zh-CN" altLang="en-US" sz="3600" dirty="0">
              <a:solidFill>
                <a:schemeClr val="accent4"/>
              </a:solidFill>
              <a:latin typeface="Arial Black" panose="020B0A04020102020204" pitchFamily="34" charset="0"/>
            </a:endParaRPr>
          </a:p>
        </p:txBody>
      </p:sp>
      <p:sp>
        <p:nvSpPr>
          <p:cNvPr id="10" name="文本框 9"/>
          <p:cNvSpPr txBox="1"/>
          <p:nvPr userDrawn="1"/>
        </p:nvSpPr>
        <p:spPr>
          <a:xfrm>
            <a:off x="1346202" y="4905411"/>
            <a:ext cx="6426198" cy="704232"/>
          </a:xfrm>
          <a:prstGeom prst="rect">
            <a:avLst/>
          </a:prstGeom>
          <a:noFill/>
        </p:spPr>
        <p:txBody>
          <a:bodyPr wrap="square" rtlCol="0" anchor="b">
            <a:spAutoFit/>
          </a:bodyPr>
          <a:lstStyle/>
          <a:p>
            <a:pPr>
              <a:lnSpc>
                <a:spcPct val="150000"/>
              </a:lnSpc>
            </a:pPr>
            <a:r>
              <a:rPr lang="en-US" altLang="zh-CN" sz="1400" dirty="0">
                <a:solidFill>
                  <a:schemeClr val="accent4"/>
                </a:solidFill>
                <a:latin typeface="Arial Black" panose="020B0A04020102020204" pitchFamily="34" charset="0"/>
              </a:rPr>
              <a:t>www.cheyun.com</a:t>
            </a:r>
          </a:p>
          <a:p>
            <a:pPr>
              <a:lnSpc>
                <a:spcPct val="150000"/>
              </a:lnSpc>
            </a:pPr>
            <a:r>
              <a:rPr lang="en-US" altLang="zh-CN" sz="1400" dirty="0">
                <a:solidFill>
                  <a:schemeClr val="accent4"/>
                </a:solidFill>
                <a:latin typeface="Arial Black" panose="020B0A04020102020204" pitchFamily="34" charset="0"/>
              </a:rPr>
              <a:t>2026 </a:t>
            </a:r>
            <a:r>
              <a:rPr lang="zh-CN" altLang="en-US" sz="1400" dirty="0">
                <a:solidFill>
                  <a:schemeClr val="accent4"/>
                </a:solidFill>
                <a:latin typeface="Arial Black" panose="020B0A04020102020204" pitchFamily="34" charset="0"/>
              </a:rPr>
              <a:t>年 </a:t>
            </a:r>
            <a:r>
              <a:rPr lang="en-US" altLang="zh-CN" sz="1400" dirty="0">
                <a:solidFill>
                  <a:schemeClr val="accent4"/>
                </a:solidFill>
                <a:latin typeface="Arial Black" panose="020B0A04020102020204" pitchFamily="34" charset="0"/>
              </a:rPr>
              <a:t>03</a:t>
            </a:r>
            <a:r>
              <a:rPr lang="zh-CN" altLang="en-US" sz="1400" dirty="0">
                <a:solidFill>
                  <a:schemeClr val="accent4"/>
                </a:solidFill>
                <a:latin typeface="Arial Black" panose="020B0A04020102020204" pitchFamily="34" charset="0"/>
              </a:rPr>
              <a:t>月</a:t>
            </a:r>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正文页D">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612001" y="-1"/>
            <a:ext cx="9340585" cy="1048869"/>
          </a:xfrm>
          <a:prstGeom prst="rect">
            <a:avLst/>
          </a:prstGeom>
        </p:spPr>
        <p:txBody>
          <a:bodyPr vert="horz" lIns="0" tIns="36000" rIns="0" bIns="0" rtlCol="0" anchor="ctr" anchorCtr="0">
            <a:noAutofit/>
          </a:bodyPr>
          <a:lstStyle>
            <a:lvl1pPr>
              <a:defRPr sz="2000" spc="200" baseline="0">
                <a:solidFill>
                  <a:schemeClr val="bg1"/>
                </a:solidFill>
              </a:defRPr>
            </a:lvl1pPr>
          </a:lstStyle>
          <a:p>
            <a:r>
              <a:rPr lang="zh-CN" altLang="en-US" dirty="0"/>
              <a:t>单击此处编辑母版标题样式</a:t>
            </a:r>
            <a:endParaRPr lang="en-US" dirty="0"/>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3627" y="82564"/>
            <a:ext cx="1877097" cy="883737"/>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内容页">
    <p:spTree>
      <p:nvGrpSpPr>
        <p:cNvPr id="1" name=""/>
        <p:cNvGrpSpPr/>
        <p:nvPr/>
      </p:nvGrpSpPr>
      <p:grpSpPr>
        <a:xfrm>
          <a:off x="0" y="0"/>
          <a:ext cx="0" cy="0"/>
          <a:chOff x="0" y="0"/>
          <a:chExt cx="0" cy="0"/>
        </a:xfrm>
      </p:grpSpPr>
      <p:sp>
        <p:nvSpPr>
          <p:cNvPr id="104" name="TextBox 4"/>
          <p:cNvSpPr txBox="1"/>
          <p:nvPr/>
        </p:nvSpPr>
        <p:spPr>
          <a:xfrm>
            <a:off x="45722" y="-1021933"/>
            <a:ext cx="5656517" cy="830997"/>
          </a:xfrm>
          <a:prstGeom prst="rect">
            <a:avLst/>
          </a:prstGeom>
          <a:ln w="12700">
            <a:miter lim="400000"/>
          </a:ln>
        </p:spPr>
        <p:txBody>
          <a:bodyPr lIns="14466" rIns="14466">
            <a:spAutoFit/>
          </a:bodyPr>
          <a:lstStyle/>
          <a:p>
            <a:pPr>
              <a:defRPr sz="1000">
                <a:latin typeface="HYZhongJianHeiJ Regular"/>
                <a:ea typeface="HYZhongJianHeiJ Regular"/>
                <a:cs typeface="HYZhongJianHeiJ Regular"/>
                <a:sym typeface="HYZhongJianHeiJ Regular"/>
              </a:defRPr>
            </a:pPr>
            <a:r>
              <a:rPr sz="1200"/>
              <a:t>目录标题字体：汉仪粗简黑简  / 字号：30 / 字距：正常（0）</a:t>
            </a:r>
          </a:p>
          <a:p>
            <a:pPr>
              <a:defRPr sz="1000">
                <a:latin typeface="HYZhongJianHeiJ Regular"/>
                <a:ea typeface="HYZhongJianHeiJ Regular"/>
                <a:cs typeface="HYZhongJianHeiJ Regular"/>
                <a:sym typeface="HYZhongJianHeiJ Regular"/>
              </a:defRPr>
            </a:pPr>
            <a:r>
              <a:rPr sz="1200"/>
              <a:t>标题字体：汉仪中简黑简 / 字号：30 / 字距：正常（0）</a:t>
            </a:r>
          </a:p>
          <a:p>
            <a:pPr>
              <a:defRPr sz="1000">
                <a:latin typeface="HYZhongJianHeiJ Regular"/>
                <a:ea typeface="HYZhongJianHeiJ Regular"/>
                <a:cs typeface="HYZhongJianHeiJ Regular"/>
                <a:sym typeface="HYZhongJianHeiJ Regular"/>
              </a:defRPr>
            </a:pPr>
            <a:r>
              <a:rPr sz="1200"/>
              <a:t>副标题字体：汉仪中简黑简 / 字号：16-18 / 字距：1.5 / 字距：正常（0）</a:t>
            </a:r>
          </a:p>
          <a:p>
            <a:pPr defTabSz="288925">
              <a:defRPr sz="1000">
                <a:latin typeface="HYZhongJianHeiJ Regular"/>
                <a:ea typeface="HYZhongJianHeiJ Regular"/>
                <a:cs typeface="HYZhongJianHeiJ Regular"/>
                <a:sym typeface="HYZhongJianHeiJ Regular"/>
              </a:defRPr>
            </a:pPr>
            <a:r>
              <a:rPr sz="1200"/>
              <a:t>正文字体：汉仪中简黑简 / 字号：12 -14/ 行距：1.5 / 字距：正常（0）</a:t>
            </a:r>
          </a:p>
        </p:txBody>
      </p:sp>
      <p:sp>
        <p:nvSpPr>
          <p:cNvPr id="5" name="矩形 4"/>
          <p:cNvSpPr/>
          <p:nvPr userDrawn="1"/>
        </p:nvSpPr>
        <p:spPr>
          <a:xfrm>
            <a:off x="0" y="6154574"/>
            <a:ext cx="510988" cy="403412"/>
          </a:xfrm>
          <a:prstGeom prst="rect">
            <a:avLst/>
          </a:prstGeom>
          <a:solidFill>
            <a:schemeClr val="bg1"/>
          </a:solidFill>
          <a:ln w="12700" cap="flat">
            <a:no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Calibri" panose="020F0502020204030204"/>
              <a:ea typeface="Calibri" panose="020F0502020204030204"/>
              <a:cs typeface="Calibri" panose="020F0502020204030204"/>
              <a:sym typeface="Calibri" panose="020F0502020204030204"/>
            </a:endParaRPr>
          </a:p>
        </p:txBody>
      </p:sp>
      <p:sp>
        <p:nvSpPr>
          <p:cNvPr id="6" name="幻灯片编号"/>
          <p:cNvSpPr txBox="1"/>
          <p:nvPr userDrawn="1"/>
        </p:nvSpPr>
        <p:spPr>
          <a:xfrm rot="5400000">
            <a:off x="-68091" y="5848741"/>
            <a:ext cx="541173"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288925" rtl="0" fontAlgn="auto" latinLnBrk="0" hangingPunct="0">
              <a:lnSpc>
                <a:spcPct val="100000"/>
              </a:lnSpc>
              <a:spcBef>
                <a:spcPts val="0"/>
              </a:spcBef>
              <a:spcAft>
                <a:spcPts val="0"/>
              </a:spcAft>
              <a:buClrTx/>
              <a:buSzTx/>
              <a:buFontTx/>
              <a:buNone/>
              <a:defRPr kumimoji="0" sz="1400" b="1" i="0" u="none" strike="noStrike" cap="none" spc="0" normalizeH="0" baseline="0">
                <a:ln>
                  <a:noFill/>
                </a:ln>
                <a:solidFill>
                  <a:srgbClr val="BFBFBF"/>
                </a:solidFill>
                <a:effectLst/>
                <a:uFillTx/>
                <a:latin typeface="DIN Next W1G"/>
                <a:ea typeface="DIN Next W1G"/>
                <a:cs typeface="DIN Next W1G"/>
                <a:sym typeface="DIN Next W1G"/>
              </a:defRPr>
            </a:lvl1pPr>
            <a:lvl2pPr marL="0" marR="0" indent="4572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Calibri" panose="020F0502020204030204"/>
                <a:ea typeface="Calibri" panose="020F0502020204030204"/>
                <a:cs typeface="Calibri" panose="020F0502020204030204"/>
                <a:sym typeface="Calibri" panose="020F0502020204030204"/>
              </a:defRPr>
            </a:lvl2pPr>
            <a:lvl3pPr marL="0" marR="0" indent="9144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Calibri" panose="020F0502020204030204"/>
                <a:ea typeface="Calibri" panose="020F0502020204030204"/>
                <a:cs typeface="Calibri" panose="020F0502020204030204"/>
                <a:sym typeface="Calibri" panose="020F0502020204030204"/>
              </a:defRPr>
            </a:lvl3pPr>
            <a:lvl4pPr marL="0" marR="0" indent="13716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Calibri" panose="020F0502020204030204"/>
                <a:ea typeface="Calibri" panose="020F0502020204030204"/>
                <a:cs typeface="Calibri" panose="020F0502020204030204"/>
                <a:sym typeface="Calibri" panose="020F0502020204030204"/>
              </a:defRPr>
            </a:lvl4pPr>
            <a:lvl5pPr marL="0" marR="0" indent="18288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Calibri" panose="020F0502020204030204"/>
                <a:ea typeface="Calibri" panose="020F0502020204030204"/>
                <a:cs typeface="Calibri" panose="020F0502020204030204"/>
                <a:sym typeface="Calibri" panose="020F0502020204030204"/>
              </a:defRPr>
            </a:lvl5pPr>
            <a:lvl6pPr marL="0" marR="0" indent="22860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Calibri" panose="020F0502020204030204"/>
                <a:ea typeface="Calibri" panose="020F0502020204030204"/>
                <a:cs typeface="Calibri" panose="020F0502020204030204"/>
                <a:sym typeface="Calibri" panose="020F0502020204030204"/>
              </a:defRPr>
            </a:lvl6pPr>
            <a:lvl7pPr marL="0" marR="0" indent="27432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Calibri" panose="020F0502020204030204"/>
                <a:ea typeface="Calibri" panose="020F0502020204030204"/>
                <a:cs typeface="Calibri" panose="020F0502020204030204"/>
                <a:sym typeface="Calibri" panose="020F0502020204030204"/>
              </a:defRPr>
            </a:lvl7pPr>
            <a:lvl8pPr marL="0" marR="0" indent="32004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Calibri" panose="020F0502020204030204"/>
                <a:ea typeface="Calibri" panose="020F0502020204030204"/>
                <a:cs typeface="Calibri" panose="020F0502020204030204"/>
                <a:sym typeface="Calibri" panose="020F0502020204030204"/>
              </a:defRPr>
            </a:lvl8pPr>
            <a:lvl9pPr marL="0" marR="0" indent="3657600" algn="l" defTabSz="457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Calibri" panose="020F0502020204030204"/>
                <a:ea typeface="Calibri" panose="020F0502020204030204"/>
                <a:cs typeface="Calibri" panose="020F0502020204030204"/>
                <a:sym typeface="Calibri" panose="020F0502020204030204"/>
              </a:defRPr>
            </a:lvl9pPr>
          </a:lstStyle>
          <a:p>
            <a:fld id="{86CB4B4D-7CA3-9044-876B-883B54F8677D}" type="slidenum">
              <a:rPr lang="en-US" altLang="zh-CN" smtClean="0"/>
              <a:t>‹#›</a:t>
            </a:fld>
            <a:r>
              <a:rPr lang="en-US" altLang="zh-CN" dirty="0"/>
              <a:t>/5</a:t>
            </a:r>
            <a:endParaRPr lang="zh-CN" altLang="en-US"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 Id="rId18" Type="http://schemas.openxmlformats.org/officeDocument/2006/relationships/image" Target="../media/image8.pn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433637"/>
            <a:ext cx="10850563" cy="595063"/>
          </a:xfrm>
          <a:prstGeom prst="rect">
            <a:avLst/>
          </a:prstGeom>
        </p:spPr>
        <p:txBody>
          <a:bodyPr vert="horz" lIns="91440" tIns="45720" rIns="91440" bIns="45720" rtlCol="0" anchor="b">
            <a:noAutofit/>
          </a:bodyPr>
          <a:lstStyle/>
          <a:p>
            <a:r>
              <a:rPr lang="en-US" altLang="zh-CN" dirty="0"/>
              <a:t>Click to edit Master title style</a:t>
            </a:r>
            <a:endParaRPr lang="zh-CN" altLang="en-US" dirty="0"/>
          </a:p>
        </p:txBody>
      </p:sp>
      <p:cxnSp>
        <p:nvCxnSpPr>
          <p:cNvPr id="7" name="直接连接符 6"/>
          <p:cNvCxnSpPr/>
          <p:nvPr userDrawn="1"/>
        </p:nvCxnSpPr>
        <p:spPr>
          <a:xfrm>
            <a:off x="669924" y="1028700"/>
            <a:ext cx="10850563"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userDrawn="1"/>
        </p:nvSpPr>
        <p:spPr>
          <a:xfrm>
            <a:off x="669924" y="6331974"/>
            <a:ext cx="2722205" cy="261610"/>
          </a:xfrm>
          <a:prstGeom prst="rect">
            <a:avLst/>
          </a:prstGeom>
          <a:noFill/>
        </p:spPr>
        <p:txBody>
          <a:bodyPr wrap="square" rtlCol="0">
            <a:spAutoFit/>
          </a:bodyPr>
          <a:lstStyle/>
          <a:p>
            <a:r>
              <a:rPr lang="en-US" altLang="zh-CN" sz="1100" b="1" dirty="0">
                <a:solidFill>
                  <a:schemeClr val="tx2"/>
                </a:solidFill>
                <a:latin typeface="Arial Black" panose="020B0A04020102020204" pitchFamily="34" charset="0"/>
              </a:rPr>
              <a:t>www.cheyun.com</a:t>
            </a:r>
            <a:endParaRPr lang="zh-CN" altLang="en-US" sz="1100" b="1" dirty="0">
              <a:solidFill>
                <a:schemeClr val="tx2"/>
              </a:solidFill>
              <a:latin typeface="Arial Black" panose="020B0A04020102020204" pitchFamily="34" charset="0"/>
            </a:endParaRPr>
          </a:p>
        </p:txBody>
      </p:sp>
      <p:sp>
        <p:nvSpPr>
          <p:cNvPr id="12" name="文本框 11"/>
          <p:cNvSpPr txBox="1"/>
          <p:nvPr userDrawn="1"/>
        </p:nvSpPr>
        <p:spPr>
          <a:xfrm>
            <a:off x="4734103" y="6331974"/>
            <a:ext cx="2722205" cy="261610"/>
          </a:xfrm>
          <a:prstGeom prst="rect">
            <a:avLst/>
          </a:prstGeom>
          <a:noFill/>
        </p:spPr>
        <p:txBody>
          <a:bodyPr wrap="square" rtlCol="0">
            <a:spAutoFit/>
          </a:bodyPr>
          <a:lstStyle/>
          <a:p>
            <a:pPr algn="ctr"/>
            <a:r>
              <a:rPr lang="en-US" altLang="zh-CN" sz="1100" b="1" dirty="0">
                <a:solidFill>
                  <a:schemeClr val="tx2"/>
                </a:solidFill>
                <a:latin typeface="Arial Black" panose="020B0A04020102020204" pitchFamily="34" charset="0"/>
              </a:rPr>
              <a:t>03-2026</a:t>
            </a:r>
          </a:p>
        </p:txBody>
      </p:sp>
      <p:sp>
        <p:nvSpPr>
          <p:cNvPr id="13" name="文本框 12"/>
          <p:cNvSpPr txBox="1"/>
          <p:nvPr userDrawn="1"/>
        </p:nvSpPr>
        <p:spPr>
          <a:xfrm>
            <a:off x="8798282" y="6331974"/>
            <a:ext cx="2722205" cy="261610"/>
          </a:xfrm>
          <a:prstGeom prst="rect">
            <a:avLst/>
          </a:prstGeom>
          <a:noFill/>
        </p:spPr>
        <p:txBody>
          <a:bodyPr wrap="square" rtlCol="0">
            <a:spAutoFit/>
          </a:bodyPr>
          <a:lstStyle/>
          <a:p>
            <a:pPr algn="r"/>
            <a:r>
              <a:rPr lang="en-US" altLang="zh-CN" sz="1100" b="1" dirty="0">
                <a:solidFill>
                  <a:schemeClr val="tx2"/>
                </a:solidFill>
                <a:latin typeface="Arial Black" panose="020B0A04020102020204" pitchFamily="34" charset="0"/>
              </a:rPr>
              <a:t>- </a:t>
            </a:r>
            <a:fld id="{B82E189C-64F3-4B6C-A562-F6D75348744A}" type="slidenum">
              <a:rPr lang="en-US" altLang="zh-CN" sz="1100" b="1" smtClean="0">
                <a:solidFill>
                  <a:schemeClr val="tx2"/>
                </a:solidFill>
                <a:latin typeface="Arial Black" panose="020B0A04020102020204" pitchFamily="34" charset="0"/>
              </a:rPr>
              <a:t>‹#›</a:t>
            </a:fld>
            <a:r>
              <a:rPr lang="en-US" altLang="zh-CN" sz="1100" b="1" dirty="0">
                <a:solidFill>
                  <a:schemeClr val="tx2"/>
                </a:solidFill>
                <a:latin typeface="Arial Black" panose="020B0A04020102020204" pitchFamily="34" charset="0"/>
              </a:rPr>
              <a:t> -</a:t>
            </a:r>
            <a:endParaRPr lang="zh-CN" altLang="en-US" sz="1100" b="1" dirty="0">
              <a:solidFill>
                <a:schemeClr val="tx2"/>
              </a:solidFill>
              <a:latin typeface="Arial Black" panose="020B0A04020102020204" pitchFamily="34" charset="0"/>
            </a:endParaRPr>
          </a:p>
        </p:txBody>
      </p:sp>
      <p:pic>
        <p:nvPicPr>
          <p:cNvPr id="14" name="图片 13" descr="3车云logo(1)"/>
          <p:cNvPicPr>
            <a:picLocks noChangeAspect="1"/>
          </p:cNvPicPr>
          <p:nvPr userDrawn="1"/>
        </p:nvPicPr>
        <p:blipFill>
          <a:blip r:embed="rId17"/>
          <a:stretch>
            <a:fillRect/>
          </a:stretch>
        </p:blipFill>
        <p:spPr>
          <a:xfrm>
            <a:off x="10731391" y="147480"/>
            <a:ext cx="1399805" cy="360000"/>
          </a:xfrm>
          <a:prstGeom prst="rect">
            <a:avLst/>
          </a:prstGeom>
          <a:effectLst>
            <a:outerShdw blurRad="76200" dir="13500000" sy="23000" kx="1200000" algn="br" rotWithShape="0">
              <a:prstClr val="black">
                <a:alpha val="20000"/>
              </a:prstClr>
            </a:outerShdw>
            <a:reflection stA="45000" endPos="0" dist="50800" dir="5400000" sy="-100000" algn="bl" rotWithShape="0"/>
          </a:effectLst>
        </p:spPr>
      </p:pic>
      <p:sp>
        <p:nvSpPr>
          <p:cNvPr id="27" name="矩形 26"/>
          <p:cNvSpPr/>
          <p:nvPr userDrawn="1"/>
        </p:nvSpPr>
        <p:spPr>
          <a:xfrm>
            <a:off x="-1004762" y="1573162"/>
            <a:ext cx="894736" cy="2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000" dirty="0">
                <a:solidFill>
                  <a:schemeClr val="accent4"/>
                </a:solidFill>
              </a:rPr>
              <a:t>255/255/255</a:t>
            </a:r>
            <a:endParaRPr lang="zh-CN" altLang="en-US" sz="1000" dirty="0">
              <a:solidFill>
                <a:schemeClr val="accent4"/>
              </a:solidFill>
            </a:endParaRPr>
          </a:p>
        </p:txBody>
      </p:sp>
      <p:sp>
        <p:nvSpPr>
          <p:cNvPr id="42" name="矩形 41"/>
          <p:cNvSpPr/>
          <p:nvPr userDrawn="1"/>
        </p:nvSpPr>
        <p:spPr>
          <a:xfrm>
            <a:off x="-1004762" y="1840398"/>
            <a:ext cx="894736" cy="2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000" dirty="0"/>
              <a:t>0/0/0</a:t>
            </a:r>
            <a:endParaRPr lang="zh-CN" altLang="en-US" sz="1000" dirty="0"/>
          </a:p>
        </p:txBody>
      </p:sp>
      <p:sp>
        <p:nvSpPr>
          <p:cNvPr id="43" name="矩形 42"/>
          <p:cNvSpPr/>
          <p:nvPr userDrawn="1"/>
        </p:nvSpPr>
        <p:spPr>
          <a:xfrm>
            <a:off x="-1004762" y="2107634"/>
            <a:ext cx="894736" cy="21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000" dirty="0">
                <a:solidFill>
                  <a:schemeClr val="accent4"/>
                </a:solidFill>
              </a:rPr>
              <a:t>240/240/240</a:t>
            </a:r>
            <a:endParaRPr lang="zh-CN" altLang="en-US" sz="1000" dirty="0">
              <a:solidFill>
                <a:schemeClr val="accent4"/>
              </a:solidFill>
            </a:endParaRPr>
          </a:p>
        </p:txBody>
      </p:sp>
      <p:sp>
        <p:nvSpPr>
          <p:cNvPr id="44" name="矩形 43"/>
          <p:cNvSpPr/>
          <p:nvPr userDrawn="1"/>
        </p:nvSpPr>
        <p:spPr>
          <a:xfrm>
            <a:off x="-1004762" y="2374869"/>
            <a:ext cx="894736" cy="2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000" dirty="0"/>
              <a:t>118/131/149</a:t>
            </a:r>
            <a:endParaRPr lang="zh-CN" altLang="en-US" sz="1000" dirty="0"/>
          </a:p>
        </p:txBody>
      </p:sp>
      <p:sp>
        <p:nvSpPr>
          <p:cNvPr id="45" name="矩形 44"/>
          <p:cNvSpPr/>
          <p:nvPr userDrawn="1"/>
        </p:nvSpPr>
        <p:spPr>
          <a:xfrm>
            <a:off x="-1004762" y="3213000"/>
            <a:ext cx="894736" cy="2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000" dirty="0"/>
              <a:t>0/143/212</a:t>
            </a:r>
            <a:endParaRPr lang="zh-CN" altLang="en-US" sz="1000" dirty="0"/>
          </a:p>
        </p:txBody>
      </p:sp>
      <p:sp>
        <p:nvSpPr>
          <p:cNvPr id="46" name="矩形 45"/>
          <p:cNvSpPr/>
          <p:nvPr userDrawn="1"/>
        </p:nvSpPr>
        <p:spPr>
          <a:xfrm>
            <a:off x="-1004762" y="3527047"/>
            <a:ext cx="894736" cy="2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000" dirty="0"/>
              <a:t>75/195/255</a:t>
            </a:r>
            <a:endParaRPr lang="zh-CN" altLang="en-US" sz="1000" dirty="0"/>
          </a:p>
        </p:txBody>
      </p:sp>
      <p:sp>
        <p:nvSpPr>
          <p:cNvPr id="47" name="矩形 46"/>
          <p:cNvSpPr/>
          <p:nvPr userDrawn="1"/>
        </p:nvSpPr>
        <p:spPr>
          <a:xfrm>
            <a:off x="-1004762" y="3841094"/>
            <a:ext cx="894736" cy="21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000" dirty="0"/>
              <a:t>88/88/88</a:t>
            </a:r>
            <a:endParaRPr lang="zh-CN" altLang="en-US" sz="1000" dirty="0"/>
          </a:p>
        </p:txBody>
      </p:sp>
      <p:sp>
        <p:nvSpPr>
          <p:cNvPr id="48" name="矩形 47"/>
          <p:cNvSpPr/>
          <p:nvPr userDrawn="1"/>
        </p:nvSpPr>
        <p:spPr>
          <a:xfrm>
            <a:off x="-1004762" y="4155141"/>
            <a:ext cx="894736" cy="2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000" dirty="0"/>
              <a:t>110/115/122</a:t>
            </a:r>
            <a:endParaRPr lang="zh-CN" altLang="en-US" sz="1000" dirty="0"/>
          </a:p>
        </p:txBody>
      </p:sp>
      <p:sp>
        <p:nvSpPr>
          <p:cNvPr id="49" name="矩形 48"/>
          <p:cNvSpPr/>
          <p:nvPr userDrawn="1"/>
        </p:nvSpPr>
        <p:spPr>
          <a:xfrm>
            <a:off x="-1004762" y="4469188"/>
            <a:ext cx="894736" cy="216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000" dirty="0"/>
              <a:t>147/152/158</a:t>
            </a:r>
            <a:endParaRPr lang="zh-CN" altLang="en-US" sz="1000" dirty="0"/>
          </a:p>
        </p:txBody>
      </p:sp>
      <p:sp>
        <p:nvSpPr>
          <p:cNvPr id="50" name="矩形 49"/>
          <p:cNvSpPr/>
          <p:nvPr userDrawn="1"/>
        </p:nvSpPr>
        <p:spPr>
          <a:xfrm>
            <a:off x="-1004762" y="4783233"/>
            <a:ext cx="894736" cy="216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000" dirty="0"/>
              <a:t>183/184/185</a:t>
            </a:r>
            <a:endParaRPr lang="zh-CN" altLang="en-US" sz="1000" dirty="0"/>
          </a:p>
        </p:txBody>
      </p:sp>
      <p:sp>
        <p:nvSpPr>
          <p:cNvPr id="5" name="文本框 4"/>
          <p:cNvSpPr txBox="1"/>
          <p:nvPr userDrawn="1"/>
        </p:nvSpPr>
        <p:spPr>
          <a:xfrm>
            <a:off x="-1012723" y="1307690"/>
            <a:ext cx="894736" cy="261610"/>
          </a:xfrm>
          <a:prstGeom prst="rect">
            <a:avLst/>
          </a:prstGeom>
          <a:noFill/>
        </p:spPr>
        <p:txBody>
          <a:bodyPr wrap="square" rtlCol="0">
            <a:spAutoFit/>
          </a:bodyPr>
          <a:lstStyle/>
          <a:p>
            <a:pPr algn="ctr"/>
            <a:r>
              <a:rPr lang="zh-CN" altLang="en-US" sz="1100" dirty="0">
                <a:solidFill>
                  <a:schemeClr val="bg1"/>
                </a:solidFill>
                <a:latin typeface="+mn-ea"/>
                <a:ea typeface="+mn-ea"/>
              </a:rPr>
              <a:t>文字</a:t>
            </a:r>
            <a:r>
              <a:rPr lang="en-US" altLang="zh-CN" sz="1100" dirty="0">
                <a:solidFill>
                  <a:schemeClr val="bg1"/>
                </a:solidFill>
                <a:latin typeface="+mn-ea"/>
                <a:ea typeface="+mn-ea"/>
              </a:rPr>
              <a:t>/</a:t>
            </a:r>
            <a:r>
              <a:rPr lang="zh-CN" altLang="en-US" sz="1100" dirty="0">
                <a:solidFill>
                  <a:schemeClr val="bg1"/>
                </a:solidFill>
                <a:latin typeface="+mn-ea"/>
                <a:ea typeface="+mn-ea"/>
              </a:rPr>
              <a:t>背景</a:t>
            </a:r>
          </a:p>
        </p:txBody>
      </p:sp>
      <p:sp>
        <p:nvSpPr>
          <p:cNvPr id="51" name="文本框 50"/>
          <p:cNvSpPr txBox="1"/>
          <p:nvPr userDrawn="1"/>
        </p:nvSpPr>
        <p:spPr>
          <a:xfrm>
            <a:off x="-1012723" y="2944234"/>
            <a:ext cx="894736" cy="261610"/>
          </a:xfrm>
          <a:prstGeom prst="rect">
            <a:avLst/>
          </a:prstGeom>
          <a:noFill/>
        </p:spPr>
        <p:txBody>
          <a:bodyPr wrap="square" rtlCol="0">
            <a:spAutoFit/>
          </a:bodyPr>
          <a:lstStyle/>
          <a:p>
            <a:pPr algn="ctr"/>
            <a:r>
              <a:rPr lang="zh-CN" altLang="en-US" sz="1100" dirty="0">
                <a:solidFill>
                  <a:schemeClr val="bg1"/>
                </a:solidFill>
                <a:latin typeface="+mn-ea"/>
                <a:ea typeface="+mn-ea"/>
              </a:rPr>
              <a:t>填充色</a:t>
            </a:r>
          </a:p>
        </p:txBody>
      </p:sp>
      <p:pic>
        <p:nvPicPr>
          <p:cNvPr id="52" name="Picture 51" descr="375d9974-0bca-47fe-aa7d-f1bc9605c146_tile.png"/>
          <p:cNvPicPr>
            <a:picLocks noChangeAspect="1"/>
          </p:cNvPicPr>
          <p:nvPr/>
        </p:nvPicPr>
        <p:blipFill>
          <a:blip r:embed="rId18"/>
          <a:stretch>
            <a:fillRect/>
          </a:stretch>
        </p:blipFill>
        <p:spPr>
          <a:xfrm>
            <a:off x="0" y="0"/>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dt="0"/>
  <p:txStyles>
    <p:titleStyle>
      <a:lvl1pPr algn="l" defTabSz="914400" rtl="0" eaLnBrk="1" latinLnBrk="0" hangingPunct="1">
        <a:lnSpc>
          <a:spcPct val="90000"/>
        </a:lnSpc>
        <a:spcBef>
          <a:spcPct val="0"/>
        </a:spcBef>
        <a:buNone/>
        <a:defRPr lang="zh-CN" altLang="en-US" sz="2400" b="1" kern="1200" dirty="0">
          <a:solidFill>
            <a:schemeClr val="tx1">
              <a:lumMod val="65000"/>
              <a:lumOff val="35000"/>
            </a:schemeClr>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73560" y="1138434"/>
            <a:ext cx="5759910" cy="338554"/>
          </a:xfrm>
          <a:prstGeom prst="rect">
            <a:avLst/>
          </a:prstGeom>
          <a:noFill/>
        </p:spPr>
        <p:txBody>
          <a:bodyPr wrap="none" rtlCol="0">
            <a:spAutoFit/>
          </a:bodyPr>
          <a:lstStyle>
            <a:defPPr>
              <a:defRPr lang="zh-CN"/>
            </a:defPPr>
            <a:lvl1pPr>
              <a:defRPr sz="1400" b="1">
                <a:latin typeface="微软雅黑" panose="020B0503020204020204" pitchFamily="34" charset="-122"/>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b="0" dirty="0">
                <a:solidFill>
                  <a:srgbClr val="000000"/>
                </a:solidFill>
              </a:rPr>
              <a:t>3</a:t>
            </a:r>
            <a:r>
              <a:rPr lang="zh-CN" altLang="en-US" sz="1600" b="0" dirty="0">
                <a:solidFill>
                  <a:srgbClr val="000000"/>
                </a:solidFill>
              </a:rPr>
              <a:t>月</a:t>
            </a:r>
            <a:r>
              <a:rPr lang="en-US" altLang="zh-CN" sz="1600" b="0" dirty="0">
                <a:solidFill>
                  <a:srgbClr val="000000"/>
                </a:solidFill>
              </a:rPr>
              <a:t>1</a:t>
            </a:r>
            <a:r>
              <a:rPr lang="zh-CN" altLang="en-US" sz="1600" b="0" dirty="0">
                <a:solidFill>
                  <a:srgbClr val="000000"/>
                </a:solidFill>
              </a:rPr>
              <a:t>日上午进行了乘客组圆桌访谈，下午进行司机组圆桌访谈</a:t>
            </a:r>
            <a:endPar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7" name="矩形 36"/>
          <p:cNvSpPr/>
          <p:nvPr/>
        </p:nvSpPr>
        <p:spPr>
          <a:xfrm>
            <a:off x="6364736" y="1584609"/>
            <a:ext cx="4439654" cy="2452021"/>
          </a:xfrm>
          <a:prstGeom prst="rect">
            <a:avLst/>
          </a:prstGeom>
          <a:solidFill>
            <a:schemeClr val="accent4">
              <a:lumMod val="20000"/>
              <a:lumOff val="80000"/>
            </a:schemeClr>
          </a:solidFill>
          <a:ln>
            <a:solidFill>
              <a:schemeClr val="bg1">
                <a:lumMod val="95000"/>
              </a:schemeClr>
            </a:solidFill>
          </a:ln>
        </p:spPr>
        <p:txBody>
          <a:bodyPr wrap="square" rtlCol="0" anchor="ctr">
            <a:noAutofit/>
          </a:bodyPr>
          <a:lstStyle/>
          <a:p>
            <a:pPr algn="ctr">
              <a:lnSpc>
                <a:spcPct val="125000"/>
              </a:lnSpc>
            </a:pPr>
            <a:endParaRPr lang="zh-CN" altLang="en-US" sz="1400" dirty="0">
              <a:latin typeface="+mn-ea"/>
            </a:endParaRPr>
          </a:p>
        </p:txBody>
      </p:sp>
      <p:sp>
        <p:nvSpPr>
          <p:cNvPr id="111" name="椭圆 110"/>
          <p:cNvSpPr/>
          <p:nvPr/>
        </p:nvSpPr>
        <p:spPr>
          <a:xfrm>
            <a:off x="7544801" y="2333371"/>
            <a:ext cx="1901176" cy="1107052"/>
          </a:xfrm>
          <a:prstGeom prst="ellipse">
            <a:avLst/>
          </a:prstGeom>
          <a:solidFill>
            <a:schemeClr val="bg2">
              <a:lumMod val="75000"/>
            </a:schemeClr>
          </a:solidFill>
          <a:ln>
            <a:solidFill>
              <a:schemeClr val="bg1">
                <a:lumMod val="95000"/>
              </a:schemeClr>
            </a:solidFill>
          </a:ln>
        </p:spPr>
        <p:txBody>
          <a:bodyPr wrap="square" rtlCol="0" anchor="ctr">
            <a:spAutoFit/>
          </a:bodyPr>
          <a:lstStyle/>
          <a:p>
            <a:pPr algn="ctr">
              <a:lnSpc>
                <a:spcPct val="125000"/>
              </a:lnSpc>
            </a:pPr>
            <a:endParaRPr lang="zh-CN" altLang="en-US" sz="1400" dirty="0">
              <a:latin typeface="+mn-ea"/>
            </a:endParaRPr>
          </a:p>
        </p:txBody>
      </p:sp>
      <p:sp>
        <p:nvSpPr>
          <p:cNvPr id="2" name="标题 1"/>
          <p:cNvSpPr>
            <a:spLocks noGrp="1"/>
          </p:cNvSpPr>
          <p:nvPr>
            <p:ph type="title" idx="4294967295"/>
          </p:nvPr>
        </p:nvSpPr>
        <p:spPr>
          <a:xfrm>
            <a:off x="669924" y="433637"/>
            <a:ext cx="10850563" cy="595063"/>
          </a:xfrm>
        </p:spPr>
        <p:txBody>
          <a:bodyPr/>
          <a:lstStyle/>
          <a:p>
            <a:r>
              <a:rPr lang="zh-CN" altLang="en-US" b="1" dirty="0">
                <a:sym typeface="Arial" panose="020B0604020202020204" pitchFamily="34" charset="0"/>
              </a:rPr>
              <a:t>项目执行概况 </a:t>
            </a:r>
            <a:r>
              <a:rPr lang="en-US" altLang="zh-CN" sz="1600" dirty="0">
                <a:sym typeface="Arial" panose="020B0604020202020204" pitchFamily="34" charset="0"/>
              </a:rPr>
              <a:t>(</a:t>
            </a:r>
            <a:r>
              <a:rPr lang="zh-CN" altLang="en-US" sz="1600" b="1" dirty="0">
                <a:sym typeface="Arial" panose="020B0604020202020204" pitchFamily="34" charset="0"/>
              </a:rPr>
              <a:t>定性</a:t>
            </a:r>
            <a:r>
              <a:rPr lang="en-US" altLang="zh-CN" sz="1600" b="1" dirty="0">
                <a:sym typeface="Arial" panose="020B0604020202020204" pitchFamily="34" charset="0"/>
              </a:rPr>
              <a:t>)</a:t>
            </a:r>
            <a:endParaRPr lang="zh-CN" altLang="en-US" sz="1600" dirty="0"/>
          </a:p>
        </p:txBody>
      </p:sp>
      <p:sp>
        <p:nvSpPr>
          <p:cNvPr id="7" name="矩形 6"/>
          <p:cNvSpPr/>
          <p:nvPr/>
        </p:nvSpPr>
        <p:spPr>
          <a:xfrm>
            <a:off x="909627" y="1613116"/>
            <a:ext cx="4437875" cy="2406644"/>
          </a:xfrm>
          <a:prstGeom prst="rect">
            <a:avLst/>
          </a:prstGeom>
          <a:solidFill>
            <a:schemeClr val="accent4">
              <a:lumMod val="20000"/>
              <a:lumOff val="80000"/>
            </a:schemeClr>
          </a:solidFill>
          <a:ln>
            <a:solidFill>
              <a:schemeClr val="bg1">
                <a:lumMod val="95000"/>
              </a:schemeClr>
            </a:solidFill>
          </a:ln>
        </p:spPr>
        <p:txBody>
          <a:bodyPr wrap="square" rtlCol="0" anchor="ctr">
            <a:noAutofit/>
          </a:bodyPr>
          <a:lstStyle/>
          <a:p>
            <a:pPr algn="ctr">
              <a:lnSpc>
                <a:spcPct val="125000"/>
              </a:lnSpc>
            </a:pPr>
            <a:endParaRPr lang="zh-CN" altLang="en-US" sz="1400" dirty="0">
              <a:latin typeface="+mn-ea"/>
            </a:endParaRPr>
          </a:p>
        </p:txBody>
      </p:sp>
      <p:grpSp>
        <p:nvGrpSpPr>
          <p:cNvPr id="130" name="组合 129"/>
          <p:cNvGrpSpPr/>
          <p:nvPr/>
        </p:nvGrpSpPr>
        <p:grpSpPr>
          <a:xfrm>
            <a:off x="2818191" y="3409855"/>
            <a:ext cx="792618" cy="651138"/>
            <a:chOff x="2254134" y="3409855"/>
            <a:chExt cx="792618" cy="651138"/>
          </a:xfrm>
        </p:grpSpPr>
        <p:sp>
          <p:nvSpPr>
            <p:cNvPr id="13" name="businessman-presenter_46787"/>
            <p:cNvSpPr/>
            <p:nvPr/>
          </p:nvSpPr>
          <p:spPr>
            <a:xfrm>
              <a:off x="2470830" y="3409855"/>
              <a:ext cx="311791" cy="434974"/>
            </a:xfrm>
            <a:custGeom>
              <a:avLst/>
              <a:gdLst>
                <a:gd name="T0" fmla="*/ 3466 w 3883"/>
                <a:gd name="T1" fmla="*/ 3672 h 6573"/>
                <a:gd name="T2" fmla="*/ 417 w 3883"/>
                <a:gd name="T3" fmla="*/ 3672 h 6573"/>
                <a:gd name="T4" fmla="*/ 55 w 3883"/>
                <a:gd name="T5" fmla="*/ 3339 h 6573"/>
                <a:gd name="T6" fmla="*/ 9 w 3883"/>
                <a:gd name="T7" fmla="*/ 2780 h 6573"/>
                <a:gd name="T8" fmla="*/ 189 w 3883"/>
                <a:gd name="T9" fmla="*/ 2584 h 6573"/>
                <a:gd name="T10" fmla="*/ 3694 w 3883"/>
                <a:gd name="T11" fmla="*/ 2584 h 6573"/>
                <a:gd name="T12" fmla="*/ 3875 w 3883"/>
                <a:gd name="T13" fmla="*/ 2780 h 6573"/>
                <a:gd name="T14" fmla="*/ 3828 w 3883"/>
                <a:gd name="T15" fmla="*/ 3339 h 6573"/>
                <a:gd name="T16" fmla="*/ 3466 w 3883"/>
                <a:gd name="T17" fmla="*/ 3672 h 6573"/>
                <a:gd name="T18" fmla="*/ 3438 w 3883"/>
                <a:gd name="T19" fmla="*/ 3853 h 6573"/>
                <a:gd name="T20" fmla="*/ 446 w 3883"/>
                <a:gd name="T21" fmla="*/ 3853 h 6573"/>
                <a:gd name="T22" fmla="*/ 808 w 3883"/>
                <a:gd name="T23" fmla="*/ 6573 h 6573"/>
                <a:gd name="T24" fmla="*/ 3075 w 3883"/>
                <a:gd name="T25" fmla="*/ 6573 h 6573"/>
                <a:gd name="T26" fmla="*/ 3438 w 3883"/>
                <a:gd name="T27" fmla="*/ 3853 h 6573"/>
                <a:gd name="T28" fmla="*/ 1957 w 3883"/>
                <a:gd name="T29" fmla="*/ 1223 h 6573"/>
                <a:gd name="T30" fmla="*/ 2569 w 3883"/>
                <a:gd name="T31" fmla="*/ 611 h 6573"/>
                <a:gd name="T32" fmla="*/ 1957 w 3883"/>
                <a:gd name="T33" fmla="*/ 0 h 6573"/>
                <a:gd name="T34" fmla="*/ 1346 w 3883"/>
                <a:gd name="T35" fmla="*/ 611 h 6573"/>
                <a:gd name="T36" fmla="*/ 1957 w 3883"/>
                <a:gd name="T37" fmla="*/ 1223 h 6573"/>
                <a:gd name="T38" fmla="*/ 3347 w 3883"/>
                <a:gd name="T39" fmla="*/ 2403 h 6573"/>
                <a:gd name="T40" fmla="*/ 3213 w 3883"/>
                <a:gd name="T41" fmla="*/ 1805 h 6573"/>
                <a:gd name="T42" fmla="*/ 2901 w 3883"/>
                <a:gd name="T43" fmla="*/ 1515 h 6573"/>
                <a:gd name="T44" fmla="*/ 2357 w 3883"/>
                <a:gd name="T45" fmla="*/ 1435 h 6573"/>
                <a:gd name="T46" fmla="*/ 2088 w 3883"/>
                <a:gd name="T47" fmla="*/ 2052 h 6573"/>
                <a:gd name="T48" fmla="*/ 2053 w 3883"/>
                <a:gd name="T49" fmla="*/ 1748 h 6573"/>
                <a:gd name="T50" fmla="*/ 2034 w 3883"/>
                <a:gd name="T51" fmla="*/ 1731 h 6573"/>
                <a:gd name="T52" fmla="*/ 1880 w 3883"/>
                <a:gd name="T53" fmla="*/ 1731 h 6573"/>
                <a:gd name="T54" fmla="*/ 1862 w 3883"/>
                <a:gd name="T55" fmla="*/ 1748 h 6573"/>
                <a:gd name="T56" fmla="*/ 1830 w 3883"/>
                <a:gd name="T57" fmla="*/ 2060 h 6573"/>
                <a:gd name="T58" fmla="*/ 1557 w 3883"/>
                <a:gd name="T59" fmla="*/ 1435 h 6573"/>
                <a:gd name="T60" fmla="*/ 1014 w 3883"/>
                <a:gd name="T61" fmla="*/ 1515 h 6573"/>
                <a:gd name="T62" fmla="*/ 701 w 3883"/>
                <a:gd name="T63" fmla="*/ 1805 h 6573"/>
                <a:gd name="T64" fmla="*/ 567 w 3883"/>
                <a:gd name="T65" fmla="*/ 2403 h 6573"/>
                <a:gd name="T66" fmla="*/ 3347 w 3883"/>
                <a:gd name="T67" fmla="*/ 2403 h 6573"/>
                <a:gd name="T68" fmla="*/ 1769 w 3883"/>
                <a:gd name="T69" fmla="*/ 1458 h 6573"/>
                <a:gd name="T70" fmla="*/ 1844 w 3883"/>
                <a:gd name="T71" fmla="*/ 1618 h 6573"/>
                <a:gd name="T72" fmla="*/ 1957 w 3883"/>
                <a:gd name="T73" fmla="*/ 1646 h 6573"/>
                <a:gd name="T74" fmla="*/ 2070 w 3883"/>
                <a:gd name="T75" fmla="*/ 1618 h 6573"/>
                <a:gd name="T76" fmla="*/ 2145 w 3883"/>
                <a:gd name="T77" fmla="*/ 1458 h 6573"/>
                <a:gd name="T78" fmla="*/ 1957 w 3883"/>
                <a:gd name="T79" fmla="*/ 1383 h 6573"/>
                <a:gd name="T80" fmla="*/ 1769 w 3883"/>
                <a:gd name="T81" fmla="*/ 1458 h 6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883" h="6573">
                  <a:moveTo>
                    <a:pt x="3466" y="3672"/>
                  </a:moveTo>
                  <a:lnTo>
                    <a:pt x="417" y="3672"/>
                  </a:lnTo>
                  <a:cubicBezTo>
                    <a:pt x="228" y="3672"/>
                    <a:pt x="71" y="3527"/>
                    <a:pt x="55" y="3339"/>
                  </a:cubicBezTo>
                  <a:lnTo>
                    <a:pt x="9" y="2780"/>
                  </a:lnTo>
                  <a:cubicBezTo>
                    <a:pt x="0" y="2675"/>
                    <a:pt x="83" y="2584"/>
                    <a:pt x="189" y="2584"/>
                  </a:cubicBezTo>
                  <a:lnTo>
                    <a:pt x="3694" y="2584"/>
                  </a:lnTo>
                  <a:cubicBezTo>
                    <a:pt x="3800" y="2584"/>
                    <a:pt x="3883" y="2675"/>
                    <a:pt x="3875" y="2780"/>
                  </a:cubicBezTo>
                  <a:lnTo>
                    <a:pt x="3828" y="3339"/>
                  </a:lnTo>
                  <a:cubicBezTo>
                    <a:pt x="3812" y="3527"/>
                    <a:pt x="3655" y="3672"/>
                    <a:pt x="3466" y="3672"/>
                  </a:cubicBezTo>
                  <a:close/>
                  <a:moveTo>
                    <a:pt x="3438" y="3853"/>
                  </a:moveTo>
                  <a:lnTo>
                    <a:pt x="446" y="3853"/>
                  </a:lnTo>
                  <a:lnTo>
                    <a:pt x="808" y="6573"/>
                  </a:lnTo>
                  <a:lnTo>
                    <a:pt x="3075" y="6573"/>
                  </a:lnTo>
                  <a:lnTo>
                    <a:pt x="3438" y="3853"/>
                  </a:lnTo>
                  <a:close/>
                  <a:moveTo>
                    <a:pt x="1957" y="1223"/>
                  </a:moveTo>
                  <a:cubicBezTo>
                    <a:pt x="2295" y="1223"/>
                    <a:pt x="2569" y="949"/>
                    <a:pt x="2569" y="611"/>
                  </a:cubicBezTo>
                  <a:cubicBezTo>
                    <a:pt x="2569" y="274"/>
                    <a:pt x="2295" y="0"/>
                    <a:pt x="1957" y="0"/>
                  </a:cubicBezTo>
                  <a:cubicBezTo>
                    <a:pt x="1619" y="0"/>
                    <a:pt x="1346" y="274"/>
                    <a:pt x="1346" y="611"/>
                  </a:cubicBezTo>
                  <a:cubicBezTo>
                    <a:pt x="1346" y="949"/>
                    <a:pt x="1619" y="1223"/>
                    <a:pt x="1957" y="1223"/>
                  </a:cubicBezTo>
                  <a:close/>
                  <a:moveTo>
                    <a:pt x="3347" y="2403"/>
                  </a:moveTo>
                  <a:lnTo>
                    <a:pt x="3213" y="1805"/>
                  </a:lnTo>
                  <a:cubicBezTo>
                    <a:pt x="3179" y="1653"/>
                    <a:pt x="3055" y="1537"/>
                    <a:pt x="2901" y="1515"/>
                  </a:cubicBezTo>
                  <a:lnTo>
                    <a:pt x="2357" y="1435"/>
                  </a:lnTo>
                  <a:lnTo>
                    <a:pt x="2088" y="2052"/>
                  </a:lnTo>
                  <a:lnTo>
                    <a:pt x="2053" y="1748"/>
                  </a:lnTo>
                  <a:cubicBezTo>
                    <a:pt x="2052" y="1738"/>
                    <a:pt x="2044" y="1731"/>
                    <a:pt x="2034" y="1731"/>
                  </a:cubicBezTo>
                  <a:lnTo>
                    <a:pt x="1880" y="1731"/>
                  </a:lnTo>
                  <a:cubicBezTo>
                    <a:pt x="1870" y="1731"/>
                    <a:pt x="1862" y="1738"/>
                    <a:pt x="1862" y="1748"/>
                  </a:cubicBezTo>
                  <a:lnTo>
                    <a:pt x="1830" y="2060"/>
                  </a:lnTo>
                  <a:lnTo>
                    <a:pt x="1557" y="1435"/>
                  </a:lnTo>
                  <a:lnTo>
                    <a:pt x="1014" y="1515"/>
                  </a:lnTo>
                  <a:cubicBezTo>
                    <a:pt x="859" y="1537"/>
                    <a:pt x="735" y="1653"/>
                    <a:pt x="701" y="1805"/>
                  </a:cubicBezTo>
                  <a:lnTo>
                    <a:pt x="567" y="2403"/>
                  </a:lnTo>
                  <a:lnTo>
                    <a:pt x="3347" y="2403"/>
                  </a:lnTo>
                  <a:close/>
                  <a:moveTo>
                    <a:pt x="1769" y="1458"/>
                  </a:moveTo>
                  <a:cubicBezTo>
                    <a:pt x="1769" y="1515"/>
                    <a:pt x="1816" y="1590"/>
                    <a:pt x="1844" y="1618"/>
                  </a:cubicBezTo>
                  <a:cubicBezTo>
                    <a:pt x="1872" y="1646"/>
                    <a:pt x="1919" y="1646"/>
                    <a:pt x="1957" y="1646"/>
                  </a:cubicBezTo>
                  <a:cubicBezTo>
                    <a:pt x="1995" y="1646"/>
                    <a:pt x="2042" y="1646"/>
                    <a:pt x="2070" y="1618"/>
                  </a:cubicBezTo>
                  <a:cubicBezTo>
                    <a:pt x="2098" y="1590"/>
                    <a:pt x="2145" y="1515"/>
                    <a:pt x="2145" y="1458"/>
                  </a:cubicBezTo>
                  <a:cubicBezTo>
                    <a:pt x="2145" y="1392"/>
                    <a:pt x="2030" y="1383"/>
                    <a:pt x="1957" y="1383"/>
                  </a:cubicBezTo>
                  <a:cubicBezTo>
                    <a:pt x="1884" y="1383"/>
                    <a:pt x="1769" y="1392"/>
                    <a:pt x="1769" y="1458"/>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文本框 14"/>
            <p:cNvSpPr txBox="1"/>
            <p:nvPr/>
          </p:nvSpPr>
          <p:spPr>
            <a:xfrm>
              <a:off x="2254134" y="3845549"/>
              <a:ext cx="792618" cy="215444"/>
            </a:xfrm>
            <a:prstGeom prst="rect">
              <a:avLst/>
            </a:prstGeom>
            <a:noFill/>
          </p:spPr>
          <p:txBody>
            <a:bodyPr wrap="square" rtlCol="0">
              <a:spAutoFit/>
            </a:bodyPr>
            <a:lstStyle/>
            <a:p>
              <a:pPr algn="ctr"/>
              <a:r>
                <a:rPr lang="zh-CN" altLang="en-US" sz="800" dirty="0">
                  <a:latin typeface="+mn-ea"/>
                </a:rPr>
                <a:t>主持人</a:t>
              </a:r>
            </a:p>
          </p:txBody>
        </p:sp>
      </p:grpSp>
      <p:grpSp>
        <p:nvGrpSpPr>
          <p:cNvPr id="17" name="组合 16"/>
          <p:cNvGrpSpPr/>
          <p:nvPr/>
        </p:nvGrpSpPr>
        <p:grpSpPr>
          <a:xfrm>
            <a:off x="1892602" y="3098775"/>
            <a:ext cx="868372" cy="627791"/>
            <a:chOff x="910521" y="5817059"/>
            <a:chExt cx="729117" cy="591660"/>
          </a:xfrm>
        </p:grpSpPr>
        <p:sp>
          <p:nvSpPr>
            <p:cNvPr id="32" name="man-with-bow_56788"/>
            <p:cNvSpPr/>
            <p:nvPr/>
          </p:nvSpPr>
          <p:spPr>
            <a:xfrm>
              <a:off x="1083425" y="5817059"/>
              <a:ext cx="279562" cy="283309"/>
            </a:xfrm>
            <a:custGeom>
              <a:avLst/>
              <a:gdLst>
                <a:gd name="connsiteX0" fmla="*/ 188888 w 557678"/>
                <a:gd name="connsiteY0" fmla="*/ 367011 h 607780"/>
                <a:gd name="connsiteX1" fmla="*/ 199785 w 557678"/>
                <a:gd name="connsiteY1" fmla="*/ 373977 h 607780"/>
                <a:gd name="connsiteX2" fmla="*/ 278839 w 557678"/>
                <a:gd name="connsiteY2" fmla="*/ 490974 h 607780"/>
                <a:gd name="connsiteX3" fmla="*/ 357893 w 557678"/>
                <a:gd name="connsiteY3" fmla="*/ 373977 h 607780"/>
                <a:gd name="connsiteX4" fmla="*/ 368886 w 557678"/>
                <a:gd name="connsiteY4" fmla="*/ 367011 h 607780"/>
                <a:gd name="connsiteX5" fmla="*/ 374908 w 557678"/>
                <a:gd name="connsiteY5" fmla="*/ 368729 h 607780"/>
                <a:gd name="connsiteX6" fmla="*/ 557678 w 557678"/>
                <a:gd name="connsiteY6" fmla="*/ 480572 h 607780"/>
                <a:gd name="connsiteX7" fmla="*/ 557678 w 557678"/>
                <a:gd name="connsiteY7" fmla="*/ 607780 h 607780"/>
                <a:gd name="connsiteX8" fmla="*/ 278839 w 557678"/>
                <a:gd name="connsiteY8" fmla="*/ 607780 h 607780"/>
                <a:gd name="connsiteX9" fmla="*/ 0 w 557678"/>
                <a:gd name="connsiteY9" fmla="*/ 607780 h 607780"/>
                <a:gd name="connsiteX10" fmla="*/ 0 w 557678"/>
                <a:gd name="connsiteY10" fmla="*/ 480572 h 607780"/>
                <a:gd name="connsiteX11" fmla="*/ 182770 w 557678"/>
                <a:gd name="connsiteY11" fmla="*/ 368729 h 607780"/>
                <a:gd name="connsiteX12" fmla="*/ 188888 w 557678"/>
                <a:gd name="connsiteY12" fmla="*/ 367011 h 607780"/>
                <a:gd name="connsiteX13" fmla="*/ 233347 w 557678"/>
                <a:gd name="connsiteY13" fmla="*/ 332928 h 607780"/>
                <a:gd name="connsiteX14" fmla="*/ 235832 w 557678"/>
                <a:gd name="connsiteY14" fmla="*/ 333119 h 607780"/>
                <a:gd name="connsiteX15" fmla="*/ 236501 w 557678"/>
                <a:gd name="connsiteY15" fmla="*/ 333214 h 607780"/>
                <a:gd name="connsiteX16" fmla="*/ 236692 w 557678"/>
                <a:gd name="connsiteY16" fmla="*/ 333214 h 607780"/>
                <a:gd name="connsiteX17" fmla="*/ 237934 w 557678"/>
                <a:gd name="connsiteY17" fmla="*/ 333596 h 607780"/>
                <a:gd name="connsiteX18" fmla="*/ 238508 w 557678"/>
                <a:gd name="connsiteY18" fmla="*/ 333787 h 607780"/>
                <a:gd name="connsiteX19" fmla="*/ 239177 w 557678"/>
                <a:gd name="connsiteY19" fmla="*/ 333977 h 607780"/>
                <a:gd name="connsiteX20" fmla="*/ 243478 w 557678"/>
                <a:gd name="connsiteY20" fmla="*/ 336553 h 607780"/>
                <a:gd name="connsiteX21" fmla="*/ 264981 w 557678"/>
                <a:gd name="connsiteY21" fmla="*/ 353724 h 607780"/>
                <a:gd name="connsiteX22" fmla="*/ 267657 w 557678"/>
                <a:gd name="connsiteY22" fmla="*/ 353820 h 607780"/>
                <a:gd name="connsiteX23" fmla="*/ 278839 w 557678"/>
                <a:gd name="connsiteY23" fmla="*/ 353724 h 607780"/>
                <a:gd name="connsiteX24" fmla="*/ 290021 w 557678"/>
                <a:gd name="connsiteY24" fmla="*/ 353820 h 607780"/>
                <a:gd name="connsiteX25" fmla="*/ 292792 w 557678"/>
                <a:gd name="connsiteY25" fmla="*/ 353724 h 607780"/>
                <a:gd name="connsiteX26" fmla="*/ 314200 w 557678"/>
                <a:gd name="connsiteY26" fmla="*/ 336553 h 607780"/>
                <a:gd name="connsiteX27" fmla="*/ 318596 w 557678"/>
                <a:gd name="connsiteY27" fmla="*/ 333977 h 607780"/>
                <a:gd name="connsiteX28" fmla="*/ 319265 w 557678"/>
                <a:gd name="connsiteY28" fmla="*/ 333787 h 607780"/>
                <a:gd name="connsiteX29" fmla="*/ 319743 w 557678"/>
                <a:gd name="connsiteY29" fmla="*/ 333596 h 607780"/>
                <a:gd name="connsiteX30" fmla="*/ 321081 w 557678"/>
                <a:gd name="connsiteY30" fmla="*/ 333214 h 607780"/>
                <a:gd name="connsiteX31" fmla="*/ 321272 w 557678"/>
                <a:gd name="connsiteY31" fmla="*/ 333214 h 607780"/>
                <a:gd name="connsiteX32" fmla="*/ 321846 w 557678"/>
                <a:gd name="connsiteY32" fmla="*/ 333119 h 607780"/>
                <a:gd name="connsiteX33" fmla="*/ 324426 w 557678"/>
                <a:gd name="connsiteY33" fmla="*/ 332928 h 607780"/>
                <a:gd name="connsiteX34" fmla="*/ 340195 w 557678"/>
                <a:gd name="connsiteY34" fmla="*/ 347905 h 607780"/>
                <a:gd name="connsiteX35" fmla="*/ 340195 w 557678"/>
                <a:gd name="connsiteY35" fmla="*/ 380912 h 607780"/>
                <a:gd name="connsiteX36" fmla="*/ 324426 w 557678"/>
                <a:gd name="connsiteY36" fmla="*/ 396366 h 607780"/>
                <a:gd name="connsiteX37" fmla="*/ 314869 w 557678"/>
                <a:gd name="connsiteY37" fmla="*/ 393123 h 607780"/>
                <a:gd name="connsiteX38" fmla="*/ 294417 w 557678"/>
                <a:gd name="connsiteY38" fmla="*/ 374807 h 607780"/>
                <a:gd name="connsiteX39" fmla="*/ 278839 w 557678"/>
                <a:gd name="connsiteY39" fmla="*/ 374902 h 607780"/>
                <a:gd name="connsiteX40" fmla="*/ 263261 w 557678"/>
                <a:gd name="connsiteY40" fmla="*/ 374807 h 607780"/>
                <a:gd name="connsiteX41" fmla="*/ 242809 w 557678"/>
                <a:gd name="connsiteY41" fmla="*/ 393123 h 607780"/>
                <a:gd name="connsiteX42" fmla="*/ 233347 w 557678"/>
                <a:gd name="connsiteY42" fmla="*/ 396366 h 607780"/>
                <a:gd name="connsiteX43" fmla="*/ 217482 w 557678"/>
                <a:gd name="connsiteY43" fmla="*/ 380912 h 607780"/>
                <a:gd name="connsiteX44" fmla="*/ 217482 w 557678"/>
                <a:gd name="connsiteY44" fmla="*/ 347905 h 607780"/>
                <a:gd name="connsiteX45" fmla="*/ 233347 w 557678"/>
                <a:gd name="connsiteY45" fmla="*/ 332928 h 607780"/>
                <a:gd name="connsiteX46" fmla="*/ 277214 w 557678"/>
                <a:gd name="connsiteY46" fmla="*/ 0 h 607780"/>
                <a:gd name="connsiteX47" fmla="*/ 278552 w 557678"/>
                <a:gd name="connsiteY47" fmla="*/ 0 h 607780"/>
                <a:gd name="connsiteX48" fmla="*/ 278744 w 557678"/>
                <a:gd name="connsiteY48" fmla="*/ 0 h 607780"/>
                <a:gd name="connsiteX49" fmla="*/ 278839 w 557678"/>
                <a:gd name="connsiteY49" fmla="*/ 0 h 607780"/>
                <a:gd name="connsiteX50" fmla="*/ 278935 w 557678"/>
                <a:gd name="connsiteY50" fmla="*/ 0 h 607780"/>
                <a:gd name="connsiteX51" fmla="*/ 279222 w 557678"/>
                <a:gd name="connsiteY51" fmla="*/ 0 h 607780"/>
                <a:gd name="connsiteX52" fmla="*/ 280560 w 557678"/>
                <a:gd name="connsiteY52" fmla="*/ 0 h 607780"/>
                <a:gd name="connsiteX53" fmla="*/ 404758 w 557678"/>
                <a:gd name="connsiteY53" fmla="*/ 105659 h 607780"/>
                <a:gd name="connsiteX54" fmla="*/ 396727 w 557678"/>
                <a:gd name="connsiteY54" fmla="*/ 160159 h 607780"/>
                <a:gd name="connsiteX55" fmla="*/ 408009 w 557678"/>
                <a:gd name="connsiteY55" fmla="*/ 186120 h 607780"/>
                <a:gd name="connsiteX56" fmla="*/ 379039 w 557678"/>
                <a:gd name="connsiteY56" fmla="*/ 238616 h 607780"/>
                <a:gd name="connsiteX57" fmla="*/ 317179 w 557678"/>
                <a:gd name="connsiteY57" fmla="*/ 313541 h 607780"/>
                <a:gd name="connsiteX58" fmla="*/ 278935 w 557678"/>
                <a:gd name="connsiteY58" fmla="*/ 322131 h 607780"/>
                <a:gd name="connsiteX59" fmla="*/ 278839 w 557678"/>
                <a:gd name="connsiteY59" fmla="*/ 322131 h 607780"/>
                <a:gd name="connsiteX60" fmla="*/ 278744 w 557678"/>
                <a:gd name="connsiteY60" fmla="*/ 322131 h 607780"/>
                <a:gd name="connsiteX61" fmla="*/ 240499 w 557678"/>
                <a:gd name="connsiteY61" fmla="*/ 313541 h 607780"/>
                <a:gd name="connsiteX62" fmla="*/ 178734 w 557678"/>
                <a:gd name="connsiteY62" fmla="*/ 238616 h 607780"/>
                <a:gd name="connsiteX63" fmla="*/ 149669 w 557678"/>
                <a:gd name="connsiteY63" fmla="*/ 186120 h 607780"/>
                <a:gd name="connsiteX64" fmla="*/ 161046 w 557678"/>
                <a:gd name="connsiteY64" fmla="*/ 160159 h 607780"/>
                <a:gd name="connsiteX65" fmla="*/ 153015 w 557678"/>
                <a:gd name="connsiteY65" fmla="*/ 105659 h 607780"/>
                <a:gd name="connsiteX66" fmla="*/ 277214 w 557678"/>
                <a:gd name="connsiteY66" fmla="*/ 0 h 60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557678" h="607780">
                  <a:moveTo>
                    <a:pt x="188888" y="367011"/>
                  </a:moveTo>
                  <a:cubicBezTo>
                    <a:pt x="193667" y="367011"/>
                    <a:pt x="197873" y="369874"/>
                    <a:pt x="199785" y="373977"/>
                  </a:cubicBezTo>
                  <a:cubicBezTo>
                    <a:pt x="218808" y="405851"/>
                    <a:pt x="254177" y="489256"/>
                    <a:pt x="278839" y="490974"/>
                  </a:cubicBezTo>
                  <a:cubicBezTo>
                    <a:pt x="303502" y="489256"/>
                    <a:pt x="338870" y="405851"/>
                    <a:pt x="357893" y="373977"/>
                  </a:cubicBezTo>
                  <a:cubicBezTo>
                    <a:pt x="359900" y="369874"/>
                    <a:pt x="364011" y="367011"/>
                    <a:pt x="368886" y="367011"/>
                  </a:cubicBezTo>
                  <a:cubicBezTo>
                    <a:pt x="371085" y="367011"/>
                    <a:pt x="372996" y="367870"/>
                    <a:pt x="374908" y="368729"/>
                  </a:cubicBezTo>
                  <a:cubicBezTo>
                    <a:pt x="382269" y="371878"/>
                    <a:pt x="557678" y="427132"/>
                    <a:pt x="557678" y="480572"/>
                  </a:cubicBezTo>
                  <a:lnTo>
                    <a:pt x="557678" y="607780"/>
                  </a:lnTo>
                  <a:lnTo>
                    <a:pt x="278839" y="607780"/>
                  </a:lnTo>
                  <a:lnTo>
                    <a:pt x="0" y="607780"/>
                  </a:lnTo>
                  <a:lnTo>
                    <a:pt x="0" y="480572"/>
                  </a:lnTo>
                  <a:cubicBezTo>
                    <a:pt x="0" y="421120"/>
                    <a:pt x="175314" y="371687"/>
                    <a:pt x="182770" y="368729"/>
                  </a:cubicBezTo>
                  <a:cubicBezTo>
                    <a:pt x="184682" y="367870"/>
                    <a:pt x="186593" y="367011"/>
                    <a:pt x="188888" y="367011"/>
                  </a:cubicBezTo>
                  <a:close/>
                  <a:moveTo>
                    <a:pt x="233347" y="332928"/>
                  </a:moveTo>
                  <a:cubicBezTo>
                    <a:pt x="234207" y="332928"/>
                    <a:pt x="235067" y="332928"/>
                    <a:pt x="235832" y="333119"/>
                  </a:cubicBezTo>
                  <a:cubicBezTo>
                    <a:pt x="236023" y="333119"/>
                    <a:pt x="236310" y="333119"/>
                    <a:pt x="236501" y="333214"/>
                  </a:cubicBezTo>
                  <a:cubicBezTo>
                    <a:pt x="236501" y="333214"/>
                    <a:pt x="236596" y="333214"/>
                    <a:pt x="236692" y="333214"/>
                  </a:cubicBezTo>
                  <a:cubicBezTo>
                    <a:pt x="237074" y="333310"/>
                    <a:pt x="237552" y="333405"/>
                    <a:pt x="237934" y="333596"/>
                  </a:cubicBezTo>
                  <a:cubicBezTo>
                    <a:pt x="238126" y="333596"/>
                    <a:pt x="238317" y="333691"/>
                    <a:pt x="238508" y="333787"/>
                  </a:cubicBezTo>
                  <a:cubicBezTo>
                    <a:pt x="238699" y="333787"/>
                    <a:pt x="238890" y="333882"/>
                    <a:pt x="239177" y="333977"/>
                  </a:cubicBezTo>
                  <a:cubicBezTo>
                    <a:pt x="240706" y="334645"/>
                    <a:pt x="242140" y="335504"/>
                    <a:pt x="243478" y="336553"/>
                  </a:cubicBezTo>
                  <a:cubicBezTo>
                    <a:pt x="250836" y="342372"/>
                    <a:pt x="255615" y="353056"/>
                    <a:pt x="264981" y="353724"/>
                  </a:cubicBezTo>
                  <a:cubicBezTo>
                    <a:pt x="265841" y="353820"/>
                    <a:pt x="266797" y="353820"/>
                    <a:pt x="267657" y="353820"/>
                  </a:cubicBezTo>
                  <a:cubicBezTo>
                    <a:pt x="268517" y="353820"/>
                    <a:pt x="274060" y="353724"/>
                    <a:pt x="278839" y="353724"/>
                  </a:cubicBezTo>
                  <a:cubicBezTo>
                    <a:pt x="283617" y="353724"/>
                    <a:pt x="289256" y="353820"/>
                    <a:pt x="290021" y="353820"/>
                  </a:cubicBezTo>
                  <a:cubicBezTo>
                    <a:pt x="290976" y="353820"/>
                    <a:pt x="291836" y="353820"/>
                    <a:pt x="292792" y="353724"/>
                  </a:cubicBezTo>
                  <a:cubicBezTo>
                    <a:pt x="302158" y="353056"/>
                    <a:pt x="306841" y="342372"/>
                    <a:pt x="314200" y="336553"/>
                  </a:cubicBezTo>
                  <a:cubicBezTo>
                    <a:pt x="315538" y="335504"/>
                    <a:pt x="316972" y="334645"/>
                    <a:pt x="318596" y="333977"/>
                  </a:cubicBezTo>
                  <a:cubicBezTo>
                    <a:pt x="318787" y="333882"/>
                    <a:pt x="318979" y="333787"/>
                    <a:pt x="319265" y="333787"/>
                  </a:cubicBezTo>
                  <a:cubicBezTo>
                    <a:pt x="319456" y="333691"/>
                    <a:pt x="319648" y="333596"/>
                    <a:pt x="319743" y="333596"/>
                  </a:cubicBezTo>
                  <a:cubicBezTo>
                    <a:pt x="320221" y="333405"/>
                    <a:pt x="320603" y="333310"/>
                    <a:pt x="321081" y="333214"/>
                  </a:cubicBezTo>
                  <a:cubicBezTo>
                    <a:pt x="321081" y="333214"/>
                    <a:pt x="321177" y="333214"/>
                    <a:pt x="321272" y="333214"/>
                  </a:cubicBezTo>
                  <a:cubicBezTo>
                    <a:pt x="321463" y="333119"/>
                    <a:pt x="321654" y="333119"/>
                    <a:pt x="321846" y="333119"/>
                  </a:cubicBezTo>
                  <a:cubicBezTo>
                    <a:pt x="322706" y="332928"/>
                    <a:pt x="323566" y="332928"/>
                    <a:pt x="324426" y="332928"/>
                  </a:cubicBezTo>
                  <a:cubicBezTo>
                    <a:pt x="332836" y="332928"/>
                    <a:pt x="339813" y="339510"/>
                    <a:pt x="340195" y="347905"/>
                  </a:cubicBezTo>
                  <a:lnTo>
                    <a:pt x="340195" y="380912"/>
                  </a:lnTo>
                  <a:cubicBezTo>
                    <a:pt x="340004" y="389498"/>
                    <a:pt x="333027" y="396366"/>
                    <a:pt x="324426" y="396366"/>
                  </a:cubicBezTo>
                  <a:cubicBezTo>
                    <a:pt x="320794" y="396366"/>
                    <a:pt x="317545" y="395126"/>
                    <a:pt x="314869" y="393123"/>
                  </a:cubicBezTo>
                  <a:cubicBezTo>
                    <a:pt x="305885" y="387208"/>
                    <a:pt x="299864" y="374997"/>
                    <a:pt x="294417" y="374807"/>
                  </a:cubicBezTo>
                  <a:lnTo>
                    <a:pt x="278839" y="374902"/>
                  </a:lnTo>
                  <a:lnTo>
                    <a:pt x="263261" y="374807"/>
                  </a:lnTo>
                  <a:cubicBezTo>
                    <a:pt x="257813" y="374997"/>
                    <a:pt x="251792" y="387208"/>
                    <a:pt x="242809" y="393123"/>
                  </a:cubicBezTo>
                  <a:cubicBezTo>
                    <a:pt x="240228" y="395126"/>
                    <a:pt x="236883" y="396366"/>
                    <a:pt x="233347" y="396366"/>
                  </a:cubicBezTo>
                  <a:cubicBezTo>
                    <a:pt x="224746" y="396366"/>
                    <a:pt x="217769" y="389498"/>
                    <a:pt x="217482" y="380912"/>
                  </a:cubicBezTo>
                  <a:lnTo>
                    <a:pt x="217482" y="347905"/>
                  </a:lnTo>
                  <a:cubicBezTo>
                    <a:pt x="217960" y="339510"/>
                    <a:pt x="224841" y="332928"/>
                    <a:pt x="233347" y="332928"/>
                  </a:cubicBezTo>
                  <a:close/>
                  <a:moveTo>
                    <a:pt x="277214" y="0"/>
                  </a:moveTo>
                  <a:cubicBezTo>
                    <a:pt x="277596" y="0"/>
                    <a:pt x="278074" y="0"/>
                    <a:pt x="278552" y="0"/>
                  </a:cubicBezTo>
                  <a:cubicBezTo>
                    <a:pt x="278648" y="0"/>
                    <a:pt x="278648" y="0"/>
                    <a:pt x="278744" y="0"/>
                  </a:cubicBezTo>
                  <a:cubicBezTo>
                    <a:pt x="278744" y="0"/>
                    <a:pt x="278839" y="0"/>
                    <a:pt x="278839" y="0"/>
                  </a:cubicBezTo>
                  <a:cubicBezTo>
                    <a:pt x="278935" y="0"/>
                    <a:pt x="278935" y="0"/>
                    <a:pt x="278935" y="0"/>
                  </a:cubicBezTo>
                  <a:cubicBezTo>
                    <a:pt x="279030" y="0"/>
                    <a:pt x="279126" y="0"/>
                    <a:pt x="279222" y="0"/>
                  </a:cubicBezTo>
                  <a:cubicBezTo>
                    <a:pt x="279604" y="0"/>
                    <a:pt x="280082" y="0"/>
                    <a:pt x="280560" y="0"/>
                  </a:cubicBezTo>
                  <a:cubicBezTo>
                    <a:pt x="387453" y="0"/>
                    <a:pt x="407531" y="76166"/>
                    <a:pt x="404758" y="105659"/>
                  </a:cubicBezTo>
                  <a:cubicBezTo>
                    <a:pt x="402464" y="129330"/>
                    <a:pt x="396727" y="160159"/>
                    <a:pt x="396727" y="160159"/>
                  </a:cubicBezTo>
                  <a:cubicBezTo>
                    <a:pt x="396727" y="160159"/>
                    <a:pt x="408009" y="165313"/>
                    <a:pt x="408009" y="186120"/>
                  </a:cubicBezTo>
                  <a:cubicBezTo>
                    <a:pt x="404089" y="238234"/>
                    <a:pt x="383246" y="215708"/>
                    <a:pt x="379039" y="238616"/>
                  </a:cubicBezTo>
                  <a:cubicBezTo>
                    <a:pt x="371868" y="276603"/>
                    <a:pt x="338213" y="304092"/>
                    <a:pt x="317179" y="313541"/>
                  </a:cubicBezTo>
                  <a:cubicBezTo>
                    <a:pt x="304941" y="319077"/>
                    <a:pt x="292225" y="321845"/>
                    <a:pt x="278935" y="322131"/>
                  </a:cubicBezTo>
                  <a:cubicBezTo>
                    <a:pt x="278935" y="322131"/>
                    <a:pt x="278935" y="322131"/>
                    <a:pt x="278839" y="322131"/>
                  </a:cubicBezTo>
                  <a:cubicBezTo>
                    <a:pt x="278839" y="322131"/>
                    <a:pt x="278744" y="322131"/>
                    <a:pt x="278744" y="322131"/>
                  </a:cubicBezTo>
                  <a:cubicBezTo>
                    <a:pt x="265454" y="321845"/>
                    <a:pt x="252738" y="319077"/>
                    <a:pt x="240499" y="313541"/>
                  </a:cubicBezTo>
                  <a:cubicBezTo>
                    <a:pt x="219561" y="304092"/>
                    <a:pt x="185810" y="276603"/>
                    <a:pt x="178734" y="238616"/>
                  </a:cubicBezTo>
                  <a:cubicBezTo>
                    <a:pt x="174432" y="215708"/>
                    <a:pt x="153684" y="238234"/>
                    <a:pt x="149669" y="186120"/>
                  </a:cubicBezTo>
                  <a:cubicBezTo>
                    <a:pt x="149669" y="165313"/>
                    <a:pt x="161046" y="160159"/>
                    <a:pt x="161046" y="160159"/>
                  </a:cubicBezTo>
                  <a:cubicBezTo>
                    <a:pt x="161046" y="160159"/>
                    <a:pt x="155214" y="129330"/>
                    <a:pt x="153015" y="105659"/>
                  </a:cubicBezTo>
                  <a:cubicBezTo>
                    <a:pt x="150147" y="76166"/>
                    <a:pt x="170225" y="0"/>
                    <a:pt x="27721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文本框 32"/>
            <p:cNvSpPr txBox="1"/>
            <p:nvPr/>
          </p:nvSpPr>
          <p:spPr>
            <a:xfrm>
              <a:off x="910521" y="6089650"/>
              <a:ext cx="729117" cy="319069"/>
            </a:xfrm>
            <a:prstGeom prst="rect">
              <a:avLst/>
            </a:prstGeom>
            <a:noFill/>
          </p:spPr>
          <p:txBody>
            <a:bodyPr wrap="square" rtlCol="0" anchor="ctr">
              <a:spAutoFit/>
            </a:bodyPr>
            <a:lstStyle/>
            <a:p>
              <a:pPr algn="ctr"/>
              <a:r>
                <a:rPr lang="zh-CN" altLang="en-US" sz="800" dirty="0">
                  <a:latin typeface="+mn-ea"/>
                </a:rPr>
                <a:t>外贸业务员</a:t>
              </a:r>
              <a:endParaRPr lang="en-US" altLang="zh-CN" sz="800" dirty="0">
                <a:latin typeface="+mn-ea"/>
              </a:endParaRPr>
            </a:p>
            <a:p>
              <a:pPr algn="ctr"/>
              <a:r>
                <a:rPr lang="zh-CN" altLang="en-US" sz="800" dirty="0">
                  <a:latin typeface="+mn-ea"/>
                </a:rPr>
                <a:t>尤先生（快车）</a:t>
              </a:r>
            </a:p>
          </p:txBody>
        </p:sp>
      </p:grpSp>
      <p:grpSp>
        <p:nvGrpSpPr>
          <p:cNvPr id="18" name="组合 17"/>
          <p:cNvGrpSpPr/>
          <p:nvPr/>
        </p:nvGrpSpPr>
        <p:grpSpPr>
          <a:xfrm>
            <a:off x="1861807" y="1866102"/>
            <a:ext cx="1041934" cy="590167"/>
            <a:chOff x="1451715" y="6221194"/>
            <a:chExt cx="874846" cy="587534"/>
          </a:xfrm>
        </p:grpSpPr>
        <p:sp>
          <p:nvSpPr>
            <p:cNvPr id="30" name="man-with-bow_56788"/>
            <p:cNvSpPr/>
            <p:nvPr/>
          </p:nvSpPr>
          <p:spPr>
            <a:xfrm>
              <a:off x="1731383" y="6221194"/>
              <a:ext cx="279562" cy="283309"/>
            </a:xfrm>
            <a:custGeom>
              <a:avLst/>
              <a:gdLst>
                <a:gd name="connsiteX0" fmla="*/ 188888 w 557678"/>
                <a:gd name="connsiteY0" fmla="*/ 367011 h 607780"/>
                <a:gd name="connsiteX1" fmla="*/ 199785 w 557678"/>
                <a:gd name="connsiteY1" fmla="*/ 373977 h 607780"/>
                <a:gd name="connsiteX2" fmla="*/ 278839 w 557678"/>
                <a:gd name="connsiteY2" fmla="*/ 490974 h 607780"/>
                <a:gd name="connsiteX3" fmla="*/ 357893 w 557678"/>
                <a:gd name="connsiteY3" fmla="*/ 373977 h 607780"/>
                <a:gd name="connsiteX4" fmla="*/ 368886 w 557678"/>
                <a:gd name="connsiteY4" fmla="*/ 367011 h 607780"/>
                <a:gd name="connsiteX5" fmla="*/ 374908 w 557678"/>
                <a:gd name="connsiteY5" fmla="*/ 368729 h 607780"/>
                <a:gd name="connsiteX6" fmla="*/ 557678 w 557678"/>
                <a:gd name="connsiteY6" fmla="*/ 480572 h 607780"/>
                <a:gd name="connsiteX7" fmla="*/ 557678 w 557678"/>
                <a:gd name="connsiteY7" fmla="*/ 607780 h 607780"/>
                <a:gd name="connsiteX8" fmla="*/ 278839 w 557678"/>
                <a:gd name="connsiteY8" fmla="*/ 607780 h 607780"/>
                <a:gd name="connsiteX9" fmla="*/ 0 w 557678"/>
                <a:gd name="connsiteY9" fmla="*/ 607780 h 607780"/>
                <a:gd name="connsiteX10" fmla="*/ 0 w 557678"/>
                <a:gd name="connsiteY10" fmla="*/ 480572 h 607780"/>
                <a:gd name="connsiteX11" fmla="*/ 182770 w 557678"/>
                <a:gd name="connsiteY11" fmla="*/ 368729 h 607780"/>
                <a:gd name="connsiteX12" fmla="*/ 188888 w 557678"/>
                <a:gd name="connsiteY12" fmla="*/ 367011 h 607780"/>
                <a:gd name="connsiteX13" fmla="*/ 233347 w 557678"/>
                <a:gd name="connsiteY13" fmla="*/ 332928 h 607780"/>
                <a:gd name="connsiteX14" fmla="*/ 235832 w 557678"/>
                <a:gd name="connsiteY14" fmla="*/ 333119 h 607780"/>
                <a:gd name="connsiteX15" fmla="*/ 236501 w 557678"/>
                <a:gd name="connsiteY15" fmla="*/ 333214 h 607780"/>
                <a:gd name="connsiteX16" fmla="*/ 236692 w 557678"/>
                <a:gd name="connsiteY16" fmla="*/ 333214 h 607780"/>
                <a:gd name="connsiteX17" fmla="*/ 237934 w 557678"/>
                <a:gd name="connsiteY17" fmla="*/ 333596 h 607780"/>
                <a:gd name="connsiteX18" fmla="*/ 238508 w 557678"/>
                <a:gd name="connsiteY18" fmla="*/ 333787 h 607780"/>
                <a:gd name="connsiteX19" fmla="*/ 239177 w 557678"/>
                <a:gd name="connsiteY19" fmla="*/ 333977 h 607780"/>
                <a:gd name="connsiteX20" fmla="*/ 243478 w 557678"/>
                <a:gd name="connsiteY20" fmla="*/ 336553 h 607780"/>
                <a:gd name="connsiteX21" fmla="*/ 264981 w 557678"/>
                <a:gd name="connsiteY21" fmla="*/ 353724 h 607780"/>
                <a:gd name="connsiteX22" fmla="*/ 267657 w 557678"/>
                <a:gd name="connsiteY22" fmla="*/ 353820 h 607780"/>
                <a:gd name="connsiteX23" fmla="*/ 278839 w 557678"/>
                <a:gd name="connsiteY23" fmla="*/ 353724 h 607780"/>
                <a:gd name="connsiteX24" fmla="*/ 290021 w 557678"/>
                <a:gd name="connsiteY24" fmla="*/ 353820 h 607780"/>
                <a:gd name="connsiteX25" fmla="*/ 292792 w 557678"/>
                <a:gd name="connsiteY25" fmla="*/ 353724 h 607780"/>
                <a:gd name="connsiteX26" fmla="*/ 314200 w 557678"/>
                <a:gd name="connsiteY26" fmla="*/ 336553 h 607780"/>
                <a:gd name="connsiteX27" fmla="*/ 318596 w 557678"/>
                <a:gd name="connsiteY27" fmla="*/ 333977 h 607780"/>
                <a:gd name="connsiteX28" fmla="*/ 319265 w 557678"/>
                <a:gd name="connsiteY28" fmla="*/ 333787 h 607780"/>
                <a:gd name="connsiteX29" fmla="*/ 319743 w 557678"/>
                <a:gd name="connsiteY29" fmla="*/ 333596 h 607780"/>
                <a:gd name="connsiteX30" fmla="*/ 321081 w 557678"/>
                <a:gd name="connsiteY30" fmla="*/ 333214 h 607780"/>
                <a:gd name="connsiteX31" fmla="*/ 321272 w 557678"/>
                <a:gd name="connsiteY31" fmla="*/ 333214 h 607780"/>
                <a:gd name="connsiteX32" fmla="*/ 321846 w 557678"/>
                <a:gd name="connsiteY32" fmla="*/ 333119 h 607780"/>
                <a:gd name="connsiteX33" fmla="*/ 324426 w 557678"/>
                <a:gd name="connsiteY33" fmla="*/ 332928 h 607780"/>
                <a:gd name="connsiteX34" fmla="*/ 340195 w 557678"/>
                <a:gd name="connsiteY34" fmla="*/ 347905 h 607780"/>
                <a:gd name="connsiteX35" fmla="*/ 340195 w 557678"/>
                <a:gd name="connsiteY35" fmla="*/ 380912 h 607780"/>
                <a:gd name="connsiteX36" fmla="*/ 324426 w 557678"/>
                <a:gd name="connsiteY36" fmla="*/ 396366 h 607780"/>
                <a:gd name="connsiteX37" fmla="*/ 314869 w 557678"/>
                <a:gd name="connsiteY37" fmla="*/ 393123 h 607780"/>
                <a:gd name="connsiteX38" fmla="*/ 294417 w 557678"/>
                <a:gd name="connsiteY38" fmla="*/ 374807 h 607780"/>
                <a:gd name="connsiteX39" fmla="*/ 278839 w 557678"/>
                <a:gd name="connsiteY39" fmla="*/ 374902 h 607780"/>
                <a:gd name="connsiteX40" fmla="*/ 263261 w 557678"/>
                <a:gd name="connsiteY40" fmla="*/ 374807 h 607780"/>
                <a:gd name="connsiteX41" fmla="*/ 242809 w 557678"/>
                <a:gd name="connsiteY41" fmla="*/ 393123 h 607780"/>
                <a:gd name="connsiteX42" fmla="*/ 233347 w 557678"/>
                <a:gd name="connsiteY42" fmla="*/ 396366 h 607780"/>
                <a:gd name="connsiteX43" fmla="*/ 217482 w 557678"/>
                <a:gd name="connsiteY43" fmla="*/ 380912 h 607780"/>
                <a:gd name="connsiteX44" fmla="*/ 217482 w 557678"/>
                <a:gd name="connsiteY44" fmla="*/ 347905 h 607780"/>
                <a:gd name="connsiteX45" fmla="*/ 233347 w 557678"/>
                <a:gd name="connsiteY45" fmla="*/ 332928 h 607780"/>
                <a:gd name="connsiteX46" fmla="*/ 277214 w 557678"/>
                <a:gd name="connsiteY46" fmla="*/ 0 h 607780"/>
                <a:gd name="connsiteX47" fmla="*/ 278552 w 557678"/>
                <a:gd name="connsiteY47" fmla="*/ 0 h 607780"/>
                <a:gd name="connsiteX48" fmla="*/ 278744 w 557678"/>
                <a:gd name="connsiteY48" fmla="*/ 0 h 607780"/>
                <a:gd name="connsiteX49" fmla="*/ 278839 w 557678"/>
                <a:gd name="connsiteY49" fmla="*/ 0 h 607780"/>
                <a:gd name="connsiteX50" fmla="*/ 278935 w 557678"/>
                <a:gd name="connsiteY50" fmla="*/ 0 h 607780"/>
                <a:gd name="connsiteX51" fmla="*/ 279222 w 557678"/>
                <a:gd name="connsiteY51" fmla="*/ 0 h 607780"/>
                <a:gd name="connsiteX52" fmla="*/ 280560 w 557678"/>
                <a:gd name="connsiteY52" fmla="*/ 0 h 607780"/>
                <a:gd name="connsiteX53" fmla="*/ 404758 w 557678"/>
                <a:gd name="connsiteY53" fmla="*/ 105659 h 607780"/>
                <a:gd name="connsiteX54" fmla="*/ 396727 w 557678"/>
                <a:gd name="connsiteY54" fmla="*/ 160159 h 607780"/>
                <a:gd name="connsiteX55" fmla="*/ 408009 w 557678"/>
                <a:gd name="connsiteY55" fmla="*/ 186120 h 607780"/>
                <a:gd name="connsiteX56" fmla="*/ 379039 w 557678"/>
                <a:gd name="connsiteY56" fmla="*/ 238616 h 607780"/>
                <a:gd name="connsiteX57" fmla="*/ 317179 w 557678"/>
                <a:gd name="connsiteY57" fmla="*/ 313541 h 607780"/>
                <a:gd name="connsiteX58" fmla="*/ 278935 w 557678"/>
                <a:gd name="connsiteY58" fmla="*/ 322131 h 607780"/>
                <a:gd name="connsiteX59" fmla="*/ 278839 w 557678"/>
                <a:gd name="connsiteY59" fmla="*/ 322131 h 607780"/>
                <a:gd name="connsiteX60" fmla="*/ 278744 w 557678"/>
                <a:gd name="connsiteY60" fmla="*/ 322131 h 607780"/>
                <a:gd name="connsiteX61" fmla="*/ 240499 w 557678"/>
                <a:gd name="connsiteY61" fmla="*/ 313541 h 607780"/>
                <a:gd name="connsiteX62" fmla="*/ 178734 w 557678"/>
                <a:gd name="connsiteY62" fmla="*/ 238616 h 607780"/>
                <a:gd name="connsiteX63" fmla="*/ 149669 w 557678"/>
                <a:gd name="connsiteY63" fmla="*/ 186120 h 607780"/>
                <a:gd name="connsiteX64" fmla="*/ 161046 w 557678"/>
                <a:gd name="connsiteY64" fmla="*/ 160159 h 607780"/>
                <a:gd name="connsiteX65" fmla="*/ 153015 w 557678"/>
                <a:gd name="connsiteY65" fmla="*/ 105659 h 607780"/>
                <a:gd name="connsiteX66" fmla="*/ 277214 w 557678"/>
                <a:gd name="connsiteY66" fmla="*/ 0 h 60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557678" h="607780">
                  <a:moveTo>
                    <a:pt x="188888" y="367011"/>
                  </a:moveTo>
                  <a:cubicBezTo>
                    <a:pt x="193667" y="367011"/>
                    <a:pt x="197873" y="369874"/>
                    <a:pt x="199785" y="373977"/>
                  </a:cubicBezTo>
                  <a:cubicBezTo>
                    <a:pt x="218808" y="405851"/>
                    <a:pt x="254177" y="489256"/>
                    <a:pt x="278839" y="490974"/>
                  </a:cubicBezTo>
                  <a:cubicBezTo>
                    <a:pt x="303502" y="489256"/>
                    <a:pt x="338870" y="405851"/>
                    <a:pt x="357893" y="373977"/>
                  </a:cubicBezTo>
                  <a:cubicBezTo>
                    <a:pt x="359900" y="369874"/>
                    <a:pt x="364011" y="367011"/>
                    <a:pt x="368886" y="367011"/>
                  </a:cubicBezTo>
                  <a:cubicBezTo>
                    <a:pt x="371085" y="367011"/>
                    <a:pt x="372996" y="367870"/>
                    <a:pt x="374908" y="368729"/>
                  </a:cubicBezTo>
                  <a:cubicBezTo>
                    <a:pt x="382269" y="371878"/>
                    <a:pt x="557678" y="427132"/>
                    <a:pt x="557678" y="480572"/>
                  </a:cubicBezTo>
                  <a:lnTo>
                    <a:pt x="557678" y="607780"/>
                  </a:lnTo>
                  <a:lnTo>
                    <a:pt x="278839" y="607780"/>
                  </a:lnTo>
                  <a:lnTo>
                    <a:pt x="0" y="607780"/>
                  </a:lnTo>
                  <a:lnTo>
                    <a:pt x="0" y="480572"/>
                  </a:lnTo>
                  <a:cubicBezTo>
                    <a:pt x="0" y="421120"/>
                    <a:pt x="175314" y="371687"/>
                    <a:pt x="182770" y="368729"/>
                  </a:cubicBezTo>
                  <a:cubicBezTo>
                    <a:pt x="184682" y="367870"/>
                    <a:pt x="186593" y="367011"/>
                    <a:pt x="188888" y="367011"/>
                  </a:cubicBezTo>
                  <a:close/>
                  <a:moveTo>
                    <a:pt x="233347" y="332928"/>
                  </a:moveTo>
                  <a:cubicBezTo>
                    <a:pt x="234207" y="332928"/>
                    <a:pt x="235067" y="332928"/>
                    <a:pt x="235832" y="333119"/>
                  </a:cubicBezTo>
                  <a:cubicBezTo>
                    <a:pt x="236023" y="333119"/>
                    <a:pt x="236310" y="333119"/>
                    <a:pt x="236501" y="333214"/>
                  </a:cubicBezTo>
                  <a:cubicBezTo>
                    <a:pt x="236501" y="333214"/>
                    <a:pt x="236596" y="333214"/>
                    <a:pt x="236692" y="333214"/>
                  </a:cubicBezTo>
                  <a:cubicBezTo>
                    <a:pt x="237074" y="333310"/>
                    <a:pt x="237552" y="333405"/>
                    <a:pt x="237934" y="333596"/>
                  </a:cubicBezTo>
                  <a:cubicBezTo>
                    <a:pt x="238126" y="333596"/>
                    <a:pt x="238317" y="333691"/>
                    <a:pt x="238508" y="333787"/>
                  </a:cubicBezTo>
                  <a:cubicBezTo>
                    <a:pt x="238699" y="333787"/>
                    <a:pt x="238890" y="333882"/>
                    <a:pt x="239177" y="333977"/>
                  </a:cubicBezTo>
                  <a:cubicBezTo>
                    <a:pt x="240706" y="334645"/>
                    <a:pt x="242140" y="335504"/>
                    <a:pt x="243478" y="336553"/>
                  </a:cubicBezTo>
                  <a:cubicBezTo>
                    <a:pt x="250836" y="342372"/>
                    <a:pt x="255615" y="353056"/>
                    <a:pt x="264981" y="353724"/>
                  </a:cubicBezTo>
                  <a:cubicBezTo>
                    <a:pt x="265841" y="353820"/>
                    <a:pt x="266797" y="353820"/>
                    <a:pt x="267657" y="353820"/>
                  </a:cubicBezTo>
                  <a:cubicBezTo>
                    <a:pt x="268517" y="353820"/>
                    <a:pt x="274060" y="353724"/>
                    <a:pt x="278839" y="353724"/>
                  </a:cubicBezTo>
                  <a:cubicBezTo>
                    <a:pt x="283617" y="353724"/>
                    <a:pt x="289256" y="353820"/>
                    <a:pt x="290021" y="353820"/>
                  </a:cubicBezTo>
                  <a:cubicBezTo>
                    <a:pt x="290976" y="353820"/>
                    <a:pt x="291836" y="353820"/>
                    <a:pt x="292792" y="353724"/>
                  </a:cubicBezTo>
                  <a:cubicBezTo>
                    <a:pt x="302158" y="353056"/>
                    <a:pt x="306841" y="342372"/>
                    <a:pt x="314200" y="336553"/>
                  </a:cubicBezTo>
                  <a:cubicBezTo>
                    <a:pt x="315538" y="335504"/>
                    <a:pt x="316972" y="334645"/>
                    <a:pt x="318596" y="333977"/>
                  </a:cubicBezTo>
                  <a:cubicBezTo>
                    <a:pt x="318787" y="333882"/>
                    <a:pt x="318979" y="333787"/>
                    <a:pt x="319265" y="333787"/>
                  </a:cubicBezTo>
                  <a:cubicBezTo>
                    <a:pt x="319456" y="333691"/>
                    <a:pt x="319648" y="333596"/>
                    <a:pt x="319743" y="333596"/>
                  </a:cubicBezTo>
                  <a:cubicBezTo>
                    <a:pt x="320221" y="333405"/>
                    <a:pt x="320603" y="333310"/>
                    <a:pt x="321081" y="333214"/>
                  </a:cubicBezTo>
                  <a:cubicBezTo>
                    <a:pt x="321081" y="333214"/>
                    <a:pt x="321177" y="333214"/>
                    <a:pt x="321272" y="333214"/>
                  </a:cubicBezTo>
                  <a:cubicBezTo>
                    <a:pt x="321463" y="333119"/>
                    <a:pt x="321654" y="333119"/>
                    <a:pt x="321846" y="333119"/>
                  </a:cubicBezTo>
                  <a:cubicBezTo>
                    <a:pt x="322706" y="332928"/>
                    <a:pt x="323566" y="332928"/>
                    <a:pt x="324426" y="332928"/>
                  </a:cubicBezTo>
                  <a:cubicBezTo>
                    <a:pt x="332836" y="332928"/>
                    <a:pt x="339813" y="339510"/>
                    <a:pt x="340195" y="347905"/>
                  </a:cubicBezTo>
                  <a:lnTo>
                    <a:pt x="340195" y="380912"/>
                  </a:lnTo>
                  <a:cubicBezTo>
                    <a:pt x="340004" y="389498"/>
                    <a:pt x="333027" y="396366"/>
                    <a:pt x="324426" y="396366"/>
                  </a:cubicBezTo>
                  <a:cubicBezTo>
                    <a:pt x="320794" y="396366"/>
                    <a:pt x="317545" y="395126"/>
                    <a:pt x="314869" y="393123"/>
                  </a:cubicBezTo>
                  <a:cubicBezTo>
                    <a:pt x="305885" y="387208"/>
                    <a:pt x="299864" y="374997"/>
                    <a:pt x="294417" y="374807"/>
                  </a:cubicBezTo>
                  <a:lnTo>
                    <a:pt x="278839" y="374902"/>
                  </a:lnTo>
                  <a:lnTo>
                    <a:pt x="263261" y="374807"/>
                  </a:lnTo>
                  <a:cubicBezTo>
                    <a:pt x="257813" y="374997"/>
                    <a:pt x="251792" y="387208"/>
                    <a:pt x="242809" y="393123"/>
                  </a:cubicBezTo>
                  <a:cubicBezTo>
                    <a:pt x="240228" y="395126"/>
                    <a:pt x="236883" y="396366"/>
                    <a:pt x="233347" y="396366"/>
                  </a:cubicBezTo>
                  <a:cubicBezTo>
                    <a:pt x="224746" y="396366"/>
                    <a:pt x="217769" y="389498"/>
                    <a:pt x="217482" y="380912"/>
                  </a:cubicBezTo>
                  <a:lnTo>
                    <a:pt x="217482" y="347905"/>
                  </a:lnTo>
                  <a:cubicBezTo>
                    <a:pt x="217960" y="339510"/>
                    <a:pt x="224841" y="332928"/>
                    <a:pt x="233347" y="332928"/>
                  </a:cubicBezTo>
                  <a:close/>
                  <a:moveTo>
                    <a:pt x="277214" y="0"/>
                  </a:moveTo>
                  <a:cubicBezTo>
                    <a:pt x="277596" y="0"/>
                    <a:pt x="278074" y="0"/>
                    <a:pt x="278552" y="0"/>
                  </a:cubicBezTo>
                  <a:cubicBezTo>
                    <a:pt x="278648" y="0"/>
                    <a:pt x="278648" y="0"/>
                    <a:pt x="278744" y="0"/>
                  </a:cubicBezTo>
                  <a:cubicBezTo>
                    <a:pt x="278744" y="0"/>
                    <a:pt x="278839" y="0"/>
                    <a:pt x="278839" y="0"/>
                  </a:cubicBezTo>
                  <a:cubicBezTo>
                    <a:pt x="278935" y="0"/>
                    <a:pt x="278935" y="0"/>
                    <a:pt x="278935" y="0"/>
                  </a:cubicBezTo>
                  <a:cubicBezTo>
                    <a:pt x="279030" y="0"/>
                    <a:pt x="279126" y="0"/>
                    <a:pt x="279222" y="0"/>
                  </a:cubicBezTo>
                  <a:cubicBezTo>
                    <a:pt x="279604" y="0"/>
                    <a:pt x="280082" y="0"/>
                    <a:pt x="280560" y="0"/>
                  </a:cubicBezTo>
                  <a:cubicBezTo>
                    <a:pt x="387453" y="0"/>
                    <a:pt x="407531" y="76166"/>
                    <a:pt x="404758" y="105659"/>
                  </a:cubicBezTo>
                  <a:cubicBezTo>
                    <a:pt x="402464" y="129330"/>
                    <a:pt x="396727" y="160159"/>
                    <a:pt x="396727" y="160159"/>
                  </a:cubicBezTo>
                  <a:cubicBezTo>
                    <a:pt x="396727" y="160159"/>
                    <a:pt x="408009" y="165313"/>
                    <a:pt x="408009" y="186120"/>
                  </a:cubicBezTo>
                  <a:cubicBezTo>
                    <a:pt x="404089" y="238234"/>
                    <a:pt x="383246" y="215708"/>
                    <a:pt x="379039" y="238616"/>
                  </a:cubicBezTo>
                  <a:cubicBezTo>
                    <a:pt x="371868" y="276603"/>
                    <a:pt x="338213" y="304092"/>
                    <a:pt x="317179" y="313541"/>
                  </a:cubicBezTo>
                  <a:cubicBezTo>
                    <a:pt x="304941" y="319077"/>
                    <a:pt x="292225" y="321845"/>
                    <a:pt x="278935" y="322131"/>
                  </a:cubicBezTo>
                  <a:cubicBezTo>
                    <a:pt x="278935" y="322131"/>
                    <a:pt x="278935" y="322131"/>
                    <a:pt x="278839" y="322131"/>
                  </a:cubicBezTo>
                  <a:cubicBezTo>
                    <a:pt x="278839" y="322131"/>
                    <a:pt x="278744" y="322131"/>
                    <a:pt x="278744" y="322131"/>
                  </a:cubicBezTo>
                  <a:cubicBezTo>
                    <a:pt x="265454" y="321845"/>
                    <a:pt x="252738" y="319077"/>
                    <a:pt x="240499" y="313541"/>
                  </a:cubicBezTo>
                  <a:cubicBezTo>
                    <a:pt x="219561" y="304092"/>
                    <a:pt x="185810" y="276603"/>
                    <a:pt x="178734" y="238616"/>
                  </a:cubicBezTo>
                  <a:cubicBezTo>
                    <a:pt x="174432" y="215708"/>
                    <a:pt x="153684" y="238234"/>
                    <a:pt x="149669" y="186120"/>
                  </a:cubicBezTo>
                  <a:cubicBezTo>
                    <a:pt x="149669" y="165313"/>
                    <a:pt x="161046" y="160159"/>
                    <a:pt x="161046" y="160159"/>
                  </a:cubicBezTo>
                  <a:cubicBezTo>
                    <a:pt x="161046" y="160159"/>
                    <a:pt x="155214" y="129330"/>
                    <a:pt x="153015" y="105659"/>
                  </a:cubicBezTo>
                  <a:cubicBezTo>
                    <a:pt x="150147" y="76166"/>
                    <a:pt x="170225" y="0"/>
                    <a:pt x="27721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文本框 30"/>
            <p:cNvSpPr txBox="1"/>
            <p:nvPr/>
          </p:nvSpPr>
          <p:spPr>
            <a:xfrm>
              <a:off x="1451715" y="6461251"/>
              <a:ext cx="874846" cy="347477"/>
            </a:xfrm>
            <a:prstGeom prst="rect">
              <a:avLst/>
            </a:prstGeom>
            <a:noFill/>
          </p:spPr>
          <p:txBody>
            <a:bodyPr wrap="square" rtlCol="0" anchor="ctr">
              <a:spAutoFit/>
            </a:bodyPr>
            <a:lstStyle/>
            <a:p>
              <a:pPr algn="ctr"/>
              <a:r>
                <a:rPr lang="zh-CN" altLang="en-US" sz="800" dirty="0">
                  <a:latin typeface="+mn-ea"/>
                </a:rPr>
                <a:t>教育教师</a:t>
              </a:r>
              <a:endParaRPr lang="en-US" altLang="zh-CN" sz="800" dirty="0">
                <a:latin typeface="+mn-ea"/>
              </a:endParaRPr>
            </a:p>
            <a:p>
              <a:pPr algn="ctr"/>
              <a:r>
                <a:rPr lang="zh-CN" altLang="en-US" sz="800" dirty="0">
                  <a:latin typeface="+mn-ea"/>
                </a:rPr>
                <a:t>朱先生（快车）</a:t>
              </a:r>
            </a:p>
          </p:txBody>
        </p:sp>
      </p:grpSp>
      <p:sp>
        <p:nvSpPr>
          <p:cNvPr id="29" name="文本框 28"/>
          <p:cNvSpPr txBox="1"/>
          <p:nvPr/>
        </p:nvSpPr>
        <p:spPr>
          <a:xfrm>
            <a:off x="3789227" y="3410526"/>
            <a:ext cx="714107" cy="338554"/>
          </a:xfrm>
          <a:prstGeom prst="rect">
            <a:avLst/>
          </a:prstGeom>
          <a:noFill/>
        </p:spPr>
        <p:txBody>
          <a:bodyPr wrap="square" rtlCol="0" anchor="ctr">
            <a:spAutoFit/>
          </a:bodyPr>
          <a:lstStyle/>
          <a:p>
            <a:pPr algn="ctr"/>
            <a:r>
              <a:rPr lang="zh-CN" altLang="en-US" sz="800" dirty="0">
                <a:latin typeface="+mn-ea"/>
              </a:rPr>
              <a:t>老师贾女士</a:t>
            </a:r>
            <a:endParaRPr lang="en-US" altLang="zh-CN" sz="800" dirty="0">
              <a:latin typeface="+mn-ea"/>
            </a:endParaRPr>
          </a:p>
          <a:p>
            <a:pPr algn="ctr"/>
            <a:r>
              <a:rPr lang="zh-CN" altLang="en-US" sz="800" dirty="0">
                <a:latin typeface="+mn-ea"/>
              </a:rPr>
              <a:t>（快车）</a:t>
            </a:r>
          </a:p>
        </p:txBody>
      </p:sp>
      <p:sp>
        <p:nvSpPr>
          <p:cNvPr id="63" name="矩形 62"/>
          <p:cNvSpPr/>
          <p:nvPr/>
        </p:nvSpPr>
        <p:spPr>
          <a:xfrm>
            <a:off x="909628" y="1732326"/>
            <a:ext cx="594868" cy="523220"/>
          </a:xfrm>
          <a:prstGeom prst="rect">
            <a:avLst/>
          </a:prstGeom>
          <a:noFill/>
          <a:ln>
            <a:noFill/>
          </a:ln>
        </p:spPr>
        <p:txBody>
          <a:bodyPr wrap="square" rtlCol="0" anchor="ctr">
            <a:spAutoFit/>
          </a:bodyPr>
          <a:lstStyle/>
          <a:p>
            <a:pPr algn="ctr"/>
            <a:r>
              <a:rPr lang="zh-CN" altLang="en-US" sz="1400" b="1" dirty="0">
                <a:latin typeface="+mn-ea"/>
              </a:rPr>
              <a:t>乘客圆桌</a:t>
            </a:r>
          </a:p>
        </p:txBody>
      </p:sp>
      <p:sp>
        <p:nvSpPr>
          <p:cNvPr id="64" name="矩形 63"/>
          <p:cNvSpPr/>
          <p:nvPr/>
        </p:nvSpPr>
        <p:spPr>
          <a:xfrm>
            <a:off x="6487111" y="1720589"/>
            <a:ext cx="594868" cy="523220"/>
          </a:xfrm>
          <a:prstGeom prst="rect">
            <a:avLst/>
          </a:prstGeom>
          <a:noFill/>
          <a:ln>
            <a:noFill/>
          </a:ln>
        </p:spPr>
        <p:txBody>
          <a:bodyPr wrap="square" rtlCol="0" anchor="ctr">
            <a:spAutoFit/>
          </a:bodyPr>
          <a:lstStyle/>
          <a:p>
            <a:pPr algn="ctr"/>
            <a:r>
              <a:rPr lang="zh-CN" altLang="en-US" sz="1400" b="1" dirty="0">
                <a:latin typeface="+mn-ea"/>
              </a:rPr>
              <a:t>司机圆桌</a:t>
            </a:r>
          </a:p>
        </p:txBody>
      </p:sp>
      <p:grpSp>
        <p:nvGrpSpPr>
          <p:cNvPr id="65" name="组合 64"/>
          <p:cNvGrpSpPr/>
          <p:nvPr/>
        </p:nvGrpSpPr>
        <p:grpSpPr>
          <a:xfrm>
            <a:off x="909628" y="4115410"/>
            <a:ext cx="4437876" cy="2105983"/>
            <a:chOff x="6308024" y="1891136"/>
            <a:chExt cx="5016139" cy="4960111"/>
          </a:xfrm>
        </p:grpSpPr>
        <p:sp>
          <p:nvSpPr>
            <p:cNvPr id="66" name="矩形: 圆角 65"/>
            <p:cNvSpPr/>
            <p:nvPr/>
          </p:nvSpPr>
          <p:spPr>
            <a:xfrm>
              <a:off x="6571668" y="1891136"/>
              <a:ext cx="4488853" cy="440631"/>
            </a:xfrm>
            <a:prstGeom prst="roundRect">
              <a:avLst>
                <a:gd name="adj" fmla="val 1666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dirty="0">
                  <a:latin typeface="微软雅黑" panose="020B0503020204020204" pitchFamily="34" charset="-122"/>
                  <a:ea typeface="微软雅黑" panose="020B0503020204020204" pitchFamily="34" charset="-122"/>
                  <a:sym typeface="微软雅黑" panose="020B0503020204020204" pitchFamily="34" charset="-122"/>
                </a:rPr>
                <a:t>定性用户画像</a:t>
              </a:r>
            </a:p>
          </p:txBody>
        </p:sp>
        <p:sp>
          <p:nvSpPr>
            <p:cNvPr id="67" name="矩形 66"/>
            <p:cNvSpPr/>
            <p:nvPr/>
          </p:nvSpPr>
          <p:spPr>
            <a:xfrm>
              <a:off x="6308024" y="2547520"/>
              <a:ext cx="5016139" cy="4303727"/>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 dirty="0"/>
            </a:p>
          </p:txBody>
        </p:sp>
        <p:sp>
          <p:nvSpPr>
            <p:cNvPr id="68" name="文本占位符 4"/>
            <p:cNvSpPr txBox="1"/>
            <p:nvPr/>
          </p:nvSpPr>
          <p:spPr>
            <a:xfrm>
              <a:off x="6841745" y="2594302"/>
              <a:ext cx="999483" cy="553182"/>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zh-CN" altLang="en-US" sz="7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年龄与性别构成</a:t>
              </a:r>
              <a:endParaRPr kumimoji="0" lang="en-US" altLang="zh-CN" sz="7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9" name="文本占位符 4"/>
            <p:cNvSpPr txBox="1"/>
            <p:nvPr/>
          </p:nvSpPr>
          <p:spPr>
            <a:xfrm>
              <a:off x="7654115" y="2657479"/>
              <a:ext cx="3617525" cy="456228"/>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乘客群体男女比例均衡，年龄集中在</a:t>
              </a:r>
              <a:r>
                <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25-38</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岁之间，其中</a:t>
              </a:r>
              <a:r>
                <a:rPr lang="zh-CN" altLang="en-US" sz="600" dirty="0">
                  <a:solidFill>
                    <a:srgbClr val="000000"/>
                  </a:solidFill>
                  <a:latin typeface="微软雅黑" panose="020B0503020204020204" pitchFamily="34" charset="-122"/>
                  <a:ea typeface="微软雅黑" panose="020B0503020204020204" pitchFamily="34" charset="-122"/>
                </a:rPr>
                <a:t>大部分</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的乘客年龄在</a:t>
              </a:r>
              <a:r>
                <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34</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岁及以下</a:t>
              </a:r>
            </a:p>
          </p:txBody>
        </p:sp>
        <p:sp>
          <p:nvSpPr>
            <p:cNvPr id="70" name="矩形: 圆角 69"/>
            <p:cNvSpPr/>
            <p:nvPr/>
          </p:nvSpPr>
          <p:spPr>
            <a:xfrm>
              <a:off x="6462601" y="2781886"/>
              <a:ext cx="473928" cy="3080209"/>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b="1" dirty="0"/>
                <a:t>共性特点</a:t>
              </a:r>
            </a:p>
          </p:txBody>
        </p:sp>
        <p:sp>
          <p:nvSpPr>
            <p:cNvPr id="71" name="矩形: 圆角 70"/>
            <p:cNvSpPr/>
            <p:nvPr/>
          </p:nvSpPr>
          <p:spPr>
            <a:xfrm>
              <a:off x="6462601" y="6104900"/>
              <a:ext cx="473928" cy="553182"/>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b="1" dirty="0"/>
                <a:t>差异特点</a:t>
              </a:r>
            </a:p>
          </p:txBody>
        </p:sp>
        <p:sp>
          <p:nvSpPr>
            <p:cNvPr id="72" name="文本占位符 4"/>
            <p:cNvSpPr txBox="1"/>
            <p:nvPr/>
          </p:nvSpPr>
          <p:spPr>
            <a:xfrm>
              <a:off x="6937740" y="2983702"/>
              <a:ext cx="829831" cy="800551"/>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20000"/>
                </a:lnSpc>
                <a:buNone/>
                <a:defRPr/>
              </a:pPr>
              <a:r>
                <a:rPr lang="zh-CN" altLang="en-US" sz="700" b="1" dirty="0">
                  <a:solidFill>
                    <a:srgbClr val="000000"/>
                  </a:solidFill>
                  <a:latin typeface="微软雅黑" panose="020B0503020204020204" pitchFamily="34" charset="-122"/>
                  <a:ea typeface="微软雅黑" panose="020B0503020204020204" pitchFamily="34" charset="-122"/>
                </a:rPr>
                <a:t>常用平台与打车频次</a:t>
              </a:r>
              <a:endParaRPr lang="en-US" altLang="zh-CN" sz="700" b="1" dirty="0">
                <a:solidFill>
                  <a:srgbClr val="000000"/>
                </a:solidFill>
                <a:latin typeface="微软雅黑" panose="020B0503020204020204" pitchFamily="34" charset="-122"/>
                <a:ea typeface="微软雅黑" panose="020B0503020204020204" pitchFamily="34" charset="-122"/>
              </a:endParaRPr>
            </a:p>
          </p:txBody>
        </p:sp>
        <p:sp>
          <p:nvSpPr>
            <p:cNvPr id="73" name="文本占位符 4"/>
            <p:cNvSpPr txBox="1"/>
            <p:nvPr/>
          </p:nvSpPr>
          <p:spPr>
            <a:xfrm>
              <a:off x="6819318" y="3499492"/>
              <a:ext cx="999483" cy="553182"/>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sz="700" b="1" dirty="0">
                  <a:solidFill>
                    <a:srgbClr val="000000"/>
                  </a:solidFill>
                  <a:latin typeface="微软雅黑" panose="020B0503020204020204" pitchFamily="34" charset="-122"/>
                  <a:ea typeface="微软雅黑" panose="020B0503020204020204" pitchFamily="34" charset="-122"/>
                </a:rPr>
                <a:t>学历与职业特征</a:t>
              </a:r>
              <a:endParaRPr kumimoji="0" lang="en-US" altLang="zh-CN" sz="7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4" name="文本占位符 4"/>
            <p:cNvSpPr txBox="1"/>
            <p:nvPr/>
          </p:nvSpPr>
          <p:spPr>
            <a:xfrm>
              <a:off x="7654115" y="2977178"/>
              <a:ext cx="3617525" cy="717189"/>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lang="zh-CN" altLang="en-US" sz="600" dirty="0">
                  <a:solidFill>
                    <a:srgbClr val="000000"/>
                  </a:solidFill>
                  <a:latin typeface="微软雅黑" panose="020B0503020204020204" pitchFamily="34" charset="-122"/>
                  <a:ea typeface="微软雅黑" panose="020B0503020204020204" pitchFamily="34" charset="-122"/>
                </a:rPr>
                <a:t>乘客最常使用的平台以滴滴为主，美团打车为辅；打车频次分布较为分散，其中月均打车</a:t>
              </a:r>
              <a:r>
                <a:rPr lang="en-US" altLang="zh-CN" sz="600" dirty="0">
                  <a:solidFill>
                    <a:srgbClr val="000000"/>
                  </a:solidFill>
                  <a:latin typeface="微软雅黑" panose="020B0503020204020204" pitchFamily="34" charset="-122"/>
                  <a:ea typeface="微软雅黑" panose="020B0503020204020204" pitchFamily="34" charset="-122"/>
                </a:rPr>
                <a:t>20</a:t>
              </a:r>
              <a:r>
                <a:rPr lang="zh-CN" altLang="en-US" sz="600" dirty="0">
                  <a:solidFill>
                    <a:srgbClr val="000000"/>
                  </a:solidFill>
                  <a:latin typeface="微软雅黑" panose="020B0503020204020204" pitchFamily="34" charset="-122"/>
                  <a:ea typeface="微软雅黑" panose="020B0503020204020204" pitchFamily="34" charset="-122"/>
                </a:rPr>
                <a:t>次以上的用户占比较少，</a:t>
              </a:r>
              <a:r>
                <a:rPr lang="en-US" altLang="zh-CN" sz="600" dirty="0">
                  <a:solidFill>
                    <a:srgbClr val="000000"/>
                  </a:solidFill>
                  <a:latin typeface="微软雅黑" panose="020B0503020204020204" pitchFamily="34" charset="-122"/>
                  <a:ea typeface="微软雅黑" panose="020B0503020204020204" pitchFamily="34" charset="-122"/>
                </a:rPr>
                <a:t>10-20</a:t>
              </a:r>
              <a:r>
                <a:rPr lang="zh-CN" altLang="en-US" sz="600" dirty="0">
                  <a:solidFill>
                    <a:srgbClr val="000000"/>
                  </a:solidFill>
                  <a:latin typeface="微软雅黑" panose="020B0503020204020204" pitchFamily="34" charset="-122"/>
                  <a:ea typeface="微软雅黑" panose="020B0503020204020204" pitchFamily="34" charset="-122"/>
                </a:rPr>
                <a:t>次的用户占比明显较多</a:t>
              </a:r>
            </a:p>
          </p:txBody>
        </p:sp>
        <p:sp>
          <p:nvSpPr>
            <p:cNvPr id="75" name="文本占位符 4"/>
            <p:cNvSpPr txBox="1"/>
            <p:nvPr/>
          </p:nvSpPr>
          <p:spPr>
            <a:xfrm>
              <a:off x="7653185" y="3555196"/>
              <a:ext cx="3661252" cy="456228"/>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乘客均为本科学历，乘客多从事教育、外贸、金融等服务业</a:t>
              </a:r>
              <a:endPar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6" name="文本占位符 4"/>
            <p:cNvSpPr txBox="1"/>
            <p:nvPr/>
          </p:nvSpPr>
          <p:spPr>
            <a:xfrm>
              <a:off x="6816872" y="6129670"/>
              <a:ext cx="999483" cy="553182"/>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buNone/>
                <a:defRPr/>
              </a:pPr>
              <a:r>
                <a:rPr lang="zh-CN" altLang="en-US" sz="700" b="1" dirty="0">
                  <a:solidFill>
                    <a:srgbClr val="000000"/>
                  </a:solidFill>
                  <a:latin typeface="微软雅黑" panose="020B0503020204020204" pitchFamily="34" charset="-122"/>
                  <a:ea typeface="微软雅黑" panose="020B0503020204020204" pitchFamily="34" charset="-122"/>
                </a:rPr>
                <a:t>不寻常需求</a:t>
              </a:r>
              <a:endParaRPr lang="en-US" altLang="zh-CN" sz="700" b="1" dirty="0">
                <a:solidFill>
                  <a:srgbClr val="000000"/>
                </a:solidFill>
                <a:latin typeface="微软雅黑" panose="020B0503020204020204" pitchFamily="34" charset="-122"/>
                <a:ea typeface="微软雅黑" panose="020B0503020204020204" pitchFamily="34" charset="-122"/>
              </a:endParaRPr>
            </a:p>
          </p:txBody>
        </p:sp>
      </p:grpSp>
      <p:sp>
        <p:nvSpPr>
          <p:cNvPr id="81" name="矩形 80"/>
          <p:cNvSpPr/>
          <p:nvPr/>
        </p:nvSpPr>
        <p:spPr>
          <a:xfrm>
            <a:off x="6366515" y="4388296"/>
            <a:ext cx="4437875" cy="1833098"/>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 dirty="0"/>
          </a:p>
        </p:txBody>
      </p:sp>
      <p:sp>
        <p:nvSpPr>
          <p:cNvPr id="84" name="矩形: 圆角 83"/>
          <p:cNvSpPr/>
          <p:nvPr/>
        </p:nvSpPr>
        <p:spPr>
          <a:xfrm>
            <a:off x="6493548" y="4493608"/>
            <a:ext cx="441274" cy="1225958"/>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b="1" dirty="0"/>
              <a:t>共性特点</a:t>
            </a:r>
          </a:p>
        </p:txBody>
      </p:sp>
      <p:sp>
        <p:nvSpPr>
          <p:cNvPr id="85" name="矩形: 圆角 84"/>
          <p:cNvSpPr/>
          <p:nvPr/>
        </p:nvSpPr>
        <p:spPr>
          <a:xfrm>
            <a:off x="6494837" y="5834809"/>
            <a:ext cx="439985" cy="328056"/>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b="1" dirty="0"/>
              <a:t>差异特点</a:t>
            </a:r>
          </a:p>
        </p:txBody>
      </p:sp>
      <p:sp>
        <p:nvSpPr>
          <p:cNvPr id="86" name="文本占位符 4"/>
          <p:cNvSpPr txBox="1"/>
          <p:nvPr/>
        </p:nvSpPr>
        <p:spPr>
          <a:xfrm>
            <a:off x="6920848" y="4588493"/>
            <a:ext cx="834047" cy="234872"/>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defRPr/>
            </a:pPr>
            <a:r>
              <a:rPr lang="zh-CN" altLang="en-US" sz="700" b="1" dirty="0"/>
              <a:t>学历与</a:t>
            </a:r>
            <a:r>
              <a:rPr lang="zh-CN" altLang="en-US" sz="700" b="1" dirty="0">
                <a:solidFill>
                  <a:srgbClr val="000000"/>
                </a:solidFill>
                <a:latin typeface="微软雅黑" panose="020B0503020204020204" pitchFamily="34" charset="-122"/>
                <a:ea typeface="微软雅黑" panose="020B0503020204020204" pitchFamily="34" charset="-122"/>
              </a:rPr>
              <a:t>职业特征</a:t>
            </a:r>
            <a:endParaRPr lang="en-US" altLang="zh-CN" sz="700" b="1" dirty="0">
              <a:solidFill>
                <a:srgbClr val="000000"/>
              </a:solidFill>
              <a:latin typeface="微软雅黑" panose="020B0503020204020204" pitchFamily="34" charset="-122"/>
              <a:ea typeface="微软雅黑" panose="020B0503020204020204" pitchFamily="34" charset="-122"/>
            </a:endParaRPr>
          </a:p>
        </p:txBody>
      </p:sp>
      <p:sp>
        <p:nvSpPr>
          <p:cNvPr id="87" name="文本占位符 4"/>
          <p:cNvSpPr txBox="1"/>
          <p:nvPr/>
        </p:nvSpPr>
        <p:spPr>
          <a:xfrm>
            <a:off x="6934102" y="5439543"/>
            <a:ext cx="722983" cy="210635"/>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20000"/>
              </a:lnSpc>
              <a:buNone/>
              <a:defRPr/>
            </a:pPr>
            <a:r>
              <a:rPr lang="zh-CN" altLang="en-US" sz="700" b="1" dirty="0">
                <a:solidFill>
                  <a:srgbClr val="000000"/>
                </a:solidFill>
                <a:latin typeface="微软雅黑" panose="020B0503020204020204" pitchFamily="34" charset="-122"/>
                <a:ea typeface="微软雅黑" panose="020B0503020204020204" pitchFamily="34" charset="-122"/>
              </a:rPr>
              <a:t>主动提醒</a:t>
            </a:r>
            <a:endParaRPr lang="en-US" altLang="zh-CN" sz="700" b="1" dirty="0">
              <a:solidFill>
                <a:srgbClr val="000000"/>
              </a:solidFill>
              <a:latin typeface="微软雅黑" panose="020B0503020204020204" pitchFamily="34" charset="-122"/>
              <a:ea typeface="微软雅黑" panose="020B0503020204020204" pitchFamily="34" charset="-122"/>
            </a:endParaRPr>
          </a:p>
        </p:txBody>
      </p:sp>
      <p:sp>
        <p:nvSpPr>
          <p:cNvPr id="90" name="文本占位符 4"/>
          <p:cNvSpPr txBox="1"/>
          <p:nvPr/>
        </p:nvSpPr>
        <p:spPr>
          <a:xfrm>
            <a:off x="6943087" y="5849207"/>
            <a:ext cx="873057" cy="234872"/>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sz="700" b="1" dirty="0">
                <a:solidFill>
                  <a:srgbClr val="000000"/>
                </a:solidFill>
                <a:latin typeface="微软雅黑" panose="020B0503020204020204" pitchFamily="34" charset="-122"/>
                <a:ea typeface="微软雅黑" panose="020B0503020204020204" pitchFamily="34" charset="-122"/>
              </a:rPr>
              <a:t>工龄与工作时间</a:t>
            </a:r>
            <a:endParaRPr kumimoji="0" lang="en-US" altLang="zh-CN" sz="7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2" name="文本占位符 4"/>
          <p:cNvSpPr txBox="1"/>
          <p:nvPr/>
        </p:nvSpPr>
        <p:spPr>
          <a:xfrm>
            <a:off x="7858927" y="2443994"/>
            <a:ext cx="528035" cy="214482"/>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en-US" altLang="zh-CN" sz="600" dirty="0">
                <a:solidFill>
                  <a:srgbClr val="000000"/>
                </a:solidFill>
                <a:latin typeface="微软雅黑" panose="020B0503020204020204" pitchFamily="34" charset="-122"/>
                <a:ea typeface="微软雅黑" panose="020B0503020204020204" pitchFamily="34" charset="-122"/>
              </a:rPr>
              <a:t>N=5</a:t>
            </a:r>
            <a:endPar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nvGrpSpPr>
          <p:cNvPr id="129" name="组合 128"/>
          <p:cNvGrpSpPr/>
          <p:nvPr/>
        </p:nvGrpSpPr>
        <p:grpSpPr>
          <a:xfrm>
            <a:off x="2354048" y="2257098"/>
            <a:ext cx="1720291" cy="1107052"/>
            <a:chOff x="1914215" y="2257098"/>
            <a:chExt cx="1720291" cy="1107052"/>
          </a:xfrm>
        </p:grpSpPr>
        <p:sp>
          <p:nvSpPr>
            <p:cNvPr id="11" name="椭圆 10"/>
            <p:cNvSpPr/>
            <p:nvPr/>
          </p:nvSpPr>
          <p:spPr>
            <a:xfrm>
              <a:off x="1914215" y="2257098"/>
              <a:ext cx="1720291" cy="1107052"/>
            </a:xfrm>
            <a:prstGeom prst="ellipse">
              <a:avLst/>
            </a:prstGeom>
            <a:solidFill>
              <a:schemeClr val="bg2">
                <a:lumMod val="75000"/>
              </a:schemeClr>
            </a:solidFill>
            <a:ln>
              <a:solidFill>
                <a:schemeClr val="bg1">
                  <a:lumMod val="95000"/>
                </a:schemeClr>
              </a:solidFill>
            </a:ln>
          </p:spPr>
          <p:txBody>
            <a:bodyPr wrap="square" rtlCol="0" anchor="ctr">
              <a:spAutoFit/>
            </a:bodyPr>
            <a:lstStyle/>
            <a:p>
              <a:pPr algn="ctr">
                <a:lnSpc>
                  <a:spcPct val="125000"/>
                </a:lnSpc>
              </a:pPr>
              <a:endParaRPr lang="zh-CN" altLang="en-US" sz="1400" dirty="0">
                <a:latin typeface="+mn-ea"/>
              </a:endParaRPr>
            </a:p>
          </p:txBody>
        </p:sp>
        <p:sp>
          <p:nvSpPr>
            <p:cNvPr id="78" name="文本占位符 4"/>
            <p:cNvSpPr txBox="1"/>
            <p:nvPr/>
          </p:nvSpPr>
          <p:spPr>
            <a:xfrm>
              <a:off x="2219603" y="2346781"/>
              <a:ext cx="528035" cy="214482"/>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en-US" altLang="zh-CN" sz="600" dirty="0">
                  <a:solidFill>
                    <a:srgbClr val="000000"/>
                  </a:solidFill>
                  <a:latin typeface="微软雅黑" panose="020B0503020204020204" pitchFamily="34" charset="-122"/>
                  <a:ea typeface="微软雅黑" panose="020B0503020204020204" pitchFamily="34" charset="-122"/>
                </a:rPr>
                <a:t>N=6</a:t>
              </a:r>
              <a:endPar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3" name="文本框 92"/>
            <p:cNvSpPr txBox="1"/>
            <p:nvPr/>
          </p:nvSpPr>
          <p:spPr>
            <a:xfrm>
              <a:off x="2379480" y="2662170"/>
              <a:ext cx="800219" cy="338554"/>
            </a:xfrm>
            <a:prstGeom prst="rect">
              <a:avLst/>
            </a:prstGeom>
            <a:noFill/>
          </p:spPr>
          <p:txBody>
            <a:bodyPr wrap="none" rtlCol="0">
              <a:spAutoFit/>
            </a:bodyPr>
            <a:lstStyle/>
            <a:p>
              <a:r>
                <a:rPr lang="zh-CN" altLang="en-US" sz="1600" dirty="0"/>
                <a:t>乘客组</a:t>
              </a:r>
            </a:p>
          </p:txBody>
        </p:sp>
      </p:grpSp>
      <p:sp>
        <p:nvSpPr>
          <p:cNvPr id="94" name="文本框 93"/>
          <p:cNvSpPr txBox="1"/>
          <p:nvPr/>
        </p:nvSpPr>
        <p:spPr>
          <a:xfrm>
            <a:off x="8118054" y="2678078"/>
            <a:ext cx="800219" cy="338554"/>
          </a:xfrm>
          <a:prstGeom prst="rect">
            <a:avLst/>
          </a:prstGeom>
          <a:noFill/>
        </p:spPr>
        <p:txBody>
          <a:bodyPr wrap="none" rtlCol="0">
            <a:spAutoFit/>
          </a:bodyPr>
          <a:lstStyle/>
          <a:p>
            <a:r>
              <a:rPr lang="zh-CN" altLang="en-US" sz="1600" dirty="0"/>
              <a:t>司机组</a:t>
            </a:r>
          </a:p>
        </p:txBody>
      </p:sp>
      <p:grpSp>
        <p:nvGrpSpPr>
          <p:cNvPr id="5" name="组合 4"/>
          <p:cNvGrpSpPr/>
          <p:nvPr/>
        </p:nvGrpSpPr>
        <p:grpSpPr>
          <a:xfrm>
            <a:off x="4009507" y="2447185"/>
            <a:ext cx="849130" cy="633833"/>
            <a:chOff x="2336261" y="4996776"/>
            <a:chExt cx="712961" cy="582692"/>
          </a:xfrm>
        </p:grpSpPr>
        <p:sp>
          <p:nvSpPr>
            <p:cNvPr id="6" name="man-with-bow_56788"/>
            <p:cNvSpPr/>
            <p:nvPr/>
          </p:nvSpPr>
          <p:spPr>
            <a:xfrm>
              <a:off x="2462876" y="4996776"/>
              <a:ext cx="279562" cy="283309"/>
            </a:xfrm>
            <a:custGeom>
              <a:avLst/>
              <a:gdLst>
                <a:gd name="connsiteX0" fmla="*/ 188888 w 557678"/>
                <a:gd name="connsiteY0" fmla="*/ 367011 h 607780"/>
                <a:gd name="connsiteX1" fmla="*/ 199785 w 557678"/>
                <a:gd name="connsiteY1" fmla="*/ 373977 h 607780"/>
                <a:gd name="connsiteX2" fmla="*/ 278839 w 557678"/>
                <a:gd name="connsiteY2" fmla="*/ 490974 h 607780"/>
                <a:gd name="connsiteX3" fmla="*/ 357893 w 557678"/>
                <a:gd name="connsiteY3" fmla="*/ 373977 h 607780"/>
                <a:gd name="connsiteX4" fmla="*/ 368886 w 557678"/>
                <a:gd name="connsiteY4" fmla="*/ 367011 h 607780"/>
                <a:gd name="connsiteX5" fmla="*/ 374908 w 557678"/>
                <a:gd name="connsiteY5" fmla="*/ 368729 h 607780"/>
                <a:gd name="connsiteX6" fmla="*/ 557678 w 557678"/>
                <a:gd name="connsiteY6" fmla="*/ 480572 h 607780"/>
                <a:gd name="connsiteX7" fmla="*/ 557678 w 557678"/>
                <a:gd name="connsiteY7" fmla="*/ 607780 h 607780"/>
                <a:gd name="connsiteX8" fmla="*/ 278839 w 557678"/>
                <a:gd name="connsiteY8" fmla="*/ 607780 h 607780"/>
                <a:gd name="connsiteX9" fmla="*/ 0 w 557678"/>
                <a:gd name="connsiteY9" fmla="*/ 607780 h 607780"/>
                <a:gd name="connsiteX10" fmla="*/ 0 w 557678"/>
                <a:gd name="connsiteY10" fmla="*/ 480572 h 607780"/>
                <a:gd name="connsiteX11" fmla="*/ 182770 w 557678"/>
                <a:gd name="connsiteY11" fmla="*/ 368729 h 607780"/>
                <a:gd name="connsiteX12" fmla="*/ 188888 w 557678"/>
                <a:gd name="connsiteY12" fmla="*/ 367011 h 607780"/>
                <a:gd name="connsiteX13" fmla="*/ 233347 w 557678"/>
                <a:gd name="connsiteY13" fmla="*/ 332928 h 607780"/>
                <a:gd name="connsiteX14" fmla="*/ 235832 w 557678"/>
                <a:gd name="connsiteY14" fmla="*/ 333119 h 607780"/>
                <a:gd name="connsiteX15" fmla="*/ 236501 w 557678"/>
                <a:gd name="connsiteY15" fmla="*/ 333214 h 607780"/>
                <a:gd name="connsiteX16" fmla="*/ 236692 w 557678"/>
                <a:gd name="connsiteY16" fmla="*/ 333214 h 607780"/>
                <a:gd name="connsiteX17" fmla="*/ 237934 w 557678"/>
                <a:gd name="connsiteY17" fmla="*/ 333596 h 607780"/>
                <a:gd name="connsiteX18" fmla="*/ 238508 w 557678"/>
                <a:gd name="connsiteY18" fmla="*/ 333787 h 607780"/>
                <a:gd name="connsiteX19" fmla="*/ 239177 w 557678"/>
                <a:gd name="connsiteY19" fmla="*/ 333977 h 607780"/>
                <a:gd name="connsiteX20" fmla="*/ 243478 w 557678"/>
                <a:gd name="connsiteY20" fmla="*/ 336553 h 607780"/>
                <a:gd name="connsiteX21" fmla="*/ 264981 w 557678"/>
                <a:gd name="connsiteY21" fmla="*/ 353724 h 607780"/>
                <a:gd name="connsiteX22" fmla="*/ 267657 w 557678"/>
                <a:gd name="connsiteY22" fmla="*/ 353820 h 607780"/>
                <a:gd name="connsiteX23" fmla="*/ 278839 w 557678"/>
                <a:gd name="connsiteY23" fmla="*/ 353724 h 607780"/>
                <a:gd name="connsiteX24" fmla="*/ 290021 w 557678"/>
                <a:gd name="connsiteY24" fmla="*/ 353820 h 607780"/>
                <a:gd name="connsiteX25" fmla="*/ 292792 w 557678"/>
                <a:gd name="connsiteY25" fmla="*/ 353724 h 607780"/>
                <a:gd name="connsiteX26" fmla="*/ 314200 w 557678"/>
                <a:gd name="connsiteY26" fmla="*/ 336553 h 607780"/>
                <a:gd name="connsiteX27" fmla="*/ 318596 w 557678"/>
                <a:gd name="connsiteY27" fmla="*/ 333977 h 607780"/>
                <a:gd name="connsiteX28" fmla="*/ 319265 w 557678"/>
                <a:gd name="connsiteY28" fmla="*/ 333787 h 607780"/>
                <a:gd name="connsiteX29" fmla="*/ 319743 w 557678"/>
                <a:gd name="connsiteY29" fmla="*/ 333596 h 607780"/>
                <a:gd name="connsiteX30" fmla="*/ 321081 w 557678"/>
                <a:gd name="connsiteY30" fmla="*/ 333214 h 607780"/>
                <a:gd name="connsiteX31" fmla="*/ 321272 w 557678"/>
                <a:gd name="connsiteY31" fmla="*/ 333214 h 607780"/>
                <a:gd name="connsiteX32" fmla="*/ 321846 w 557678"/>
                <a:gd name="connsiteY32" fmla="*/ 333119 h 607780"/>
                <a:gd name="connsiteX33" fmla="*/ 324426 w 557678"/>
                <a:gd name="connsiteY33" fmla="*/ 332928 h 607780"/>
                <a:gd name="connsiteX34" fmla="*/ 340195 w 557678"/>
                <a:gd name="connsiteY34" fmla="*/ 347905 h 607780"/>
                <a:gd name="connsiteX35" fmla="*/ 340195 w 557678"/>
                <a:gd name="connsiteY35" fmla="*/ 380912 h 607780"/>
                <a:gd name="connsiteX36" fmla="*/ 324426 w 557678"/>
                <a:gd name="connsiteY36" fmla="*/ 396366 h 607780"/>
                <a:gd name="connsiteX37" fmla="*/ 314869 w 557678"/>
                <a:gd name="connsiteY37" fmla="*/ 393123 h 607780"/>
                <a:gd name="connsiteX38" fmla="*/ 294417 w 557678"/>
                <a:gd name="connsiteY38" fmla="*/ 374807 h 607780"/>
                <a:gd name="connsiteX39" fmla="*/ 278839 w 557678"/>
                <a:gd name="connsiteY39" fmla="*/ 374902 h 607780"/>
                <a:gd name="connsiteX40" fmla="*/ 263261 w 557678"/>
                <a:gd name="connsiteY40" fmla="*/ 374807 h 607780"/>
                <a:gd name="connsiteX41" fmla="*/ 242809 w 557678"/>
                <a:gd name="connsiteY41" fmla="*/ 393123 h 607780"/>
                <a:gd name="connsiteX42" fmla="*/ 233347 w 557678"/>
                <a:gd name="connsiteY42" fmla="*/ 396366 h 607780"/>
                <a:gd name="connsiteX43" fmla="*/ 217482 w 557678"/>
                <a:gd name="connsiteY43" fmla="*/ 380912 h 607780"/>
                <a:gd name="connsiteX44" fmla="*/ 217482 w 557678"/>
                <a:gd name="connsiteY44" fmla="*/ 347905 h 607780"/>
                <a:gd name="connsiteX45" fmla="*/ 233347 w 557678"/>
                <a:gd name="connsiteY45" fmla="*/ 332928 h 607780"/>
                <a:gd name="connsiteX46" fmla="*/ 277214 w 557678"/>
                <a:gd name="connsiteY46" fmla="*/ 0 h 607780"/>
                <a:gd name="connsiteX47" fmla="*/ 278552 w 557678"/>
                <a:gd name="connsiteY47" fmla="*/ 0 h 607780"/>
                <a:gd name="connsiteX48" fmla="*/ 278744 w 557678"/>
                <a:gd name="connsiteY48" fmla="*/ 0 h 607780"/>
                <a:gd name="connsiteX49" fmla="*/ 278839 w 557678"/>
                <a:gd name="connsiteY49" fmla="*/ 0 h 607780"/>
                <a:gd name="connsiteX50" fmla="*/ 278935 w 557678"/>
                <a:gd name="connsiteY50" fmla="*/ 0 h 607780"/>
                <a:gd name="connsiteX51" fmla="*/ 279222 w 557678"/>
                <a:gd name="connsiteY51" fmla="*/ 0 h 607780"/>
                <a:gd name="connsiteX52" fmla="*/ 280560 w 557678"/>
                <a:gd name="connsiteY52" fmla="*/ 0 h 607780"/>
                <a:gd name="connsiteX53" fmla="*/ 404758 w 557678"/>
                <a:gd name="connsiteY53" fmla="*/ 105659 h 607780"/>
                <a:gd name="connsiteX54" fmla="*/ 396727 w 557678"/>
                <a:gd name="connsiteY54" fmla="*/ 160159 h 607780"/>
                <a:gd name="connsiteX55" fmla="*/ 408009 w 557678"/>
                <a:gd name="connsiteY55" fmla="*/ 186120 h 607780"/>
                <a:gd name="connsiteX56" fmla="*/ 379039 w 557678"/>
                <a:gd name="connsiteY56" fmla="*/ 238616 h 607780"/>
                <a:gd name="connsiteX57" fmla="*/ 317179 w 557678"/>
                <a:gd name="connsiteY57" fmla="*/ 313541 h 607780"/>
                <a:gd name="connsiteX58" fmla="*/ 278935 w 557678"/>
                <a:gd name="connsiteY58" fmla="*/ 322131 h 607780"/>
                <a:gd name="connsiteX59" fmla="*/ 278839 w 557678"/>
                <a:gd name="connsiteY59" fmla="*/ 322131 h 607780"/>
                <a:gd name="connsiteX60" fmla="*/ 278744 w 557678"/>
                <a:gd name="connsiteY60" fmla="*/ 322131 h 607780"/>
                <a:gd name="connsiteX61" fmla="*/ 240499 w 557678"/>
                <a:gd name="connsiteY61" fmla="*/ 313541 h 607780"/>
                <a:gd name="connsiteX62" fmla="*/ 178734 w 557678"/>
                <a:gd name="connsiteY62" fmla="*/ 238616 h 607780"/>
                <a:gd name="connsiteX63" fmla="*/ 149669 w 557678"/>
                <a:gd name="connsiteY63" fmla="*/ 186120 h 607780"/>
                <a:gd name="connsiteX64" fmla="*/ 161046 w 557678"/>
                <a:gd name="connsiteY64" fmla="*/ 160159 h 607780"/>
                <a:gd name="connsiteX65" fmla="*/ 153015 w 557678"/>
                <a:gd name="connsiteY65" fmla="*/ 105659 h 607780"/>
                <a:gd name="connsiteX66" fmla="*/ 277214 w 557678"/>
                <a:gd name="connsiteY66" fmla="*/ 0 h 60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557678" h="607780">
                  <a:moveTo>
                    <a:pt x="188888" y="367011"/>
                  </a:moveTo>
                  <a:cubicBezTo>
                    <a:pt x="193667" y="367011"/>
                    <a:pt x="197873" y="369874"/>
                    <a:pt x="199785" y="373977"/>
                  </a:cubicBezTo>
                  <a:cubicBezTo>
                    <a:pt x="218808" y="405851"/>
                    <a:pt x="254177" y="489256"/>
                    <a:pt x="278839" y="490974"/>
                  </a:cubicBezTo>
                  <a:cubicBezTo>
                    <a:pt x="303502" y="489256"/>
                    <a:pt x="338870" y="405851"/>
                    <a:pt x="357893" y="373977"/>
                  </a:cubicBezTo>
                  <a:cubicBezTo>
                    <a:pt x="359900" y="369874"/>
                    <a:pt x="364011" y="367011"/>
                    <a:pt x="368886" y="367011"/>
                  </a:cubicBezTo>
                  <a:cubicBezTo>
                    <a:pt x="371085" y="367011"/>
                    <a:pt x="372996" y="367870"/>
                    <a:pt x="374908" y="368729"/>
                  </a:cubicBezTo>
                  <a:cubicBezTo>
                    <a:pt x="382269" y="371878"/>
                    <a:pt x="557678" y="427132"/>
                    <a:pt x="557678" y="480572"/>
                  </a:cubicBezTo>
                  <a:lnTo>
                    <a:pt x="557678" y="607780"/>
                  </a:lnTo>
                  <a:lnTo>
                    <a:pt x="278839" y="607780"/>
                  </a:lnTo>
                  <a:lnTo>
                    <a:pt x="0" y="607780"/>
                  </a:lnTo>
                  <a:lnTo>
                    <a:pt x="0" y="480572"/>
                  </a:lnTo>
                  <a:cubicBezTo>
                    <a:pt x="0" y="421120"/>
                    <a:pt x="175314" y="371687"/>
                    <a:pt x="182770" y="368729"/>
                  </a:cubicBezTo>
                  <a:cubicBezTo>
                    <a:pt x="184682" y="367870"/>
                    <a:pt x="186593" y="367011"/>
                    <a:pt x="188888" y="367011"/>
                  </a:cubicBezTo>
                  <a:close/>
                  <a:moveTo>
                    <a:pt x="233347" y="332928"/>
                  </a:moveTo>
                  <a:cubicBezTo>
                    <a:pt x="234207" y="332928"/>
                    <a:pt x="235067" y="332928"/>
                    <a:pt x="235832" y="333119"/>
                  </a:cubicBezTo>
                  <a:cubicBezTo>
                    <a:pt x="236023" y="333119"/>
                    <a:pt x="236310" y="333119"/>
                    <a:pt x="236501" y="333214"/>
                  </a:cubicBezTo>
                  <a:cubicBezTo>
                    <a:pt x="236501" y="333214"/>
                    <a:pt x="236596" y="333214"/>
                    <a:pt x="236692" y="333214"/>
                  </a:cubicBezTo>
                  <a:cubicBezTo>
                    <a:pt x="237074" y="333310"/>
                    <a:pt x="237552" y="333405"/>
                    <a:pt x="237934" y="333596"/>
                  </a:cubicBezTo>
                  <a:cubicBezTo>
                    <a:pt x="238126" y="333596"/>
                    <a:pt x="238317" y="333691"/>
                    <a:pt x="238508" y="333787"/>
                  </a:cubicBezTo>
                  <a:cubicBezTo>
                    <a:pt x="238699" y="333787"/>
                    <a:pt x="238890" y="333882"/>
                    <a:pt x="239177" y="333977"/>
                  </a:cubicBezTo>
                  <a:cubicBezTo>
                    <a:pt x="240706" y="334645"/>
                    <a:pt x="242140" y="335504"/>
                    <a:pt x="243478" y="336553"/>
                  </a:cubicBezTo>
                  <a:cubicBezTo>
                    <a:pt x="250836" y="342372"/>
                    <a:pt x="255615" y="353056"/>
                    <a:pt x="264981" y="353724"/>
                  </a:cubicBezTo>
                  <a:cubicBezTo>
                    <a:pt x="265841" y="353820"/>
                    <a:pt x="266797" y="353820"/>
                    <a:pt x="267657" y="353820"/>
                  </a:cubicBezTo>
                  <a:cubicBezTo>
                    <a:pt x="268517" y="353820"/>
                    <a:pt x="274060" y="353724"/>
                    <a:pt x="278839" y="353724"/>
                  </a:cubicBezTo>
                  <a:cubicBezTo>
                    <a:pt x="283617" y="353724"/>
                    <a:pt x="289256" y="353820"/>
                    <a:pt x="290021" y="353820"/>
                  </a:cubicBezTo>
                  <a:cubicBezTo>
                    <a:pt x="290976" y="353820"/>
                    <a:pt x="291836" y="353820"/>
                    <a:pt x="292792" y="353724"/>
                  </a:cubicBezTo>
                  <a:cubicBezTo>
                    <a:pt x="302158" y="353056"/>
                    <a:pt x="306841" y="342372"/>
                    <a:pt x="314200" y="336553"/>
                  </a:cubicBezTo>
                  <a:cubicBezTo>
                    <a:pt x="315538" y="335504"/>
                    <a:pt x="316972" y="334645"/>
                    <a:pt x="318596" y="333977"/>
                  </a:cubicBezTo>
                  <a:cubicBezTo>
                    <a:pt x="318787" y="333882"/>
                    <a:pt x="318979" y="333787"/>
                    <a:pt x="319265" y="333787"/>
                  </a:cubicBezTo>
                  <a:cubicBezTo>
                    <a:pt x="319456" y="333691"/>
                    <a:pt x="319648" y="333596"/>
                    <a:pt x="319743" y="333596"/>
                  </a:cubicBezTo>
                  <a:cubicBezTo>
                    <a:pt x="320221" y="333405"/>
                    <a:pt x="320603" y="333310"/>
                    <a:pt x="321081" y="333214"/>
                  </a:cubicBezTo>
                  <a:cubicBezTo>
                    <a:pt x="321081" y="333214"/>
                    <a:pt x="321177" y="333214"/>
                    <a:pt x="321272" y="333214"/>
                  </a:cubicBezTo>
                  <a:cubicBezTo>
                    <a:pt x="321463" y="333119"/>
                    <a:pt x="321654" y="333119"/>
                    <a:pt x="321846" y="333119"/>
                  </a:cubicBezTo>
                  <a:cubicBezTo>
                    <a:pt x="322706" y="332928"/>
                    <a:pt x="323566" y="332928"/>
                    <a:pt x="324426" y="332928"/>
                  </a:cubicBezTo>
                  <a:cubicBezTo>
                    <a:pt x="332836" y="332928"/>
                    <a:pt x="339813" y="339510"/>
                    <a:pt x="340195" y="347905"/>
                  </a:cubicBezTo>
                  <a:lnTo>
                    <a:pt x="340195" y="380912"/>
                  </a:lnTo>
                  <a:cubicBezTo>
                    <a:pt x="340004" y="389498"/>
                    <a:pt x="333027" y="396366"/>
                    <a:pt x="324426" y="396366"/>
                  </a:cubicBezTo>
                  <a:cubicBezTo>
                    <a:pt x="320794" y="396366"/>
                    <a:pt x="317545" y="395126"/>
                    <a:pt x="314869" y="393123"/>
                  </a:cubicBezTo>
                  <a:cubicBezTo>
                    <a:pt x="305885" y="387208"/>
                    <a:pt x="299864" y="374997"/>
                    <a:pt x="294417" y="374807"/>
                  </a:cubicBezTo>
                  <a:lnTo>
                    <a:pt x="278839" y="374902"/>
                  </a:lnTo>
                  <a:lnTo>
                    <a:pt x="263261" y="374807"/>
                  </a:lnTo>
                  <a:cubicBezTo>
                    <a:pt x="257813" y="374997"/>
                    <a:pt x="251792" y="387208"/>
                    <a:pt x="242809" y="393123"/>
                  </a:cubicBezTo>
                  <a:cubicBezTo>
                    <a:pt x="240228" y="395126"/>
                    <a:pt x="236883" y="396366"/>
                    <a:pt x="233347" y="396366"/>
                  </a:cubicBezTo>
                  <a:cubicBezTo>
                    <a:pt x="224746" y="396366"/>
                    <a:pt x="217769" y="389498"/>
                    <a:pt x="217482" y="380912"/>
                  </a:cubicBezTo>
                  <a:lnTo>
                    <a:pt x="217482" y="347905"/>
                  </a:lnTo>
                  <a:cubicBezTo>
                    <a:pt x="217960" y="339510"/>
                    <a:pt x="224841" y="332928"/>
                    <a:pt x="233347" y="332928"/>
                  </a:cubicBezTo>
                  <a:close/>
                  <a:moveTo>
                    <a:pt x="277214" y="0"/>
                  </a:moveTo>
                  <a:cubicBezTo>
                    <a:pt x="277596" y="0"/>
                    <a:pt x="278074" y="0"/>
                    <a:pt x="278552" y="0"/>
                  </a:cubicBezTo>
                  <a:cubicBezTo>
                    <a:pt x="278648" y="0"/>
                    <a:pt x="278648" y="0"/>
                    <a:pt x="278744" y="0"/>
                  </a:cubicBezTo>
                  <a:cubicBezTo>
                    <a:pt x="278744" y="0"/>
                    <a:pt x="278839" y="0"/>
                    <a:pt x="278839" y="0"/>
                  </a:cubicBezTo>
                  <a:cubicBezTo>
                    <a:pt x="278935" y="0"/>
                    <a:pt x="278935" y="0"/>
                    <a:pt x="278935" y="0"/>
                  </a:cubicBezTo>
                  <a:cubicBezTo>
                    <a:pt x="279030" y="0"/>
                    <a:pt x="279126" y="0"/>
                    <a:pt x="279222" y="0"/>
                  </a:cubicBezTo>
                  <a:cubicBezTo>
                    <a:pt x="279604" y="0"/>
                    <a:pt x="280082" y="0"/>
                    <a:pt x="280560" y="0"/>
                  </a:cubicBezTo>
                  <a:cubicBezTo>
                    <a:pt x="387453" y="0"/>
                    <a:pt x="407531" y="76166"/>
                    <a:pt x="404758" y="105659"/>
                  </a:cubicBezTo>
                  <a:cubicBezTo>
                    <a:pt x="402464" y="129330"/>
                    <a:pt x="396727" y="160159"/>
                    <a:pt x="396727" y="160159"/>
                  </a:cubicBezTo>
                  <a:cubicBezTo>
                    <a:pt x="396727" y="160159"/>
                    <a:pt x="408009" y="165313"/>
                    <a:pt x="408009" y="186120"/>
                  </a:cubicBezTo>
                  <a:cubicBezTo>
                    <a:pt x="404089" y="238234"/>
                    <a:pt x="383246" y="215708"/>
                    <a:pt x="379039" y="238616"/>
                  </a:cubicBezTo>
                  <a:cubicBezTo>
                    <a:pt x="371868" y="276603"/>
                    <a:pt x="338213" y="304092"/>
                    <a:pt x="317179" y="313541"/>
                  </a:cubicBezTo>
                  <a:cubicBezTo>
                    <a:pt x="304941" y="319077"/>
                    <a:pt x="292225" y="321845"/>
                    <a:pt x="278935" y="322131"/>
                  </a:cubicBezTo>
                  <a:cubicBezTo>
                    <a:pt x="278935" y="322131"/>
                    <a:pt x="278935" y="322131"/>
                    <a:pt x="278839" y="322131"/>
                  </a:cubicBezTo>
                  <a:cubicBezTo>
                    <a:pt x="278839" y="322131"/>
                    <a:pt x="278744" y="322131"/>
                    <a:pt x="278744" y="322131"/>
                  </a:cubicBezTo>
                  <a:cubicBezTo>
                    <a:pt x="265454" y="321845"/>
                    <a:pt x="252738" y="319077"/>
                    <a:pt x="240499" y="313541"/>
                  </a:cubicBezTo>
                  <a:cubicBezTo>
                    <a:pt x="219561" y="304092"/>
                    <a:pt x="185810" y="276603"/>
                    <a:pt x="178734" y="238616"/>
                  </a:cubicBezTo>
                  <a:cubicBezTo>
                    <a:pt x="174432" y="215708"/>
                    <a:pt x="153684" y="238234"/>
                    <a:pt x="149669" y="186120"/>
                  </a:cubicBezTo>
                  <a:cubicBezTo>
                    <a:pt x="149669" y="165313"/>
                    <a:pt x="161046" y="160159"/>
                    <a:pt x="161046" y="160159"/>
                  </a:cubicBezTo>
                  <a:cubicBezTo>
                    <a:pt x="161046" y="160159"/>
                    <a:pt x="155214" y="129330"/>
                    <a:pt x="153015" y="105659"/>
                  </a:cubicBezTo>
                  <a:cubicBezTo>
                    <a:pt x="150147" y="76166"/>
                    <a:pt x="170225" y="0"/>
                    <a:pt x="27721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文本框 7"/>
            <p:cNvSpPr txBox="1"/>
            <p:nvPr/>
          </p:nvSpPr>
          <p:spPr>
            <a:xfrm>
              <a:off x="2336261" y="5268230"/>
              <a:ext cx="712961" cy="311238"/>
            </a:xfrm>
            <a:prstGeom prst="rect">
              <a:avLst/>
            </a:prstGeom>
            <a:noFill/>
          </p:spPr>
          <p:txBody>
            <a:bodyPr wrap="square" rtlCol="0" anchor="ctr">
              <a:spAutoFit/>
            </a:bodyPr>
            <a:lstStyle/>
            <a:p>
              <a:pPr algn="ctr"/>
              <a:r>
                <a:rPr lang="zh-CN" altLang="en-US" sz="800" dirty="0">
                  <a:latin typeface="+mn-ea"/>
                </a:rPr>
                <a:t>海外投资者</a:t>
              </a:r>
              <a:endParaRPr lang="en-US" altLang="zh-CN" sz="800" dirty="0">
                <a:latin typeface="+mn-ea"/>
              </a:endParaRPr>
            </a:p>
            <a:p>
              <a:pPr algn="ctr"/>
              <a:r>
                <a:rPr lang="zh-CN" altLang="en-US" sz="800" dirty="0">
                  <a:latin typeface="+mn-ea"/>
                </a:rPr>
                <a:t>林先生（快车）</a:t>
              </a:r>
            </a:p>
          </p:txBody>
        </p:sp>
      </p:grpSp>
      <p:grpSp>
        <p:nvGrpSpPr>
          <p:cNvPr id="109" name="组合 108"/>
          <p:cNvGrpSpPr/>
          <p:nvPr/>
        </p:nvGrpSpPr>
        <p:grpSpPr>
          <a:xfrm>
            <a:off x="3590008" y="1820983"/>
            <a:ext cx="849130" cy="638962"/>
            <a:chOff x="2802937" y="2046687"/>
            <a:chExt cx="849130" cy="638962"/>
          </a:xfrm>
        </p:grpSpPr>
        <p:sp>
          <p:nvSpPr>
            <p:cNvPr id="27" name="文本框 26"/>
            <p:cNvSpPr txBox="1"/>
            <p:nvPr/>
          </p:nvSpPr>
          <p:spPr>
            <a:xfrm>
              <a:off x="2802937" y="2347095"/>
              <a:ext cx="849130" cy="338554"/>
            </a:xfrm>
            <a:prstGeom prst="rect">
              <a:avLst/>
            </a:prstGeom>
            <a:noFill/>
          </p:spPr>
          <p:txBody>
            <a:bodyPr wrap="square" rtlCol="0" anchor="ctr">
              <a:spAutoFit/>
            </a:bodyPr>
            <a:lstStyle/>
            <a:p>
              <a:pPr algn="ctr"/>
              <a:r>
                <a:rPr lang="zh-CN" altLang="en-US" sz="800" dirty="0">
                  <a:latin typeface="+mn-ea"/>
                </a:rPr>
                <a:t>保险业务员施女士（专车）</a:t>
              </a:r>
            </a:p>
          </p:txBody>
        </p:sp>
        <p:pic>
          <p:nvPicPr>
            <p:cNvPr id="104" name="图片 10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26254" y="2046687"/>
              <a:ext cx="332956" cy="332956"/>
            </a:xfrm>
            <a:prstGeom prst="rect">
              <a:avLst/>
            </a:prstGeom>
          </p:spPr>
        </p:pic>
      </p:grpSp>
      <p:grpSp>
        <p:nvGrpSpPr>
          <p:cNvPr id="108" name="组合 107"/>
          <p:cNvGrpSpPr/>
          <p:nvPr/>
        </p:nvGrpSpPr>
        <p:grpSpPr>
          <a:xfrm>
            <a:off x="1548793" y="2514907"/>
            <a:ext cx="849130" cy="659108"/>
            <a:chOff x="1253643" y="2596532"/>
            <a:chExt cx="918935" cy="724547"/>
          </a:xfrm>
        </p:grpSpPr>
        <p:sp>
          <p:nvSpPr>
            <p:cNvPr id="35" name="文本框 34"/>
            <p:cNvSpPr txBox="1"/>
            <p:nvPr/>
          </p:nvSpPr>
          <p:spPr>
            <a:xfrm>
              <a:off x="1253643" y="2948915"/>
              <a:ext cx="918935" cy="372164"/>
            </a:xfrm>
            <a:prstGeom prst="rect">
              <a:avLst/>
            </a:prstGeom>
            <a:noFill/>
          </p:spPr>
          <p:txBody>
            <a:bodyPr wrap="square" rtlCol="0" anchor="ctr">
              <a:spAutoFit/>
            </a:bodyPr>
            <a:lstStyle/>
            <a:p>
              <a:pPr algn="ctr"/>
              <a:r>
                <a:rPr lang="zh-CN" altLang="en-US" sz="800" dirty="0">
                  <a:latin typeface="+mn-ea"/>
                </a:rPr>
                <a:t>老师王女士（专车）</a:t>
              </a:r>
            </a:p>
          </p:txBody>
        </p:sp>
        <p:pic>
          <p:nvPicPr>
            <p:cNvPr id="105" name="图片 10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36154" y="2596532"/>
              <a:ext cx="365440" cy="365440"/>
            </a:xfrm>
            <a:prstGeom prst="rect">
              <a:avLst/>
            </a:prstGeom>
          </p:spPr>
        </p:pic>
      </p:grpSp>
      <p:pic>
        <p:nvPicPr>
          <p:cNvPr id="107" name="图片 10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974665" y="3071472"/>
            <a:ext cx="344583" cy="344583"/>
          </a:xfrm>
          <a:prstGeom prst="rect">
            <a:avLst/>
          </a:prstGeom>
        </p:spPr>
      </p:pic>
      <p:grpSp>
        <p:nvGrpSpPr>
          <p:cNvPr id="3" name="组合 2"/>
          <p:cNvGrpSpPr/>
          <p:nvPr/>
        </p:nvGrpSpPr>
        <p:grpSpPr>
          <a:xfrm>
            <a:off x="8140704" y="3457298"/>
            <a:ext cx="792618" cy="651138"/>
            <a:chOff x="7905175" y="3418178"/>
            <a:chExt cx="792618" cy="651138"/>
          </a:xfrm>
        </p:grpSpPr>
        <p:sp>
          <p:nvSpPr>
            <p:cNvPr id="112" name="businessman-presenter_46787"/>
            <p:cNvSpPr/>
            <p:nvPr/>
          </p:nvSpPr>
          <p:spPr>
            <a:xfrm>
              <a:off x="8121871" y="3418178"/>
              <a:ext cx="311791" cy="434974"/>
            </a:xfrm>
            <a:custGeom>
              <a:avLst/>
              <a:gdLst>
                <a:gd name="T0" fmla="*/ 3466 w 3883"/>
                <a:gd name="T1" fmla="*/ 3672 h 6573"/>
                <a:gd name="T2" fmla="*/ 417 w 3883"/>
                <a:gd name="T3" fmla="*/ 3672 h 6573"/>
                <a:gd name="T4" fmla="*/ 55 w 3883"/>
                <a:gd name="T5" fmla="*/ 3339 h 6573"/>
                <a:gd name="T6" fmla="*/ 9 w 3883"/>
                <a:gd name="T7" fmla="*/ 2780 h 6573"/>
                <a:gd name="T8" fmla="*/ 189 w 3883"/>
                <a:gd name="T9" fmla="*/ 2584 h 6573"/>
                <a:gd name="T10" fmla="*/ 3694 w 3883"/>
                <a:gd name="T11" fmla="*/ 2584 h 6573"/>
                <a:gd name="T12" fmla="*/ 3875 w 3883"/>
                <a:gd name="T13" fmla="*/ 2780 h 6573"/>
                <a:gd name="T14" fmla="*/ 3828 w 3883"/>
                <a:gd name="T15" fmla="*/ 3339 h 6573"/>
                <a:gd name="T16" fmla="*/ 3466 w 3883"/>
                <a:gd name="T17" fmla="*/ 3672 h 6573"/>
                <a:gd name="T18" fmla="*/ 3438 w 3883"/>
                <a:gd name="T19" fmla="*/ 3853 h 6573"/>
                <a:gd name="T20" fmla="*/ 446 w 3883"/>
                <a:gd name="T21" fmla="*/ 3853 h 6573"/>
                <a:gd name="T22" fmla="*/ 808 w 3883"/>
                <a:gd name="T23" fmla="*/ 6573 h 6573"/>
                <a:gd name="T24" fmla="*/ 3075 w 3883"/>
                <a:gd name="T25" fmla="*/ 6573 h 6573"/>
                <a:gd name="T26" fmla="*/ 3438 w 3883"/>
                <a:gd name="T27" fmla="*/ 3853 h 6573"/>
                <a:gd name="T28" fmla="*/ 1957 w 3883"/>
                <a:gd name="T29" fmla="*/ 1223 h 6573"/>
                <a:gd name="T30" fmla="*/ 2569 w 3883"/>
                <a:gd name="T31" fmla="*/ 611 h 6573"/>
                <a:gd name="T32" fmla="*/ 1957 w 3883"/>
                <a:gd name="T33" fmla="*/ 0 h 6573"/>
                <a:gd name="T34" fmla="*/ 1346 w 3883"/>
                <a:gd name="T35" fmla="*/ 611 h 6573"/>
                <a:gd name="T36" fmla="*/ 1957 w 3883"/>
                <a:gd name="T37" fmla="*/ 1223 h 6573"/>
                <a:gd name="T38" fmla="*/ 3347 w 3883"/>
                <a:gd name="T39" fmla="*/ 2403 h 6573"/>
                <a:gd name="T40" fmla="*/ 3213 w 3883"/>
                <a:gd name="T41" fmla="*/ 1805 h 6573"/>
                <a:gd name="T42" fmla="*/ 2901 w 3883"/>
                <a:gd name="T43" fmla="*/ 1515 h 6573"/>
                <a:gd name="T44" fmla="*/ 2357 w 3883"/>
                <a:gd name="T45" fmla="*/ 1435 h 6573"/>
                <a:gd name="T46" fmla="*/ 2088 w 3883"/>
                <a:gd name="T47" fmla="*/ 2052 h 6573"/>
                <a:gd name="T48" fmla="*/ 2053 w 3883"/>
                <a:gd name="T49" fmla="*/ 1748 h 6573"/>
                <a:gd name="T50" fmla="*/ 2034 w 3883"/>
                <a:gd name="T51" fmla="*/ 1731 h 6573"/>
                <a:gd name="T52" fmla="*/ 1880 w 3883"/>
                <a:gd name="T53" fmla="*/ 1731 h 6573"/>
                <a:gd name="T54" fmla="*/ 1862 w 3883"/>
                <a:gd name="T55" fmla="*/ 1748 h 6573"/>
                <a:gd name="T56" fmla="*/ 1830 w 3883"/>
                <a:gd name="T57" fmla="*/ 2060 h 6573"/>
                <a:gd name="T58" fmla="*/ 1557 w 3883"/>
                <a:gd name="T59" fmla="*/ 1435 h 6573"/>
                <a:gd name="T60" fmla="*/ 1014 w 3883"/>
                <a:gd name="T61" fmla="*/ 1515 h 6573"/>
                <a:gd name="T62" fmla="*/ 701 w 3883"/>
                <a:gd name="T63" fmla="*/ 1805 h 6573"/>
                <a:gd name="T64" fmla="*/ 567 w 3883"/>
                <a:gd name="T65" fmla="*/ 2403 h 6573"/>
                <a:gd name="T66" fmla="*/ 3347 w 3883"/>
                <a:gd name="T67" fmla="*/ 2403 h 6573"/>
                <a:gd name="T68" fmla="*/ 1769 w 3883"/>
                <a:gd name="T69" fmla="*/ 1458 h 6573"/>
                <a:gd name="T70" fmla="*/ 1844 w 3883"/>
                <a:gd name="T71" fmla="*/ 1618 h 6573"/>
                <a:gd name="T72" fmla="*/ 1957 w 3883"/>
                <a:gd name="T73" fmla="*/ 1646 h 6573"/>
                <a:gd name="T74" fmla="*/ 2070 w 3883"/>
                <a:gd name="T75" fmla="*/ 1618 h 6573"/>
                <a:gd name="T76" fmla="*/ 2145 w 3883"/>
                <a:gd name="T77" fmla="*/ 1458 h 6573"/>
                <a:gd name="T78" fmla="*/ 1957 w 3883"/>
                <a:gd name="T79" fmla="*/ 1383 h 6573"/>
                <a:gd name="T80" fmla="*/ 1769 w 3883"/>
                <a:gd name="T81" fmla="*/ 1458 h 6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883" h="6573">
                  <a:moveTo>
                    <a:pt x="3466" y="3672"/>
                  </a:moveTo>
                  <a:lnTo>
                    <a:pt x="417" y="3672"/>
                  </a:lnTo>
                  <a:cubicBezTo>
                    <a:pt x="228" y="3672"/>
                    <a:pt x="71" y="3527"/>
                    <a:pt x="55" y="3339"/>
                  </a:cubicBezTo>
                  <a:lnTo>
                    <a:pt x="9" y="2780"/>
                  </a:lnTo>
                  <a:cubicBezTo>
                    <a:pt x="0" y="2675"/>
                    <a:pt x="83" y="2584"/>
                    <a:pt x="189" y="2584"/>
                  </a:cubicBezTo>
                  <a:lnTo>
                    <a:pt x="3694" y="2584"/>
                  </a:lnTo>
                  <a:cubicBezTo>
                    <a:pt x="3800" y="2584"/>
                    <a:pt x="3883" y="2675"/>
                    <a:pt x="3875" y="2780"/>
                  </a:cubicBezTo>
                  <a:lnTo>
                    <a:pt x="3828" y="3339"/>
                  </a:lnTo>
                  <a:cubicBezTo>
                    <a:pt x="3812" y="3527"/>
                    <a:pt x="3655" y="3672"/>
                    <a:pt x="3466" y="3672"/>
                  </a:cubicBezTo>
                  <a:close/>
                  <a:moveTo>
                    <a:pt x="3438" y="3853"/>
                  </a:moveTo>
                  <a:lnTo>
                    <a:pt x="446" y="3853"/>
                  </a:lnTo>
                  <a:lnTo>
                    <a:pt x="808" y="6573"/>
                  </a:lnTo>
                  <a:lnTo>
                    <a:pt x="3075" y="6573"/>
                  </a:lnTo>
                  <a:lnTo>
                    <a:pt x="3438" y="3853"/>
                  </a:lnTo>
                  <a:close/>
                  <a:moveTo>
                    <a:pt x="1957" y="1223"/>
                  </a:moveTo>
                  <a:cubicBezTo>
                    <a:pt x="2295" y="1223"/>
                    <a:pt x="2569" y="949"/>
                    <a:pt x="2569" y="611"/>
                  </a:cubicBezTo>
                  <a:cubicBezTo>
                    <a:pt x="2569" y="274"/>
                    <a:pt x="2295" y="0"/>
                    <a:pt x="1957" y="0"/>
                  </a:cubicBezTo>
                  <a:cubicBezTo>
                    <a:pt x="1619" y="0"/>
                    <a:pt x="1346" y="274"/>
                    <a:pt x="1346" y="611"/>
                  </a:cubicBezTo>
                  <a:cubicBezTo>
                    <a:pt x="1346" y="949"/>
                    <a:pt x="1619" y="1223"/>
                    <a:pt x="1957" y="1223"/>
                  </a:cubicBezTo>
                  <a:close/>
                  <a:moveTo>
                    <a:pt x="3347" y="2403"/>
                  </a:moveTo>
                  <a:lnTo>
                    <a:pt x="3213" y="1805"/>
                  </a:lnTo>
                  <a:cubicBezTo>
                    <a:pt x="3179" y="1653"/>
                    <a:pt x="3055" y="1537"/>
                    <a:pt x="2901" y="1515"/>
                  </a:cubicBezTo>
                  <a:lnTo>
                    <a:pt x="2357" y="1435"/>
                  </a:lnTo>
                  <a:lnTo>
                    <a:pt x="2088" y="2052"/>
                  </a:lnTo>
                  <a:lnTo>
                    <a:pt x="2053" y="1748"/>
                  </a:lnTo>
                  <a:cubicBezTo>
                    <a:pt x="2052" y="1738"/>
                    <a:pt x="2044" y="1731"/>
                    <a:pt x="2034" y="1731"/>
                  </a:cubicBezTo>
                  <a:lnTo>
                    <a:pt x="1880" y="1731"/>
                  </a:lnTo>
                  <a:cubicBezTo>
                    <a:pt x="1870" y="1731"/>
                    <a:pt x="1862" y="1738"/>
                    <a:pt x="1862" y="1748"/>
                  </a:cubicBezTo>
                  <a:lnTo>
                    <a:pt x="1830" y="2060"/>
                  </a:lnTo>
                  <a:lnTo>
                    <a:pt x="1557" y="1435"/>
                  </a:lnTo>
                  <a:lnTo>
                    <a:pt x="1014" y="1515"/>
                  </a:lnTo>
                  <a:cubicBezTo>
                    <a:pt x="859" y="1537"/>
                    <a:pt x="735" y="1653"/>
                    <a:pt x="701" y="1805"/>
                  </a:cubicBezTo>
                  <a:lnTo>
                    <a:pt x="567" y="2403"/>
                  </a:lnTo>
                  <a:lnTo>
                    <a:pt x="3347" y="2403"/>
                  </a:lnTo>
                  <a:close/>
                  <a:moveTo>
                    <a:pt x="1769" y="1458"/>
                  </a:moveTo>
                  <a:cubicBezTo>
                    <a:pt x="1769" y="1515"/>
                    <a:pt x="1816" y="1590"/>
                    <a:pt x="1844" y="1618"/>
                  </a:cubicBezTo>
                  <a:cubicBezTo>
                    <a:pt x="1872" y="1646"/>
                    <a:pt x="1919" y="1646"/>
                    <a:pt x="1957" y="1646"/>
                  </a:cubicBezTo>
                  <a:cubicBezTo>
                    <a:pt x="1995" y="1646"/>
                    <a:pt x="2042" y="1646"/>
                    <a:pt x="2070" y="1618"/>
                  </a:cubicBezTo>
                  <a:cubicBezTo>
                    <a:pt x="2098" y="1590"/>
                    <a:pt x="2145" y="1515"/>
                    <a:pt x="2145" y="1458"/>
                  </a:cubicBezTo>
                  <a:cubicBezTo>
                    <a:pt x="2145" y="1392"/>
                    <a:pt x="2030" y="1383"/>
                    <a:pt x="1957" y="1383"/>
                  </a:cubicBezTo>
                  <a:cubicBezTo>
                    <a:pt x="1884" y="1383"/>
                    <a:pt x="1769" y="1392"/>
                    <a:pt x="1769" y="1458"/>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文本框 112"/>
            <p:cNvSpPr txBox="1"/>
            <p:nvPr/>
          </p:nvSpPr>
          <p:spPr>
            <a:xfrm>
              <a:off x="7905175" y="3853872"/>
              <a:ext cx="792618" cy="215444"/>
            </a:xfrm>
            <a:prstGeom prst="rect">
              <a:avLst/>
            </a:prstGeom>
            <a:noFill/>
          </p:spPr>
          <p:txBody>
            <a:bodyPr wrap="square" rtlCol="0">
              <a:spAutoFit/>
            </a:bodyPr>
            <a:lstStyle/>
            <a:p>
              <a:pPr algn="ctr"/>
              <a:r>
                <a:rPr lang="zh-CN" altLang="en-US" sz="800" dirty="0">
                  <a:latin typeface="+mn-ea"/>
                </a:rPr>
                <a:t>主持人</a:t>
              </a:r>
            </a:p>
          </p:txBody>
        </p:sp>
      </p:grpSp>
      <p:grpSp>
        <p:nvGrpSpPr>
          <p:cNvPr id="114" name="组合 113"/>
          <p:cNvGrpSpPr/>
          <p:nvPr/>
        </p:nvGrpSpPr>
        <p:grpSpPr>
          <a:xfrm>
            <a:off x="6998911" y="3085241"/>
            <a:ext cx="849130" cy="636300"/>
            <a:chOff x="1266169" y="2596532"/>
            <a:chExt cx="918935" cy="699471"/>
          </a:xfrm>
        </p:grpSpPr>
        <p:sp>
          <p:nvSpPr>
            <p:cNvPr id="115" name="文本框 114"/>
            <p:cNvSpPr txBox="1"/>
            <p:nvPr/>
          </p:nvSpPr>
          <p:spPr>
            <a:xfrm>
              <a:off x="1266169" y="2923838"/>
              <a:ext cx="918935" cy="372165"/>
            </a:xfrm>
            <a:prstGeom prst="rect">
              <a:avLst/>
            </a:prstGeom>
            <a:noFill/>
          </p:spPr>
          <p:txBody>
            <a:bodyPr wrap="square" rtlCol="0" anchor="ctr">
              <a:spAutoFit/>
            </a:bodyPr>
            <a:lstStyle/>
            <a:p>
              <a:pPr algn="ctr"/>
              <a:r>
                <a:rPr lang="zh-CN" altLang="en-US" sz="800" dirty="0">
                  <a:latin typeface="+mn-ea"/>
                </a:rPr>
                <a:t>专车司机</a:t>
              </a:r>
              <a:endParaRPr lang="en-US" altLang="zh-CN" sz="800" dirty="0">
                <a:latin typeface="+mn-ea"/>
              </a:endParaRPr>
            </a:p>
            <a:p>
              <a:pPr algn="ctr"/>
              <a:r>
                <a:rPr lang="zh-CN" altLang="en-US" sz="800" dirty="0">
                  <a:latin typeface="+mn-ea"/>
                </a:rPr>
                <a:t>黄女士</a:t>
              </a:r>
            </a:p>
          </p:txBody>
        </p:sp>
        <p:pic>
          <p:nvPicPr>
            <p:cNvPr id="116" name="图片 1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36154" y="2596532"/>
              <a:ext cx="365440" cy="365440"/>
            </a:xfrm>
            <a:prstGeom prst="rect">
              <a:avLst/>
            </a:prstGeom>
          </p:spPr>
        </p:pic>
      </p:grpSp>
      <p:grpSp>
        <p:nvGrpSpPr>
          <p:cNvPr id="117" name="组合 116"/>
          <p:cNvGrpSpPr/>
          <p:nvPr/>
        </p:nvGrpSpPr>
        <p:grpSpPr>
          <a:xfrm>
            <a:off x="6934822" y="2309302"/>
            <a:ext cx="849130" cy="624726"/>
            <a:chOff x="1272432" y="2596532"/>
            <a:chExt cx="918935" cy="686748"/>
          </a:xfrm>
        </p:grpSpPr>
        <p:sp>
          <p:nvSpPr>
            <p:cNvPr id="118" name="文本框 117"/>
            <p:cNvSpPr txBox="1"/>
            <p:nvPr/>
          </p:nvSpPr>
          <p:spPr>
            <a:xfrm>
              <a:off x="1272432" y="2911115"/>
              <a:ext cx="918935" cy="372165"/>
            </a:xfrm>
            <a:prstGeom prst="rect">
              <a:avLst/>
            </a:prstGeom>
            <a:noFill/>
          </p:spPr>
          <p:txBody>
            <a:bodyPr wrap="square" rtlCol="0" anchor="ctr">
              <a:spAutoFit/>
            </a:bodyPr>
            <a:lstStyle/>
            <a:p>
              <a:pPr algn="ctr"/>
              <a:r>
                <a:rPr lang="zh-CN" altLang="en-US" sz="800" dirty="0">
                  <a:latin typeface="+mn-ea"/>
                </a:rPr>
                <a:t>快车司机</a:t>
              </a:r>
              <a:endParaRPr lang="en-US" altLang="zh-CN" sz="800" dirty="0">
                <a:latin typeface="+mn-ea"/>
              </a:endParaRPr>
            </a:p>
            <a:p>
              <a:pPr algn="ctr"/>
              <a:r>
                <a:rPr lang="zh-CN" altLang="en-US" sz="800" dirty="0">
                  <a:latin typeface="+mn-ea"/>
                </a:rPr>
                <a:t>戴女士</a:t>
              </a:r>
            </a:p>
          </p:txBody>
        </p:sp>
        <p:pic>
          <p:nvPicPr>
            <p:cNvPr id="119" name="图片 1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36154" y="2596532"/>
              <a:ext cx="365440" cy="365440"/>
            </a:xfrm>
            <a:prstGeom prst="rect">
              <a:avLst/>
            </a:prstGeom>
          </p:spPr>
        </p:pic>
      </p:grpSp>
      <p:grpSp>
        <p:nvGrpSpPr>
          <p:cNvPr id="120" name="组合 119"/>
          <p:cNvGrpSpPr/>
          <p:nvPr/>
        </p:nvGrpSpPr>
        <p:grpSpPr>
          <a:xfrm>
            <a:off x="8133238" y="1712947"/>
            <a:ext cx="772287" cy="633834"/>
            <a:chOff x="2307107" y="4996776"/>
            <a:chExt cx="648441" cy="582692"/>
          </a:xfrm>
        </p:grpSpPr>
        <p:sp>
          <p:nvSpPr>
            <p:cNvPr id="121" name="man-with-bow_56788"/>
            <p:cNvSpPr/>
            <p:nvPr/>
          </p:nvSpPr>
          <p:spPr>
            <a:xfrm>
              <a:off x="2462876" y="4996776"/>
              <a:ext cx="279562" cy="283309"/>
            </a:xfrm>
            <a:custGeom>
              <a:avLst/>
              <a:gdLst>
                <a:gd name="connsiteX0" fmla="*/ 188888 w 557678"/>
                <a:gd name="connsiteY0" fmla="*/ 367011 h 607780"/>
                <a:gd name="connsiteX1" fmla="*/ 199785 w 557678"/>
                <a:gd name="connsiteY1" fmla="*/ 373977 h 607780"/>
                <a:gd name="connsiteX2" fmla="*/ 278839 w 557678"/>
                <a:gd name="connsiteY2" fmla="*/ 490974 h 607780"/>
                <a:gd name="connsiteX3" fmla="*/ 357893 w 557678"/>
                <a:gd name="connsiteY3" fmla="*/ 373977 h 607780"/>
                <a:gd name="connsiteX4" fmla="*/ 368886 w 557678"/>
                <a:gd name="connsiteY4" fmla="*/ 367011 h 607780"/>
                <a:gd name="connsiteX5" fmla="*/ 374908 w 557678"/>
                <a:gd name="connsiteY5" fmla="*/ 368729 h 607780"/>
                <a:gd name="connsiteX6" fmla="*/ 557678 w 557678"/>
                <a:gd name="connsiteY6" fmla="*/ 480572 h 607780"/>
                <a:gd name="connsiteX7" fmla="*/ 557678 w 557678"/>
                <a:gd name="connsiteY7" fmla="*/ 607780 h 607780"/>
                <a:gd name="connsiteX8" fmla="*/ 278839 w 557678"/>
                <a:gd name="connsiteY8" fmla="*/ 607780 h 607780"/>
                <a:gd name="connsiteX9" fmla="*/ 0 w 557678"/>
                <a:gd name="connsiteY9" fmla="*/ 607780 h 607780"/>
                <a:gd name="connsiteX10" fmla="*/ 0 w 557678"/>
                <a:gd name="connsiteY10" fmla="*/ 480572 h 607780"/>
                <a:gd name="connsiteX11" fmla="*/ 182770 w 557678"/>
                <a:gd name="connsiteY11" fmla="*/ 368729 h 607780"/>
                <a:gd name="connsiteX12" fmla="*/ 188888 w 557678"/>
                <a:gd name="connsiteY12" fmla="*/ 367011 h 607780"/>
                <a:gd name="connsiteX13" fmla="*/ 233347 w 557678"/>
                <a:gd name="connsiteY13" fmla="*/ 332928 h 607780"/>
                <a:gd name="connsiteX14" fmla="*/ 235832 w 557678"/>
                <a:gd name="connsiteY14" fmla="*/ 333119 h 607780"/>
                <a:gd name="connsiteX15" fmla="*/ 236501 w 557678"/>
                <a:gd name="connsiteY15" fmla="*/ 333214 h 607780"/>
                <a:gd name="connsiteX16" fmla="*/ 236692 w 557678"/>
                <a:gd name="connsiteY16" fmla="*/ 333214 h 607780"/>
                <a:gd name="connsiteX17" fmla="*/ 237934 w 557678"/>
                <a:gd name="connsiteY17" fmla="*/ 333596 h 607780"/>
                <a:gd name="connsiteX18" fmla="*/ 238508 w 557678"/>
                <a:gd name="connsiteY18" fmla="*/ 333787 h 607780"/>
                <a:gd name="connsiteX19" fmla="*/ 239177 w 557678"/>
                <a:gd name="connsiteY19" fmla="*/ 333977 h 607780"/>
                <a:gd name="connsiteX20" fmla="*/ 243478 w 557678"/>
                <a:gd name="connsiteY20" fmla="*/ 336553 h 607780"/>
                <a:gd name="connsiteX21" fmla="*/ 264981 w 557678"/>
                <a:gd name="connsiteY21" fmla="*/ 353724 h 607780"/>
                <a:gd name="connsiteX22" fmla="*/ 267657 w 557678"/>
                <a:gd name="connsiteY22" fmla="*/ 353820 h 607780"/>
                <a:gd name="connsiteX23" fmla="*/ 278839 w 557678"/>
                <a:gd name="connsiteY23" fmla="*/ 353724 h 607780"/>
                <a:gd name="connsiteX24" fmla="*/ 290021 w 557678"/>
                <a:gd name="connsiteY24" fmla="*/ 353820 h 607780"/>
                <a:gd name="connsiteX25" fmla="*/ 292792 w 557678"/>
                <a:gd name="connsiteY25" fmla="*/ 353724 h 607780"/>
                <a:gd name="connsiteX26" fmla="*/ 314200 w 557678"/>
                <a:gd name="connsiteY26" fmla="*/ 336553 h 607780"/>
                <a:gd name="connsiteX27" fmla="*/ 318596 w 557678"/>
                <a:gd name="connsiteY27" fmla="*/ 333977 h 607780"/>
                <a:gd name="connsiteX28" fmla="*/ 319265 w 557678"/>
                <a:gd name="connsiteY28" fmla="*/ 333787 h 607780"/>
                <a:gd name="connsiteX29" fmla="*/ 319743 w 557678"/>
                <a:gd name="connsiteY29" fmla="*/ 333596 h 607780"/>
                <a:gd name="connsiteX30" fmla="*/ 321081 w 557678"/>
                <a:gd name="connsiteY30" fmla="*/ 333214 h 607780"/>
                <a:gd name="connsiteX31" fmla="*/ 321272 w 557678"/>
                <a:gd name="connsiteY31" fmla="*/ 333214 h 607780"/>
                <a:gd name="connsiteX32" fmla="*/ 321846 w 557678"/>
                <a:gd name="connsiteY32" fmla="*/ 333119 h 607780"/>
                <a:gd name="connsiteX33" fmla="*/ 324426 w 557678"/>
                <a:gd name="connsiteY33" fmla="*/ 332928 h 607780"/>
                <a:gd name="connsiteX34" fmla="*/ 340195 w 557678"/>
                <a:gd name="connsiteY34" fmla="*/ 347905 h 607780"/>
                <a:gd name="connsiteX35" fmla="*/ 340195 w 557678"/>
                <a:gd name="connsiteY35" fmla="*/ 380912 h 607780"/>
                <a:gd name="connsiteX36" fmla="*/ 324426 w 557678"/>
                <a:gd name="connsiteY36" fmla="*/ 396366 h 607780"/>
                <a:gd name="connsiteX37" fmla="*/ 314869 w 557678"/>
                <a:gd name="connsiteY37" fmla="*/ 393123 h 607780"/>
                <a:gd name="connsiteX38" fmla="*/ 294417 w 557678"/>
                <a:gd name="connsiteY38" fmla="*/ 374807 h 607780"/>
                <a:gd name="connsiteX39" fmla="*/ 278839 w 557678"/>
                <a:gd name="connsiteY39" fmla="*/ 374902 h 607780"/>
                <a:gd name="connsiteX40" fmla="*/ 263261 w 557678"/>
                <a:gd name="connsiteY40" fmla="*/ 374807 h 607780"/>
                <a:gd name="connsiteX41" fmla="*/ 242809 w 557678"/>
                <a:gd name="connsiteY41" fmla="*/ 393123 h 607780"/>
                <a:gd name="connsiteX42" fmla="*/ 233347 w 557678"/>
                <a:gd name="connsiteY42" fmla="*/ 396366 h 607780"/>
                <a:gd name="connsiteX43" fmla="*/ 217482 w 557678"/>
                <a:gd name="connsiteY43" fmla="*/ 380912 h 607780"/>
                <a:gd name="connsiteX44" fmla="*/ 217482 w 557678"/>
                <a:gd name="connsiteY44" fmla="*/ 347905 h 607780"/>
                <a:gd name="connsiteX45" fmla="*/ 233347 w 557678"/>
                <a:gd name="connsiteY45" fmla="*/ 332928 h 607780"/>
                <a:gd name="connsiteX46" fmla="*/ 277214 w 557678"/>
                <a:gd name="connsiteY46" fmla="*/ 0 h 607780"/>
                <a:gd name="connsiteX47" fmla="*/ 278552 w 557678"/>
                <a:gd name="connsiteY47" fmla="*/ 0 h 607780"/>
                <a:gd name="connsiteX48" fmla="*/ 278744 w 557678"/>
                <a:gd name="connsiteY48" fmla="*/ 0 h 607780"/>
                <a:gd name="connsiteX49" fmla="*/ 278839 w 557678"/>
                <a:gd name="connsiteY49" fmla="*/ 0 h 607780"/>
                <a:gd name="connsiteX50" fmla="*/ 278935 w 557678"/>
                <a:gd name="connsiteY50" fmla="*/ 0 h 607780"/>
                <a:gd name="connsiteX51" fmla="*/ 279222 w 557678"/>
                <a:gd name="connsiteY51" fmla="*/ 0 h 607780"/>
                <a:gd name="connsiteX52" fmla="*/ 280560 w 557678"/>
                <a:gd name="connsiteY52" fmla="*/ 0 h 607780"/>
                <a:gd name="connsiteX53" fmla="*/ 404758 w 557678"/>
                <a:gd name="connsiteY53" fmla="*/ 105659 h 607780"/>
                <a:gd name="connsiteX54" fmla="*/ 396727 w 557678"/>
                <a:gd name="connsiteY54" fmla="*/ 160159 h 607780"/>
                <a:gd name="connsiteX55" fmla="*/ 408009 w 557678"/>
                <a:gd name="connsiteY55" fmla="*/ 186120 h 607780"/>
                <a:gd name="connsiteX56" fmla="*/ 379039 w 557678"/>
                <a:gd name="connsiteY56" fmla="*/ 238616 h 607780"/>
                <a:gd name="connsiteX57" fmla="*/ 317179 w 557678"/>
                <a:gd name="connsiteY57" fmla="*/ 313541 h 607780"/>
                <a:gd name="connsiteX58" fmla="*/ 278935 w 557678"/>
                <a:gd name="connsiteY58" fmla="*/ 322131 h 607780"/>
                <a:gd name="connsiteX59" fmla="*/ 278839 w 557678"/>
                <a:gd name="connsiteY59" fmla="*/ 322131 h 607780"/>
                <a:gd name="connsiteX60" fmla="*/ 278744 w 557678"/>
                <a:gd name="connsiteY60" fmla="*/ 322131 h 607780"/>
                <a:gd name="connsiteX61" fmla="*/ 240499 w 557678"/>
                <a:gd name="connsiteY61" fmla="*/ 313541 h 607780"/>
                <a:gd name="connsiteX62" fmla="*/ 178734 w 557678"/>
                <a:gd name="connsiteY62" fmla="*/ 238616 h 607780"/>
                <a:gd name="connsiteX63" fmla="*/ 149669 w 557678"/>
                <a:gd name="connsiteY63" fmla="*/ 186120 h 607780"/>
                <a:gd name="connsiteX64" fmla="*/ 161046 w 557678"/>
                <a:gd name="connsiteY64" fmla="*/ 160159 h 607780"/>
                <a:gd name="connsiteX65" fmla="*/ 153015 w 557678"/>
                <a:gd name="connsiteY65" fmla="*/ 105659 h 607780"/>
                <a:gd name="connsiteX66" fmla="*/ 277214 w 557678"/>
                <a:gd name="connsiteY66" fmla="*/ 0 h 60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557678" h="607780">
                  <a:moveTo>
                    <a:pt x="188888" y="367011"/>
                  </a:moveTo>
                  <a:cubicBezTo>
                    <a:pt x="193667" y="367011"/>
                    <a:pt x="197873" y="369874"/>
                    <a:pt x="199785" y="373977"/>
                  </a:cubicBezTo>
                  <a:cubicBezTo>
                    <a:pt x="218808" y="405851"/>
                    <a:pt x="254177" y="489256"/>
                    <a:pt x="278839" y="490974"/>
                  </a:cubicBezTo>
                  <a:cubicBezTo>
                    <a:pt x="303502" y="489256"/>
                    <a:pt x="338870" y="405851"/>
                    <a:pt x="357893" y="373977"/>
                  </a:cubicBezTo>
                  <a:cubicBezTo>
                    <a:pt x="359900" y="369874"/>
                    <a:pt x="364011" y="367011"/>
                    <a:pt x="368886" y="367011"/>
                  </a:cubicBezTo>
                  <a:cubicBezTo>
                    <a:pt x="371085" y="367011"/>
                    <a:pt x="372996" y="367870"/>
                    <a:pt x="374908" y="368729"/>
                  </a:cubicBezTo>
                  <a:cubicBezTo>
                    <a:pt x="382269" y="371878"/>
                    <a:pt x="557678" y="427132"/>
                    <a:pt x="557678" y="480572"/>
                  </a:cubicBezTo>
                  <a:lnTo>
                    <a:pt x="557678" y="607780"/>
                  </a:lnTo>
                  <a:lnTo>
                    <a:pt x="278839" y="607780"/>
                  </a:lnTo>
                  <a:lnTo>
                    <a:pt x="0" y="607780"/>
                  </a:lnTo>
                  <a:lnTo>
                    <a:pt x="0" y="480572"/>
                  </a:lnTo>
                  <a:cubicBezTo>
                    <a:pt x="0" y="421120"/>
                    <a:pt x="175314" y="371687"/>
                    <a:pt x="182770" y="368729"/>
                  </a:cubicBezTo>
                  <a:cubicBezTo>
                    <a:pt x="184682" y="367870"/>
                    <a:pt x="186593" y="367011"/>
                    <a:pt x="188888" y="367011"/>
                  </a:cubicBezTo>
                  <a:close/>
                  <a:moveTo>
                    <a:pt x="233347" y="332928"/>
                  </a:moveTo>
                  <a:cubicBezTo>
                    <a:pt x="234207" y="332928"/>
                    <a:pt x="235067" y="332928"/>
                    <a:pt x="235832" y="333119"/>
                  </a:cubicBezTo>
                  <a:cubicBezTo>
                    <a:pt x="236023" y="333119"/>
                    <a:pt x="236310" y="333119"/>
                    <a:pt x="236501" y="333214"/>
                  </a:cubicBezTo>
                  <a:cubicBezTo>
                    <a:pt x="236501" y="333214"/>
                    <a:pt x="236596" y="333214"/>
                    <a:pt x="236692" y="333214"/>
                  </a:cubicBezTo>
                  <a:cubicBezTo>
                    <a:pt x="237074" y="333310"/>
                    <a:pt x="237552" y="333405"/>
                    <a:pt x="237934" y="333596"/>
                  </a:cubicBezTo>
                  <a:cubicBezTo>
                    <a:pt x="238126" y="333596"/>
                    <a:pt x="238317" y="333691"/>
                    <a:pt x="238508" y="333787"/>
                  </a:cubicBezTo>
                  <a:cubicBezTo>
                    <a:pt x="238699" y="333787"/>
                    <a:pt x="238890" y="333882"/>
                    <a:pt x="239177" y="333977"/>
                  </a:cubicBezTo>
                  <a:cubicBezTo>
                    <a:pt x="240706" y="334645"/>
                    <a:pt x="242140" y="335504"/>
                    <a:pt x="243478" y="336553"/>
                  </a:cubicBezTo>
                  <a:cubicBezTo>
                    <a:pt x="250836" y="342372"/>
                    <a:pt x="255615" y="353056"/>
                    <a:pt x="264981" y="353724"/>
                  </a:cubicBezTo>
                  <a:cubicBezTo>
                    <a:pt x="265841" y="353820"/>
                    <a:pt x="266797" y="353820"/>
                    <a:pt x="267657" y="353820"/>
                  </a:cubicBezTo>
                  <a:cubicBezTo>
                    <a:pt x="268517" y="353820"/>
                    <a:pt x="274060" y="353724"/>
                    <a:pt x="278839" y="353724"/>
                  </a:cubicBezTo>
                  <a:cubicBezTo>
                    <a:pt x="283617" y="353724"/>
                    <a:pt x="289256" y="353820"/>
                    <a:pt x="290021" y="353820"/>
                  </a:cubicBezTo>
                  <a:cubicBezTo>
                    <a:pt x="290976" y="353820"/>
                    <a:pt x="291836" y="353820"/>
                    <a:pt x="292792" y="353724"/>
                  </a:cubicBezTo>
                  <a:cubicBezTo>
                    <a:pt x="302158" y="353056"/>
                    <a:pt x="306841" y="342372"/>
                    <a:pt x="314200" y="336553"/>
                  </a:cubicBezTo>
                  <a:cubicBezTo>
                    <a:pt x="315538" y="335504"/>
                    <a:pt x="316972" y="334645"/>
                    <a:pt x="318596" y="333977"/>
                  </a:cubicBezTo>
                  <a:cubicBezTo>
                    <a:pt x="318787" y="333882"/>
                    <a:pt x="318979" y="333787"/>
                    <a:pt x="319265" y="333787"/>
                  </a:cubicBezTo>
                  <a:cubicBezTo>
                    <a:pt x="319456" y="333691"/>
                    <a:pt x="319648" y="333596"/>
                    <a:pt x="319743" y="333596"/>
                  </a:cubicBezTo>
                  <a:cubicBezTo>
                    <a:pt x="320221" y="333405"/>
                    <a:pt x="320603" y="333310"/>
                    <a:pt x="321081" y="333214"/>
                  </a:cubicBezTo>
                  <a:cubicBezTo>
                    <a:pt x="321081" y="333214"/>
                    <a:pt x="321177" y="333214"/>
                    <a:pt x="321272" y="333214"/>
                  </a:cubicBezTo>
                  <a:cubicBezTo>
                    <a:pt x="321463" y="333119"/>
                    <a:pt x="321654" y="333119"/>
                    <a:pt x="321846" y="333119"/>
                  </a:cubicBezTo>
                  <a:cubicBezTo>
                    <a:pt x="322706" y="332928"/>
                    <a:pt x="323566" y="332928"/>
                    <a:pt x="324426" y="332928"/>
                  </a:cubicBezTo>
                  <a:cubicBezTo>
                    <a:pt x="332836" y="332928"/>
                    <a:pt x="339813" y="339510"/>
                    <a:pt x="340195" y="347905"/>
                  </a:cubicBezTo>
                  <a:lnTo>
                    <a:pt x="340195" y="380912"/>
                  </a:lnTo>
                  <a:cubicBezTo>
                    <a:pt x="340004" y="389498"/>
                    <a:pt x="333027" y="396366"/>
                    <a:pt x="324426" y="396366"/>
                  </a:cubicBezTo>
                  <a:cubicBezTo>
                    <a:pt x="320794" y="396366"/>
                    <a:pt x="317545" y="395126"/>
                    <a:pt x="314869" y="393123"/>
                  </a:cubicBezTo>
                  <a:cubicBezTo>
                    <a:pt x="305885" y="387208"/>
                    <a:pt x="299864" y="374997"/>
                    <a:pt x="294417" y="374807"/>
                  </a:cubicBezTo>
                  <a:lnTo>
                    <a:pt x="278839" y="374902"/>
                  </a:lnTo>
                  <a:lnTo>
                    <a:pt x="263261" y="374807"/>
                  </a:lnTo>
                  <a:cubicBezTo>
                    <a:pt x="257813" y="374997"/>
                    <a:pt x="251792" y="387208"/>
                    <a:pt x="242809" y="393123"/>
                  </a:cubicBezTo>
                  <a:cubicBezTo>
                    <a:pt x="240228" y="395126"/>
                    <a:pt x="236883" y="396366"/>
                    <a:pt x="233347" y="396366"/>
                  </a:cubicBezTo>
                  <a:cubicBezTo>
                    <a:pt x="224746" y="396366"/>
                    <a:pt x="217769" y="389498"/>
                    <a:pt x="217482" y="380912"/>
                  </a:cubicBezTo>
                  <a:lnTo>
                    <a:pt x="217482" y="347905"/>
                  </a:lnTo>
                  <a:cubicBezTo>
                    <a:pt x="217960" y="339510"/>
                    <a:pt x="224841" y="332928"/>
                    <a:pt x="233347" y="332928"/>
                  </a:cubicBezTo>
                  <a:close/>
                  <a:moveTo>
                    <a:pt x="277214" y="0"/>
                  </a:moveTo>
                  <a:cubicBezTo>
                    <a:pt x="277596" y="0"/>
                    <a:pt x="278074" y="0"/>
                    <a:pt x="278552" y="0"/>
                  </a:cubicBezTo>
                  <a:cubicBezTo>
                    <a:pt x="278648" y="0"/>
                    <a:pt x="278648" y="0"/>
                    <a:pt x="278744" y="0"/>
                  </a:cubicBezTo>
                  <a:cubicBezTo>
                    <a:pt x="278744" y="0"/>
                    <a:pt x="278839" y="0"/>
                    <a:pt x="278839" y="0"/>
                  </a:cubicBezTo>
                  <a:cubicBezTo>
                    <a:pt x="278935" y="0"/>
                    <a:pt x="278935" y="0"/>
                    <a:pt x="278935" y="0"/>
                  </a:cubicBezTo>
                  <a:cubicBezTo>
                    <a:pt x="279030" y="0"/>
                    <a:pt x="279126" y="0"/>
                    <a:pt x="279222" y="0"/>
                  </a:cubicBezTo>
                  <a:cubicBezTo>
                    <a:pt x="279604" y="0"/>
                    <a:pt x="280082" y="0"/>
                    <a:pt x="280560" y="0"/>
                  </a:cubicBezTo>
                  <a:cubicBezTo>
                    <a:pt x="387453" y="0"/>
                    <a:pt x="407531" y="76166"/>
                    <a:pt x="404758" y="105659"/>
                  </a:cubicBezTo>
                  <a:cubicBezTo>
                    <a:pt x="402464" y="129330"/>
                    <a:pt x="396727" y="160159"/>
                    <a:pt x="396727" y="160159"/>
                  </a:cubicBezTo>
                  <a:cubicBezTo>
                    <a:pt x="396727" y="160159"/>
                    <a:pt x="408009" y="165313"/>
                    <a:pt x="408009" y="186120"/>
                  </a:cubicBezTo>
                  <a:cubicBezTo>
                    <a:pt x="404089" y="238234"/>
                    <a:pt x="383246" y="215708"/>
                    <a:pt x="379039" y="238616"/>
                  </a:cubicBezTo>
                  <a:cubicBezTo>
                    <a:pt x="371868" y="276603"/>
                    <a:pt x="338213" y="304092"/>
                    <a:pt x="317179" y="313541"/>
                  </a:cubicBezTo>
                  <a:cubicBezTo>
                    <a:pt x="304941" y="319077"/>
                    <a:pt x="292225" y="321845"/>
                    <a:pt x="278935" y="322131"/>
                  </a:cubicBezTo>
                  <a:cubicBezTo>
                    <a:pt x="278935" y="322131"/>
                    <a:pt x="278935" y="322131"/>
                    <a:pt x="278839" y="322131"/>
                  </a:cubicBezTo>
                  <a:cubicBezTo>
                    <a:pt x="278839" y="322131"/>
                    <a:pt x="278744" y="322131"/>
                    <a:pt x="278744" y="322131"/>
                  </a:cubicBezTo>
                  <a:cubicBezTo>
                    <a:pt x="265454" y="321845"/>
                    <a:pt x="252738" y="319077"/>
                    <a:pt x="240499" y="313541"/>
                  </a:cubicBezTo>
                  <a:cubicBezTo>
                    <a:pt x="219561" y="304092"/>
                    <a:pt x="185810" y="276603"/>
                    <a:pt x="178734" y="238616"/>
                  </a:cubicBezTo>
                  <a:cubicBezTo>
                    <a:pt x="174432" y="215708"/>
                    <a:pt x="153684" y="238234"/>
                    <a:pt x="149669" y="186120"/>
                  </a:cubicBezTo>
                  <a:cubicBezTo>
                    <a:pt x="149669" y="165313"/>
                    <a:pt x="161046" y="160159"/>
                    <a:pt x="161046" y="160159"/>
                  </a:cubicBezTo>
                  <a:cubicBezTo>
                    <a:pt x="161046" y="160159"/>
                    <a:pt x="155214" y="129330"/>
                    <a:pt x="153015" y="105659"/>
                  </a:cubicBezTo>
                  <a:cubicBezTo>
                    <a:pt x="150147" y="76166"/>
                    <a:pt x="170225" y="0"/>
                    <a:pt x="27721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文本框 121"/>
            <p:cNvSpPr txBox="1"/>
            <p:nvPr/>
          </p:nvSpPr>
          <p:spPr>
            <a:xfrm>
              <a:off x="2307107" y="5268231"/>
              <a:ext cx="648441" cy="311237"/>
            </a:xfrm>
            <a:prstGeom prst="rect">
              <a:avLst/>
            </a:prstGeom>
            <a:noFill/>
          </p:spPr>
          <p:txBody>
            <a:bodyPr wrap="square" rtlCol="0" anchor="ctr">
              <a:spAutoFit/>
            </a:bodyPr>
            <a:lstStyle/>
            <a:p>
              <a:pPr algn="ctr"/>
              <a:r>
                <a:rPr lang="zh-CN" altLang="en-US" sz="800" dirty="0">
                  <a:latin typeface="+mn-ea"/>
                </a:rPr>
                <a:t>快车司机</a:t>
              </a:r>
              <a:endParaRPr lang="en-US" altLang="zh-CN" sz="800" dirty="0">
                <a:latin typeface="+mn-ea"/>
              </a:endParaRPr>
            </a:p>
            <a:p>
              <a:pPr algn="ctr"/>
              <a:r>
                <a:rPr lang="zh-CN" altLang="en-US" sz="800" dirty="0">
                  <a:latin typeface="+mn-ea"/>
                </a:rPr>
                <a:t>陈先生</a:t>
              </a:r>
              <a:endParaRPr lang="en-US" altLang="zh-CN" sz="800" dirty="0">
                <a:latin typeface="+mn-ea"/>
              </a:endParaRPr>
            </a:p>
          </p:txBody>
        </p:sp>
      </p:grpSp>
      <p:grpSp>
        <p:nvGrpSpPr>
          <p:cNvPr id="123" name="组合 122"/>
          <p:cNvGrpSpPr/>
          <p:nvPr/>
        </p:nvGrpSpPr>
        <p:grpSpPr>
          <a:xfrm>
            <a:off x="9467395" y="2269404"/>
            <a:ext cx="772287" cy="633834"/>
            <a:chOff x="2307107" y="4996776"/>
            <a:chExt cx="648441" cy="582692"/>
          </a:xfrm>
        </p:grpSpPr>
        <p:sp>
          <p:nvSpPr>
            <p:cNvPr id="124" name="man-with-bow_56788"/>
            <p:cNvSpPr/>
            <p:nvPr/>
          </p:nvSpPr>
          <p:spPr>
            <a:xfrm>
              <a:off x="2462876" y="4996776"/>
              <a:ext cx="279562" cy="283309"/>
            </a:xfrm>
            <a:custGeom>
              <a:avLst/>
              <a:gdLst>
                <a:gd name="connsiteX0" fmla="*/ 188888 w 557678"/>
                <a:gd name="connsiteY0" fmla="*/ 367011 h 607780"/>
                <a:gd name="connsiteX1" fmla="*/ 199785 w 557678"/>
                <a:gd name="connsiteY1" fmla="*/ 373977 h 607780"/>
                <a:gd name="connsiteX2" fmla="*/ 278839 w 557678"/>
                <a:gd name="connsiteY2" fmla="*/ 490974 h 607780"/>
                <a:gd name="connsiteX3" fmla="*/ 357893 w 557678"/>
                <a:gd name="connsiteY3" fmla="*/ 373977 h 607780"/>
                <a:gd name="connsiteX4" fmla="*/ 368886 w 557678"/>
                <a:gd name="connsiteY4" fmla="*/ 367011 h 607780"/>
                <a:gd name="connsiteX5" fmla="*/ 374908 w 557678"/>
                <a:gd name="connsiteY5" fmla="*/ 368729 h 607780"/>
                <a:gd name="connsiteX6" fmla="*/ 557678 w 557678"/>
                <a:gd name="connsiteY6" fmla="*/ 480572 h 607780"/>
                <a:gd name="connsiteX7" fmla="*/ 557678 w 557678"/>
                <a:gd name="connsiteY7" fmla="*/ 607780 h 607780"/>
                <a:gd name="connsiteX8" fmla="*/ 278839 w 557678"/>
                <a:gd name="connsiteY8" fmla="*/ 607780 h 607780"/>
                <a:gd name="connsiteX9" fmla="*/ 0 w 557678"/>
                <a:gd name="connsiteY9" fmla="*/ 607780 h 607780"/>
                <a:gd name="connsiteX10" fmla="*/ 0 w 557678"/>
                <a:gd name="connsiteY10" fmla="*/ 480572 h 607780"/>
                <a:gd name="connsiteX11" fmla="*/ 182770 w 557678"/>
                <a:gd name="connsiteY11" fmla="*/ 368729 h 607780"/>
                <a:gd name="connsiteX12" fmla="*/ 188888 w 557678"/>
                <a:gd name="connsiteY12" fmla="*/ 367011 h 607780"/>
                <a:gd name="connsiteX13" fmla="*/ 233347 w 557678"/>
                <a:gd name="connsiteY13" fmla="*/ 332928 h 607780"/>
                <a:gd name="connsiteX14" fmla="*/ 235832 w 557678"/>
                <a:gd name="connsiteY14" fmla="*/ 333119 h 607780"/>
                <a:gd name="connsiteX15" fmla="*/ 236501 w 557678"/>
                <a:gd name="connsiteY15" fmla="*/ 333214 h 607780"/>
                <a:gd name="connsiteX16" fmla="*/ 236692 w 557678"/>
                <a:gd name="connsiteY16" fmla="*/ 333214 h 607780"/>
                <a:gd name="connsiteX17" fmla="*/ 237934 w 557678"/>
                <a:gd name="connsiteY17" fmla="*/ 333596 h 607780"/>
                <a:gd name="connsiteX18" fmla="*/ 238508 w 557678"/>
                <a:gd name="connsiteY18" fmla="*/ 333787 h 607780"/>
                <a:gd name="connsiteX19" fmla="*/ 239177 w 557678"/>
                <a:gd name="connsiteY19" fmla="*/ 333977 h 607780"/>
                <a:gd name="connsiteX20" fmla="*/ 243478 w 557678"/>
                <a:gd name="connsiteY20" fmla="*/ 336553 h 607780"/>
                <a:gd name="connsiteX21" fmla="*/ 264981 w 557678"/>
                <a:gd name="connsiteY21" fmla="*/ 353724 h 607780"/>
                <a:gd name="connsiteX22" fmla="*/ 267657 w 557678"/>
                <a:gd name="connsiteY22" fmla="*/ 353820 h 607780"/>
                <a:gd name="connsiteX23" fmla="*/ 278839 w 557678"/>
                <a:gd name="connsiteY23" fmla="*/ 353724 h 607780"/>
                <a:gd name="connsiteX24" fmla="*/ 290021 w 557678"/>
                <a:gd name="connsiteY24" fmla="*/ 353820 h 607780"/>
                <a:gd name="connsiteX25" fmla="*/ 292792 w 557678"/>
                <a:gd name="connsiteY25" fmla="*/ 353724 h 607780"/>
                <a:gd name="connsiteX26" fmla="*/ 314200 w 557678"/>
                <a:gd name="connsiteY26" fmla="*/ 336553 h 607780"/>
                <a:gd name="connsiteX27" fmla="*/ 318596 w 557678"/>
                <a:gd name="connsiteY27" fmla="*/ 333977 h 607780"/>
                <a:gd name="connsiteX28" fmla="*/ 319265 w 557678"/>
                <a:gd name="connsiteY28" fmla="*/ 333787 h 607780"/>
                <a:gd name="connsiteX29" fmla="*/ 319743 w 557678"/>
                <a:gd name="connsiteY29" fmla="*/ 333596 h 607780"/>
                <a:gd name="connsiteX30" fmla="*/ 321081 w 557678"/>
                <a:gd name="connsiteY30" fmla="*/ 333214 h 607780"/>
                <a:gd name="connsiteX31" fmla="*/ 321272 w 557678"/>
                <a:gd name="connsiteY31" fmla="*/ 333214 h 607780"/>
                <a:gd name="connsiteX32" fmla="*/ 321846 w 557678"/>
                <a:gd name="connsiteY32" fmla="*/ 333119 h 607780"/>
                <a:gd name="connsiteX33" fmla="*/ 324426 w 557678"/>
                <a:gd name="connsiteY33" fmla="*/ 332928 h 607780"/>
                <a:gd name="connsiteX34" fmla="*/ 340195 w 557678"/>
                <a:gd name="connsiteY34" fmla="*/ 347905 h 607780"/>
                <a:gd name="connsiteX35" fmla="*/ 340195 w 557678"/>
                <a:gd name="connsiteY35" fmla="*/ 380912 h 607780"/>
                <a:gd name="connsiteX36" fmla="*/ 324426 w 557678"/>
                <a:gd name="connsiteY36" fmla="*/ 396366 h 607780"/>
                <a:gd name="connsiteX37" fmla="*/ 314869 w 557678"/>
                <a:gd name="connsiteY37" fmla="*/ 393123 h 607780"/>
                <a:gd name="connsiteX38" fmla="*/ 294417 w 557678"/>
                <a:gd name="connsiteY38" fmla="*/ 374807 h 607780"/>
                <a:gd name="connsiteX39" fmla="*/ 278839 w 557678"/>
                <a:gd name="connsiteY39" fmla="*/ 374902 h 607780"/>
                <a:gd name="connsiteX40" fmla="*/ 263261 w 557678"/>
                <a:gd name="connsiteY40" fmla="*/ 374807 h 607780"/>
                <a:gd name="connsiteX41" fmla="*/ 242809 w 557678"/>
                <a:gd name="connsiteY41" fmla="*/ 393123 h 607780"/>
                <a:gd name="connsiteX42" fmla="*/ 233347 w 557678"/>
                <a:gd name="connsiteY42" fmla="*/ 396366 h 607780"/>
                <a:gd name="connsiteX43" fmla="*/ 217482 w 557678"/>
                <a:gd name="connsiteY43" fmla="*/ 380912 h 607780"/>
                <a:gd name="connsiteX44" fmla="*/ 217482 w 557678"/>
                <a:gd name="connsiteY44" fmla="*/ 347905 h 607780"/>
                <a:gd name="connsiteX45" fmla="*/ 233347 w 557678"/>
                <a:gd name="connsiteY45" fmla="*/ 332928 h 607780"/>
                <a:gd name="connsiteX46" fmla="*/ 277214 w 557678"/>
                <a:gd name="connsiteY46" fmla="*/ 0 h 607780"/>
                <a:gd name="connsiteX47" fmla="*/ 278552 w 557678"/>
                <a:gd name="connsiteY47" fmla="*/ 0 h 607780"/>
                <a:gd name="connsiteX48" fmla="*/ 278744 w 557678"/>
                <a:gd name="connsiteY48" fmla="*/ 0 h 607780"/>
                <a:gd name="connsiteX49" fmla="*/ 278839 w 557678"/>
                <a:gd name="connsiteY49" fmla="*/ 0 h 607780"/>
                <a:gd name="connsiteX50" fmla="*/ 278935 w 557678"/>
                <a:gd name="connsiteY50" fmla="*/ 0 h 607780"/>
                <a:gd name="connsiteX51" fmla="*/ 279222 w 557678"/>
                <a:gd name="connsiteY51" fmla="*/ 0 h 607780"/>
                <a:gd name="connsiteX52" fmla="*/ 280560 w 557678"/>
                <a:gd name="connsiteY52" fmla="*/ 0 h 607780"/>
                <a:gd name="connsiteX53" fmla="*/ 404758 w 557678"/>
                <a:gd name="connsiteY53" fmla="*/ 105659 h 607780"/>
                <a:gd name="connsiteX54" fmla="*/ 396727 w 557678"/>
                <a:gd name="connsiteY54" fmla="*/ 160159 h 607780"/>
                <a:gd name="connsiteX55" fmla="*/ 408009 w 557678"/>
                <a:gd name="connsiteY55" fmla="*/ 186120 h 607780"/>
                <a:gd name="connsiteX56" fmla="*/ 379039 w 557678"/>
                <a:gd name="connsiteY56" fmla="*/ 238616 h 607780"/>
                <a:gd name="connsiteX57" fmla="*/ 317179 w 557678"/>
                <a:gd name="connsiteY57" fmla="*/ 313541 h 607780"/>
                <a:gd name="connsiteX58" fmla="*/ 278935 w 557678"/>
                <a:gd name="connsiteY58" fmla="*/ 322131 h 607780"/>
                <a:gd name="connsiteX59" fmla="*/ 278839 w 557678"/>
                <a:gd name="connsiteY59" fmla="*/ 322131 h 607780"/>
                <a:gd name="connsiteX60" fmla="*/ 278744 w 557678"/>
                <a:gd name="connsiteY60" fmla="*/ 322131 h 607780"/>
                <a:gd name="connsiteX61" fmla="*/ 240499 w 557678"/>
                <a:gd name="connsiteY61" fmla="*/ 313541 h 607780"/>
                <a:gd name="connsiteX62" fmla="*/ 178734 w 557678"/>
                <a:gd name="connsiteY62" fmla="*/ 238616 h 607780"/>
                <a:gd name="connsiteX63" fmla="*/ 149669 w 557678"/>
                <a:gd name="connsiteY63" fmla="*/ 186120 h 607780"/>
                <a:gd name="connsiteX64" fmla="*/ 161046 w 557678"/>
                <a:gd name="connsiteY64" fmla="*/ 160159 h 607780"/>
                <a:gd name="connsiteX65" fmla="*/ 153015 w 557678"/>
                <a:gd name="connsiteY65" fmla="*/ 105659 h 607780"/>
                <a:gd name="connsiteX66" fmla="*/ 277214 w 557678"/>
                <a:gd name="connsiteY66" fmla="*/ 0 h 60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557678" h="607780">
                  <a:moveTo>
                    <a:pt x="188888" y="367011"/>
                  </a:moveTo>
                  <a:cubicBezTo>
                    <a:pt x="193667" y="367011"/>
                    <a:pt x="197873" y="369874"/>
                    <a:pt x="199785" y="373977"/>
                  </a:cubicBezTo>
                  <a:cubicBezTo>
                    <a:pt x="218808" y="405851"/>
                    <a:pt x="254177" y="489256"/>
                    <a:pt x="278839" y="490974"/>
                  </a:cubicBezTo>
                  <a:cubicBezTo>
                    <a:pt x="303502" y="489256"/>
                    <a:pt x="338870" y="405851"/>
                    <a:pt x="357893" y="373977"/>
                  </a:cubicBezTo>
                  <a:cubicBezTo>
                    <a:pt x="359900" y="369874"/>
                    <a:pt x="364011" y="367011"/>
                    <a:pt x="368886" y="367011"/>
                  </a:cubicBezTo>
                  <a:cubicBezTo>
                    <a:pt x="371085" y="367011"/>
                    <a:pt x="372996" y="367870"/>
                    <a:pt x="374908" y="368729"/>
                  </a:cubicBezTo>
                  <a:cubicBezTo>
                    <a:pt x="382269" y="371878"/>
                    <a:pt x="557678" y="427132"/>
                    <a:pt x="557678" y="480572"/>
                  </a:cubicBezTo>
                  <a:lnTo>
                    <a:pt x="557678" y="607780"/>
                  </a:lnTo>
                  <a:lnTo>
                    <a:pt x="278839" y="607780"/>
                  </a:lnTo>
                  <a:lnTo>
                    <a:pt x="0" y="607780"/>
                  </a:lnTo>
                  <a:lnTo>
                    <a:pt x="0" y="480572"/>
                  </a:lnTo>
                  <a:cubicBezTo>
                    <a:pt x="0" y="421120"/>
                    <a:pt x="175314" y="371687"/>
                    <a:pt x="182770" y="368729"/>
                  </a:cubicBezTo>
                  <a:cubicBezTo>
                    <a:pt x="184682" y="367870"/>
                    <a:pt x="186593" y="367011"/>
                    <a:pt x="188888" y="367011"/>
                  </a:cubicBezTo>
                  <a:close/>
                  <a:moveTo>
                    <a:pt x="233347" y="332928"/>
                  </a:moveTo>
                  <a:cubicBezTo>
                    <a:pt x="234207" y="332928"/>
                    <a:pt x="235067" y="332928"/>
                    <a:pt x="235832" y="333119"/>
                  </a:cubicBezTo>
                  <a:cubicBezTo>
                    <a:pt x="236023" y="333119"/>
                    <a:pt x="236310" y="333119"/>
                    <a:pt x="236501" y="333214"/>
                  </a:cubicBezTo>
                  <a:cubicBezTo>
                    <a:pt x="236501" y="333214"/>
                    <a:pt x="236596" y="333214"/>
                    <a:pt x="236692" y="333214"/>
                  </a:cubicBezTo>
                  <a:cubicBezTo>
                    <a:pt x="237074" y="333310"/>
                    <a:pt x="237552" y="333405"/>
                    <a:pt x="237934" y="333596"/>
                  </a:cubicBezTo>
                  <a:cubicBezTo>
                    <a:pt x="238126" y="333596"/>
                    <a:pt x="238317" y="333691"/>
                    <a:pt x="238508" y="333787"/>
                  </a:cubicBezTo>
                  <a:cubicBezTo>
                    <a:pt x="238699" y="333787"/>
                    <a:pt x="238890" y="333882"/>
                    <a:pt x="239177" y="333977"/>
                  </a:cubicBezTo>
                  <a:cubicBezTo>
                    <a:pt x="240706" y="334645"/>
                    <a:pt x="242140" y="335504"/>
                    <a:pt x="243478" y="336553"/>
                  </a:cubicBezTo>
                  <a:cubicBezTo>
                    <a:pt x="250836" y="342372"/>
                    <a:pt x="255615" y="353056"/>
                    <a:pt x="264981" y="353724"/>
                  </a:cubicBezTo>
                  <a:cubicBezTo>
                    <a:pt x="265841" y="353820"/>
                    <a:pt x="266797" y="353820"/>
                    <a:pt x="267657" y="353820"/>
                  </a:cubicBezTo>
                  <a:cubicBezTo>
                    <a:pt x="268517" y="353820"/>
                    <a:pt x="274060" y="353724"/>
                    <a:pt x="278839" y="353724"/>
                  </a:cubicBezTo>
                  <a:cubicBezTo>
                    <a:pt x="283617" y="353724"/>
                    <a:pt x="289256" y="353820"/>
                    <a:pt x="290021" y="353820"/>
                  </a:cubicBezTo>
                  <a:cubicBezTo>
                    <a:pt x="290976" y="353820"/>
                    <a:pt x="291836" y="353820"/>
                    <a:pt x="292792" y="353724"/>
                  </a:cubicBezTo>
                  <a:cubicBezTo>
                    <a:pt x="302158" y="353056"/>
                    <a:pt x="306841" y="342372"/>
                    <a:pt x="314200" y="336553"/>
                  </a:cubicBezTo>
                  <a:cubicBezTo>
                    <a:pt x="315538" y="335504"/>
                    <a:pt x="316972" y="334645"/>
                    <a:pt x="318596" y="333977"/>
                  </a:cubicBezTo>
                  <a:cubicBezTo>
                    <a:pt x="318787" y="333882"/>
                    <a:pt x="318979" y="333787"/>
                    <a:pt x="319265" y="333787"/>
                  </a:cubicBezTo>
                  <a:cubicBezTo>
                    <a:pt x="319456" y="333691"/>
                    <a:pt x="319648" y="333596"/>
                    <a:pt x="319743" y="333596"/>
                  </a:cubicBezTo>
                  <a:cubicBezTo>
                    <a:pt x="320221" y="333405"/>
                    <a:pt x="320603" y="333310"/>
                    <a:pt x="321081" y="333214"/>
                  </a:cubicBezTo>
                  <a:cubicBezTo>
                    <a:pt x="321081" y="333214"/>
                    <a:pt x="321177" y="333214"/>
                    <a:pt x="321272" y="333214"/>
                  </a:cubicBezTo>
                  <a:cubicBezTo>
                    <a:pt x="321463" y="333119"/>
                    <a:pt x="321654" y="333119"/>
                    <a:pt x="321846" y="333119"/>
                  </a:cubicBezTo>
                  <a:cubicBezTo>
                    <a:pt x="322706" y="332928"/>
                    <a:pt x="323566" y="332928"/>
                    <a:pt x="324426" y="332928"/>
                  </a:cubicBezTo>
                  <a:cubicBezTo>
                    <a:pt x="332836" y="332928"/>
                    <a:pt x="339813" y="339510"/>
                    <a:pt x="340195" y="347905"/>
                  </a:cubicBezTo>
                  <a:lnTo>
                    <a:pt x="340195" y="380912"/>
                  </a:lnTo>
                  <a:cubicBezTo>
                    <a:pt x="340004" y="389498"/>
                    <a:pt x="333027" y="396366"/>
                    <a:pt x="324426" y="396366"/>
                  </a:cubicBezTo>
                  <a:cubicBezTo>
                    <a:pt x="320794" y="396366"/>
                    <a:pt x="317545" y="395126"/>
                    <a:pt x="314869" y="393123"/>
                  </a:cubicBezTo>
                  <a:cubicBezTo>
                    <a:pt x="305885" y="387208"/>
                    <a:pt x="299864" y="374997"/>
                    <a:pt x="294417" y="374807"/>
                  </a:cubicBezTo>
                  <a:lnTo>
                    <a:pt x="278839" y="374902"/>
                  </a:lnTo>
                  <a:lnTo>
                    <a:pt x="263261" y="374807"/>
                  </a:lnTo>
                  <a:cubicBezTo>
                    <a:pt x="257813" y="374997"/>
                    <a:pt x="251792" y="387208"/>
                    <a:pt x="242809" y="393123"/>
                  </a:cubicBezTo>
                  <a:cubicBezTo>
                    <a:pt x="240228" y="395126"/>
                    <a:pt x="236883" y="396366"/>
                    <a:pt x="233347" y="396366"/>
                  </a:cubicBezTo>
                  <a:cubicBezTo>
                    <a:pt x="224746" y="396366"/>
                    <a:pt x="217769" y="389498"/>
                    <a:pt x="217482" y="380912"/>
                  </a:cubicBezTo>
                  <a:lnTo>
                    <a:pt x="217482" y="347905"/>
                  </a:lnTo>
                  <a:cubicBezTo>
                    <a:pt x="217960" y="339510"/>
                    <a:pt x="224841" y="332928"/>
                    <a:pt x="233347" y="332928"/>
                  </a:cubicBezTo>
                  <a:close/>
                  <a:moveTo>
                    <a:pt x="277214" y="0"/>
                  </a:moveTo>
                  <a:cubicBezTo>
                    <a:pt x="277596" y="0"/>
                    <a:pt x="278074" y="0"/>
                    <a:pt x="278552" y="0"/>
                  </a:cubicBezTo>
                  <a:cubicBezTo>
                    <a:pt x="278648" y="0"/>
                    <a:pt x="278648" y="0"/>
                    <a:pt x="278744" y="0"/>
                  </a:cubicBezTo>
                  <a:cubicBezTo>
                    <a:pt x="278744" y="0"/>
                    <a:pt x="278839" y="0"/>
                    <a:pt x="278839" y="0"/>
                  </a:cubicBezTo>
                  <a:cubicBezTo>
                    <a:pt x="278935" y="0"/>
                    <a:pt x="278935" y="0"/>
                    <a:pt x="278935" y="0"/>
                  </a:cubicBezTo>
                  <a:cubicBezTo>
                    <a:pt x="279030" y="0"/>
                    <a:pt x="279126" y="0"/>
                    <a:pt x="279222" y="0"/>
                  </a:cubicBezTo>
                  <a:cubicBezTo>
                    <a:pt x="279604" y="0"/>
                    <a:pt x="280082" y="0"/>
                    <a:pt x="280560" y="0"/>
                  </a:cubicBezTo>
                  <a:cubicBezTo>
                    <a:pt x="387453" y="0"/>
                    <a:pt x="407531" y="76166"/>
                    <a:pt x="404758" y="105659"/>
                  </a:cubicBezTo>
                  <a:cubicBezTo>
                    <a:pt x="402464" y="129330"/>
                    <a:pt x="396727" y="160159"/>
                    <a:pt x="396727" y="160159"/>
                  </a:cubicBezTo>
                  <a:cubicBezTo>
                    <a:pt x="396727" y="160159"/>
                    <a:pt x="408009" y="165313"/>
                    <a:pt x="408009" y="186120"/>
                  </a:cubicBezTo>
                  <a:cubicBezTo>
                    <a:pt x="404089" y="238234"/>
                    <a:pt x="383246" y="215708"/>
                    <a:pt x="379039" y="238616"/>
                  </a:cubicBezTo>
                  <a:cubicBezTo>
                    <a:pt x="371868" y="276603"/>
                    <a:pt x="338213" y="304092"/>
                    <a:pt x="317179" y="313541"/>
                  </a:cubicBezTo>
                  <a:cubicBezTo>
                    <a:pt x="304941" y="319077"/>
                    <a:pt x="292225" y="321845"/>
                    <a:pt x="278935" y="322131"/>
                  </a:cubicBezTo>
                  <a:cubicBezTo>
                    <a:pt x="278935" y="322131"/>
                    <a:pt x="278935" y="322131"/>
                    <a:pt x="278839" y="322131"/>
                  </a:cubicBezTo>
                  <a:cubicBezTo>
                    <a:pt x="278839" y="322131"/>
                    <a:pt x="278744" y="322131"/>
                    <a:pt x="278744" y="322131"/>
                  </a:cubicBezTo>
                  <a:cubicBezTo>
                    <a:pt x="265454" y="321845"/>
                    <a:pt x="252738" y="319077"/>
                    <a:pt x="240499" y="313541"/>
                  </a:cubicBezTo>
                  <a:cubicBezTo>
                    <a:pt x="219561" y="304092"/>
                    <a:pt x="185810" y="276603"/>
                    <a:pt x="178734" y="238616"/>
                  </a:cubicBezTo>
                  <a:cubicBezTo>
                    <a:pt x="174432" y="215708"/>
                    <a:pt x="153684" y="238234"/>
                    <a:pt x="149669" y="186120"/>
                  </a:cubicBezTo>
                  <a:cubicBezTo>
                    <a:pt x="149669" y="165313"/>
                    <a:pt x="161046" y="160159"/>
                    <a:pt x="161046" y="160159"/>
                  </a:cubicBezTo>
                  <a:cubicBezTo>
                    <a:pt x="161046" y="160159"/>
                    <a:pt x="155214" y="129330"/>
                    <a:pt x="153015" y="105659"/>
                  </a:cubicBezTo>
                  <a:cubicBezTo>
                    <a:pt x="150147" y="76166"/>
                    <a:pt x="170225" y="0"/>
                    <a:pt x="27721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文本框 124"/>
            <p:cNvSpPr txBox="1"/>
            <p:nvPr/>
          </p:nvSpPr>
          <p:spPr>
            <a:xfrm>
              <a:off x="2307107" y="5268231"/>
              <a:ext cx="648441" cy="311237"/>
            </a:xfrm>
            <a:prstGeom prst="rect">
              <a:avLst/>
            </a:prstGeom>
            <a:noFill/>
          </p:spPr>
          <p:txBody>
            <a:bodyPr wrap="square" rtlCol="0" anchor="ctr">
              <a:spAutoFit/>
            </a:bodyPr>
            <a:lstStyle/>
            <a:p>
              <a:pPr algn="ctr"/>
              <a:r>
                <a:rPr lang="zh-CN" altLang="en-US" sz="800" dirty="0">
                  <a:latin typeface="+mn-ea"/>
                </a:rPr>
                <a:t>专车司机</a:t>
              </a:r>
              <a:endParaRPr lang="en-US" altLang="zh-CN" sz="800" dirty="0">
                <a:latin typeface="+mn-ea"/>
              </a:endParaRPr>
            </a:p>
            <a:p>
              <a:pPr algn="ctr"/>
              <a:r>
                <a:rPr lang="zh-CN" altLang="en-US" sz="800" dirty="0">
                  <a:latin typeface="+mn-ea"/>
                </a:rPr>
                <a:t>杨先生</a:t>
              </a:r>
              <a:endParaRPr lang="en-US" altLang="zh-CN" sz="800" dirty="0">
                <a:latin typeface="+mn-ea"/>
              </a:endParaRPr>
            </a:p>
          </p:txBody>
        </p:sp>
      </p:grpSp>
      <p:grpSp>
        <p:nvGrpSpPr>
          <p:cNvPr id="126" name="组合 125"/>
          <p:cNvGrpSpPr/>
          <p:nvPr/>
        </p:nvGrpSpPr>
        <p:grpSpPr>
          <a:xfrm>
            <a:off x="9290296" y="3023467"/>
            <a:ext cx="849130" cy="674345"/>
            <a:chOff x="2307107" y="4996776"/>
            <a:chExt cx="712961" cy="619934"/>
          </a:xfrm>
        </p:grpSpPr>
        <p:sp>
          <p:nvSpPr>
            <p:cNvPr id="127" name="man-with-bow_56788"/>
            <p:cNvSpPr/>
            <p:nvPr/>
          </p:nvSpPr>
          <p:spPr>
            <a:xfrm>
              <a:off x="2462876" y="4996776"/>
              <a:ext cx="279562" cy="283309"/>
            </a:xfrm>
            <a:custGeom>
              <a:avLst/>
              <a:gdLst>
                <a:gd name="connsiteX0" fmla="*/ 188888 w 557678"/>
                <a:gd name="connsiteY0" fmla="*/ 367011 h 607780"/>
                <a:gd name="connsiteX1" fmla="*/ 199785 w 557678"/>
                <a:gd name="connsiteY1" fmla="*/ 373977 h 607780"/>
                <a:gd name="connsiteX2" fmla="*/ 278839 w 557678"/>
                <a:gd name="connsiteY2" fmla="*/ 490974 h 607780"/>
                <a:gd name="connsiteX3" fmla="*/ 357893 w 557678"/>
                <a:gd name="connsiteY3" fmla="*/ 373977 h 607780"/>
                <a:gd name="connsiteX4" fmla="*/ 368886 w 557678"/>
                <a:gd name="connsiteY4" fmla="*/ 367011 h 607780"/>
                <a:gd name="connsiteX5" fmla="*/ 374908 w 557678"/>
                <a:gd name="connsiteY5" fmla="*/ 368729 h 607780"/>
                <a:gd name="connsiteX6" fmla="*/ 557678 w 557678"/>
                <a:gd name="connsiteY6" fmla="*/ 480572 h 607780"/>
                <a:gd name="connsiteX7" fmla="*/ 557678 w 557678"/>
                <a:gd name="connsiteY7" fmla="*/ 607780 h 607780"/>
                <a:gd name="connsiteX8" fmla="*/ 278839 w 557678"/>
                <a:gd name="connsiteY8" fmla="*/ 607780 h 607780"/>
                <a:gd name="connsiteX9" fmla="*/ 0 w 557678"/>
                <a:gd name="connsiteY9" fmla="*/ 607780 h 607780"/>
                <a:gd name="connsiteX10" fmla="*/ 0 w 557678"/>
                <a:gd name="connsiteY10" fmla="*/ 480572 h 607780"/>
                <a:gd name="connsiteX11" fmla="*/ 182770 w 557678"/>
                <a:gd name="connsiteY11" fmla="*/ 368729 h 607780"/>
                <a:gd name="connsiteX12" fmla="*/ 188888 w 557678"/>
                <a:gd name="connsiteY12" fmla="*/ 367011 h 607780"/>
                <a:gd name="connsiteX13" fmla="*/ 233347 w 557678"/>
                <a:gd name="connsiteY13" fmla="*/ 332928 h 607780"/>
                <a:gd name="connsiteX14" fmla="*/ 235832 w 557678"/>
                <a:gd name="connsiteY14" fmla="*/ 333119 h 607780"/>
                <a:gd name="connsiteX15" fmla="*/ 236501 w 557678"/>
                <a:gd name="connsiteY15" fmla="*/ 333214 h 607780"/>
                <a:gd name="connsiteX16" fmla="*/ 236692 w 557678"/>
                <a:gd name="connsiteY16" fmla="*/ 333214 h 607780"/>
                <a:gd name="connsiteX17" fmla="*/ 237934 w 557678"/>
                <a:gd name="connsiteY17" fmla="*/ 333596 h 607780"/>
                <a:gd name="connsiteX18" fmla="*/ 238508 w 557678"/>
                <a:gd name="connsiteY18" fmla="*/ 333787 h 607780"/>
                <a:gd name="connsiteX19" fmla="*/ 239177 w 557678"/>
                <a:gd name="connsiteY19" fmla="*/ 333977 h 607780"/>
                <a:gd name="connsiteX20" fmla="*/ 243478 w 557678"/>
                <a:gd name="connsiteY20" fmla="*/ 336553 h 607780"/>
                <a:gd name="connsiteX21" fmla="*/ 264981 w 557678"/>
                <a:gd name="connsiteY21" fmla="*/ 353724 h 607780"/>
                <a:gd name="connsiteX22" fmla="*/ 267657 w 557678"/>
                <a:gd name="connsiteY22" fmla="*/ 353820 h 607780"/>
                <a:gd name="connsiteX23" fmla="*/ 278839 w 557678"/>
                <a:gd name="connsiteY23" fmla="*/ 353724 h 607780"/>
                <a:gd name="connsiteX24" fmla="*/ 290021 w 557678"/>
                <a:gd name="connsiteY24" fmla="*/ 353820 h 607780"/>
                <a:gd name="connsiteX25" fmla="*/ 292792 w 557678"/>
                <a:gd name="connsiteY25" fmla="*/ 353724 h 607780"/>
                <a:gd name="connsiteX26" fmla="*/ 314200 w 557678"/>
                <a:gd name="connsiteY26" fmla="*/ 336553 h 607780"/>
                <a:gd name="connsiteX27" fmla="*/ 318596 w 557678"/>
                <a:gd name="connsiteY27" fmla="*/ 333977 h 607780"/>
                <a:gd name="connsiteX28" fmla="*/ 319265 w 557678"/>
                <a:gd name="connsiteY28" fmla="*/ 333787 h 607780"/>
                <a:gd name="connsiteX29" fmla="*/ 319743 w 557678"/>
                <a:gd name="connsiteY29" fmla="*/ 333596 h 607780"/>
                <a:gd name="connsiteX30" fmla="*/ 321081 w 557678"/>
                <a:gd name="connsiteY30" fmla="*/ 333214 h 607780"/>
                <a:gd name="connsiteX31" fmla="*/ 321272 w 557678"/>
                <a:gd name="connsiteY31" fmla="*/ 333214 h 607780"/>
                <a:gd name="connsiteX32" fmla="*/ 321846 w 557678"/>
                <a:gd name="connsiteY32" fmla="*/ 333119 h 607780"/>
                <a:gd name="connsiteX33" fmla="*/ 324426 w 557678"/>
                <a:gd name="connsiteY33" fmla="*/ 332928 h 607780"/>
                <a:gd name="connsiteX34" fmla="*/ 340195 w 557678"/>
                <a:gd name="connsiteY34" fmla="*/ 347905 h 607780"/>
                <a:gd name="connsiteX35" fmla="*/ 340195 w 557678"/>
                <a:gd name="connsiteY35" fmla="*/ 380912 h 607780"/>
                <a:gd name="connsiteX36" fmla="*/ 324426 w 557678"/>
                <a:gd name="connsiteY36" fmla="*/ 396366 h 607780"/>
                <a:gd name="connsiteX37" fmla="*/ 314869 w 557678"/>
                <a:gd name="connsiteY37" fmla="*/ 393123 h 607780"/>
                <a:gd name="connsiteX38" fmla="*/ 294417 w 557678"/>
                <a:gd name="connsiteY38" fmla="*/ 374807 h 607780"/>
                <a:gd name="connsiteX39" fmla="*/ 278839 w 557678"/>
                <a:gd name="connsiteY39" fmla="*/ 374902 h 607780"/>
                <a:gd name="connsiteX40" fmla="*/ 263261 w 557678"/>
                <a:gd name="connsiteY40" fmla="*/ 374807 h 607780"/>
                <a:gd name="connsiteX41" fmla="*/ 242809 w 557678"/>
                <a:gd name="connsiteY41" fmla="*/ 393123 h 607780"/>
                <a:gd name="connsiteX42" fmla="*/ 233347 w 557678"/>
                <a:gd name="connsiteY42" fmla="*/ 396366 h 607780"/>
                <a:gd name="connsiteX43" fmla="*/ 217482 w 557678"/>
                <a:gd name="connsiteY43" fmla="*/ 380912 h 607780"/>
                <a:gd name="connsiteX44" fmla="*/ 217482 w 557678"/>
                <a:gd name="connsiteY44" fmla="*/ 347905 h 607780"/>
                <a:gd name="connsiteX45" fmla="*/ 233347 w 557678"/>
                <a:gd name="connsiteY45" fmla="*/ 332928 h 607780"/>
                <a:gd name="connsiteX46" fmla="*/ 277214 w 557678"/>
                <a:gd name="connsiteY46" fmla="*/ 0 h 607780"/>
                <a:gd name="connsiteX47" fmla="*/ 278552 w 557678"/>
                <a:gd name="connsiteY47" fmla="*/ 0 h 607780"/>
                <a:gd name="connsiteX48" fmla="*/ 278744 w 557678"/>
                <a:gd name="connsiteY48" fmla="*/ 0 h 607780"/>
                <a:gd name="connsiteX49" fmla="*/ 278839 w 557678"/>
                <a:gd name="connsiteY49" fmla="*/ 0 h 607780"/>
                <a:gd name="connsiteX50" fmla="*/ 278935 w 557678"/>
                <a:gd name="connsiteY50" fmla="*/ 0 h 607780"/>
                <a:gd name="connsiteX51" fmla="*/ 279222 w 557678"/>
                <a:gd name="connsiteY51" fmla="*/ 0 h 607780"/>
                <a:gd name="connsiteX52" fmla="*/ 280560 w 557678"/>
                <a:gd name="connsiteY52" fmla="*/ 0 h 607780"/>
                <a:gd name="connsiteX53" fmla="*/ 404758 w 557678"/>
                <a:gd name="connsiteY53" fmla="*/ 105659 h 607780"/>
                <a:gd name="connsiteX54" fmla="*/ 396727 w 557678"/>
                <a:gd name="connsiteY54" fmla="*/ 160159 h 607780"/>
                <a:gd name="connsiteX55" fmla="*/ 408009 w 557678"/>
                <a:gd name="connsiteY55" fmla="*/ 186120 h 607780"/>
                <a:gd name="connsiteX56" fmla="*/ 379039 w 557678"/>
                <a:gd name="connsiteY56" fmla="*/ 238616 h 607780"/>
                <a:gd name="connsiteX57" fmla="*/ 317179 w 557678"/>
                <a:gd name="connsiteY57" fmla="*/ 313541 h 607780"/>
                <a:gd name="connsiteX58" fmla="*/ 278935 w 557678"/>
                <a:gd name="connsiteY58" fmla="*/ 322131 h 607780"/>
                <a:gd name="connsiteX59" fmla="*/ 278839 w 557678"/>
                <a:gd name="connsiteY59" fmla="*/ 322131 h 607780"/>
                <a:gd name="connsiteX60" fmla="*/ 278744 w 557678"/>
                <a:gd name="connsiteY60" fmla="*/ 322131 h 607780"/>
                <a:gd name="connsiteX61" fmla="*/ 240499 w 557678"/>
                <a:gd name="connsiteY61" fmla="*/ 313541 h 607780"/>
                <a:gd name="connsiteX62" fmla="*/ 178734 w 557678"/>
                <a:gd name="connsiteY62" fmla="*/ 238616 h 607780"/>
                <a:gd name="connsiteX63" fmla="*/ 149669 w 557678"/>
                <a:gd name="connsiteY63" fmla="*/ 186120 h 607780"/>
                <a:gd name="connsiteX64" fmla="*/ 161046 w 557678"/>
                <a:gd name="connsiteY64" fmla="*/ 160159 h 607780"/>
                <a:gd name="connsiteX65" fmla="*/ 153015 w 557678"/>
                <a:gd name="connsiteY65" fmla="*/ 105659 h 607780"/>
                <a:gd name="connsiteX66" fmla="*/ 277214 w 557678"/>
                <a:gd name="connsiteY66" fmla="*/ 0 h 60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557678" h="607780">
                  <a:moveTo>
                    <a:pt x="188888" y="367011"/>
                  </a:moveTo>
                  <a:cubicBezTo>
                    <a:pt x="193667" y="367011"/>
                    <a:pt x="197873" y="369874"/>
                    <a:pt x="199785" y="373977"/>
                  </a:cubicBezTo>
                  <a:cubicBezTo>
                    <a:pt x="218808" y="405851"/>
                    <a:pt x="254177" y="489256"/>
                    <a:pt x="278839" y="490974"/>
                  </a:cubicBezTo>
                  <a:cubicBezTo>
                    <a:pt x="303502" y="489256"/>
                    <a:pt x="338870" y="405851"/>
                    <a:pt x="357893" y="373977"/>
                  </a:cubicBezTo>
                  <a:cubicBezTo>
                    <a:pt x="359900" y="369874"/>
                    <a:pt x="364011" y="367011"/>
                    <a:pt x="368886" y="367011"/>
                  </a:cubicBezTo>
                  <a:cubicBezTo>
                    <a:pt x="371085" y="367011"/>
                    <a:pt x="372996" y="367870"/>
                    <a:pt x="374908" y="368729"/>
                  </a:cubicBezTo>
                  <a:cubicBezTo>
                    <a:pt x="382269" y="371878"/>
                    <a:pt x="557678" y="427132"/>
                    <a:pt x="557678" y="480572"/>
                  </a:cubicBezTo>
                  <a:lnTo>
                    <a:pt x="557678" y="607780"/>
                  </a:lnTo>
                  <a:lnTo>
                    <a:pt x="278839" y="607780"/>
                  </a:lnTo>
                  <a:lnTo>
                    <a:pt x="0" y="607780"/>
                  </a:lnTo>
                  <a:lnTo>
                    <a:pt x="0" y="480572"/>
                  </a:lnTo>
                  <a:cubicBezTo>
                    <a:pt x="0" y="421120"/>
                    <a:pt x="175314" y="371687"/>
                    <a:pt x="182770" y="368729"/>
                  </a:cubicBezTo>
                  <a:cubicBezTo>
                    <a:pt x="184682" y="367870"/>
                    <a:pt x="186593" y="367011"/>
                    <a:pt x="188888" y="367011"/>
                  </a:cubicBezTo>
                  <a:close/>
                  <a:moveTo>
                    <a:pt x="233347" y="332928"/>
                  </a:moveTo>
                  <a:cubicBezTo>
                    <a:pt x="234207" y="332928"/>
                    <a:pt x="235067" y="332928"/>
                    <a:pt x="235832" y="333119"/>
                  </a:cubicBezTo>
                  <a:cubicBezTo>
                    <a:pt x="236023" y="333119"/>
                    <a:pt x="236310" y="333119"/>
                    <a:pt x="236501" y="333214"/>
                  </a:cubicBezTo>
                  <a:cubicBezTo>
                    <a:pt x="236501" y="333214"/>
                    <a:pt x="236596" y="333214"/>
                    <a:pt x="236692" y="333214"/>
                  </a:cubicBezTo>
                  <a:cubicBezTo>
                    <a:pt x="237074" y="333310"/>
                    <a:pt x="237552" y="333405"/>
                    <a:pt x="237934" y="333596"/>
                  </a:cubicBezTo>
                  <a:cubicBezTo>
                    <a:pt x="238126" y="333596"/>
                    <a:pt x="238317" y="333691"/>
                    <a:pt x="238508" y="333787"/>
                  </a:cubicBezTo>
                  <a:cubicBezTo>
                    <a:pt x="238699" y="333787"/>
                    <a:pt x="238890" y="333882"/>
                    <a:pt x="239177" y="333977"/>
                  </a:cubicBezTo>
                  <a:cubicBezTo>
                    <a:pt x="240706" y="334645"/>
                    <a:pt x="242140" y="335504"/>
                    <a:pt x="243478" y="336553"/>
                  </a:cubicBezTo>
                  <a:cubicBezTo>
                    <a:pt x="250836" y="342372"/>
                    <a:pt x="255615" y="353056"/>
                    <a:pt x="264981" y="353724"/>
                  </a:cubicBezTo>
                  <a:cubicBezTo>
                    <a:pt x="265841" y="353820"/>
                    <a:pt x="266797" y="353820"/>
                    <a:pt x="267657" y="353820"/>
                  </a:cubicBezTo>
                  <a:cubicBezTo>
                    <a:pt x="268517" y="353820"/>
                    <a:pt x="274060" y="353724"/>
                    <a:pt x="278839" y="353724"/>
                  </a:cubicBezTo>
                  <a:cubicBezTo>
                    <a:pt x="283617" y="353724"/>
                    <a:pt x="289256" y="353820"/>
                    <a:pt x="290021" y="353820"/>
                  </a:cubicBezTo>
                  <a:cubicBezTo>
                    <a:pt x="290976" y="353820"/>
                    <a:pt x="291836" y="353820"/>
                    <a:pt x="292792" y="353724"/>
                  </a:cubicBezTo>
                  <a:cubicBezTo>
                    <a:pt x="302158" y="353056"/>
                    <a:pt x="306841" y="342372"/>
                    <a:pt x="314200" y="336553"/>
                  </a:cubicBezTo>
                  <a:cubicBezTo>
                    <a:pt x="315538" y="335504"/>
                    <a:pt x="316972" y="334645"/>
                    <a:pt x="318596" y="333977"/>
                  </a:cubicBezTo>
                  <a:cubicBezTo>
                    <a:pt x="318787" y="333882"/>
                    <a:pt x="318979" y="333787"/>
                    <a:pt x="319265" y="333787"/>
                  </a:cubicBezTo>
                  <a:cubicBezTo>
                    <a:pt x="319456" y="333691"/>
                    <a:pt x="319648" y="333596"/>
                    <a:pt x="319743" y="333596"/>
                  </a:cubicBezTo>
                  <a:cubicBezTo>
                    <a:pt x="320221" y="333405"/>
                    <a:pt x="320603" y="333310"/>
                    <a:pt x="321081" y="333214"/>
                  </a:cubicBezTo>
                  <a:cubicBezTo>
                    <a:pt x="321081" y="333214"/>
                    <a:pt x="321177" y="333214"/>
                    <a:pt x="321272" y="333214"/>
                  </a:cubicBezTo>
                  <a:cubicBezTo>
                    <a:pt x="321463" y="333119"/>
                    <a:pt x="321654" y="333119"/>
                    <a:pt x="321846" y="333119"/>
                  </a:cubicBezTo>
                  <a:cubicBezTo>
                    <a:pt x="322706" y="332928"/>
                    <a:pt x="323566" y="332928"/>
                    <a:pt x="324426" y="332928"/>
                  </a:cubicBezTo>
                  <a:cubicBezTo>
                    <a:pt x="332836" y="332928"/>
                    <a:pt x="339813" y="339510"/>
                    <a:pt x="340195" y="347905"/>
                  </a:cubicBezTo>
                  <a:lnTo>
                    <a:pt x="340195" y="380912"/>
                  </a:lnTo>
                  <a:cubicBezTo>
                    <a:pt x="340004" y="389498"/>
                    <a:pt x="333027" y="396366"/>
                    <a:pt x="324426" y="396366"/>
                  </a:cubicBezTo>
                  <a:cubicBezTo>
                    <a:pt x="320794" y="396366"/>
                    <a:pt x="317545" y="395126"/>
                    <a:pt x="314869" y="393123"/>
                  </a:cubicBezTo>
                  <a:cubicBezTo>
                    <a:pt x="305885" y="387208"/>
                    <a:pt x="299864" y="374997"/>
                    <a:pt x="294417" y="374807"/>
                  </a:cubicBezTo>
                  <a:lnTo>
                    <a:pt x="278839" y="374902"/>
                  </a:lnTo>
                  <a:lnTo>
                    <a:pt x="263261" y="374807"/>
                  </a:lnTo>
                  <a:cubicBezTo>
                    <a:pt x="257813" y="374997"/>
                    <a:pt x="251792" y="387208"/>
                    <a:pt x="242809" y="393123"/>
                  </a:cubicBezTo>
                  <a:cubicBezTo>
                    <a:pt x="240228" y="395126"/>
                    <a:pt x="236883" y="396366"/>
                    <a:pt x="233347" y="396366"/>
                  </a:cubicBezTo>
                  <a:cubicBezTo>
                    <a:pt x="224746" y="396366"/>
                    <a:pt x="217769" y="389498"/>
                    <a:pt x="217482" y="380912"/>
                  </a:cubicBezTo>
                  <a:lnTo>
                    <a:pt x="217482" y="347905"/>
                  </a:lnTo>
                  <a:cubicBezTo>
                    <a:pt x="217960" y="339510"/>
                    <a:pt x="224841" y="332928"/>
                    <a:pt x="233347" y="332928"/>
                  </a:cubicBezTo>
                  <a:close/>
                  <a:moveTo>
                    <a:pt x="277214" y="0"/>
                  </a:moveTo>
                  <a:cubicBezTo>
                    <a:pt x="277596" y="0"/>
                    <a:pt x="278074" y="0"/>
                    <a:pt x="278552" y="0"/>
                  </a:cubicBezTo>
                  <a:cubicBezTo>
                    <a:pt x="278648" y="0"/>
                    <a:pt x="278648" y="0"/>
                    <a:pt x="278744" y="0"/>
                  </a:cubicBezTo>
                  <a:cubicBezTo>
                    <a:pt x="278744" y="0"/>
                    <a:pt x="278839" y="0"/>
                    <a:pt x="278839" y="0"/>
                  </a:cubicBezTo>
                  <a:cubicBezTo>
                    <a:pt x="278935" y="0"/>
                    <a:pt x="278935" y="0"/>
                    <a:pt x="278935" y="0"/>
                  </a:cubicBezTo>
                  <a:cubicBezTo>
                    <a:pt x="279030" y="0"/>
                    <a:pt x="279126" y="0"/>
                    <a:pt x="279222" y="0"/>
                  </a:cubicBezTo>
                  <a:cubicBezTo>
                    <a:pt x="279604" y="0"/>
                    <a:pt x="280082" y="0"/>
                    <a:pt x="280560" y="0"/>
                  </a:cubicBezTo>
                  <a:cubicBezTo>
                    <a:pt x="387453" y="0"/>
                    <a:pt x="407531" y="76166"/>
                    <a:pt x="404758" y="105659"/>
                  </a:cubicBezTo>
                  <a:cubicBezTo>
                    <a:pt x="402464" y="129330"/>
                    <a:pt x="396727" y="160159"/>
                    <a:pt x="396727" y="160159"/>
                  </a:cubicBezTo>
                  <a:cubicBezTo>
                    <a:pt x="396727" y="160159"/>
                    <a:pt x="408009" y="165313"/>
                    <a:pt x="408009" y="186120"/>
                  </a:cubicBezTo>
                  <a:cubicBezTo>
                    <a:pt x="404089" y="238234"/>
                    <a:pt x="383246" y="215708"/>
                    <a:pt x="379039" y="238616"/>
                  </a:cubicBezTo>
                  <a:cubicBezTo>
                    <a:pt x="371868" y="276603"/>
                    <a:pt x="338213" y="304092"/>
                    <a:pt x="317179" y="313541"/>
                  </a:cubicBezTo>
                  <a:cubicBezTo>
                    <a:pt x="304941" y="319077"/>
                    <a:pt x="292225" y="321845"/>
                    <a:pt x="278935" y="322131"/>
                  </a:cubicBezTo>
                  <a:cubicBezTo>
                    <a:pt x="278935" y="322131"/>
                    <a:pt x="278935" y="322131"/>
                    <a:pt x="278839" y="322131"/>
                  </a:cubicBezTo>
                  <a:cubicBezTo>
                    <a:pt x="278839" y="322131"/>
                    <a:pt x="278744" y="322131"/>
                    <a:pt x="278744" y="322131"/>
                  </a:cubicBezTo>
                  <a:cubicBezTo>
                    <a:pt x="265454" y="321845"/>
                    <a:pt x="252738" y="319077"/>
                    <a:pt x="240499" y="313541"/>
                  </a:cubicBezTo>
                  <a:cubicBezTo>
                    <a:pt x="219561" y="304092"/>
                    <a:pt x="185810" y="276603"/>
                    <a:pt x="178734" y="238616"/>
                  </a:cubicBezTo>
                  <a:cubicBezTo>
                    <a:pt x="174432" y="215708"/>
                    <a:pt x="153684" y="238234"/>
                    <a:pt x="149669" y="186120"/>
                  </a:cubicBezTo>
                  <a:cubicBezTo>
                    <a:pt x="149669" y="165313"/>
                    <a:pt x="161046" y="160159"/>
                    <a:pt x="161046" y="160159"/>
                  </a:cubicBezTo>
                  <a:cubicBezTo>
                    <a:pt x="161046" y="160159"/>
                    <a:pt x="155214" y="129330"/>
                    <a:pt x="153015" y="105659"/>
                  </a:cubicBezTo>
                  <a:cubicBezTo>
                    <a:pt x="150147" y="76166"/>
                    <a:pt x="170225" y="0"/>
                    <a:pt x="27721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文本框 127"/>
            <p:cNvSpPr txBox="1"/>
            <p:nvPr/>
          </p:nvSpPr>
          <p:spPr>
            <a:xfrm>
              <a:off x="2307107" y="5305473"/>
              <a:ext cx="712961" cy="311237"/>
            </a:xfrm>
            <a:prstGeom prst="rect">
              <a:avLst/>
            </a:prstGeom>
            <a:noFill/>
          </p:spPr>
          <p:txBody>
            <a:bodyPr wrap="square" rtlCol="0" anchor="ctr">
              <a:spAutoFit/>
            </a:bodyPr>
            <a:lstStyle/>
            <a:p>
              <a:pPr algn="ctr"/>
              <a:r>
                <a:rPr lang="zh-CN" altLang="en-US" sz="800" dirty="0">
                  <a:latin typeface="+mn-ea"/>
                </a:rPr>
                <a:t>专车</a:t>
              </a:r>
              <a:r>
                <a:rPr lang="en-US" altLang="zh-CN" sz="800" dirty="0">
                  <a:latin typeface="+mn-ea"/>
                </a:rPr>
                <a:t>/</a:t>
              </a:r>
              <a:r>
                <a:rPr lang="zh-CN" altLang="en-US" sz="800" dirty="0">
                  <a:latin typeface="+mn-ea"/>
                </a:rPr>
                <a:t>快车司机</a:t>
              </a:r>
              <a:endParaRPr lang="en-US" altLang="zh-CN" sz="800" dirty="0">
                <a:latin typeface="+mn-ea"/>
              </a:endParaRPr>
            </a:p>
            <a:p>
              <a:pPr algn="ctr"/>
              <a:r>
                <a:rPr lang="zh-CN" altLang="en-US" sz="800" dirty="0">
                  <a:latin typeface="+mn-ea"/>
                </a:rPr>
                <a:t>徐先生</a:t>
              </a:r>
              <a:endParaRPr lang="en-US" altLang="zh-CN" sz="800" dirty="0">
                <a:latin typeface="+mn-ea"/>
              </a:endParaRPr>
            </a:p>
          </p:txBody>
        </p:sp>
      </p:grpSp>
      <p:sp>
        <p:nvSpPr>
          <p:cNvPr id="131" name="文本占位符 4"/>
          <p:cNvSpPr txBox="1"/>
          <p:nvPr/>
        </p:nvSpPr>
        <p:spPr>
          <a:xfrm>
            <a:off x="1395464" y="5209312"/>
            <a:ext cx="831856" cy="234872"/>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zh-CN" altLang="en-US" sz="7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需求频次</a:t>
            </a:r>
            <a:endParaRPr kumimoji="0" lang="en-US" altLang="zh-CN" sz="7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2" name="文本占位符 4"/>
          <p:cNvSpPr txBox="1"/>
          <p:nvPr/>
        </p:nvSpPr>
        <p:spPr>
          <a:xfrm>
            <a:off x="2072179" y="5230704"/>
            <a:ext cx="3186757" cy="304507"/>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普遍乐于主动与司机沟通需求，</a:t>
            </a:r>
            <a:r>
              <a:rPr lang="zh-CN" altLang="en-US" sz="600" dirty="0">
                <a:solidFill>
                  <a:srgbClr val="000000"/>
                </a:solidFill>
                <a:latin typeface="微软雅黑" panose="020B0503020204020204" pitchFamily="34" charset="-122"/>
                <a:ea typeface="微软雅黑" panose="020B0503020204020204" pitchFamily="34" charset="-122"/>
              </a:rPr>
              <a:t>大部分</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用户在问卷中表示“经常”主动向司机提需求，互动意愿强烈</a:t>
            </a:r>
            <a:endPar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3" name="文本占位符 4"/>
          <p:cNvSpPr txBox="1"/>
          <p:nvPr/>
        </p:nvSpPr>
        <p:spPr>
          <a:xfrm>
            <a:off x="1392554" y="5621779"/>
            <a:ext cx="831856" cy="234872"/>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zh-CN" altLang="en-US" sz="7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寻常需求</a:t>
            </a:r>
            <a:endParaRPr kumimoji="0" lang="en-US" altLang="zh-CN" sz="7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4" name="文本占位符 4"/>
          <p:cNvSpPr txBox="1"/>
          <p:nvPr/>
        </p:nvSpPr>
        <p:spPr>
          <a:xfrm>
            <a:off x="2070361" y="5654056"/>
            <a:ext cx="3186757" cy="304507"/>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核心需求集中在“环境舒适度”与“物理安全” 两方面，</a:t>
            </a:r>
            <a:r>
              <a:rPr lang="zh-CN" altLang="en-US" sz="600" dirty="0">
                <a:solidFill>
                  <a:srgbClr val="000000"/>
                </a:solidFill>
                <a:latin typeface="微软雅黑" panose="020B0503020204020204" pitchFamily="34" charset="-122"/>
                <a:ea typeface="微软雅黑" panose="020B0503020204020204" pitchFamily="34" charset="-122"/>
              </a:rPr>
              <a:t>几乎所有</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乘客都提到过要求开关窗、调节空调温度，以及确认或更换路线</a:t>
            </a:r>
            <a:endPar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5" name="文本占位符 4"/>
          <p:cNvSpPr txBox="1"/>
          <p:nvPr/>
        </p:nvSpPr>
        <p:spPr>
          <a:xfrm>
            <a:off x="2061397" y="5887122"/>
            <a:ext cx="3094704" cy="304507"/>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在特殊场景下的需求呈现个性化、碎片化特点，包括：更换目的地、中途上下车、借用餐巾纸</a:t>
            </a:r>
            <a:r>
              <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充电宝、要求调低或关闭手机外放声音，以及携带宠物上车等</a:t>
            </a:r>
            <a:endPar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6" name="文本占位符 4"/>
          <p:cNvSpPr txBox="1"/>
          <p:nvPr/>
        </p:nvSpPr>
        <p:spPr>
          <a:xfrm>
            <a:off x="6919761" y="4435078"/>
            <a:ext cx="884262" cy="234872"/>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zh-CN" altLang="en-US" sz="7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年龄与性别构成</a:t>
            </a:r>
            <a:endParaRPr kumimoji="0" lang="en-US" altLang="zh-CN" sz="7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7" name="文本占位符 4"/>
          <p:cNvSpPr txBox="1"/>
          <p:nvPr/>
        </p:nvSpPr>
        <p:spPr>
          <a:xfrm>
            <a:off x="1392554" y="5442924"/>
            <a:ext cx="831856" cy="234872"/>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sz="700" b="1" dirty="0">
                <a:solidFill>
                  <a:srgbClr val="000000"/>
                </a:solidFill>
                <a:latin typeface="微软雅黑" panose="020B0503020204020204" pitchFamily="34" charset="-122"/>
                <a:ea typeface="微软雅黑" panose="020B0503020204020204" pitchFamily="34" charset="-122"/>
              </a:rPr>
              <a:t>路线问题</a:t>
            </a:r>
            <a:endParaRPr kumimoji="0" lang="en-US" altLang="zh-CN" sz="7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8" name="文本占位符 4"/>
          <p:cNvSpPr txBox="1"/>
          <p:nvPr/>
        </p:nvSpPr>
        <p:spPr>
          <a:xfrm>
            <a:off x="2070361" y="5505345"/>
            <a:ext cx="3137939" cy="193707"/>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lang="zh-CN" altLang="en-US" sz="600" dirty="0">
                <a:solidFill>
                  <a:srgbClr val="000000"/>
                </a:solidFill>
                <a:latin typeface="微软雅黑" panose="020B0503020204020204" pitchFamily="34" charset="-122"/>
                <a:ea typeface="微软雅黑" panose="020B0503020204020204" pitchFamily="34" charset="-122"/>
              </a:rPr>
              <a:t>遇到司机路线与预期不一致时</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，用户会选择直接与司机沟通并协商</a:t>
            </a:r>
            <a:endPar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9" name="文本占位符 4"/>
          <p:cNvSpPr txBox="1"/>
          <p:nvPr/>
        </p:nvSpPr>
        <p:spPr>
          <a:xfrm>
            <a:off x="7670864" y="4474005"/>
            <a:ext cx="3200495" cy="193707"/>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司机组以男性为主，年龄介于</a:t>
            </a:r>
            <a:r>
              <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26</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至</a:t>
            </a:r>
            <a:r>
              <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38</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岁之间，平均年龄约</a:t>
            </a:r>
            <a:r>
              <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35</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岁</a:t>
            </a:r>
          </a:p>
        </p:txBody>
      </p:sp>
      <p:sp>
        <p:nvSpPr>
          <p:cNvPr id="141" name="文本占位符 4"/>
          <p:cNvSpPr txBox="1"/>
          <p:nvPr/>
        </p:nvSpPr>
        <p:spPr>
          <a:xfrm>
            <a:off x="6945281" y="4834942"/>
            <a:ext cx="640786" cy="234872"/>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defRPr/>
            </a:pPr>
            <a:r>
              <a:rPr lang="zh-CN" altLang="en-US" sz="700" b="1" dirty="0">
                <a:solidFill>
                  <a:srgbClr val="000000"/>
                </a:solidFill>
                <a:latin typeface="微软雅黑" panose="020B0503020204020204" pitchFamily="34" charset="-122"/>
                <a:ea typeface="微软雅黑" panose="020B0503020204020204" pitchFamily="34" charset="-122"/>
              </a:rPr>
              <a:t>路线问题</a:t>
            </a:r>
            <a:endParaRPr lang="en-US" altLang="zh-CN" sz="700" b="1" dirty="0">
              <a:solidFill>
                <a:srgbClr val="000000"/>
              </a:solidFill>
              <a:latin typeface="微软雅黑" panose="020B0503020204020204" pitchFamily="34" charset="-122"/>
              <a:ea typeface="微软雅黑" panose="020B0503020204020204" pitchFamily="34" charset="-122"/>
            </a:endParaRPr>
          </a:p>
        </p:txBody>
      </p:sp>
      <p:sp>
        <p:nvSpPr>
          <p:cNvPr id="142" name="文本占位符 4"/>
          <p:cNvSpPr txBox="1"/>
          <p:nvPr/>
        </p:nvSpPr>
        <p:spPr>
          <a:xfrm>
            <a:off x="6930327" y="5096757"/>
            <a:ext cx="834047" cy="234872"/>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defRPr/>
            </a:pPr>
            <a:r>
              <a:rPr lang="zh-CN" altLang="en-US" sz="700" b="1" dirty="0">
                <a:solidFill>
                  <a:srgbClr val="000000"/>
                </a:solidFill>
                <a:latin typeface="微软雅黑" panose="020B0503020204020204" pitchFamily="34" charset="-122"/>
                <a:ea typeface="微软雅黑" panose="020B0503020204020204" pitchFamily="34" charset="-122"/>
              </a:rPr>
              <a:t>调整服务频次</a:t>
            </a:r>
          </a:p>
        </p:txBody>
      </p:sp>
      <p:sp>
        <p:nvSpPr>
          <p:cNvPr id="143" name="矩形: 圆角 142"/>
          <p:cNvSpPr/>
          <p:nvPr/>
        </p:nvSpPr>
        <p:spPr>
          <a:xfrm>
            <a:off x="6733829" y="4118920"/>
            <a:ext cx="3971376" cy="187085"/>
          </a:xfrm>
          <a:prstGeom prst="roundRect">
            <a:avLst>
              <a:gd name="adj" fmla="val 1666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dirty="0">
                <a:latin typeface="微软雅黑" panose="020B0503020204020204" pitchFamily="34" charset="-122"/>
                <a:ea typeface="微软雅黑" panose="020B0503020204020204" pitchFamily="34" charset="-122"/>
                <a:sym typeface="微软雅黑" panose="020B0503020204020204" pitchFamily="34" charset="-122"/>
              </a:rPr>
              <a:t>定性用户画像</a:t>
            </a:r>
          </a:p>
        </p:txBody>
      </p:sp>
      <p:sp>
        <p:nvSpPr>
          <p:cNvPr id="144" name="文本占位符 4"/>
          <p:cNvSpPr txBox="1"/>
          <p:nvPr/>
        </p:nvSpPr>
        <p:spPr>
          <a:xfrm>
            <a:off x="7683067" y="4616786"/>
            <a:ext cx="3200495" cy="193707"/>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本科</a:t>
            </a:r>
            <a:r>
              <a:rPr lang="zh-CN" altLang="en-US" sz="600" dirty="0">
                <a:solidFill>
                  <a:srgbClr val="000000"/>
                </a:solidFill>
                <a:latin typeface="微软雅黑" panose="020B0503020204020204" pitchFamily="34" charset="-122"/>
                <a:ea typeface="微软雅黑" panose="020B0503020204020204" pitchFamily="34" charset="-122"/>
              </a:rPr>
              <a:t>学历占比较高</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，专车司机和快车司机占比相当，另</a:t>
            </a:r>
            <a:r>
              <a:rPr lang="zh-CN" altLang="en-US" sz="600" dirty="0">
                <a:solidFill>
                  <a:srgbClr val="000000"/>
                </a:solidFill>
                <a:latin typeface="微软雅黑" panose="020B0503020204020204" pitchFamily="34" charset="-122"/>
                <a:ea typeface="微软雅黑" panose="020B0503020204020204" pitchFamily="34" charset="-122"/>
              </a:rPr>
              <a:t>有少数</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兼营专车与快车的司机</a:t>
            </a:r>
          </a:p>
        </p:txBody>
      </p:sp>
      <p:sp>
        <p:nvSpPr>
          <p:cNvPr id="145" name="文本占位符 4"/>
          <p:cNvSpPr txBox="1"/>
          <p:nvPr/>
        </p:nvSpPr>
        <p:spPr>
          <a:xfrm>
            <a:off x="7670865" y="4870798"/>
            <a:ext cx="3143610" cy="304507"/>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在面对路线分歧时，</a:t>
            </a:r>
            <a:r>
              <a:rPr lang="zh-CN" altLang="en-US" sz="600" dirty="0">
                <a:solidFill>
                  <a:srgbClr val="000000"/>
                </a:solidFill>
                <a:latin typeface="微软雅黑" panose="020B0503020204020204" pitchFamily="34" charset="-122"/>
                <a:ea typeface="微软雅黑" panose="020B0503020204020204" pitchFamily="34" charset="-122"/>
              </a:rPr>
              <a:t>大部分</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司机会优先尊重乘客意愿，按乘客指定路线行驶，</a:t>
            </a:r>
            <a:r>
              <a:rPr lang="zh-CN" altLang="en-US" sz="600" dirty="0">
                <a:solidFill>
                  <a:srgbClr val="000000"/>
                </a:solidFill>
                <a:latin typeface="微软雅黑" panose="020B0503020204020204" pitchFamily="34" charset="-122"/>
                <a:ea typeface="微软雅黑" panose="020B0503020204020204" pitchFamily="34" charset="-122"/>
              </a:rPr>
              <a:t>少数司机会</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则遵循导航或平台规则</a:t>
            </a:r>
          </a:p>
        </p:txBody>
      </p:sp>
      <p:sp>
        <p:nvSpPr>
          <p:cNvPr id="146" name="文本占位符 4"/>
          <p:cNvSpPr txBox="1"/>
          <p:nvPr/>
        </p:nvSpPr>
        <p:spPr>
          <a:xfrm>
            <a:off x="7672027" y="5136573"/>
            <a:ext cx="3132363" cy="304507"/>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lang="zh-CN" altLang="en-US" sz="600" dirty="0">
                <a:solidFill>
                  <a:srgbClr val="000000"/>
                </a:solidFill>
                <a:latin typeface="微软雅黑" panose="020B0503020204020204" pitchFamily="34" charset="-122"/>
                <a:ea typeface="微软雅黑" panose="020B0503020204020204" pitchFamily="34" charset="-122"/>
              </a:rPr>
              <a:t>大部分</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司机会“经常”根据乘客状态主动调整服务方式（如驾驶风格、临时需求），仅</a:t>
            </a:r>
            <a:r>
              <a:rPr lang="zh-CN" altLang="en-US" sz="600" dirty="0">
                <a:solidFill>
                  <a:srgbClr val="000000"/>
                </a:solidFill>
                <a:latin typeface="微软雅黑" panose="020B0503020204020204" pitchFamily="34" charset="-122"/>
                <a:ea typeface="微软雅黑" panose="020B0503020204020204" pitchFamily="34" charset="-122"/>
              </a:rPr>
              <a:t>少部分司机</a:t>
            </a:r>
            <a:r>
              <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偶尔”调整</a:t>
            </a:r>
          </a:p>
        </p:txBody>
      </p:sp>
      <p:sp>
        <p:nvSpPr>
          <p:cNvPr id="147" name="文本占位符 4"/>
          <p:cNvSpPr txBox="1"/>
          <p:nvPr/>
        </p:nvSpPr>
        <p:spPr>
          <a:xfrm>
            <a:off x="7670864" y="5434708"/>
            <a:ext cx="3182776" cy="304507"/>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所有司机均会主动提醒乘客系好安全带、下车携带随身物品，并在场站提醒检查证件等安全事项</a:t>
            </a:r>
          </a:p>
        </p:txBody>
      </p:sp>
      <p:sp>
        <p:nvSpPr>
          <p:cNvPr id="148" name="文本占位符 4"/>
          <p:cNvSpPr txBox="1"/>
          <p:nvPr/>
        </p:nvSpPr>
        <p:spPr>
          <a:xfrm>
            <a:off x="7653144" y="5842059"/>
            <a:ext cx="3132363" cy="304507"/>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20000"/>
              </a:lnSpc>
              <a:buNone/>
              <a:defRPr/>
            </a:pP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司机从业工龄比较分化，</a:t>
            </a:r>
            <a:r>
              <a:rPr lang="zh-CN" altLang="en-US" sz="600" dirty="0">
                <a:solidFill>
                  <a:srgbClr val="000000"/>
                </a:solidFill>
                <a:latin typeface="微软雅黑" panose="020B0503020204020204" pitchFamily="34" charset="-122"/>
                <a:ea typeface="微软雅黑" panose="020B0503020204020204" pitchFamily="34" charset="-122"/>
              </a:rPr>
              <a:t>多数司从业时间在</a:t>
            </a:r>
            <a:r>
              <a:rPr lang="en-US" altLang="zh-CN" sz="600" dirty="0">
                <a:solidFill>
                  <a:srgbClr val="000000"/>
                </a:solidFill>
                <a:latin typeface="微软雅黑" panose="020B0503020204020204" pitchFamily="34" charset="-122"/>
                <a:ea typeface="微软雅黑" panose="020B0503020204020204" pitchFamily="34" charset="-122"/>
              </a:rPr>
              <a:t>6-10</a:t>
            </a:r>
            <a:r>
              <a:rPr lang="zh-CN" altLang="en-US" sz="600" dirty="0">
                <a:solidFill>
                  <a:srgbClr val="000000"/>
                </a:solidFill>
                <a:latin typeface="微软雅黑" panose="020B0503020204020204" pitchFamily="34" charset="-122"/>
                <a:ea typeface="微软雅黑" panose="020B0503020204020204" pitchFamily="34" charset="-122"/>
              </a:rPr>
              <a:t>年，</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有</a:t>
            </a:r>
            <a:r>
              <a:rPr lang="zh-CN" altLang="en-US" sz="600" dirty="0">
                <a:solidFill>
                  <a:srgbClr val="000000"/>
                </a:solidFill>
                <a:latin typeface="微软雅黑" panose="020B0503020204020204" pitchFamily="34" charset="-122"/>
                <a:ea typeface="微软雅黑" panose="020B0503020204020204" pitchFamily="34" charset="-122"/>
              </a:rPr>
              <a:t>部分</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司机从业仅</a:t>
            </a:r>
            <a:r>
              <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年；每周工作时间至少</a:t>
            </a:r>
            <a:r>
              <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5</a:t>
            </a: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天，全职</a:t>
            </a:r>
            <a:r>
              <a:rPr lang="zh-CN" altLang="en-US" sz="600" dirty="0">
                <a:solidFill>
                  <a:srgbClr val="000000"/>
                </a:solidFill>
                <a:latin typeface="微软雅黑" panose="020B0503020204020204" pitchFamily="34" charset="-122"/>
                <a:ea typeface="微软雅黑" panose="020B0503020204020204" pitchFamily="34" charset="-122"/>
              </a:rPr>
              <a:t>司机数量占多数</a:t>
            </a:r>
            <a:endPar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 name="文本占位符 4"/>
          <p:cNvSpPr txBox="1"/>
          <p:nvPr/>
        </p:nvSpPr>
        <p:spPr>
          <a:xfrm>
            <a:off x="1358171" y="4946003"/>
            <a:ext cx="884262" cy="234872"/>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zh-CN" altLang="en-US" sz="7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乘车类型</a:t>
            </a:r>
            <a:endParaRPr kumimoji="0" lang="en-US" altLang="zh-CN" sz="7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 name="文本占位符 4"/>
          <p:cNvSpPr txBox="1"/>
          <p:nvPr/>
        </p:nvSpPr>
        <p:spPr>
          <a:xfrm>
            <a:off x="2098528" y="4979112"/>
            <a:ext cx="3186757" cy="193707"/>
          </a:xfrm>
          <a:prstGeom prst="rect">
            <a:avLst/>
          </a:prstGeom>
        </p:spPr>
        <p:txBody>
          <a:bodyPr wrap="square">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kumimoji="0" lang="zh-CN" altLang="en-US"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快车与专车用户均有</a:t>
            </a:r>
            <a:endParaRPr kumimoji="0" lang="en-US" altLang="zh-CN" sz="6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2D4493C8-C306-96E0-430C-BD11F33A96A0}"/>
              </a:ext>
            </a:extLst>
          </p:cNvPr>
          <p:cNvSpPr/>
          <p:nvPr/>
        </p:nvSpPr>
        <p:spPr>
          <a:xfrm>
            <a:off x="488238" y="1743958"/>
            <a:ext cx="1913641" cy="5279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上车前阶段</a:t>
            </a:r>
          </a:p>
        </p:txBody>
      </p:sp>
      <p:sp>
        <p:nvSpPr>
          <p:cNvPr id="5" name="矩形 4">
            <a:extLst>
              <a:ext uri="{FF2B5EF4-FFF2-40B4-BE49-F238E27FC236}">
                <a16:creationId xmlns:a16="http://schemas.microsoft.com/office/drawing/2014/main" id="{71E24D33-F009-DA72-E8C1-2EA25FDE1161}"/>
              </a:ext>
            </a:extLst>
          </p:cNvPr>
          <p:cNvSpPr/>
          <p:nvPr/>
        </p:nvSpPr>
        <p:spPr>
          <a:xfrm>
            <a:off x="2706679" y="1743958"/>
            <a:ext cx="1913641" cy="5279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上车时阶段</a:t>
            </a:r>
          </a:p>
        </p:txBody>
      </p:sp>
      <p:sp>
        <p:nvSpPr>
          <p:cNvPr id="6" name="矩形 5">
            <a:extLst>
              <a:ext uri="{FF2B5EF4-FFF2-40B4-BE49-F238E27FC236}">
                <a16:creationId xmlns:a16="http://schemas.microsoft.com/office/drawing/2014/main" id="{886060FE-F043-7238-BB52-3196C4E6AA8C}"/>
              </a:ext>
            </a:extLst>
          </p:cNvPr>
          <p:cNvSpPr/>
          <p:nvPr/>
        </p:nvSpPr>
        <p:spPr>
          <a:xfrm>
            <a:off x="4925120" y="1743958"/>
            <a:ext cx="1913641" cy="5279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行驶阶段</a:t>
            </a:r>
          </a:p>
        </p:txBody>
      </p:sp>
      <p:sp>
        <p:nvSpPr>
          <p:cNvPr id="7" name="矩形 6">
            <a:extLst>
              <a:ext uri="{FF2B5EF4-FFF2-40B4-BE49-F238E27FC236}">
                <a16:creationId xmlns:a16="http://schemas.microsoft.com/office/drawing/2014/main" id="{1F285846-5D14-71B5-1919-296EC9597FAA}"/>
              </a:ext>
            </a:extLst>
          </p:cNvPr>
          <p:cNvSpPr/>
          <p:nvPr/>
        </p:nvSpPr>
        <p:spPr>
          <a:xfrm>
            <a:off x="7143561" y="1743958"/>
            <a:ext cx="1913641" cy="5279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下车时</a:t>
            </a:r>
            <a:r>
              <a:rPr lang="en-US" altLang="zh-CN" sz="1200" dirty="0"/>
              <a:t>&amp;</a:t>
            </a:r>
            <a:r>
              <a:rPr lang="zh-CN" altLang="en-US" sz="1200" dirty="0"/>
              <a:t>下车后</a:t>
            </a:r>
          </a:p>
        </p:txBody>
      </p:sp>
      <p:sp>
        <p:nvSpPr>
          <p:cNvPr id="8" name="矩形 7">
            <a:extLst>
              <a:ext uri="{FF2B5EF4-FFF2-40B4-BE49-F238E27FC236}">
                <a16:creationId xmlns:a16="http://schemas.microsoft.com/office/drawing/2014/main" id="{410CAA9F-BDA8-10A0-002B-5A9520F1650C}"/>
              </a:ext>
            </a:extLst>
          </p:cNvPr>
          <p:cNvSpPr/>
          <p:nvPr/>
        </p:nvSpPr>
        <p:spPr>
          <a:xfrm>
            <a:off x="557367" y="4826497"/>
            <a:ext cx="8499835" cy="5279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跨阶段</a:t>
            </a:r>
          </a:p>
        </p:txBody>
      </p:sp>
      <p:sp>
        <p:nvSpPr>
          <p:cNvPr id="10" name="矩形 9">
            <a:extLst>
              <a:ext uri="{FF2B5EF4-FFF2-40B4-BE49-F238E27FC236}">
                <a16:creationId xmlns:a16="http://schemas.microsoft.com/office/drawing/2014/main" id="{399DAE07-F27B-F93B-3E5A-9B9BC418EEF2}"/>
              </a:ext>
            </a:extLst>
          </p:cNvPr>
          <p:cNvSpPr/>
          <p:nvPr/>
        </p:nvSpPr>
        <p:spPr>
          <a:xfrm>
            <a:off x="884165" y="3237063"/>
            <a:ext cx="1131217" cy="372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定位与接驾</a:t>
            </a:r>
          </a:p>
        </p:txBody>
      </p:sp>
      <p:sp>
        <p:nvSpPr>
          <p:cNvPr id="12" name="矩形 11">
            <a:extLst>
              <a:ext uri="{FF2B5EF4-FFF2-40B4-BE49-F238E27FC236}">
                <a16:creationId xmlns:a16="http://schemas.microsoft.com/office/drawing/2014/main" id="{DC8D08F5-C43B-2EFC-86D8-0FEF3C9372A5}"/>
              </a:ext>
            </a:extLst>
          </p:cNvPr>
          <p:cNvSpPr/>
          <p:nvPr/>
        </p:nvSpPr>
        <p:spPr>
          <a:xfrm>
            <a:off x="884165" y="2498100"/>
            <a:ext cx="1131217" cy="372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行前沟通</a:t>
            </a:r>
          </a:p>
        </p:txBody>
      </p:sp>
      <p:sp>
        <p:nvSpPr>
          <p:cNvPr id="13" name="矩形 12">
            <a:extLst>
              <a:ext uri="{FF2B5EF4-FFF2-40B4-BE49-F238E27FC236}">
                <a16:creationId xmlns:a16="http://schemas.microsoft.com/office/drawing/2014/main" id="{0BBC0739-862A-6A4B-0583-86A77BB420B9}"/>
              </a:ext>
            </a:extLst>
          </p:cNvPr>
          <p:cNvSpPr/>
          <p:nvPr/>
        </p:nvSpPr>
        <p:spPr>
          <a:xfrm>
            <a:off x="3170162" y="2498100"/>
            <a:ext cx="1131217" cy="372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协助上车</a:t>
            </a:r>
          </a:p>
        </p:txBody>
      </p:sp>
      <p:sp>
        <p:nvSpPr>
          <p:cNvPr id="15" name="矩形 14">
            <a:extLst>
              <a:ext uri="{FF2B5EF4-FFF2-40B4-BE49-F238E27FC236}">
                <a16:creationId xmlns:a16="http://schemas.microsoft.com/office/drawing/2014/main" id="{D71C3AB3-3E70-C560-7D1D-5209B088214D}"/>
              </a:ext>
            </a:extLst>
          </p:cNvPr>
          <p:cNvSpPr/>
          <p:nvPr/>
        </p:nvSpPr>
        <p:spPr>
          <a:xfrm>
            <a:off x="3165660" y="3292053"/>
            <a:ext cx="1131217" cy="372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行程确认</a:t>
            </a:r>
          </a:p>
        </p:txBody>
      </p:sp>
      <p:sp>
        <p:nvSpPr>
          <p:cNvPr id="16" name="矩形 15">
            <a:extLst>
              <a:ext uri="{FF2B5EF4-FFF2-40B4-BE49-F238E27FC236}">
                <a16:creationId xmlns:a16="http://schemas.microsoft.com/office/drawing/2014/main" id="{011CC8FA-C9E8-F91D-400F-714C60F85911}"/>
              </a:ext>
            </a:extLst>
          </p:cNvPr>
          <p:cNvSpPr/>
          <p:nvPr/>
        </p:nvSpPr>
        <p:spPr>
          <a:xfrm>
            <a:off x="5316331" y="2498100"/>
            <a:ext cx="1131217" cy="372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车辆环境舒适调整</a:t>
            </a:r>
          </a:p>
        </p:txBody>
      </p:sp>
      <p:sp>
        <p:nvSpPr>
          <p:cNvPr id="19" name="矩形 18">
            <a:extLst>
              <a:ext uri="{FF2B5EF4-FFF2-40B4-BE49-F238E27FC236}">
                <a16:creationId xmlns:a16="http://schemas.microsoft.com/office/drawing/2014/main" id="{34ACF7CD-206E-980D-F6F3-CFD38D4BFD33}"/>
              </a:ext>
            </a:extLst>
          </p:cNvPr>
          <p:cNvSpPr/>
          <p:nvPr/>
        </p:nvSpPr>
        <p:spPr>
          <a:xfrm>
            <a:off x="5316328" y="4391365"/>
            <a:ext cx="1131217" cy="372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临时性停车需求</a:t>
            </a:r>
          </a:p>
        </p:txBody>
      </p:sp>
      <p:sp>
        <p:nvSpPr>
          <p:cNvPr id="20" name="矩形 19">
            <a:extLst>
              <a:ext uri="{FF2B5EF4-FFF2-40B4-BE49-F238E27FC236}">
                <a16:creationId xmlns:a16="http://schemas.microsoft.com/office/drawing/2014/main" id="{7D282A68-BF0C-67B4-4EE0-CF3C4877D952}"/>
              </a:ext>
            </a:extLst>
          </p:cNvPr>
          <p:cNvSpPr/>
          <p:nvPr/>
        </p:nvSpPr>
        <p:spPr>
          <a:xfrm>
            <a:off x="5316329" y="3152220"/>
            <a:ext cx="1131217" cy="372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行车控制（</a:t>
            </a:r>
            <a:r>
              <a:rPr lang="en-US" altLang="zh-CN" sz="1200" dirty="0"/>
              <a:t>Robotaxi</a:t>
            </a:r>
            <a:r>
              <a:rPr lang="zh-CN" altLang="en-US" sz="1200" dirty="0"/>
              <a:t>）</a:t>
            </a:r>
          </a:p>
        </p:txBody>
      </p:sp>
      <p:sp>
        <p:nvSpPr>
          <p:cNvPr id="21" name="矩形 20">
            <a:extLst>
              <a:ext uri="{FF2B5EF4-FFF2-40B4-BE49-F238E27FC236}">
                <a16:creationId xmlns:a16="http://schemas.microsoft.com/office/drawing/2014/main" id="{256974E4-5261-0618-D774-2B1F33B29774}"/>
              </a:ext>
            </a:extLst>
          </p:cNvPr>
          <p:cNvSpPr/>
          <p:nvPr/>
        </p:nvSpPr>
        <p:spPr>
          <a:xfrm>
            <a:off x="7454642" y="2498100"/>
            <a:ext cx="1131217" cy="372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停车位置沟通</a:t>
            </a:r>
          </a:p>
        </p:txBody>
      </p:sp>
      <p:sp>
        <p:nvSpPr>
          <p:cNvPr id="23" name="矩形 22">
            <a:extLst>
              <a:ext uri="{FF2B5EF4-FFF2-40B4-BE49-F238E27FC236}">
                <a16:creationId xmlns:a16="http://schemas.microsoft.com/office/drawing/2014/main" id="{6CD1F1CB-6898-1C23-0827-069B34A5E965}"/>
              </a:ext>
            </a:extLst>
          </p:cNvPr>
          <p:cNvSpPr/>
          <p:nvPr/>
        </p:nvSpPr>
        <p:spPr>
          <a:xfrm>
            <a:off x="7454642" y="3066848"/>
            <a:ext cx="1131217" cy="372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安全提醒</a:t>
            </a:r>
          </a:p>
        </p:txBody>
      </p:sp>
      <p:sp>
        <p:nvSpPr>
          <p:cNvPr id="24" name="矩形 23">
            <a:extLst>
              <a:ext uri="{FF2B5EF4-FFF2-40B4-BE49-F238E27FC236}">
                <a16:creationId xmlns:a16="http://schemas.microsoft.com/office/drawing/2014/main" id="{42CED8D3-AF98-168A-3224-90DEBAE2FCFF}"/>
              </a:ext>
            </a:extLst>
          </p:cNvPr>
          <p:cNvSpPr/>
          <p:nvPr/>
        </p:nvSpPr>
        <p:spPr>
          <a:xfrm>
            <a:off x="7467000" y="3680110"/>
            <a:ext cx="1131217" cy="372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额外与服务评价</a:t>
            </a:r>
          </a:p>
        </p:txBody>
      </p:sp>
      <p:cxnSp>
        <p:nvCxnSpPr>
          <p:cNvPr id="28" name="直接箭头连接符 27">
            <a:extLst>
              <a:ext uri="{FF2B5EF4-FFF2-40B4-BE49-F238E27FC236}">
                <a16:creationId xmlns:a16="http://schemas.microsoft.com/office/drawing/2014/main" id="{038559B0-F831-5000-1B02-8376FB6829AA}"/>
              </a:ext>
            </a:extLst>
          </p:cNvPr>
          <p:cNvCxnSpPr>
            <a:cxnSpLocks/>
            <a:stCxn id="12" idx="2"/>
            <a:endCxn id="10" idx="0"/>
          </p:cNvCxnSpPr>
          <p:nvPr/>
        </p:nvCxnSpPr>
        <p:spPr>
          <a:xfrm>
            <a:off x="1449774" y="2870460"/>
            <a:ext cx="0" cy="3666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连接符: 肘形 35">
            <a:extLst>
              <a:ext uri="{FF2B5EF4-FFF2-40B4-BE49-F238E27FC236}">
                <a16:creationId xmlns:a16="http://schemas.microsoft.com/office/drawing/2014/main" id="{425C86A8-7B76-2371-83D8-5C8AC560F9B5}"/>
              </a:ext>
            </a:extLst>
          </p:cNvPr>
          <p:cNvCxnSpPr>
            <a:endCxn id="12" idx="1"/>
          </p:cNvCxnSpPr>
          <p:nvPr/>
        </p:nvCxnSpPr>
        <p:spPr>
          <a:xfrm rot="16200000" flipH="1">
            <a:off x="555405" y="2355519"/>
            <a:ext cx="412421" cy="24509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连接符: 肘形 37">
            <a:extLst>
              <a:ext uri="{FF2B5EF4-FFF2-40B4-BE49-F238E27FC236}">
                <a16:creationId xmlns:a16="http://schemas.microsoft.com/office/drawing/2014/main" id="{8B533BDF-F379-D9F4-9D76-C8FE3A4DF995}"/>
              </a:ext>
            </a:extLst>
          </p:cNvPr>
          <p:cNvCxnSpPr>
            <a:endCxn id="13" idx="1"/>
          </p:cNvCxnSpPr>
          <p:nvPr/>
        </p:nvCxnSpPr>
        <p:spPr>
          <a:xfrm rot="16200000" flipH="1">
            <a:off x="2806052" y="2320170"/>
            <a:ext cx="412422" cy="31579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连接符: 肘形 39">
            <a:extLst>
              <a:ext uri="{FF2B5EF4-FFF2-40B4-BE49-F238E27FC236}">
                <a16:creationId xmlns:a16="http://schemas.microsoft.com/office/drawing/2014/main" id="{7CD3EA91-6AC9-430C-AAF2-5852BAF676A2}"/>
              </a:ext>
            </a:extLst>
          </p:cNvPr>
          <p:cNvCxnSpPr>
            <a:endCxn id="16" idx="1"/>
          </p:cNvCxnSpPr>
          <p:nvPr/>
        </p:nvCxnSpPr>
        <p:spPr>
          <a:xfrm rot="16200000" flipH="1">
            <a:off x="4972646" y="2340594"/>
            <a:ext cx="412423" cy="27494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连接符: 肘形 41">
            <a:extLst>
              <a:ext uri="{FF2B5EF4-FFF2-40B4-BE49-F238E27FC236}">
                <a16:creationId xmlns:a16="http://schemas.microsoft.com/office/drawing/2014/main" id="{9DFEBCD1-5035-B5BB-7E16-ADB11D2B0913}"/>
              </a:ext>
            </a:extLst>
          </p:cNvPr>
          <p:cNvCxnSpPr>
            <a:endCxn id="21" idx="1"/>
          </p:cNvCxnSpPr>
          <p:nvPr/>
        </p:nvCxnSpPr>
        <p:spPr>
          <a:xfrm rot="16200000" flipH="1">
            <a:off x="7158878" y="2388515"/>
            <a:ext cx="412425" cy="17910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7D167FA8-D8FA-B3B7-3C51-0EF7DC75C871}"/>
              </a:ext>
            </a:extLst>
          </p:cNvPr>
          <p:cNvCxnSpPr>
            <a:cxnSpLocks/>
            <a:stCxn id="13" idx="2"/>
            <a:endCxn id="15" idx="0"/>
          </p:cNvCxnSpPr>
          <p:nvPr/>
        </p:nvCxnSpPr>
        <p:spPr>
          <a:xfrm flipH="1">
            <a:off x="3731269" y="2870460"/>
            <a:ext cx="4502" cy="421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7B22E1D9-15CD-129B-441D-136F5EE58916}"/>
              </a:ext>
            </a:extLst>
          </p:cNvPr>
          <p:cNvCxnSpPr>
            <a:cxnSpLocks/>
            <a:stCxn id="16" idx="2"/>
            <a:endCxn id="20" idx="0"/>
          </p:cNvCxnSpPr>
          <p:nvPr/>
        </p:nvCxnSpPr>
        <p:spPr>
          <a:xfrm flipH="1">
            <a:off x="5881938" y="2870460"/>
            <a:ext cx="2" cy="2817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6C6494C0-F77E-ED34-0F04-73C4F160B7D9}"/>
              </a:ext>
            </a:extLst>
          </p:cNvPr>
          <p:cNvCxnSpPr>
            <a:cxnSpLocks/>
            <a:stCxn id="20" idx="2"/>
            <a:endCxn id="27" idx="0"/>
          </p:cNvCxnSpPr>
          <p:nvPr/>
        </p:nvCxnSpPr>
        <p:spPr>
          <a:xfrm flipH="1">
            <a:off x="5881937" y="3524580"/>
            <a:ext cx="1" cy="228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8D6B3B49-9A2E-EA75-1BE4-53ADE7648C5F}"/>
              </a:ext>
            </a:extLst>
          </p:cNvPr>
          <p:cNvCxnSpPr>
            <a:stCxn id="21" idx="2"/>
            <a:endCxn id="23" idx="0"/>
          </p:cNvCxnSpPr>
          <p:nvPr/>
        </p:nvCxnSpPr>
        <p:spPr>
          <a:xfrm>
            <a:off x="8020251" y="2870460"/>
            <a:ext cx="0" cy="196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9EC94BE0-ECE7-36EB-932F-7B0C183BD8ED}"/>
              </a:ext>
            </a:extLst>
          </p:cNvPr>
          <p:cNvCxnSpPr>
            <a:cxnSpLocks/>
            <a:stCxn id="23" idx="2"/>
          </p:cNvCxnSpPr>
          <p:nvPr/>
        </p:nvCxnSpPr>
        <p:spPr>
          <a:xfrm>
            <a:off x="8020251" y="3439208"/>
            <a:ext cx="0" cy="1702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矩形 60">
            <a:extLst>
              <a:ext uri="{FF2B5EF4-FFF2-40B4-BE49-F238E27FC236}">
                <a16:creationId xmlns:a16="http://schemas.microsoft.com/office/drawing/2014/main" id="{3AC9D1E2-0C33-61AA-A7A4-D5F69894831E}"/>
              </a:ext>
            </a:extLst>
          </p:cNvPr>
          <p:cNvSpPr/>
          <p:nvPr/>
        </p:nvSpPr>
        <p:spPr>
          <a:xfrm>
            <a:off x="951723" y="5579603"/>
            <a:ext cx="1131217" cy="372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驾驶风格</a:t>
            </a:r>
          </a:p>
        </p:txBody>
      </p:sp>
      <p:sp>
        <p:nvSpPr>
          <p:cNvPr id="62" name="矩形 61">
            <a:extLst>
              <a:ext uri="{FF2B5EF4-FFF2-40B4-BE49-F238E27FC236}">
                <a16:creationId xmlns:a16="http://schemas.microsoft.com/office/drawing/2014/main" id="{E8BCEF1A-F47F-8D9B-2DE7-7E9CAC7534BB}"/>
              </a:ext>
            </a:extLst>
          </p:cNvPr>
          <p:cNvSpPr/>
          <p:nvPr/>
        </p:nvSpPr>
        <p:spPr>
          <a:xfrm>
            <a:off x="3793903" y="5579603"/>
            <a:ext cx="1131217" cy="372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司机素质与品格</a:t>
            </a:r>
          </a:p>
        </p:txBody>
      </p:sp>
      <p:cxnSp>
        <p:nvCxnSpPr>
          <p:cNvPr id="65" name="直接箭头连接符 64">
            <a:extLst>
              <a:ext uri="{FF2B5EF4-FFF2-40B4-BE49-F238E27FC236}">
                <a16:creationId xmlns:a16="http://schemas.microsoft.com/office/drawing/2014/main" id="{BC0A3C6B-4EBE-0A6C-6A67-EEA0D3C530DF}"/>
              </a:ext>
            </a:extLst>
          </p:cNvPr>
          <p:cNvCxnSpPr>
            <a:endCxn id="61" idx="0"/>
          </p:cNvCxnSpPr>
          <p:nvPr/>
        </p:nvCxnSpPr>
        <p:spPr>
          <a:xfrm>
            <a:off x="1517331" y="5354398"/>
            <a:ext cx="1" cy="2252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F84069EF-07C5-C961-3C55-2E37F10AED7E}"/>
              </a:ext>
            </a:extLst>
          </p:cNvPr>
          <p:cNvCxnSpPr>
            <a:endCxn id="62" idx="0"/>
          </p:cNvCxnSpPr>
          <p:nvPr/>
        </p:nvCxnSpPr>
        <p:spPr>
          <a:xfrm>
            <a:off x="4359511" y="5354398"/>
            <a:ext cx="1" cy="2252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0" name="矩形 69">
            <a:extLst>
              <a:ext uri="{FF2B5EF4-FFF2-40B4-BE49-F238E27FC236}">
                <a16:creationId xmlns:a16="http://schemas.microsoft.com/office/drawing/2014/main" id="{572C42B3-86D0-8642-9517-28DDB71BCF18}"/>
              </a:ext>
            </a:extLst>
          </p:cNvPr>
          <p:cNvSpPr/>
          <p:nvPr/>
        </p:nvSpPr>
        <p:spPr>
          <a:xfrm>
            <a:off x="6636083" y="5604206"/>
            <a:ext cx="1131217" cy="372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乘客个性化</a:t>
            </a:r>
          </a:p>
        </p:txBody>
      </p:sp>
      <p:cxnSp>
        <p:nvCxnSpPr>
          <p:cNvPr id="71" name="直接箭头连接符 70">
            <a:extLst>
              <a:ext uri="{FF2B5EF4-FFF2-40B4-BE49-F238E27FC236}">
                <a16:creationId xmlns:a16="http://schemas.microsoft.com/office/drawing/2014/main" id="{3544089B-1BE3-8029-5A10-70CF0817547A}"/>
              </a:ext>
            </a:extLst>
          </p:cNvPr>
          <p:cNvCxnSpPr/>
          <p:nvPr/>
        </p:nvCxnSpPr>
        <p:spPr>
          <a:xfrm>
            <a:off x="7201691" y="5352555"/>
            <a:ext cx="1" cy="2252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文本框 75">
            <a:extLst>
              <a:ext uri="{FF2B5EF4-FFF2-40B4-BE49-F238E27FC236}">
                <a16:creationId xmlns:a16="http://schemas.microsoft.com/office/drawing/2014/main" id="{02FB0520-4844-EBE7-DFFE-768C6491FB74}"/>
              </a:ext>
            </a:extLst>
          </p:cNvPr>
          <p:cNvSpPr txBox="1"/>
          <p:nvPr/>
        </p:nvSpPr>
        <p:spPr>
          <a:xfrm>
            <a:off x="639066" y="583683"/>
            <a:ext cx="6462025" cy="424732"/>
          </a:xfrm>
          <a:prstGeom prst="rect">
            <a:avLst/>
          </a:prstGeom>
          <a:noFill/>
        </p:spPr>
        <p:txBody>
          <a:bodyPr wrap="none" rtlCol="0">
            <a:spAutoFit/>
          </a:bodyPr>
          <a:lstStyle/>
          <a:p>
            <a:pPr>
              <a:lnSpc>
                <a:spcPct val="90000"/>
              </a:lnSpc>
              <a:spcBef>
                <a:spcPct val="0"/>
              </a:spcBef>
            </a:pPr>
            <a:r>
              <a:rPr lang="zh-CN" altLang="en-US" sz="2400" b="1" dirty="0">
                <a:solidFill>
                  <a:schemeClr val="tx1">
                    <a:lumMod val="65000"/>
                    <a:lumOff val="35000"/>
                  </a:schemeClr>
                </a:solidFill>
                <a:latin typeface="+mn-ea"/>
                <a:cs typeface="+mj-cs"/>
              </a:rPr>
              <a:t>乘客的</a:t>
            </a:r>
            <a:r>
              <a:rPr lang="en-US" altLang="zh-CN" sz="2400" b="1" dirty="0">
                <a:solidFill>
                  <a:schemeClr val="tx1">
                    <a:lumMod val="65000"/>
                    <a:lumOff val="35000"/>
                  </a:schemeClr>
                </a:solidFill>
                <a:latin typeface="+mn-ea"/>
                <a:cs typeface="+mj-cs"/>
              </a:rPr>
              <a:t>User Journey</a:t>
            </a:r>
            <a:r>
              <a:rPr lang="zh-CN" altLang="en-US" sz="2400" b="1" dirty="0">
                <a:solidFill>
                  <a:schemeClr val="tx1">
                    <a:lumMod val="65000"/>
                    <a:lumOff val="35000"/>
                  </a:schemeClr>
                </a:solidFill>
                <a:latin typeface="+mn-ea"/>
                <a:cs typeface="+mj-cs"/>
              </a:rPr>
              <a:t>分析框架与功能分析维度</a:t>
            </a:r>
          </a:p>
        </p:txBody>
      </p:sp>
      <p:sp>
        <p:nvSpPr>
          <p:cNvPr id="9" name="文本框 8">
            <a:extLst>
              <a:ext uri="{FF2B5EF4-FFF2-40B4-BE49-F238E27FC236}">
                <a16:creationId xmlns:a16="http://schemas.microsoft.com/office/drawing/2014/main" id="{31C56EB3-6AAF-F54E-5114-F3C3A663C03D}"/>
              </a:ext>
            </a:extLst>
          </p:cNvPr>
          <p:cNvSpPr txBox="1"/>
          <p:nvPr/>
        </p:nvSpPr>
        <p:spPr>
          <a:xfrm>
            <a:off x="9454371" y="2040755"/>
            <a:ext cx="902811" cy="307777"/>
          </a:xfrm>
          <a:prstGeom prst="rect">
            <a:avLst/>
          </a:prstGeom>
          <a:noFill/>
        </p:spPr>
        <p:txBody>
          <a:bodyPr wrap="none" rtlCol="0">
            <a:spAutoFit/>
          </a:bodyPr>
          <a:lstStyle/>
          <a:p>
            <a:r>
              <a:rPr lang="zh-CN" altLang="en-US" sz="1400" b="1" dirty="0"/>
              <a:t>已做到：</a:t>
            </a:r>
          </a:p>
        </p:txBody>
      </p:sp>
      <p:sp>
        <p:nvSpPr>
          <p:cNvPr id="11" name="文本框 10">
            <a:extLst>
              <a:ext uri="{FF2B5EF4-FFF2-40B4-BE49-F238E27FC236}">
                <a16:creationId xmlns:a16="http://schemas.microsoft.com/office/drawing/2014/main" id="{E47833C3-4D52-4DD8-E44F-8D383145989A}"/>
              </a:ext>
            </a:extLst>
          </p:cNvPr>
          <p:cNvSpPr txBox="1"/>
          <p:nvPr/>
        </p:nvSpPr>
        <p:spPr>
          <a:xfrm>
            <a:off x="9454370" y="3292053"/>
            <a:ext cx="902811" cy="307777"/>
          </a:xfrm>
          <a:prstGeom prst="rect">
            <a:avLst/>
          </a:prstGeom>
          <a:noFill/>
        </p:spPr>
        <p:txBody>
          <a:bodyPr wrap="none" rtlCol="0">
            <a:spAutoFit/>
          </a:bodyPr>
          <a:lstStyle/>
          <a:p>
            <a:r>
              <a:rPr lang="zh-CN" altLang="en-US" sz="1400" b="1" dirty="0"/>
              <a:t>机会点：</a:t>
            </a:r>
          </a:p>
        </p:txBody>
      </p:sp>
      <p:sp>
        <p:nvSpPr>
          <p:cNvPr id="14" name="文本框 13">
            <a:extLst>
              <a:ext uri="{FF2B5EF4-FFF2-40B4-BE49-F238E27FC236}">
                <a16:creationId xmlns:a16="http://schemas.microsoft.com/office/drawing/2014/main" id="{30DA7D64-AA52-0C47-22CB-03BA3ED33557}"/>
              </a:ext>
            </a:extLst>
          </p:cNvPr>
          <p:cNvSpPr txBox="1"/>
          <p:nvPr/>
        </p:nvSpPr>
        <p:spPr>
          <a:xfrm>
            <a:off x="9480019" y="4303200"/>
            <a:ext cx="723275" cy="307777"/>
          </a:xfrm>
          <a:prstGeom prst="rect">
            <a:avLst/>
          </a:prstGeom>
          <a:noFill/>
        </p:spPr>
        <p:txBody>
          <a:bodyPr wrap="none" rtlCol="0">
            <a:spAutoFit/>
          </a:bodyPr>
          <a:lstStyle/>
          <a:p>
            <a:r>
              <a:rPr lang="zh-CN" altLang="en-US" sz="1400" b="1" dirty="0"/>
              <a:t>展望：</a:t>
            </a:r>
          </a:p>
        </p:txBody>
      </p:sp>
      <p:sp>
        <p:nvSpPr>
          <p:cNvPr id="17" name="文本框 16">
            <a:extLst>
              <a:ext uri="{FF2B5EF4-FFF2-40B4-BE49-F238E27FC236}">
                <a16:creationId xmlns:a16="http://schemas.microsoft.com/office/drawing/2014/main" id="{25748D43-0688-1C04-7771-62BE39E01241}"/>
              </a:ext>
            </a:extLst>
          </p:cNvPr>
          <p:cNvSpPr txBox="1"/>
          <p:nvPr/>
        </p:nvSpPr>
        <p:spPr>
          <a:xfrm>
            <a:off x="9887209" y="2529398"/>
            <a:ext cx="1932316" cy="430887"/>
          </a:xfrm>
          <a:prstGeom prst="rect">
            <a:avLst/>
          </a:prstGeom>
          <a:noFill/>
        </p:spPr>
        <p:txBody>
          <a:bodyPr wrap="square" rtlCol="0">
            <a:spAutoFit/>
          </a:bodyPr>
          <a:lstStyle/>
          <a:p>
            <a:pPr marL="285750" indent="-285750">
              <a:buFont typeface="Arial" panose="020B0604020202020204" pitchFamily="34" charset="0"/>
              <a:buChar char="•"/>
            </a:pPr>
            <a:r>
              <a:rPr lang="zh-CN" altLang="en-US" sz="1100" dirty="0"/>
              <a:t>当前优秀座舱与智驾支持，可以做到的功能</a:t>
            </a:r>
          </a:p>
        </p:txBody>
      </p:sp>
      <p:sp>
        <p:nvSpPr>
          <p:cNvPr id="18" name="文本框 17">
            <a:extLst>
              <a:ext uri="{FF2B5EF4-FFF2-40B4-BE49-F238E27FC236}">
                <a16:creationId xmlns:a16="http://schemas.microsoft.com/office/drawing/2014/main" id="{E1425860-0568-FBC4-E611-1EB2F96F6935}"/>
              </a:ext>
            </a:extLst>
          </p:cNvPr>
          <p:cNvSpPr txBox="1"/>
          <p:nvPr/>
        </p:nvSpPr>
        <p:spPr>
          <a:xfrm>
            <a:off x="9905776" y="3734470"/>
            <a:ext cx="1932316" cy="600164"/>
          </a:xfrm>
          <a:prstGeom prst="rect">
            <a:avLst/>
          </a:prstGeom>
          <a:noFill/>
        </p:spPr>
        <p:txBody>
          <a:bodyPr wrap="square" rtlCol="0">
            <a:spAutoFit/>
          </a:bodyPr>
          <a:lstStyle/>
          <a:p>
            <a:pPr marL="285750" indent="-285750">
              <a:buFont typeface="Arial" panose="020B0604020202020204" pitchFamily="34" charset="0"/>
              <a:buChar char="•"/>
            </a:pPr>
            <a:r>
              <a:rPr lang="zh-CN" altLang="en-US" sz="1100" dirty="0"/>
              <a:t>通过大模型等</a:t>
            </a:r>
            <a:r>
              <a:rPr lang="en-US" altLang="zh-CN" sz="1100" dirty="0"/>
              <a:t>AI</a:t>
            </a:r>
            <a:r>
              <a:rPr lang="zh-CN" altLang="en-US" sz="1100" dirty="0"/>
              <a:t>技术可以实现，能够提升用户体验功能</a:t>
            </a:r>
          </a:p>
        </p:txBody>
      </p:sp>
      <p:sp>
        <p:nvSpPr>
          <p:cNvPr id="22" name="文本框 21">
            <a:extLst>
              <a:ext uri="{FF2B5EF4-FFF2-40B4-BE49-F238E27FC236}">
                <a16:creationId xmlns:a16="http://schemas.microsoft.com/office/drawing/2014/main" id="{18634B57-492E-DA59-0316-C14C086E3E28}"/>
              </a:ext>
            </a:extLst>
          </p:cNvPr>
          <p:cNvSpPr txBox="1"/>
          <p:nvPr/>
        </p:nvSpPr>
        <p:spPr>
          <a:xfrm>
            <a:off x="9905776" y="4868727"/>
            <a:ext cx="1932316" cy="600164"/>
          </a:xfrm>
          <a:prstGeom prst="rect">
            <a:avLst/>
          </a:prstGeom>
          <a:noFill/>
        </p:spPr>
        <p:txBody>
          <a:bodyPr wrap="square" rtlCol="0">
            <a:spAutoFit/>
          </a:bodyPr>
          <a:lstStyle/>
          <a:p>
            <a:pPr marL="285750" indent="-285750">
              <a:buFont typeface="Arial" panose="020B0604020202020204" pitchFamily="34" charset="0"/>
              <a:buChar char="•"/>
            </a:pPr>
            <a:r>
              <a:rPr lang="zh-CN" altLang="en-US" sz="1100" dirty="0"/>
              <a:t>未来依靠一些其他技术如机器人技术等硬件，等可以做到的</a:t>
            </a:r>
          </a:p>
        </p:txBody>
      </p:sp>
      <p:sp>
        <p:nvSpPr>
          <p:cNvPr id="3" name="文本框 2">
            <a:extLst>
              <a:ext uri="{FF2B5EF4-FFF2-40B4-BE49-F238E27FC236}">
                <a16:creationId xmlns:a16="http://schemas.microsoft.com/office/drawing/2014/main" id="{C28115E8-D8AC-970E-9C08-2543D28C4403}"/>
              </a:ext>
            </a:extLst>
          </p:cNvPr>
          <p:cNvSpPr txBox="1"/>
          <p:nvPr/>
        </p:nvSpPr>
        <p:spPr>
          <a:xfrm>
            <a:off x="9409178" y="1313284"/>
            <a:ext cx="2723823" cy="369332"/>
          </a:xfrm>
          <a:prstGeom prst="rect">
            <a:avLst/>
          </a:prstGeom>
          <a:noFill/>
        </p:spPr>
        <p:txBody>
          <a:bodyPr wrap="none" rtlCol="0">
            <a:spAutoFit/>
          </a:bodyPr>
          <a:lstStyle/>
          <a:p>
            <a:r>
              <a:rPr lang="zh-CN" altLang="en-US" b="1" dirty="0"/>
              <a:t>功能建议分析维度说明：</a:t>
            </a:r>
          </a:p>
        </p:txBody>
      </p:sp>
      <p:sp>
        <p:nvSpPr>
          <p:cNvPr id="25" name="文本框 24">
            <a:extLst>
              <a:ext uri="{FF2B5EF4-FFF2-40B4-BE49-F238E27FC236}">
                <a16:creationId xmlns:a16="http://schemas.microsoft.com/office/drawing/2014/main" id="{86BA3764-BD50-B32F-7528-B96E23D96996}"/>
              </a:ext>
            </a:extLst>
          </p:cNvPr>
          <p:cNvSpPr txBox="1"/>
          <p:nvPr/>
        </p:nvSpPr>
        <p:spPr>
          <a:xfrm>
            <a:off x="3243665" y="1276017"/>
            <a:ext cx="4134465" cy="369332"/>
          </a:xfrm>
          <a:prstGeom prst="rect">
            <a:avLst/>
          </a:prstGeom>
          <a:noFill/>
        </p:spPr>
        <p:txBody>
          <a:bodyPr wrap="none" rtlCol="0">
            <a:spAutoFit/>
          </a:bodyPr>
          <a:lstStyle/>
          <a:p>
            <a:r>
              <a:rPr lang="zh-CN" altLang="en-US" b="1" dirty="0"/>
              <a:t>乘客基于</a:t>
            </a:r>
            <a:r>
              <a:rPr lang="en-US" altLang="zh-CN" b="1" dirty="0" err="1"/>
              <a:t>UserJourney</a:t>
            </a:r>
            <a:r>
              <a:rPr lang="zh-CN" altLang="en-US" b="1" dirty="0"/>
              <a:t>的需求分析框架</a:t>
            </a:r>
          </a:p>
        </p:txBody>
      </p:sp>
      <p:sp>
        <p:nvSpPr>
          <p:cNvPr id="27" name="矩形 26">
            <a:extLst>
              <a:ext uri="{FF2B5EF4-FFF2-40B4-BE49-F238E27FC236}">
                <a16:creationId xmlns:a16="http://schemas.microsoft.com/office/drawing/2014/main" id="{65D22D59-5C70-54DE-A77F-ABFEBD6E05CD}"/>
              </a:ext>
            </a:extLst>
          </p:cNvPr>
          <p:cNvSpPr/>
          <p:nvPr/>
        </p:nvSpPr>
        <p:spPr>
          <a:xfrm>
            <a:off x="5316328" y="3752686"/>
            <a:ext cx="1131217" cy="372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行车娱乐（</a:t>
            </a:r>
            <a:r>
              <a:rPr lang="en-US" altLang="zh-CN" sz="1200" dirty="0"/>
              <a:t>Robotaxi</a:t>
            </a:r>
            <a:r>
              <a:rPr lang="zh-CN" altLang="en-US" sz="1200" dirty="0"/>
              <a:t>）</a:t>
            </a:r>
          </a:p>
        </p:txBody>
      </p:sp>
      <p:cxnSp>
        <p:nvCxnSpPr>
          <p:cNvPr id="33" name="直接箭头连接符 32">
            <a:extLst>
              <a:ext uri="{FF2B5EF4-FFF2-40B4-BE49-F238E27FC236}">
                <a16:creationId xmlns:a16="http://schemas.microsoft.com/office/drawing/2014/main" id="{26A6C36A-145E-0881-21EC-276BA05CB33C}"/>
              </a:ext>
            </a:extLst>
          </p:cNvPr>
          <p:cNvCxnSpPr>
            <a:cxnSpLocks/>
          </p:cNvCxnSpPr>
          <p:nvPr/>
        </p:nvCxnSpPr>
        <p:spPr>
          <a:xfrm flipH="1">
            <a:off x="5881935" y="4142124"/>
            <a:ext cx="1" cy="228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等腰三角形 33">
            <a:extLst>
              <a:ext uri="{FF2B5EF4-FFF2-40B4-BE49-F238E27FC236}">
                <a16:creationId xmlns:a16="http://schemas.microsoft.com/office/drawing/2014/main" id="{AAD7EDA0-007F-E100-1A73-BC11A74BE36D}"/>
              </a:ext>
            </a:extLst>
          </p:cNvPr>
          <p:cNvSpPr/>
          <p:nvPr/>
        </p:nvSpPr>
        <p:spPr>
          <a:xfrm rot="5400000">
            <a:off x="7394900" y="3558814"/>
            <a:ext cx="3898944" cy="13894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Tree>
    <p:extLst>
      <p:ext uri="{BB962C8B-B14F-4D97-AF65-F5344CB8AC3E}">
        <p14:creationId xmlns:p14="http://schemas.microsoft.com/office/powerpoint/2010/main" val="2288830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37E06-ECB1-D51F-D937-8B23BF06B30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2A46BD6-0D3C-F602-A830-66944217551C}"/>
              </a:ext>
            </a:extLst>
          </p:cNvPr>
          <p:cNvSpPr>
            <a:spLocks noGrp="1"/>
          </p:cNvSpPr>
          <p:nvPr>
            <p:ph type="title" idx="4294967295"/>
          </p:nvPr>
        </p:nvSpPr>
        <p:spPr>
          <a:xfrm>
            <a:off x="669924" y="433637"/>
            <a:ext cx="10440000" cy="595063"/>
          </a:xfrm>
        </p:spPr>
        <p:txBody>
          <a:bodyPr/>
          <a:lstStyle/>
          <a:p>
            <a:r>
              <a:rPr lang="zh-CN" altLang="en-US" dirty="0"/>
              <a:t>上车前阶段</a:t>
            </a:r>
            <a:r>
              <a:rPr lang="en-US" altLang="zh-CN" dirty="0"/>
              <a:t>——</a:t>
            </a:r>
            <a:r>
              <a:rPr lang="zh-CN" altLang="en-US" dirty="0"/>
              <a:t>行前沟通</a:t>
            </a:r>
          </a:p>
        </p:txBody>
      </p:sp>
      <p:sp>
        <p:nvSpPr>
          <p:cNvPr id="16" name="文本占位符 4">
            <a:extLst>
              <a:ext uri="{FF2B5EF4-FFF2-40B4-BE49-F238E27FC236}">
                <a16:creationId xmlns:a16="http://schemas.microsoft.com/office/drawing/2014/main" id="{EF64A110-BAD2-B977-39DD-20B213A87307}"/>
              </a:ext>
            </a:extLst>
          </p:cNvPr>
          <p:cNvSpPr txBox="1"/>
          <p:nvPr/>
        </p:nvSpPr>
        <p:spPr>
          <a:xfrm>
            <a:off x="4077028" y="1386709"/>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a:extLst>
              <a:ext uri="{FF2B5EF4-FFF2-40B4-BE49-F238E27FC236}">
                <a16:creationId xmlns:a16="http://schemas.microsoft.com/office/drawing/2014/main" id="{3FC4AC86-D9F2-9C8E-0EAE-AFE5A21E7D82}"/>
              </a:ext>
            </a:extLst>
          </p:cNvPr>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a:extLst>
              <a:ext uri="{FF2B5EF4-FFF2-40B4-BE49-F238E27FC236}">
                <a16:creationId xmlns:a16="http://schemas.microsoft.com/office/drawing/2014/main" id="{F28A465E-A276-E0EA-B2FA-F95AFFEBD94A}"/>
              </a:ext>
            </a:extLst>
          </p:cNvPr>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a:extLst>
              <a:ext uri="{FF2B5EF4-FFF2-40B4-BE49-F238E27FC236}">
                <a16:creationId xmlns:a16="http://schemas.microsoft.com/office/drawing/2014/main" id="{2C9C4957-04DB-57B9-2C9C-ACA25277D8EA}"/>
              </a:ext>
            </a:extLst>
          </p:cNvPr>
          <p:cNvSpPr txBox="1"/>
          <p:nvPr/>
        </p:nvSpPr>
        <p:spPr>
          <a:xfrm>
            <a:off x="97877" y="2794788"/>
            <a:ext cx="366036" cy="1169551"/>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行前沟通</a:t>
            </a:r>
          </a:p>
        </p:txBody>
      </p:sp>
      <p:sp>
        <p:nvSpPr>
          <p:cNvPr id="10" name="文本框 9">
            <a:extLst>
              <a:ext uri="{FF2B5EF4-FFF2-40B4-BE49-F238E27FC236}">
                <a16:creationId xmlns:a16="http://schemas.microsoft.com/office/drawing/2014/main" id="{96591A67-B160-2C52-BDBF-2CB4FE040C70}"/>
              </a:ext>
            </a:extLst>
          </p:cNvPr>
          <p:cNvSpPr txBox="1"/>
          <p:nvPr/>
        </p:nvSpPr>
        <p:spPr>
          <a:xfrm>
            <a:off x="438572" y="2537008"/>
            <a:ext cx="1525188" cy="4693593"/>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100" dirty="0">
                <a:solidFill>
                  <a:srgbClr val="000000"/>
                </a:solidFill>
                <a:latin typeface="微软雅黑" panose="020B0503020204020204" pitchFamily="34" charset="-122"/>
                <a:ea typeface="微软雅黑" panose="020B0503020204020204" pitchFamily="34" charset="-122"/>
              </a:rPr>
              <a:t>信息沟通</a:t>
            </a: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100" dirty="0">
                <a:solidFill>
                  <a:srgbClr val="000000"/>
                </a:solidFill>
                <a:latin typeface="微软雅黑" panose="020B0503020204020204" pitchFamily="34" charset="-122"/>
                <a:ea typeface="微软雅黑" panose="020B0503020204020204" pitchFamily="34" charset="-122"/>
              </a:rPr>
              <a:t>预约单</a:t>
            </a: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Ø"/>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Ø"/>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p:txBody>
      </p:sp>
      <p:sp>
        <p:nvSpPr>
          <p:cNvPr id="58" name="文本占位符 4">
            <a:extLst>
              <a:ext uri="{FF2B5EF4-FFF2-40B4-BE49-F238E27FC236}">
                <a16:creationId xmlns:a16="http://schemas.microsoft.com/office/drawing/2014/main" id="{E2642C9A-D7DF-3F16-DC2B-0446863049E3}"/>
              </a:ext>
            </a:extLst>
          </p:cNvPr>
          <p:cNvSpPr txBox="1"/>
          <p:nvPr/>
        </p:nvSpPr>
        <p:spPr>
          <a:xfrm>
            <a:off x="1392939" y="1393110"/>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a:extLst>
              <a:ext uri="{FF2B5EF4-FFF2-40B4-BE49-F238E27FC236}">
                <a16:creationId xmlns:a16="http://schemas.microsoft.com/office/drawing/2014/main" id="{80651552-75FB-7997-6EED-3C4C84A9A7B6}"/>
              </a:ext>
            </a:extLst>
          </p:cNvPr>
          <p:cNvSpPr txBox="1"/>
          <p:nvPr/>
        </p:nvSpPr>
        <p:spPr>
          <a:xfrm>
            <a:off x="8746946" y="1364063"/>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a:extLst>
              <a:ext uri="{FF2B5EF4-FFF2-40B4-BE49-F238E27FC236}">
                <a16:creationId xmlns:a16="http://schemas.microsoft.com/office/drawing/2014/main" id="{FF740517-264B-CDE1-E76C-6CFD030CC01B}"/>
              </a:ext>
            </a:extLst>
          </p:cNvPr>
          <p:cNvCxnSpPr/>
          <p:nvPr/>
        </p:nvCxnSpPr>
        <p:spPr>
          <a:xfrm>
            <a:off x="2760518" y="185026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474BB298-3380-4664-C6CF-991FBD149367}"/>
              </a:ext>
            </a:extLst>
          </p:cNvPr>
          <p:cNvCxnSpPr/>
          <p:nvPr/>
        </p:nvCxnSpPr>
        <p:spPr>
          <a:xfrm>
            <a:off x="7555369" y="183629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a:extLst>
              <a:ext uri="{FF2B5EF4-FFF2-40B4-BE49-F238E27FC236}">
                <a16:creationId xmlns:a16="http://schemas.microsoft.com/office/drawing/2014/main" id="{632B80FD-98A6-15E6-2AD1-784A528FD72F}"/>
              </a:ext>
            </a:extLst>
          </p:cNvPr>
          <p:cNvSpPr txBox="1"/>
          <p:nvPr/>
        </p:nvSpPr>
        <p:spPr>
          <a:xfrm>
            <a:off x="0" y="1374488"/>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场景</a:t>
            </a:r>
          </a:p>
        </p:txBody>
      </p:sp>
      <p:cxnSp>
        <p:nvCxnSpPr>
          <p:cNvPr id="34" name="直接连接符 33">
            <a:extLst>
              <a:ext uri="{FF2B5EF4-FFF2-40B4-BE49-F238E27FC236}">
                <a16:creationId xmlns:a16="http://schemas.microsoft.com/office/drawing/2014/main" id="{2758AB33-2418-2D64-0CE6-59F56118C3A8}"/>
              </a:ext>
            </a:extLst>
          </p:cNvPr>
          <p:cNvCxnSpPr/>
          <p:nvPr/>
        </p:nvCxnSpPr>
        <p:spPr>
          <a:xfrm>
            <a:off x="1394082" y="1768761"/>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a:extLst>
              <a:ext uri="{FF2B5EF4-FFF2-40B4-BE49-F238E27FC236}">
                <a16:creationId xmlns:a16="http://schemas.microsoft.com/office/drawing/2014/main" id="{5BB5D526-A959-683C-4E63-53EDB56FE484}"/>
              </a:ext>
            </a:extLst>
          </p:cNvPr>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1" name="文本框 10">
            <a:extLst>
              <a:ext uri="{FF2B5EF4-FFF2-40B4-BE49-F238E27FC236}">
                <a16:creationId xmlns:a16="http://schemas.microsoft.com/office/drawing/2014/main" id="{3074336A-86E3-577F-932A-4D0AFBBB238A}"/>
              </a:ext>
            </a:extLst>
          </p:cNvPr>
          <p:cNvSpPr txBox="1"/>
          <p:nvPr/>
        </p:nvSpPr>
        <p:spPr>
          <a:xfrm>
            <a:off x="1392939" y="4618746"/>
            <a:ext cx="1293893" cy="1138773"/>
          </a:xfrm>
          <a:prstGeom prst="rect">
            <a:avLst/>
          </a:prstGeom>
          <a:noFill/>
        </p:spPr>
        <p:txBody>
          <a:bodyPr wrap="square" rtlCol="0">
            <a:spAutoFit/>
          </a:bodyPr>
          <a:lstStyle/>
          <a:p>
            <a:pPr marL="171450" indent="-171450">
              <a:spcBef>
                <a:spcPts val="600"/>
              </a:spcBef>
              <a:buFont typeface="Arial" panose="020B0604020202020204" pitchFamily="34" charset="0"/>
              <a:buChar char="•"/>
            </a:pPr>
            <a:r>
              <a:rPr lang="zh-CN" altLang="en-US" sz="1050" dirty="0"/>
              <a:t>预约单因为航班延误取消，司机空等</a:t>
            </a:r>
            <a:endParaRPr lang="en-US" altLang="zh-CN" sz="1050" dirty="0"/>
          </a:p>
          <a:p>
            <a:pPr marL="171450" indent="-171450">
              <a:spcBef>
                <a:spcPts val="600"/>
              </a:spcBef>
              <a:buFont typeface="Arial" panose="020B0604020202020204" pitchFamily="34" charset="0"/>
              <a:buChar char="•"/>
            </a:pPr>
            <a:r>
              <a:rPr lang="zh-CN" altLang="en-US" sz="1050" dirty="0"/>
              <a:t>行李较多要求进场接站，愿意额外线下付费</a:t>
            </a:r>
          </a:p>
        </p:txBody>
      </p:sp>
      <p:cxnSp>
        <p:nvCxnSpPr>
          <p:cNvPr id="21" name="直接连接符 20">
            <a:extLst>
              <a:ext uri="{FF2B5EF4-FFF2-40B4-BE49-F238E27FC236}">
                <a16:creationId xmlns:a16="http://schemas.microsoft.com/office/drawing/2014/main" id="{EB228B5C-5216-90C4-93F7-EECDB4DC2330}"/>
              </a:ext>
            </a:extLst>
          </p:cNvPr>
          <p:cNvCxnSpPr/>
          <p:nvPr/>
        </p:nvCxnSpPr>
        <p:spPr>
          <a:xfrm>
            <a:off x="545759" y="3964339"/>
            <a:ext cx="11332126"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36544ED1-96FC-DFAE-1BFC-ECEC309DEA7B}"/>
              </a:ext>
            </a:extLst>
          </p:cNvPr>
          <p:cNvSpPr txBox="1"/>
          <p:nvPr/>
        </p:nvSpPr>
        <p:spPr>
          <a:xfrm>
            <a:off x="1413765" y="2383779"/>
            <a:ext cx="1329392" cy="977191"/>
          </a:xfrm>
          <a:prstGeom prst="rect">
            <a:avLst/>
          </a:prstGeom>
          <a:noFill/>
        </p:spPr>
        <p:txBody>
          <a:bodyPr wrap="square" rtlCol="0">
            <a:spAutoFit/>
          </a:bodyPr>
          <a:lstStyle/>
          <a:p>
            <a:pPr marL="171450" indent="-171450">
              <a:spcBef>
                <a:spcPts val="600"/>
              </a:spcBef>
              <a:buFont typeface="Arial" panose="020B0604020202020204" pitchFamily="34" charset="0"/>
              <a:buChar char="•"/>
            </a:pPr>
            <a:r>
              <a:rPr lang="zh-CN" altLang="en-US" sz="1050" dirty="0"/>
              <a:t>大多数乘客喜欢发送信息沟通</a:t>
            </a:r>
            <a:endParaRPr lang="en-US" altLang="zh-CN" sz="1050" dirty="0"/>
          </a:p>
          <a:p>
            <a:pPr marL="171450" indent="-171450">
              <a:spcBef>
                <a:spcPts val="600"/>
              </a:spcBef>
              <a:buFont typeface="Arial" panose="020B0604020202020204" pitchFamily="34" charset="0"/>
              <a:buChar char="•"/>
            </a:pPr>
            <a:r>
              <a:rPr lang="zh-CN" altLang="en-US" sz="1050" dirty="0"/>
              <a:t>通过信息主动发送自己需求与状态</a:t>
            </a:r>
          </a:p>
        </p:txBody>
      </p:sp>
      <p:sp>
        <p:nvSpPr>
          <p:cNvPr id="27" name="文本框 26">
            <a:extLst>
              <a:ext uri="{FF2B5EF4-FFF2-40B4-BE49-F238E27FC236}">
                <a16:creationId xmlns:a16="http://schemas.microsoft.com/office/drawing/2014/main" id="{05B6ED1E-24DC-8E16-DD8C-B78C63245BA1}"/>
              </a:ext>
            </a:extLst>
          </p:cNvPr>
          <p:cNvSpPr txBox="1"/>
          <p:nvPr/>
        </p:nvSpPr>
        <p:spPr>
          <a:xfrm>
            <a:off x="2957560" y="1850081"/>
            <a:ext cx="1713742" cy="276999"/>
          </a:xfrm>
          <a:prstGeom prst="rect">
            <a:avLst/>
          </a:prstGeom>
          <a:noFill/>
        </p:spPr>
        <p:txBody>
          <a:bodyPr wrap="square">
            <a:spAutoFit/>
          </a:bodyPr>
          <a:lstStyle/>
          <a:p>
            <a:pPr marL="171450" indent="-171450">
              <a:buFont typeface="Wingdings" panose="05000000000000000000" pitchFamily="2" charset="2"/>
              <a:buChar char="Ø"/>
            </a:pPr>
            <a:r>
              <a:rPr lang="zh-CN" altLang="en-US" sz="1200" b="1" dirty="0"/>
              <a:t>行程基础信息确认</a:t>
            </a:r>
          </a:p>
        </p:txBody>
      </p:sp>
      <p:sp>
        <p:nvSpPr>
          <p:cNvPr id="31" name="文本框 30">
            <a:extLst>
              <a:ext uri="{FF2B5EF4-FFF2-40B4-BE49-F238E27FC236}">
                <a16:creationId xmlns:a16="http://schemas.microsoft.com/office/drawing/2014/main" id="{0CF1B7F3-61EB-CE2F-844E-950F85FEBC54}"/>
              </a:ext>
            </a:extLst>
          </p:cNvPr>
          <p:cNvSpPr txBox="1"/>
          <p:nvPr/>
        </p:nvSpPr>
        <p:spPr>
          <a:xfrm>
            <a:off x="4940495" y="1847679"/>
            <a:ext cx="1864748" cy="276999"/>
          </a:xfrm>
          <a:prstGeom prst="rect">
            <a:avLst/>
          </a:prstGeom>
          <a:noFill/>
        </p:spPr>
        <p:txBody>
          <a:bodyPr wrap="square">
            <a:spAutoFit/>
          </a:bodyPr>
          <a:lstStyle/>
          <a:p>
            <a:pPr marL="171450" indent="-171450">
              <a:buFont typeface="Wingdings" panose="05000000000000000000" pitchFamily="2" charset="2"/>
              <a:buChar char="Ø"/>
            </a:pPr>
            <a:r>
              <a:rPr lang="zh-CN" altLang="en-US" sz="1200" b="1" dirty="0"/>
              <a:t>上车点精准位置对接</a:t>
            </a:r>
          </a:p>
        </p:txBody>
      </p:sp>
      <p:sp>
        <p:nvSpPr>
          <p:cNvPr id="37" name="文本框 36">
            <a:extLst>
              <a:ext uri="{FF2B5EF4-FFF2-40B4-BE49-F238E27FC236}">
                <a16:creationId xmlns:a16="http://schemas.microsoft.com/office/drawing/2014/main" id="{EC86B056-42FB-A319-711B-9344A42D8BB7}"/>
              </a:ext>
            </a:extLst>
          </p:cNvPr>
          <p:cNvSpPr txBox="1"/>
          <p:nvPr/>
        </p:nvSpPr>
        <p:spPr>
          <a:xfrm>
            <a:off x="3172108" y="2199543"/>
            <a:ext cx="1452868" cy="600164"/>
          </a:xfrm>
          <a:prstGeom prst="rect">
            <a:avLst/>
          </a:prstGeom>
          <a:noFill/>
        </p:spPr>
        <p:txBody>
          <a:bodyPr wrap="square" rtlCol="0">
            <a:spAutoFit/>
          </a:bodyPr>
          <a:lstStyle/>
          <a:p>
            <a:pPr marL="171450" indent="-171450">
              <a:buFont typeface="Arial" panose="020B0604020202020204" pitchFamily="34" charset="0"/>
              <a:buChar char="•"/>
            </a:pPr>
            <a:r>
              <a:rPr lang="zh-CN" altLang="en-US" sz="1100" dirty="0"/>
              <a:t>司机告知状态，马上赶来，正在送一单等</a:t>
            </a:r>
          </a:p>
        </p:txBody>
      </p:sp>
      <p:sp>
        <p:nvSpPr>
          <p:cNvPr id="39" name="文本框 38">
            <a:extLst>
              <a:ext uri="{FF2B5EF4-FFF2-40B4-BE49-F238E27FC236}">
                <a16:creationId xmlns:a16="http://schemas.microsoft.com/office/drawing/2014/main" id="{AD968610-A407-43C9-36B7-7185372B9D06}"/>
              </a:ext>
            </a:extLst>
          </p:cNvPr>
          <p:cNvSpPr txBox="1"/>
          <p:nvPr/>
        </p:nvSpPr>
        <p:spPr>
          <a:xfrm>
            <a:off x="1498634" y="1819216"/>
            <a:ext cx="1261884" cy="276999"/>
          </a:xfrm>
          <a:prstGeom prst="rect">
            <a:avLst/>
          </a:prstGeom>
          <a:noFill/>
        </p:spPr>
        <p:txBody>
          <a:bodyPr wrap="none" rtlCol="0">
            <a:spAutoFit/>
          </a:bodyPr>
          <a:lstStyle/>
          <a:p>
            <a:r>
              <a:rPr lang="zh-CN" altLang="en-US" sz="1200" dirty="0"/>
              <a:t>信息透明原则：</a:t>
            </a:r>
          </a:p>
        </p:txBody>
      </p:sp>
      <p:sp>
        <p:nvSpPr>
          <p:cNvPr id="44" name="文本框 43">
            <a:extLst>
              <a:ext uri="{FF2B5EF4-FFF2-40B4-BE49-F238E27FC236}">
                <a16:creationId xmlns:a16="http://schemas.microsoft.com/office/drawing/2014/main" id="{B02E0B8C-2149-4854-3DF6-97C65B81D291}"/>
              </a:ext>
            </a:extLst>
          </p:cNvPr>
          <p:cNvSpPr txBox="1"/>
          <p:nvPr/>
        </p:nvSpPr>
        <p:spPr>
          <a:xfrm>
            <a:off x="4937091" y="2243931"/>
            <a:ext cx="1775180" cy="600164"/>
          </a:xfrm>
          <a:prstGeom prst="rect">
            <a:avLst/>
          </a:prstGeom>
          <a:noFill/>
        </p:spPr>
        <p:txBody>
          <a:bodyPr wrap="square" rtlCol="0">
            <a:spAutoFit/>
          </a:bodyPr>
          <a:lstStyle/>
          <a:p>
            <a:pPr marL="171450" indent="-171450">
              <a:buFont typeface="Arial" panose="020B0604020202020204" pitchFamily="34" charset="0"/>
              <a:buChar char="•"/>
            </a:pPr>
            <a:r>
              <a:rPr lang="zh-CN" altLang="en-US" sz="1100" dirty="0"/>
              <a:t>上车地点文字说明或者拍照</a:t>
            </a:r>
            <a:endParaRPr lang="en-US" altLang="zh-CN" sz="1100" dirty="0"/>
          </a:p>
          <a:p>
            <a:pPr marL="171450" indent="-171450">
              <a:buFont typeface="Arial" panose="020B0604020202020204" pitchFamily="34" charset="0"/>
              <a:buChar char="•"/>
            </a:pPr>
            <a:r>
              <a:rPr lang="zh-CN" altLang="en-US" sz="1100" dirty="0"/>
              <a:t>接车地点说明或者拍照</a:t>
            </a:r>
          </a:p>
        </p:txBody>
      </p:sp>
      <p:sp>
        <p:nvSpPr>
          <p:cNvPr id="57" name="文本框 56">
            <a:extLst>
              <a:ext uri="{FF2B5EF4-FFF2-40B4-BE49-F238E27FC236}">
                <a16:creationId xmlns:a16="http://schemas.microsoft.com/office/drawing/2014/main" id="{1F7FAA61-9240-D5F0-6A1A-0295661F11C5}"/>
              </a:ext>
            </a:extLst>
          </p:cNvPr>
          <p:cNvSpPr txBox="1"/>
          <p:nvPr/>
        </p:nvSpPr>
        <p:spPr>
          <a:xfrm>
            <a:off x="7873970" y="2444636"/>
            <a:ext cx="4003915" cy="1092607"/>
          </a:xfrm>
          <a:prstGeom prst="rect">
            <a:avLst/>
          </a:prstGeom>
          <a:noFill/>
        </p:spPr>
        <p:txBody>
          <a:bodyPr wrap="square" rtlCol="0">
            <a:spAutoFit/>
          </a:bodyPr>
          <a:lstStyle/>
          <a:p>
            <a:pPr>
              <a:spcBef>
                <a:spcPts val="600"/>
              </a:spcBef>
            </a:pPr>
            <a:endParaRPr lang="en-US" altLang="zh-CN" sz="1050" dirty="0"/>
          </a:p>
          <a:p>
            <a:pPr marL="285750" indent="-285750">
              <a:spcBef>
                <a:spcPts val="600"/>
              </a:spcBef>
              <a:buFont typeface="Wingdings" panose="05000000000000000000" pitchFamily="2" charset="2"/>
              <a:buChar char="ü"/>
            </a:pPr>
            <a:r>
              <a:rPr lang="zh-CN" altLang="en-US" sz="1050" dirty="0"/>
              <a:t>跟车辆状态变化系统自动通过车辆</a:t>
            </a:r>
            <a:r>
              <a:rPr lang="en-US" altLang="zh-CN" sz="1050" dirty="0"/>
              <a:t>APP</a:t>
            </a:r>
            <a:r>
              <a:rPr lang="zh-CN" altLang="en-US" sz="1050" dirty="0"/>
              <a:t>的</a:t>
            </a:r>
            <a:r>
              <a:rPr lang="en-US" altLang="zh-CN" sz="1050" dirty="0"/>
              <a:t>Agent</a:t>
            </a:r>
            <a:r>
              <a:rPr lang="zh-CN" altLang="en-US" sz="1050" dirty="0"/>
              <a:t>窗口告知车辆状态</a:t>
            </a:r>
            <a:endParaRPr lang="en-US" altLang="zh-CN" sz="1050" dirty="0"/>
          </a:p>
          <a:p>
            <a:pPr marL="285750" indent="-285750">
              <a:spcBef>
                <a:spcPts val="600"/>
              </a:spcBef>
              <a:buFont typeface="Wingdings" panose="05000000000000000000" pitchFamily="2" charset="2"/>
              <a:buChar char="ü"/>
            </a:pPr>
            <a:r>
              <a:rPr lang="zh-CN" altLang="en-US" sz="1050" dirty="0"/>
              <a:t>自动识别接人发送过来接驳地点定位，文字与位置图片，修正定位，车辆精准停车接驾</a:t>
            </a:r>
            <a:endParaRPr lang="en-US" altLang="zh-CN" sz="1050" dirty="0"/>
          </a:p>
        </p:txBody>
      </p:sp>
      <p:sp>
        <p:nvSpPr>
          <p:cNvPr id="63" name="文本框 62">
            <a:extLst>
              <a:ext uri="{FF2B5EF4-FFF2-40B4-BE49-F238E27FC236}">
                <a16:creationId xmlns:a16="http://schemas.microsoft.com/office/drawing/2014/main" id="{2B25952F-03D6-30B9-E29A-D13D52C4148E}"/>
              </a:ext>
            </a:extLst>
          </p:cNvPr>
          <p:cNvSpPr txBox="1"/>
          <p:nvPr/>
        </p:nvSpPr>
        <p:spPr>
          <a:xfrm>
            <a:off x="8007871" y="4794867"/>
            <a:ext cx="3870014" cy="1092607"/>
          </a:xfrm>
          <a:prstGeom prst="rect">
            <a:avLst/>
          </a:prstGeom>
          <a:noFill/>
        </p:spPr>
        <p:txBody>
          <a:bodyPr wrap="square" rtlCol="0">
            <a:spAutoFit/>
          </a:bodyPr>
          <a:lstStyle/>
          <a:p>
            <a:pPr marL="285750" indent="-285750">
              <a:spcBef>
                <a:spcPts val="600"/>
              </a:spcBef>
              <a:buFont typeface="Wingdings" panose="05000000000000000000" pitchFamily="2" charset="2"/>
              <a:buChar char="ü"/>
            </a:pPr>
            <a:r>
              <a:rPr lang="zh-CN" altLang="en-US" sz="1100" dirty="0"/>
              <a:t>将车辆行程日程与航班与高铁信息关联，</a:t>
            </a:r>
            <a:endParaRPr lang="en-US" altLang="zh-CN" sz="1100" dirty="0"/>
          </a:p>
          <a:p>
            <a:pPr marL="285750" indent="-285750">
              <a:spcBef>
                <a:spcPts val="600"/>
              </a:spcBef>
              <a:buFont typeface="Wingdings" panose="05000000000000000000" pitchFamily="2" charset="2"/>
              <a:buChar char="ü"/>
            </a:pPr>
            <a:r>
              <a:rPr lang="zh-CN" altLang="en-US" sz="1100" dirty="0"/>
              <a:t>关联航班平台，根据航班与高铁等状态变化智能通过司机</a:t>
            </a:r>
            <a:r>
              <a:rPr lang="en-US" altLang="zh-CN" sz="1100" dirty="0"/>
              <a:t>agent(</a:t>
            </a:r>
            <a:r>
              <a:rPr lang="zh-CN" altLang="en-US" sz="1100" dirty="0"/>
              <a:t>车端或者手机端）通知司机，并提醒司机修改行程</a:t>
            </a:r>
            <a:endParaRPr lang="en-US" altLang="zh-CN" sz="1100" dirty="0"/>
          </a:p>
          <a:p>
            <a:pPr>
              <a:spcBef>
                <a:spcPts val="600"/>
              </a:spcBef>
            </a:pPr>
            <a:r>
              <a:rPr lang="zh-CN" altLang="en-US" sz="1100" dirty="0"/>
              <a:t> </a:t>
            </a:r>
          </a:p>
        </p:txBody>
      </p:sp>
      <p:sp>
        <p:nvSpPr>
          <p:cNvPr id="65" name="文本框 64">
            <a:extLst>
              <a:ext uri="{FF2B5EF4-FFF2-40B4-BE49-F238E27FC236}">
                <a16:creationId xmlns:a16="http://schemas.microsoft.com/office/drawing/2014/main" id="{F11E2FDB-8875-B021-6687-280FA22FB2EB}"/>
              </a:ext>
            </a:extLst>
          </p:cNvPr>
          <p:cNvSpPr txBox="1"/>
          <p:nvPr/>
        </p:nvSpPr>
        <p:spPr>
          <a:xfrm>
            <a:off x="2834205" y="4271092"/>
            <a:ext cx="2050561"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司机需要提前知道航班号</a:t>
            </a:r>
          </a:p>
        </p:txBody>
      </p:sp>
      <p:sp>
        <p:nvSpPr>
          <p:cNvPr id="71" name="文本框 70">
            <a:extLst>
              <a:ext uri="{FF2B5EF4-FFF2-40B4-BE49-F238E27FC236}">
                <a16:creationId xmlns:a16="http://schemas.microsoft.com/office/drawing/2014/main" id="{32401D56-0293-A069-8FA1-E740B418489C}"/>
              </a:ext>
            </a:extLst>
          </p:cNvPr>
          <p:cNvSpPr txBox="1"/>
          <p:nvPr/>
        </p:nvSpPr>
        <p:spPr>
          <a:xfrm>
            <a:off x="4878765" y="4298936"/>
            <a:ext cx="2666114"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行李多，希望提供一条龙接机服务</a:t>
            </a:r>
          </a:p>
        </p:txBody>
      </p:sp>
      <p:sp>
        <p:nvSpPr>
          <p:cNvPr id="74" name="文本框 73">
            <a:extLst>
              <a:ext uri="{FF2B5EF4-FFF2-40B4-BE49-F238E27FC236}">
                <a16:creationId xmlns:a16="http://schemas.microsoft.com/office/drawing/2014/main" id="{583F9E14-ECA2-BB52-D1CA-FBD2882C9AD8}"/>
              </a:ext>
            </a:extLst>
          </p:cNvPr>
          <p:cNvSpPr txBox="1"/>
          <p:nvPr/>
        </p:nvSpPr>
        <p:spPr>
          <a:xfrm>
            <a:off x="5128206" y="4883804"/>
            <a:ext cx="1742785" cy="823880"/>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sz="1100" dirty="0"/>
              <a:t>人生地不熟</a:t>
            </a:r>
            <a:endParaRPr lang="en-US" altLang="zh-CN" sz="1100" dirty="0"/>
          </a:p>
          <a:p>
            <a:pPr marL="285750" indent="-285750">
              <a:lnSpc>
                <a:spcPct val="150000"/>
              </a:lnSpc>
              <a:buFont typeface="Arial" panose="020B0604020202020204" pitchFamily="34" charset="0"/>
              <a:buChar char="•"/>
            </a:pPr>
            <a:r>
              <a:rPr lang="zh-CN" altLang="en-US" sz="1100" dirty="0"/>
              <a:t>老人，妇儒，老外等</a:t>
            </a:r>
            <a:endParaRPr lang="en-US" altLang="zh-CN" sz="1100" dirty="0"/>
          </a:p>
          <a:p>
            <a:pPr marL="285750" indent="-285750">
              <a:lnSpc>
                <a:spcPct val="150000"/>
              </a:lnSpc>
              <a:buFont typeface="Arial" panose="020B0604020202020204" pitchFamily="34" charset="0"/>
              <a:buChar char="•"/>
            </a:pPr>
            <a:r>
              <a:rPr lang="zh-CN" altLang="en-US" sz="1100" dirty="0"/>
              <a:t>愿意额外付费</a:t>
            </a:r>
          </a:p>
        </p:txBody>
      </p:sp>
      <p:sp>
        <p:nvSpPr>
          <p:cNvPr id="4" name="文本框 3">
            <a:extLst>
              <a:ext uri="{FF2B5EF4-FFF2-40B4-BE49-F238E27FC236}">
                <a16:creationId xmlns:a16="http://schemas.microsoft.com/office/drawing/2014/main" id="{13154303-4079-18CC-F21A-B3FA80994BA4}"/>
              </a:ext>
            </a:extLst>
          </p:cNvPr>
          <p:cNvSpPr txBox="1"/>
          <p:nvPr/>
        </p:nvSpPr>
        <p:spPr>
          <a:xfrm>
            <a:off x="7715021" y="2493881"/>
            <a:ext cx="723275" cy="253916"/>
          </a:xfrm>
          <a:prstGeom prst="rect">
            <a:avLst/>
          </a:prstGeom>
          <a:noFill/>
        </p:spPr>
        <p:txBody>
          <a:bodyPr wrap="none" rtlCol="0">
            <a:spAutoFit/>
          </a:bodyPr>
          <a:lstStyle/>
          <a:p>
            <a:r>
              <a:rPr lang="zh-CN" altLang="en-US" sz="1050" b="1" dirty="0"/>
              <a:t>机会点：</a:t>
            </a:r>
          </a:p>
        </p:txBody>
      </p:sp>
      <p:sp>
        <p:nvSpPr>
          <p:cNvPr id="5" name="文本框 4">
            <a:extLst>
              <a:ext uri="{FF2B5EF4-FFF2-40B4-BE49-F238E27FC236}">
                <a16:creationId xmlns:a16="http://schemas.microsoft.com/office/drawing/2014/main" id="{BA41C051-40C9-A97D-6261-1F1F54D6B13B}"/>
              </a:ext>
            </a:extLst>
          </p:cNvPr>
          <p:cNvSpPr txBox="1"/>
          <p:nvPr/>
        </p:nvSpPr>
        <p:spPr>
          <a:xfrm>
            <a:off x="7772182" y="3483572"/>
            <a:ext cx="588623" cy="253916"/>
          </a:xfrm>
          <a:prstGeom prst="rect">
            <a:avLst/>
          </a:prstGeom>
          <a:noFill/>
        </p:spPr>
        <p:txBody>
          <a:bodyPr wrap="none" rtlCol="0">
            <a:spAutoFit/>
          </a:bodyPr>
          <a:lstStyle/>
          <a:p>
            <a:r>
              <a:rPr lang="zh-CN" altLang="en-US" sz="1050" b="1" dirty="0"/>
              <a:t>展望：</a:t>
            </a:r>
          </a:p>
        </p:txBody>
      </p:sp>
      <p:sp>
        <p:nvSpPr>
          <p:cNvPr id="6" name="文本框 5">
            <a:extLst>
              <a:ext uri="{FF2B5EF4-FFF2-40B4-BE49-F238E27FC236}">
                <a16:creationId xmlns:a16="http://schemas.microsoft.com/office/drawing/2014/main" id="{33BE473E-8742-94C4-245E-55F72AE50205}"/>
              </a:ext>
            </a:extLst>
          </p:cNvPr>
          <p:cNvSpPr txBox="1"/>
          <p:nvPr/>
        </p:nvSpPr>
        <p:spPr>
          <a:xfrm>
            <a:off x="7644351" y="1843055"/>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7" name="文本框 6">
            <a:extLst>
              <a:ext uri="{FF2B5EF4-FFF2-40B4-BE49-F238E27FC236}">
                <a16:creationId xmlns:a16="http://schemas.microsoft.com/office/drawing/2014/main" id="{CF428605-2E7F-6E86-C281-331AD04119D1}"/>
              </a:ext>
            </a:extLst>
          </p:cNvPr>
          <p:cNvSpPr txBox="1"/>
          <p:nvPr/>
        </p:nvSpPr>
        <p:spPr>
          <a:xfrm>
            <a:off x="7873970" y="2105078"/>
            <a:ext cx="3993860" cy="577081"/>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050" dirty="0"/>
              <a:t>乘客自己查看距离与到达时间等状态，并输入一些消息进行对话（有信息模版）</a:t>
            </a:r>
            <a:endParaRPr lang="en-US" altLang="zh-CN" sz="1050" dirty="0"/>
          </a:p>
          <a:p>
            <a:endParaRPr lang="zh-CN" altLang="en-US" sz="1050" dirty="0"/>
          </a:p>
        </p:txBody>
      </p:sp>
      <p:sp>
        <p:nvSpPr>
          <p:cNvPr id="8" name="文本框 7">
            <a:extLst>
              <a:ext uri="{FF2B5EF4-FFF2-40B4-BE49-F238E27FC236}">
                <a16:creationId xmlns:a16="http://schemas.microsoft.com/office/drawing/2014/main" id="{F2243152-9D37-631C-1B46-521CC4C2255A}"/>
              </a:ext>
            </a:extLst>
          </p:cNvPr>
          <p:cNvSpPr txBox="1"/>
          <p:nvPr/>
        </p:nvSpPr>
        <p:spPr>
          <a:xfrm>
            <a:off x="2893929" y="2905683"/>
            <a:ext cx="1980611" cy="276999"/>
          </a:xfrm>
          <a:prstGeom prst="rect">
            <a:avLst/>
          </a:prstGeom>
          <a:noFill/>
        </p:spPr>
        <p:txBody>
          <a:bodyPr wrap="square">
            <a:spAutoFit/>
          </a:bodyPr>
          <a:lstStyle/>
          <a:p>
            <a:pPr marL="171450" indent="-171450">
              <a:buFont typeface="Wingdings" panose="05000000000000000000" pitchFamily="2" charset="2"/>
              <a:buChar char="Ø"/>
            </a:pPr>
            <a:r>
              <a:rPr lang="zh-CN" altLang="en-US" sz="1200" b="1" dirty="0"/>
              <a:t>行程特殊情况提前告知</a:t>
            </a:r>
          </a:p>
        </p:txBody>
      </p:sp>
      <p:sp>
        <p:nvSpPr>
          <p:cNvPr id="13" name="文本框 12">
            <a:extLst>
              <a:ext uri="{FF2B5EF4-FFF2-40B4-BE49-F238E27FC236}">
                <a16:creationId xmlns:a16="http://schemas.microsoft.com/office/drawing/2014/main" id="{15B77D4C-3209-3974-BB7D-5C78B4225019}"/>
              </a:ext>
            </a:extLst>
          </p:cNvPr>
          <p:cNvSpPr txBox="1"/>
          <p:nvPr/>
        </p:nvSpPr>
        <p:spPr>
          <a:xfrm>
            <a:off x="3137522" y="3244166"/>
            <a:ext cx="2133231" cy="600164"/>
          </a:xfrm>
          <a:prstGeom prst="rect">
            <a:avLst/>
          </a:prstGeom>
          <a:noFill/>
        </p:spPr>
        <p:txBody>
          <a:bodyPr wrap="square" rtlCol="0">
            <a:spAutoFit/>
          </a:bodyPr>
          <a:lstStyle/>
          <a:p>
            <a:pPr marL="171450" indent="-171450">
              <a:buFont typeface="Arial" panose="020B0604020202020204" pitchFamily="34" charset="0"/>
              <a:buChar char="•"/>
            </a:pPr>
            <a:r>
              <a:rPr lang="zh-CN" altLang="en-US" sz="1100" dirty="0"/>
              <a:t>行李相关，如行李较多等</a:t>
            </a:r>
            <a:endParaRPr lang="en-US" altLang="zh-CN" sz="1100" dirty="0"/>
          </a:p>
          <a:p>
            <a:pPr marL="171450" indent="-171450">
              <a:buFont typeface="Arial" panose="020B0604020202020204" pitchFamily="34" charset="0"/>
              <a:buChar char="•"/>
            </a:pPr>
            <a:r>
              <a:rPr lang="zh-CN" altLang="en-US" sz="1100" dirty="0"/>
              <a:t>宠物相关，宠物类型，大小</a:t>
            </a:r>
            <a:endParaRPr lang="en-US" altLang="zh-CN" sz="1100" dirty="0"/>
          </a:p>
          <a:p>
            <a:pPr marL="171450" indent="-171450">
              <a:buFont typeface="Arial" panose="020B0604020202020204" pitchFamily="34" charset="0"/>
              <a:buChar char="•"/>
            </a:pPr>
            <a:r>
              <a:rPr lang="zh-CN" altLang="en-US" sz="1100" dirty="0"/>
              <a:t>同行人相关，如老人孩子，</a:t>
            </a:r>
          </a:p>
        </p:txBody>
      </p:sp>
      <p:sp>
        <p:nvSpPr>
          <p:cNvPr id="14" name="文本框 13">
            <a:extLst>
              <a:ext uri="{FF2B5EF4-FFF2-40B4-BE49-F238E27FC236}">
                <a16:creationId xmlns:a16="http://schemas.microsoft.com/office/drawing/2014/main" id="{1D18F890-334C-C2D5-8F3A-368D143FD972}"/>
              </a:ext>
            </a:extLst>
          </p:cNvPr>
          <p:cNvSpPr txBox="1"/>
          <p:nvPr/>
        </p:nvSpPr>
        <p:spPr>
          <a:xfrm>
            <a:off x="8066493" y="3659847"/>
            <a:ext cx="466794" cy="261610"/>
          </a:xfrm>
          <a:prstGeom prst="rect">
            <a:avLst/>
          </a:prstGeom>
          <a:noFill/>
        </p:spPr>
        <p:txBody>
          <a:bodyPr wrap="none" rtlCol="0">
            <a:spAutoFit/>
          </a:bodyPr>
          <a:lstStyle/>
          <a:p>
            <a:r>
              <a:rPr lang="zh-CN" altLang="en-US" sz="1100" dirty="0"/>
              <a:t>暂无</a:t>
            </a:r>
          </a:p>
        </p:txBody>
      </p:sp>
      <p:sp>
        <p:nvSpPr>
          <p:cNvPr id="20" name="文本框 19">
            <a:extLst>
              <a:ext uri="{FF2B5EF4-FFF2-40B4-BE49-F238E27FC236}">
                <a16:creationId xmlns:a16="http://schemas.microsoft.com/office/drawing/2014/main" id="{CCA81EC5-D3A8-FD39-EA3C-E64E1F82A4B8}"/>
              </a:ext>
            </a:extLst>
          </p:cNvPr>
          <p:cNvSpPr txBox="1"/>
          <p:nvPr/>
        </p:nvSpPr>
        <p:spPr>
          <a:xfrm>
            <a:off x="7696586" y="4012262"/>
            <a:ext cx="760144" cy="253916"/>
          </a:xfrm>
          <a:prstGeom prst="rect">
            <a:avLst/>
          </a:prstGeom>
          <a:noFill/>
        </p:spPr>
        <p:txBody>
          <a:bodyPr wrap="none" rtlCol="0">
            <a:spAutoFit/>
          </a:bodyPr>
          <a:lstStyle/>
          <a:p>
            <a:r>
              <a:rPr lang="zh-CN" altLang="en-US" sz="1050" dirty="0"/>
              <a:t> </a:t>
            </a:r>
            <a:r>
              <a:rPr lang="zh-CN" altLang="en-US" sz="1050" b="1" dirty="0"/>
              <a:t>已做到：</a:t>
            </a:r>
          </a:p>
        </p:txBody>
      </p:sp>
      <p:sp>
        <p:nvSpPr>
          <p:cNvPr id="24" name="文本框 23">
            <a:extLst>
              <a:ext uri="{FF2B5EF4-FFF2-40B4-BE49-F238E27FC236}">
                <a16:creationId xmlns:a16="http://schemas.microsoft.com/office/drawing/2014/main" id="{8F257C04-8DB7-A3A3-52F9-55B98F4F1A87}"/>
              </a:ext>
            </a:extLst>
          </p:cNvPr>
          <p:cNvSpPr txBox="1"/>
          <p:nvPr/>
        </p:nvSpPr>
        <p:spPr>
          <a:xfrm>
            <a:off x="7985814" y="4216163"/>
            <a:ext cx="3993860" cy="261610"/>
          </a:xfrm>
          <a:prstGeom prst="rect">
            <a:avLst/>
          </a:prstGeom>
          <a:noFill/>
        </p:spPr>
        <p:txBody>
          <a:bodyPr wrap="square" rtlCol="0">
            <a:spAutoFit/>
          </a:bodyPr>
          <a:lstStyle/>
          <a:p>
            <a:r>
              <a:rPr lang="en-US" altLang="zh-CN" sz="1100" dirty="0"/>
              <a:t> </a:t>
            </a:r>
            <a:r>
              <a:rPr lang="zh-CN" altLang="en-US" sz="1100" dirty="0"/>
              <a:t>日程提醒，查询航班与高铁，但信息没有关联</a:t>
            </a:r>
          </a:p>
        </p:txBody>
      </p:sp>
      <p:sp>
        <p:nvSpPr>
          <p:cNvPr id="25" name="文本框 24">
            <a:extLst>
              <a:ext uri="{FF2B5EF4-FFF2-40B4-BE49-F238E27FC236}">
                <a16:creationId xmlns:a16="http://schemas.microsoft.com/office/drawing/2014/main" id="{D3DAB639-91FA-C17B-48FB-6F6ADDF5EBCA}"/>
              </a:ext>
            </a:extLst>
          </p:cNvPr>
          <p:cNvSpPr txBox="1"/>
          <p:nvPr/>
        </p:nvSpPr>
        <p:spPr>
          <a:xfrm>
            <a:off x="7747534" y="4516900"/>
            <a:ext cx="723275" cy="253916"/>
          </a:xfrm>
          <a:prstGeom prst="rect">
            <a:avLst/>
          </a:prstGeom>
          <a:noFill/>
        </p:spPr>
        <p:txBody>
          <a:bodyPr wrap="none" rtlCol="0">
            <a:spAutoFit/>
          </a:bodyPr>
          <a:lstStyle/>
          <a:p>
            <a:r>
              <a:rPr lang="zh-CN" altLang="en-US" sz="1050" b="1" dirty="0"/>
              <a:t>机会点：</a:t>
            </a:r>
          </a:p>
        </p:txBody>
      </p:sp>
      <p:sp>
        <p:nvSpPr>
          <p:cNvPr id="32" name="文本框 31">
            <a:extLst>
              <a:ext uri="{FF2B5EF4-FFF2-40B4-BE49-F238E27FC236}">
                <a16:creationId xmlns:a16="http://schemas.microsoft.com/office/drawing/2014/main" id="{4140F52B-C878-C0C3-FC8B-DC823410F85D}"/>
              </a:ext>
            </a:extLst>
          </p:cNvPr>
          <p:cNvSpPr txBox="1"/>
          <p:nvPr/>
        </p:nvSpPr>
        <p:spPr>
          <a:xfrm>
            <a:off x="7985814" y="5857248"/>
            <a:ext cx="6607834" cy="261610"/>
          </a:xfrm>
          <a:prstGeom prst="rect">
            <a:avLst/>
          </a:prstGeom>
          <a:noFill/>
        </p:spPr>
        <p:txBody>
          <a:bodyPr wrap="square">
            <a:spAutoFit/>
          </a:bodyPr>
          <a:lstStyle/>
          <a:p>
            <a:pPr marL="171450" indent="-171450">
              <a:buFont typeface="Wingdings" panose="05000000000000000000" pitchFamily="2" charset="2"/>
              <a:buChar char="ü"/>
            </a:pPr>
            <a:r>
              <a:rPr lang="zh-CN" altLang="en-US" sz="1050" dirty="0"/>
              <a:t>车内配置行李托运机器人</a:t>
            </a:r>
          </a:p>
        </p:txBody>
      </p:sp>
      <p:sp>
        <p:nvSpPr>
          <p:cNvPr id="33" name="文本框 32">
            <a:extLst>
              <a:ext uri="{FF2B5EF4-FFF2-40B4-BE49-F238E27FC236}">
                <a16:creationId xmlns:a16="http://schemas.microsoft.com/office/drawing/2014/main" id="{5055D74D-4D36-130A-05D6-9787671F32E3}"/>
              </a:ext>
            </a:extLst>
          </p:cNvPr>
          <p:cNvSpPr txBox="1"/>
          <p:nvPr/>
        </p:nvSpPr>
        <p:spPr>
          <a:xfrm>
            <a:off x="7731209" y="5557846"/>
            <a:ext cx="588623" cy="253916"/>
          </a:xfrm>
          <a:prstGeom prst="rect">
            <a:avLst/>
          </a:prstGeom>
          <a:noFill/>
        </p:spPr>
        <p:txBody>
          <a:bodyPr wrap="none" rtlCol="0">
            <a:spAutoFit/>
          </a:bodyPr>
          <a:lstStyle/>
          <a:p>
            <a:r>
              <a:rPr lang="zh-CN" altLang="en-US" sz="1050" b="1" dirty="0"/>
              <a:t>展望：</a:t>
            </a:r>
          </a:p>
        </p:txBody>
      </p:sp>
    </p:spTree>
    <p:extLst>
      <p:ext uri="{BB962C8B-B14F-4D97-AF65-F5344CB8AC3E}">
        <p14:creationId xmlns:p14="http://schemas.microsoft.com/office/powerpoint/2010/main" val="27347961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4F541-AB98-FAD5-AC89-87E33AB56E9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9031027-B485-00B7-46D9-B86F3EB6EB12}"/>
              </a:ext>
            </a:extLst>
          </p:cNvPr>
          <p:cNvSpPr>
            <a:spLocks noGrp="1"/>
          </p:cNvSpPr>
          <p:nvPr>
            <p:ph type="title" idx="4294967295"/>
          </p:nvPr>
        </p:nvSpPr>
        <p:spPr>
          <a:xfrm>
            <a:off x="669924" y="433637"/>
            <a:ext cx="10440000" cy="595063"/>
          </a:xfrm>
        </p:spPr>
        <p:txBody>
          <a:bodyPr/>
          <a:lstStyle/>
          <a:p>
            <a:r>
              <a:rPr lang="zh-CN" altLang="en-US" dirty="0"/>
              <a:t>上车前阶段</a:t>
            </a:r>
            <a:r>
              <a:rPr lang="en-US" altLang="zh-CN" dirty="0"/>
              <a:t>——</a:t>
            </a:r>
            <a:r>
              <a:rPr lang="zh-CN" altLang="en-US" dirty="0"/>
              <a:t>行前沟通</a:t>
            </a:r>
          </a:p>
        </p:txBody>
      </p:sp>
      <p:sp>
        <p:nvSpPr>
          <p:cNvPr id="16" name="文本占位符 4">
            <a:extLst>
              <a:ext uri="{FF2B5EF4-FFF2-40B4-BE49-F238E27FC236}">
                <a16:creationId xmlns:a16="http://schemas.microsoft.com/office/drawing/2014/main" id="{EB179B31-0297-AFEE-E5AC-BFBCA6A609D7}"/>
              </a:ext>
            </a:extLst>
          </p:cNvPr>
          <p:cNvSpPr txBox="1"/>
          <p:nvPr/>
        </p:nvSpPr>
        <p:spPr>
          <a:xfrm>
            <a:off x="3751587" y="1389035"/>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a:extLst>
              <a:ext uri="{FF2B5EF4-FFF2-40B4-BE49-F238E27FC236}">
                <a16:creationId xmlns:a16="http://schemas.microsoft.com/office/drawing/2014/main" id="{F7917FB7-1669-8D01-445D-110EAE81628C}"/>
              </a:ext>
            </a:extLst>
          </p:cNvPr>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a:extLst>
              <a:ext uri="{FF2B5EF4-FFF2-40B4-BE49-F238E27FC236}">
                <a16:creationId xmlns:a16="http://schemas.microsoft.com/office/drawing/2014/main" id="{5EEDC7FA-28A9-1C3C-67CE-0D8F6FA6B9C2}"/>
              </a:ext>
            </a:extLst>
          </p:cNvPr>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a:extLst>
              <a:ext uri="{FF2B5EF4-FFF2-40B4-BE49-F238E27FC236}">
                <a16:creationId xmlns:a16="http://schemas.microsoft.com/office/drawing/2014/main" id="{E42AC6B5-91A2-F2FF-9A8E-38A95DA70C70}"/>
              </a:ext>
            </a:extLst>
          </p:cNvPr>
          <p:cNvSpPr txBox="1"/>
          <p:nvPr/>
        </p:nvSpPr>
        <p:spPr>
          <a:xfrm>
            <a:off x="75092" y="3341567"/>
            <a:ext cx="366036" cy="1169551"/>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行前沟通</a:t>
            </a:r>
          </a:p>
        </p:txBody>
      </p:sp>
      <p:sp>
        <p:nvSpPr>
          <p:cNvPr id="10" name="文本框 9">
            <a:extLst>
              <a:ext uri="{FF2B5EF4-FFF2-40B4-BE49-F238E27FC236}">
                <a16:creationId xmlns:a16="http://schemas.microsoft.com/office/drawing/2014/main" id="{33A5972F-CCAC-27EB-894D-B1D36ACFAA5E}"/>
              </a:ext>
            </a:extLst>
          </p:cNvPr>
          <p:cNvSpPr txBox="1"/>
          <p:nvPr/>
        </p:nvSpPr>
        <p:spPr>
          <a:xfrm>
            <a:off x="497628" y="2164407"/>
            <a:ext cx="1525188" cy="4201150"/>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100" dirty="0">
                <a:solidFill>
                  <a:srgbClr val="000000"/>
                </a:solidFill>
                <a:latin typeface="微软雅黑" panose="020B0503020204020204" pitchFamily="34" charset="-122"/>
                <a:ea typeface="微软雅黑" panose="020B0503020204020204" pitchFamily="34" charset="-122"/>
              </a:rPr>
              <a:t>场站</a:t>
            </a: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r>
              <a:rPr lang="zh-CN" altLang="en-US" sz="1100" dirty="0">
                <a:solidFill>
                  <a:srgbClr val="000000"/>
                </a:solidFill>
                <a:latin typeface="微软雅黑" panose="020B0503020204020204" pitchFamily="34" charset="-122"/>
                <a:ea typeface="微软雅黑" panose="020B0503020204020204" pitchFamily="34" charset="-122"/>
              </a:rPr>
              <a:t>代叫车</a:t>
            </a: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Ø"/>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Ø"/>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p:txBody>
      </p:sp>
      <p:sp>
        <p:nvSpPr>
          <p:cNvPr id="58" name="文本占位符 4">
            <a:extLst>
              <a:ext uri="{FF2B5EF4-FFF2-40B4-BE49-F238E27FC236}">
                <a16:creationId xmlns:a16="http://schemas.microsoft.com/office/drawing/2014/main" id="{A6AE78A4-F4E9-A518-0549-08AF083F6C17}"/>
              </a:ext>
            </a:extLst>
          </p:cNvPr>
          <p:cNvSpPr txBox="1"/>
          <p:nvPr/>
        </p:nvSpPr>
        <p:spPr>
          <a:xfrm>
            <a:off x="1124705" y="1392965"/>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a:extLst>
              <a:ext uri="{FF2B5EF4-FFF2-40B4-BE49-F238E27FC236}">
                <a16:creationId xmlns:a16="http://schemas.microsoft.com/office/drawing/2014/main" id="{CB1D4DC3-2BF2-3A79-1E70-1B8DB57FACAA}"/>
              </a:ext>
            </a:extLst>
          </p:cNvPr>
          <p:cNvSpPr txBox="1"/>
          <p:nvPr/>
        </p:nvSpPr>
        <p:spPr>
          <a:xfrm>
            <a:off x="8761741" y="1406260"/>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a:extLst>
              <a:ext uri="{FF2B5EF4-FFF2-40B4-BE49-F238E27FC236}">
                <a16:creationId xmlns:a16="http://schemas.microsoft.com/office/drawing/2014/main" id="{6ED9F0A7-11FB-666F-156C-74C96CD45ECF}"/>
              </a:ext>
            </a:extLst>
          </p:cNvPr>
          <p:cNvCxnSpPr/>
          <p:nvPr/>
        </p:nvCxnSpPr>
        <p:spPr>
          <a:xfrm>
            <a:off x="2616145" y="185026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5824D18-E306-98B4-D528-EC416F1313EF}"/>
              </a:ext>
            </a:extLst>
          </p:cNvPr>
          <p:cNvCxnSpPr/>
          <p:nvPr/>
        </p:nvCxnSpPr>
        <p:spPr>
          <a:xfrm>
            <a:off x="6613689" y="185026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a:extLst>
              <a:ext uri="{FF2B5EF4-FFF2-40B4-BE49-F238E27FC236}">
                <a16:creationId xmlns:a16="http://schemas.microsoft.com/office/drawing/2014/main" id="{410931FF-B879-6603-DADC-F49F6B3FE2BC}"/>
              </a:ext>
            </a:extLst>
          </p:cNvPr>
          <p:cNvSpPr txBox="1"/>
          <p:nvPr/>
        </p:nvSpPr>
        <p:spPr>
          <a:xfrm>
            <a:off x="-81467" y="1381861"/>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场景</a:t>
            </a:r>
          </a:p>
        </p:txBody>
      </p:sp>
      <p:cxnSp>
        <p:nvCxnSpPr>
          <p:cNvPr id="34" name="直接连接符 33">
            <a:extLst>
              <a:ext uri="{FF2B5EF4-FFF2-40B4-BE49-F238E27FC236}">
                <a16:creationId xmlns:a16="http://schemas.microsoft.com/office/drawing/2014/main" id="{44EE1CE2-2F54-0DF1-F00B-8A687DF1DDB3}"/>
              </a:ext>
            </a:extLst>
          </p:cNvPr>
          <p:cNvCxnSpPr/>
          <p:nvPr/>
        </p:nvCxnSpPr>
        <p:spPr>
          <a:xfrm>
            <a:off x="1260222" y="185026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a:extLst>
              <a:ext uri="{FF2B5EF4-FFF2-40B4-BE49-F238E27FC236}">
                <a16:creationId xmlns:a16="http://schemas.microsoft.com/office/drawing/2014/main" id="{6505FDE6-CE7E-6B5C-32E7-A5B00C873EFB}"/>
              </a:ext>
            </a:extLst>
          </p:cNvPr>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2" name="文本框 11">
            <a:extLst>
              <a:ext uri="{FF2B5EF4-FFF2-40B4-BE49-F238E27FC236}">
                <a16:creationId xmlns:a16="http://schemas.microsoft.com/office/drawing/2014/main" id="{C8D0CD2E-76DE-9372-78B5-AF5DA8D240F5}"/>
              </a:ext>
            </a:extLst>
          </p:cNvPr>
          <p:cNvSpPr txBox="1"/>
          <p:nvPr/>
        </p:nvSpPr>
        <p:spPr>
          <a:xfrm>
            <a:off x="1323690" y="2295560"/>
            <a:ext cx="1341872" cy="1384995"/>
          </a:xfrm>
          <a:prstGeom prst="rect">
            <a:avLst/>
          </a:prstGeom>
          <a:noFill/>
        </p:spPr>
        <p:txBody>
          <a:bodyPr wrap="square" rtlCol="0">
            <a:spAutoFit/>
          </a:bodyPr>
          <a:lstStyle/>
          <a:p>
            <a:pPr marL="171450" indent="-171450">
              <a:buFont typeface="Arial" panose="020B0604020202020204" pitchFamily="34" charset="0"/>
              <a:buChar char="•"/>
            </a:pPr>
            <a:r>
              <a:rPr lang="zh-CN" altLang="en-US" sz="1050" dirty="0"/>
              <a:t>存在多个停车点，协商接驾地点</a:t>
            </a:r>
            <a:endParaRPr lang="en-US" altLang="zh-CN" sz="1050" dirty="0"/>
          </a:p>
          <a:p>
            <a:pPr marL="171450" indent="-171450">
              <a:buFont typeface="Arial" panose="020B0604020202020204" pitchFamily="34" charset="0"/>
              <a:buChar char="•"/>
            </a:pPr>
            <a:endParaRPr lang="en-US" altLang="zh-CN" sz="1050" dirty="0"/>
          </a:p>
          <a:p>
            <a:pPr marL="171450" indent="-171450">
              <a:buFont typeface="Arial" panose="020B0604020202020204" pitchFamily="34" charset="0"/>
              <a:buChar char="•"/>
            </a:pPr>
            <a:r>
              <a:rPr lang="zh-CN" altLang="en-US" sz="1050" dirty="0"/>
              <a:t>乘客要求去出发层接驾</a:t>
            </a:r>
            <a:endParaRPr lang="en-US" altLang="zh-CN" sz="1050" dirty="0"/>
          </a:p>
          <a:p>
            <a:pPr marL="171450" indent="-171450">
              <a:buFont typeface="Arial" panose="020B0604020202020204" pitchFamily="34" charset="0"/>
              <a:buChar char="•"/>
            </a:pPr>
            <a:endParaRPr lang="en-US" altLang="zh-CN" sz="1050" dirty="0"/>
          </a:p>
          <a:p>
            <a:pPr marL="171450" indent="-171450">
              <a:buFont typeface="Arial" panose="020B0604020202020204" pitchFamily="34" charset="0"/>
              <a:buChar char="•"/>
            </a:pPr>
            <a:r>
              <a:rPr lang="zh-CN" altLang="en-US" sz="1050" dirty="0"/>
              <a:t>需要人找车，不是车找人 </a:t>
            </a:r>
          </a:p>
        </p:txBody>
      </p:sp>
      <p:sp>
        <p:nvSpPr>
          <p:cNvPr id="17" name="文本框 16">
            <a:extLst>
              <a:ext uri="{FF2B5EF4-FFF2-40B4-BE49-F238E27FC236}">
                <a16:creationId xmlns:a16="http://schemas.microsoft.com/office/drawing/2014/main" id="{6EB54D3B-83B1-D017-E3C1-B0E8FCF2CF8E}"/>
              </a:ext>
            </a:extLst>
          </p:cNvPr>
          <p:cNvSpPr txBox="1"/>
          <p:nvPr/>
        </p:nvSpPr>
        <p:spPr>
          <a:xfrm>
            <a:off x="1331089" y="4577609"/>
            <a:ext cx="1285056" cy="977191"/>
          </a:xfrm>
          <a:prstGeom prst="rect">
            <a:avLst/>
          </a:prstGeom>
          <a:noFill/>
        </p:spPr>
        <p:txBody>
          <a:bodyPr wrap="square" rtlCol="0">
            <a:spAutoFit/>
          </a:bodyPr>
          <a:lstStyle/>
          <a:p>
            <a:pPr marL="171450" indent="-171450">
              <a:spcBef>
                <a:spcPts val="600"/>
              </a:spcBef>
              <a:buFont typeface="Arial" panose="020B0604020202020204" pitchFamily="34" charset="0"/>
              <a:buChar char="•"/>
            </a:pPr>
            <a:r>
              <a:rPr lang="zh-CN" altLang="en-US" sz="1050" dirty="0"/>
              <a:t>需要确认地点反复沟通</a:t>
            </a:r>
            <a:endParaRPr lang="en-US" altLang="zh-CN" sz="1050" dirty="0"/>
          </a:p>
          <a:p>
            <a:pPr marL="171450" indent="-171450">
              <a:spcBef>
                <a:spcPts val="600"/>
              </a:spcBef>
              <a:buFont typeface="Arial" panose="020B0604020202020204" pitchFamily="34" charset="0"/>
              <a:buChar char="•"/>
            </a:pPr>
            <a:r>
              <a:rPr lang="zh-CN" altLang="en-US" sz="1050" dirty="0"/>
              <a:t>特殊需求沟通，如何老人</a:t>
            </a:r>
            <a:r>
              <a:rPr lang="en-US" altLang="zh-CN" sz="1050" dirty="0"/>
              <a:t>&amp;</a:t>
            </a:r>
            <a:r>
              <a:rPr lang="zh-CN" altLang="en-US" sz="1050" dirty="0"/>
              <a:t>儿童</a:t>
            </a:r>
            <a:endParaRPr lang="en-US" altLang="zh-CN" sz="1050" dirty="0"/>
          </a:p>
          <a:p>
            <a:pPr marL="171450" indent="-171450">
              <a:buFont typeface="Arial" panose="020B0604020202020204" pitchFamily="34" charset="0"/>
              <a:buChar char="•"/>
            </a:pPr>
            <a:endParaRPr lang="zh-CN" altLang="en-US" sz="1050" dirty="0"/>
          </a:p>
        </p:txBody>
      </p:sp>
      <p:cxnSp>
        <p:nvCxnSpPr>
          <p:cNvPr id="21" name="直接连接符 20">
            <a:extLst>
              <a:ext uri="{FF2B5EF4-FFF2-40B4-BE49-F238E27FC236}">
                <a16:creationId xmlns:a16="http://schemas.microsoft.com/office/drawing/2014/main" id="{C9E1275C-33E7-D234-2476-243FD2545630}"/>
              </a:ext>
            </a:extLst>
          </p:cNvPr>
          <p:cNvCxnSpPr/>
          <p:nvPr/>
        </p:nvCxnSpPr>
        <p:spPr>
          <a:xfrm>
            <a:off x="545759" y="3964339"/>
            <a:ext cx="11332126"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7" name="文本框 76">
            <a:extLst>
              <a:ext uri="{FF2B5EF4-FFF2-40B4-BE49-F238E27FC236}">
                <a16:creationId xmlns:a16="http://schemas.microsoft.com/office/drawing/2014/main" id="{8EF00684-9C3E-9EFF-0168-82ECC812EAD5}"/>
              </a:ext>
            </a:extLst>
          </p:cNvPr>
          <p:cNvSpPr txBox="1"/>
          <p:nvPr/>
        </p:nvSpPr>
        <p:spPr>
          <a:xfrm>
            <a:off x="2924940" y="1977811"/>
            <a:ext cx="2050561"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乘客不熟悉规定接驾地点</a:t>
            </a:r>
          </a:p>
        </p:txBody>
      </p:sp>
      <p:sp>
        <p:nvSpPr>
          <p:cNvPr id="78" name="文本框 77">
            <a:extLst>
              <a:ext uri="{FF2B5EF4-FFF2-40B4-BE49-F238E27FC236}">
                <a16:creationId xmlns:a16="http://schemas.microsoft.com/office/drawing/2014/main" id="{5C46FA7E-592B-3FA2-F25D-F36AED83EAE7}"/>
              </a:ext>
            </a:extLst>
          </p:cNvPr>
          <p:cNvSpPr txBox="1"/>
          <p:nvPr/>
        </p:nvSpPr>
        <p:spPr>
          <a:xfrm>
            <a:off x="2938957" y="2212614"/>
            <a:ext cx="2950967" cy="54829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050" dirty="0"/>
              <a:t>乘客场站内认路能力没那么高，反复沟通</a:t>
            </a:r>
            <a:endParaRPr lang="en-US" altLang="zh-CN" sz="1050" dirty="0"/>
          </a:p>
          <a:p>
            <a:pPr marL="285750" indent="-285750">
              <a:lnSpc>
                <a:spcPct val="150000"/>
              </a:lnSpc>
              <a:buFont typeface="Arial" panose="020B0604020202020204" pitchFamily="34" charset="0"/>
              <a:buChar char="•"/>
            </a:pPr>
            <a:r>
              <a:rPr lang="zh-CN" altLang="en-US" sz="1050" dirty="0"/>
              <a:t>走错接车点，如南广场停车，去了北广场</a:t>
            </a:r>
          </a:p>
        </p:txBody>
      </p:sp>
      <p:sp>
        <p:nvSpPr>
          <p:cNvPr id="79" name="文本框 78">
            <a:extLst>
              <a:ext uri="{FF2B5EF4-FFF2-40B4-BE49-F238E27FC236}">
                <a16:creationId xmlns:a16="http://schemas.microsoft.com/office/drawing/2014/main" id="{9D70D2AE-CB2B-8B11-3061-185879C78265}"/>
              </a:ext>
            </a:extLst>
          </p:cNvPr>
          <p:cNvSpPr txBox="1"/>
          <p:nvPr/>
        </p:nvSpPr>
        <p:spPr>
          <a:xfrm>
            <a:off x="2752727" y="2957629"/>
            <a:ext cx="2204450"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司机与乘客约定更快接驾点</a:t>
            </a:r>
          </a:p>
        </p:txBody>
      </p:sp>
      <p:sp>
        <p:nvSpPr>
          <p:cNvPr id="80" name="文本框 79">
            <a:extLst>
              <a:ext uri="{FF2B5EF4-FFF2-40B4-BE49-F238E27FC236}">
                <a16:creationId xmlns:a16="http://schemas.microsoft.com/office/drawing/2014/main" id="{455F5DA3-7ADA-BFA9-A844-7D17EFB37572}"/>
              </a:ext>
            </a:extLst>
          </p:cNvPr>
          <p:cNvSpPr txBox="1"/>
          <p:nvPr/>
        </p:nvSpPr>
        <p:spPr>
          <a:xfrm>
            <a:off x="2924940" y="3216272"/>
            <a:ext cx="2515615" cy="577081"/>
          </a:xfrm>
          <a:prstGeom prst="rect">
            <a:avLst/>
          </a:prstGeom>
          <a:noFill/>
        </p:spPr>
        <p:txBody>
          <a:bodyPr wrap="square" rtlCol="0">
            <a:spAutoFit/>
          </a:bodyPr>
          <a:lstStyle/>
          <a:p>
            <a:pPr marL="285750" indent="-285750">
              <a:buFont typeface="Arial" panose="020B0604020202020204" pitchFamily="34" charset="0"/>
              <a:buChar char="•"/>
            </a:pPr>
            <a:r>
              <a:rPr lang="zh-CN" altLang="en-US" sz="1050" dirty="0"/>
              <a:t>司机发起，停车场堵车</a:t>
            </a:r>
            <a:endParaRPr lang="en-US" altLang="zh-CN" sz="1050" dirty="0"/>
          </a:p>
          <a:p>
            <a:pPr marL="285750" indent="-285750">
              <a:buFont typeface="Arial" panose="020B0604020202020204" pitchFamily="34" charset="0"/>
              <a:buChar char="•"/>
            </a:pPr>
            <a:r>
              <a:rPr lang="zh-CN" altLang="en-US" sz="1050" dirty="0"/>
              <a:t>乘客发起，出发层，但有的出发层不能空车驶入</a:t>
            </a:r>
          </a:p>
        </p:txBody>
      </p:sp>
      <p:sp>
        <p:nvSpPr>
          <p:cNvPr id="81" name="文本框 80">
            <a:extLst>
              <a:ext uri="{FF2B5EF4-FFF2-40B4-BE49-F238E27FC236}">
                <a16:creationId xmlns:a16="http://schemas.microsoft.com/office/drawing/2014/main" id="{105B1C11-978F-4F18-DFA2-10FB4F2E229B}"/>
              </a:ext>
            </a:extLst>
          </p:cNvPr>
          <p:cNvSpPr txBox="1"/>
          <p:nvPr/>
        </p:nvSpPr>
        <p:spPr>
          <a:xfrm>
            <a:off x="7014955" y="2605221"/>
            <a:ext cx="4761128" cy="923330"/>
          </a:xfrm>
          <a:prstGeom prst="rect">
            <a:avLst/>
          </a:prstGeom>
          <a:noFill/>
        </p:spPr>
        <p:txBody>
          <a:bodyPr wrap="square" rtlCol="0">
            <a:spAutoFit/>
          </a:bodyPr>
          <a:lstStyle/>
          <a:p>
            <a:pPr marL="285750" indent="-285750">
              <a:spcBef>
                <a:spcPts val="600"/>
              </a:spcBef>
              <a:buFont typeface="Wingdings" panose="05000000000000000000" pitchFamily="2" charset="2"/>
              <a:buChar char="ü"/>
            </a:pPr>
            <a:r>
              <a:rPr lang="zh-CN" altLang="en-US" sz="1050" dirty="0"/>
              <a:t>手机端</a:t>
            </a:r>
            <a:r>
              <a:rPr lang="en-US" altLang="zh-CN" sz="1050" dirty="0"/>
              <a:t>Agent</a:t>
            </a:r>
            <a:r>
              <a:rPr lang="zh-CN" altLang="en-US" sz="1050" dirty="0"/>
              <a:t>提供指路服务，结合乘客手机位置与车辆位置及约定地点，实时提供提示当前方向是否正确</a:t>
            </a:r>
            <a:endParaRPr lang="en-US" altLang="zh-CN" sz="1050" dirty="0"/>
          </a:p>
          <a:p>
            <a:pPr marL="285750" indent="-285750">
              <a:spcBef>
                <a:spcPts val="600"/>
              </a:spcBef>
              <a:buFont typeface="Wingdings" panose="05000000000000000000" pitchFamily="2" charset="2"/>
              <a:buChar char="ü"/>
            </a:pPr>
            <a:r>
              <a:rPr lang="zh-CN" altLang="en-US" sz="1050" dirty="0"/>
              <a:t>车辆端</a:t>
            </a:r>
            <a:r>
              <a:rPr lang="en-US" altLang="zh-CN" sz="1050" dirty="0"/>
              <a:t>agent</a:t>
            </a:r>
            <a:r>
              <a:rPr lang="zh-CN" altLang="en-US" sz="1050" dirty="0"/>
              <a:t>端也能显示对方手机端位置，手机端也能显示车机端位置</a:t>
            </a:r>
            <a:endParaRPr lang="en-US" altLang="zh-CN" sz="1050" dirty="0"/>
          </a:p>
          <a:p>
            <a:pPr marL="285750" indent="-285750">
              <a:spcBef>
                <a:spcPts val="600"/>
              </a:spcBef>
              <a:buFont typeface="Wingdings" panose="05000000000000000000" pitchFamily="2" charset="2"/>
              <a:buChar char="ü"/>
            </a:pPr>
            <a:endParaRPr lang="zh-CN" altLang="en-US" sz="1050" dirty="0"/>
          </a:p>
        </p:txBody>
      </p:sp>
      <p:sp>
        <p:nvSpPr>
          <p:cNvPr id="82" name="文本框 81">
            <a:extLst>
              <a:ext uri="{FF2B5EF4-FFF2-40B4-BE49-F238E27FC236}">
                <a16:creationId xmlns:a16="http://schemas.microsoft.com/office/drawing/2014/main" id="{D6B8C339-F54B-AD82-50D1-14A6B5BF84CC}"/>
              </a:ext>
            </a:extLst>
          </p:cNvPr>
          <p:cNvSpPr txBox="1"/>
          <p:nvPr/>
        </p:nvSpPr>
        <p:spPr>
          <a:xfrm>
            <a:off x="2851251" y="4129488"/>
            <a:ext cx="2666114"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乘客不放心，反复电话和信息沟通</a:t>
            </a:r>
          </a:p>
        </p:txBody>
      </p:sp>
      <p:sp>
        <p:nvSpPr>
          <p:cNvPr id="84" name="文本框 83">
            <a:extLst>
              <a:ext uri="{FF2B5EF4-FFF2-40B4-BE49-F238E27FC236}">
                <a16:creationId xmlns:a16="http://schemas.microsoft.com/office/drawing/2014/main" id="{F0F4F601-87A6-9EB5-047B-D7B06CE87EEF}"/>
              </a:ext>
            </a:extLst>
          </p:cNvPr>
          <p:cNvSpPr txBox="1"/>
          <p:nvPr/>
        </p:nvSpPr>
        <p:spPr>
          <a:xfrm>
            <a:off x="3045256" y="4523064"/>
            <a:ext cx="1569660" cy="1061829"/>
          </a:xfrm>
          <a:prstGeom prst="rect">
            <a:avLst/>
          </a:prstGeom>
          <a:noFill/>
        </p:spPr>
        <p:txBody>
          <a:bodyPr wrap="none" rtlCol="0">
            <a:spAutoFit/>
          </a:bodyPr>
          <a:lstStyle/>
          <a:p>
            <a:pPr marL="171450" indent="-171450">
              <a:buFont typeface="Arial" panose="020B0604020202020204" pitchFamily="34" charset="0"/>
              <a:buChar char="•"/>
            </a:pPr>
            <a:r>
              <a:rPr lang="zh-CN" altLang="en-US" sz="1050" dirty="0"/>
              <a:t>地点与到达时间确认</a:t>
            </a:r>
            <a:endParaRPr lang="en-US" altLang="zh-CN" sz="1050" dirty="0"/>
          </a:p>
          <a:p>
            <a:pPr marL="171450" indent="-171450">
              <a:buFont typeface="Arial" panose="020B0604020202020204" pitchFamily="34" charset="0"/>
              <a:buChar char="•"/>
            </a:pPr>
            <a:r>
              <a:rPr lang="zh-CN" altLang="en-US" sz="1050" dirty="0"/>
              <a:t>上车人的特征描述</a:t>
            </a:r>
            <a:endParaRPr lang="en-US" altLang="zh-CN" sz="1050" dirty="0"/>
          </a:p>
          <a:p>
            <a:pPr marL="171450" indent="-171450">
              <a:buFont typeface="Arial" panose="020B0604020202020204" pitchFamily="34" charset="0"/>
              <a:buChar char="•"/>
            </a:pPr>
            <a:r>
              <a:rPr lang="zh-CN" altLang="en-US" sz="1050" dirty="0"/>
              <a:t>上没上车</a:t>
            </a:r>
            <a:endParaRPr lang="en-US" altLang="zh-CN" sz="1050" dirty="0"/>
          </a:p>
          <a:p>
            <a:pPr marL="171450" indent="-171450">
              <a:buFont typeface="Arial" panose="020B0604020202020204" pitchFamily="34" charset="0"/>
              <a:buChar char="•"/>
            </a:pPr>
            <a:r>
              <a:rPr lang="zh-CN" altLang="en-US" sz="1050" dirty="0"/>
              <a:t>下车地点要求等描述</a:t>
            </a:r>
          </a:p>
          <a:p>
            <a:pPr marL="171450" indent="-171450">
              <a:buFont typeface="Arial" panose="020B0604020202020204" pitchFamily="34" charset="0"/>
              <a:buChar char="•"/>
            </a:pPr>
            <a:endParaRPr lang="en-US" altLang="zh-CN" sz="1050" dirty="0"/>
          </a:p>
          <a:p>
            <a:pPr marL="171450" indent="-171450">
              <a:buFont typeface="Arial" panose="020B0604020202020204" pitchFamily="34" charset="0"/>
              <a:buChar char="•"/>
            </a:pPr>
            <a:endParaRPr lang="zh-CN" altLang="en-US" sz="1050" dirty="0"/>
          </a:p>
        </p:txBody>
      </p:sp>
      <p:sp>
        <p:nvSpPr>
          <p:cNvPr id="87" name="文本框 86">
            <a:extLst>
              <a:ext uri="{FF2B5EF4-FFF2-40B4-BE49-F238E27FC236}">
                <a16:creationId xmlns:a16="http://schemas.microsoft.com/office/drawing/2014/main" id="{F59C44E8-B6A4-87B2-3A4A-BD14587E745A}"/>
              </a:ext>
            </a:extLst>
          </p:cNvPr>
          <p:cNvSpPr txBox="1"/>
          <p:nvPr/>
        </p:nvSpPr>
        <p:spPr>
          <a:xfrm>
            <a:off x="7042156" y="4713669"/>
            <a:ext cx="4192406" cy="923330"/>
          </a:xfrm>
          <a:prstGeom prst="rect">
            <a:avLst/>
          </a:prstGeom>
          <a:noFill/>
        </p:spPr>
        <p:txBody>
          <a:bodyPr wrap="square" rtlCol="0">
            <a:spAutoFit/>
          </a:bodyPr>
          <a:lstStyle/>
          <a:p>
            <a:pPr marL="285750" indent="-285750">
              <a:spcBef>
                <a:spcPts val="600"/>
              </a:spcBef>
              <a:buFont typeface="Wingdings" panose="05000000000000000000" pitchFamily="2" charset="2"/>
              <a:buChar char="ü"/>
            </a:pPr>
            <a:r>
              <a:rPr lang="zh-CN" altLang="en-US" sz="1050" dirty="0"/>
              <a:t>支持</a:t>
            </a:r>
            <a:r>
              <a:rPr lang="en-US" altLang="zh-CN" sz="1050" dirty="0"/>
              <a:t>agent</a:t>
            </a:r>
            <a:r>
              <a:rPr lang="zh-CN" altLang="en-US" sz="1050" dirty="0"/>
              <a:t>群模式，多个主体参与互动</a:t>
            </a:r>
            <a:endParaRPr lang="en-US" altLang="zh-CN" sz="1050" dirty="0"/>
          </a:p>
          <a:p>
            <a:pPr marL="285750" indent="-285750">
              <a:spcBef>
                <a:spcPts val="600"/>
              </a:spcBef>
              <a:buFont typeface="Wingdings" panose="05000000000000000000" pitchFamily="2" charset="2"/>
              <a:buChar char="ü"/>
            </a:pPr>
            <a:r>
              <a:rPr lang="zh-CN" altLang="en-US" sz="1050" dirty="0"/>
              <a:t>车机</a:t>
            </a:r>
            <a:r>
              <a:rPr lang="en-US" altLang="zh-CN" sz="1050" dirty="0"/>
              <a:t>agent</a:t>
            </a:r>
            <a:r>
              <a:rPr lang="zh-CN" altLang="en-US" sz="1050" dirty="0"/>
              <a:t>需要理解群内多方语音与文字需求并及时反馈自身状态</a:t>
            </a:r>
            <a:endParaRPr lang="en-US" altLang="zh-CN" sz="1050" dirty="0"/>
          </a:p>
          <a:p>
            <a:pPr marL="285750" indent="-285750">
              <a:spcBef>
                <a:spcPts val="600"/>
              </a:spcBef>
              <a:buFont typeface="Wingdings" panose="05000000000000000000" pitchFamily="2" charset="2"/>
              <a:buChar char="ü"/>
            </a:pPr>
            <a:r>
              <a:rPr lang="zh-CN" altLang="en-US" sz="1050" dirty="0"/>
              <a:t>根据文字描述到附近后系统</a:t>
            </a:r>
            <a:r>
              <a:rPr lang="en-US" altLang="zh-CN" sz="1050" dirty="0"/>
              <a:t>ARHUD</a:t>
            </a:r>
            <a:r>
              <a:rPr lang="zh-CN" altLang="en-US" sz="1050" dirty="0"/>
              <a:t>自动识别上车人特征</a:t>
            </a:r>
            <a:endParaRPr lang="en-US" altLang="zh-CN" sz="1050" dirty="0"/>
          </a:p>
        </p:txBody>
      </p:sp>
      <p:sp>
        <p:nvSpPr>
          <p:cNvPr id="4" name="文本框 3">
            <a:extLst>
              <a:ext uri="{FF2B5EF4-FFF2-40B4-BE49-F238E27FC236}">
                <a16:creationId xmlns:a16="http://schemas.microsoft.com/office/drawing/2014/main" id="{2C58F3D3-BF70-86E8-8444-920FEF5E2D36}"/>
              </a:ext>
            </a:extLst>
          </p:cNvPr>
          <p:cNvSpPr txBox="1"/>
          <p:nvPr/>
        </p:nvSpPr>
        <p:spPr>
          <a:xfrm>
            <a:off x="6755118" y="2260566"/>
            <a:ext cx="723275" cy="253916"/>
          </a:xfrm>
          <a:prstGeom prst="rect">
            <a:avLst/>
          </a:prstGeom>
          <a:noFill/>
        </p:spPr>
        <p:txBody>
          <a:bodyPr wrap="none" rtlCol="0">
            <a:spAutoFit/>
          </a:bodyPr>
          <a:lstStyle/>
          <a:p>
            <a:r>
              <a:rPr lang="zh-CN" altLang="en-US" sz="1050" b="1" dirty="0"/>
              <a:t>机会点：</a:t>
            </a:r>
          </a:p>
        </p:txBody>
      </p:sp>
      <p:sp>
        <p:nvSpPr>
          <p:cNvPr id="5" name="文本框 4">
            <a:extLst>
              <a:ext uri="{FF2B5EF4-FFF2-40B4-BE49-F238E27FC236}">
                <a16:creationId xmlns:a16="http://schemas.microsoft.com/office/drawing/2014/main" id="{66C72F4F-2812-40D5-A4E1-A99D27F9FBEB}"/>
              </a:ext>
            </a:extLst>
          </p:cNvPr>
          <p:cNvSpPr txBox="1"/>
          <p:nvPr/>
        </p:nvSpPr>
        <p:spPr>
          <a:xfrm>
            <a:off x="6755118" y="3330418"/>
            <a:ext cx="588623" cy="253916"/>
          </a:xfrm>
          <a:prstGeom prst="rect">
            <a:avLst/>
          </a:prstGeom>
          <a:noFill/>
        </p:spPr>
        <p:txBody>
          <a:bodyPr wrap="none" rtlCol="0">
            <a:spAutoFit/>
          </a:bodyPr>
          <a:lstStyle/>
          <a:p>
            <a:r>
              <a:rPr lang="zh-CN" altLang="en-US" sz="1050" b="1" dirty="0"/>
              <a:t>展望：</a:t>
            </a:r>
          </a:p>
        </p:txBody>
      </p:sp>
      <p:sp>
        <p:nvSpPr>
          <p:cNvPr id="6" name="文本框 5">
            <a:extLst>
              <a:ext uri="{FF2B5EF4-FFF2-40B4-BE49-F238E27FC236}">
                <a16:creationId xmlns:a16="http://schemas.microsoft.com/office/drawing/2014/main" id="{58DFAB6A-5088-1874-E1C3-8C03DE3F1215}"/>
              </a:ext>
            </a:extLst>
          </p:cNvPr>
          <p:cNvSpPr txBox="1"/>
          <p:nvPr/>
        </p:nvSpPr>
        <p:spPr>
          <a:xfrm>
            <a:off x="6710873" y="1846576"/>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8" name="文本框 7">
            <a:extLst>
              <a:ext uri="{FF2B5EF4-FFF2-40B4-BE49-F238E27FC236}">
                <a16:creationId xmlns:a16="http://schemas.microsoft.com/office/drawing/2014/main" id="{CCFCABD7-8032-BA6E-147E-62A9D68F4BEB}"/>
              </a:ext>
            </a:extLst>
          </p:cNvPr>
          <p:cNvSpPr txBox="1"/>
          <p:nvPr/>
        </p:nvSpPr>
        <p:spPr>
          <a:xfrm>
            <a:off x="7200531" y="2023604"/>
            <a:ext cx="3142207" cy="253916"/>
          </a:xfrm>
          <a:prstGeom prst="rect">
            <a:avLst/>
          </a:prstGeom>
          <a:noFill/>
        </p:spPr>
        <p:txBody>
          <a:bodyPr wrap="none" rtlCol="0">
            <a:spAutoFit/>
          </a:bodyPr>
          <a:lstStyle/>
          <a:p>
            <a:pPr marL="171450" indent="-171450">
              <a:buFont typeface="Wingdings" panose="05000000000000000000" pitchFamily="2" charset="2"/>
              <a:buChar char="ü"/>
            </a:pPr>
            <a:r>
              <a:rPr lang="zh-CN" altLang="en-US" sz="1050" dirty="0"/>
              <a:t>乘客通过平台或者</a:t>
            </a:r>
            <a:r>
              <a:rPr lang="en-US" altLang="zh-CN" sz="1050" dirty="0"/>
              <a:t>app</a:t>
            </a:r>
            <a:r>
              <a:rPr lang="zh-CN" altLang="en-US" sz="1050" dirty="0"/>
              <a:t>查看司机位置，自行判断</a:t>
            </a:r>
          </a:p>
        </p:txBody>
      </p:sp>
      <p:sp>
        <p:nvSpPr>
          <p:cNvPr id="14" name="文本框 13">
            <a:extLst>
              <a:ext uri="{FF2B5EF4-FFF2-40B4-BE49-F238E27FC236}">
                <a16:creationId xmlns:a16="http://schemas.microsoft.com/office/drawing/2014/main" id="{575C5229-C92E-D52E-4C28-A8CF24AD1E5B}"/>
              </a:ext>
            </a:extLst>
          </p:cNvPr>
          <p:cNvSpPr txBox="1"/>
          <p:nvPr/>
        </p:nvSpPr>
        <p:spPr>
          <a:xfrm>
            <a:off x="6978733" y="3640781"/>
            <a:ext cx="6607834" cy="261610"/>
          </a:xfrm>
          <a:prstGeom prst="rect">
            <a:avLst/>
          </a:prstGeom>
          <a:noFill/>
        </p:spPr>
        <p:txBody>
          <a:bodyPr wrap="square">
            <a:spAutoFit/>
          </a:bodyPr>
          <a:lstStyle/>
          <a:p>
            <a:pPr marL="171450" indent="-171450">
              <a:buFont typeface="Wingdings" panose="05000000000000000000" pitchFamily="2" charset="2"/>
              <a:buChar char="ü"/>
            </a:pPr>
            <a:r>
              <a:rPr lang="zh-CN" altLang="en-US" sz="1050" dirty="0"/>
              <a:t>安全合规条件下，识别场站各个停车点的忙闲，距离远近等智能变更接驾地点</a:t>
            </a:r>
          </a:p>
        </p:txBody>
      </p:sp>
      <p:sp>
        <p:nvSpPr>
          <p:cNvPr id="15" name="文本框 14">
            <a:extLst>
              <a:ext uri="{FF2B5EF4-FFF2-40B4-BE49-F238E27FC236}">
                <a16:creationId xmlns:a16="http://schemas.microsoft.com/office/drawing/2014/main" id="{FD05FD62-C501-AB5E-C459-028BCE89DE06}"/>
              </a:ext>
            </a:extLst>
          </p:cNvPr>
          <p:cNvSpPr txBox="1"/>
          <p:nvPr/>
        </p:nvSpPr>
        <p:spPr>
          <a:xfrm>
            <a:off x="6671984" y="4445766"/>
            <a:ext cx="723275" cy="253916"/>
          </a:xfrm>
          <a:prstGeom prst="rect">
            <a:avLst/>
          </a:prstGeom>
          <a:noFill/>
        </p:spPr>
        <p:txBody>
          <a:bodyPr wrap="none" rtlCol="0">
            <a:spAutoFit/>
          </a:bodyPr>
          <a:lstStyle/>
          <a:p>
            <a:r>
              <a:rPr lang="zh-CN" altLang="en-US" sz="1050" b="1" dirty="0"/>
              <a:t>机会点：</a:t>
            </a:r>
          </a:p>
        </p:txBody>
      </p:sp>
      <p:sp>
        <p:nvSpPr>
          <p:cNvPr id="19" name="文本框 18">
            <a:extLst>
              <a:ext uri="{FF2B5EF4-FFF2-40B4-BE49-F238E27FC236}">
                <a16:creationId xmlns:a16="http://schemas.microsoft.com/office/drawing/2014/main" id="{887321C7-446E-56A8-994C-A7AE59628382}"/>
              </a:ext>
            </a:extLst>
          </p:cNvPr>
          <p:cNvSpPr txBox="1"/>
          <p:nvPr/>
        </p:nvSpPr>
        <p:spPr>
          <a:xfrm>
            <a:off x="6671984" y="5515618"/>
            <a:ext cx="588623" cy="253916"/>
          </a:xfrm>
          <a:prstGeom prst="rect">
            <a:avLst/>
          </a:prstGeom>
          <a:noFill/>
        </p:spPr>
        <p:txBody>
          <a:bodyPr wrap="none" rtlCol="0">
            <a:spAutoFit/>
          </a:bodyPr>
          <a:lstStyle/>
          <a:p>
            <a:r>
              <a:rPr lang="zh-CN" altLang="en-US" sz="1050" b="1" dirty="0"/>
              <a:t>展望：</a:t>
            </a:r>
          </a:p>
        </p:txBody>
      </p:sp>
      <p:sp>
        <p:nvSpPr>
          <p:cNvPr id="20" name="文本框 19">
            <a:extLst>
              <a:ext uri="{FF2B5EF4-FFF2-40B4-BE49-F238E27FC236}">
                <a16:creationId xmlns:a16="http://schemas.microsoft.com/office/drawing/2014/main" id="{2829FF91-07DF-D48D-046C-9A23B419D4B8}"/>
              </a:ext>
            </a:extLst>
          </p:cNvPr>
          <p:cNvSpPr txBox="1"/>
          <p:nvPr/>
        </p:nvSpPr>
        <p:spPr>
          <a:xfrm>
            <a:off x="6627739" y="4031776"/>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23" name="文本框 22">
            <a:extLst>
              <a:ext uri="{FF2B5EF4-FFF2-40B4-BE49-F238E27FC236}">
                <a16:creationId xmlns:a16="http://schemas.microsoft.com/office/drawing/2014/main" id="{FA284651-6ABF-5241-B092-6152C90F7C9B}"/>
              </a:ext>
            </a:extLst>
          </p:cNvPr>
          <p:cNvSpPr txBox="1"/>
          <p:nvPr/>
        </p:nvSpPr>
        <p:spPr>
          <a:xfrm>
            <a:off x="7049429" y="4236900"/>
            <a:ext cx="2589170" cy="261610"/>
          </a:xfrm>
          <a:prstGeom prst="rect">
            <a:avLst/>
          </a:prstGeom>
          <a:noFill/>
        </p:spPr>
        <p:txBody>
          <a:bodyPr wrap="none" rtlCol="0">
            <a:spAutoFit/>
          </a:bodyPr>
          <a:lstStyle/>
          <a:p>
            <a:pPr marL="285750" indent="-285750">
              <a:buFont typeface="Wingdings" panose="05000000000000000000" pitchFamily="2" charset="2"/>
              <a:buChar char="ü"/>
            </a:pPr>
            <a:r>
              <a:rPr lang="zh-CN" altLang="en-US" sz="1050" dirty="0"/>
              <a:t>只能分享位置到微信或者微信群中</a:t>
            </a:r>
          </a:p>
        </p:txBody>
      </p:sp>
      <p:sp>
        <p:nvSpPr>
          <p:cNvPr id="24" name="文本框 23">
            <a:extLst>
              <a:ext uri="{FF2B5EF4-FFF2-40B4-BE49-F238E27FC236}">
                <a16:creationId xmlns:a16="http://schemas.microsoft.com/office/drawing/2014/main" id="{3D00830D-5104-C2C0-4CAC-B8A6E426C0BC}"/>
              </a:ext>
            </a:extLst>
          </p:cNvPr>
          <p:cNvSpPr txBox="1"/>
          <p:nvPr/>
        </p:nvSpPr>
        <p:spPr>
          <a:xfrm>
            <a:off x="7014955" y="5848916"/>
            <a:ext cx="1460656" cy="261610"/>
          </a:xfrm>
          <a:prstGeom prst="rect">
            <a:avLst/>
          </a:prstGeom>
          <a:noFill/>
        </p:spPr>
        <p:txBody>
          <a:bodyPr wrap="none" rtlCol="0">
            <a:spAutoFit/>
          </a:bodyPr>
          <a:lstStyle/>
          <a:p>
            <a:pPr marL="285750" indent="-285750">
              <a:buFont typeface="Wingdings" panose="05000000000000000000" pitchFamily="2" charset="2"/>
              <a:buChar char="ü"/>
            </a:pPr>
            <a:r>
              <a:rPr lang="zh-CN" altLang="en-US" sz="1050" dirty="0"/>
              <a:t>能够接入微信群</a:t>
            </a:r>
          </a:p>
        </p:txBody>
      </p:sp>
    </p:spTree>
    <p:extLst>
      <p:ext uri="{BB962C8B-B14F-4D97-AF65-F5344CB8AC3E}">
        <p14:creationId xmlns:p14="http://schemas.microsoft.com/office/powerpoint/2010/main" val="895193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52373-B884-3876-A815-4C717AD0B5D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73E013C-9C5D-91CE-DEBF-B59D4024BC36}"/>
              </a:ext>
            </a:extLst>
          </p:cNvPr>
          <p:cNvSpPr>
            <a:spLocks noGrp="1"/>
          </p:cNvSpPr>
          <p:nvPr>
            <p:ph type="title" idx="4294967295"/>
          </p:nvPr>
        </p:nvSpPr>
        <p:spPr>
          <a:xfrm>
            <a:off x="280895" y="433866"/>
            <a:ext cx="10440000" cy="595063"/>
          </a:xfrm>
        </p:spPr>
        <p:txBody>
          <a:bodyPr/>
          <a:lstStyle/>
          <a:p>
            <a:r>
              <a:rPr lang="zh-CN" altLang="en-US" dirty="0"/>
              <a:t>上车前阶段</a:t>
            </a:r>
            <a:r>
              <a:rPr lang="en-US" altLang="zh-CN" dirty="0"/>
              <a:t>——</a:t>
            </a:r>
            <a:r>
              <a:rPr lang="zh-CN" altLang="en-US" dirty="0"/>
              <a:t>行前沟通</a:t>
            </a:r>
          </a:p>
        </p:txBody>
      </p:sp>
      <p:sp>
        <p:nvSpPr>
          <p:cNvPr id="16" name="文本占位符 4">
            <a:extLst>
              <a:ext uri="{FF2B5EF4-FFF2-40B4-BE49-F238E27FC236}">
                <a16:creationId xmlns:a16="http://schemas.microsoft.com/office/drawing/2014/main" id="{565FDDFB-ECDF-244C-4BBD-C8F8FB38A51C}"/>
              </a:ext>
            </a:extLst>
          </p:cNvPr>
          <p:cNvSpPr txBox="1"/>
          <p:nvPr/>
        </p:nvSpPr>
        <p:spPr>
          <a:xfrm>
            <a:off x="4704333" y="1385133"/>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a:extLst>
              <a:ext uri="{FF2B5EF4-FFF2-40B4-BE49-F238E27FC236}">
                <a16:creationId xmlns:a16="http://schemas.microsoft.com/office/drawing/2014/main" id="{8E899A0F-5EC0-55B4-ACC9-7C711180166E}"/>
              </a:ext>
            </a:extLst>
          </p:cNvPr>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a:extLst>
              <a:ext uri="{FF2B5EF4-FFF2-40B4-BE49-F238E27FC236}">
                <a16:creationId xmlns:a16="http://schemas.microsoft.com/office/drawing/2014/main" id="{F4D6938B-261F-14CE-E603-3FB5537083B9}"/>
              </a:ext>
            </a:extLst>
          </p:cNvPr>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a:extLst>
              <a:ext uri="{FF2B5EF4-FFF2-40B4-BE49-F238E27FC236}">
                <a16:creationId xmlns:a16="http://schemas.microsoft.com/office/drawing/2014/main" id="{4B99FD23-DF63-C0D8-1BDE-6906240428D3}"/>
              </a:ext>
            </a:extLst>
          </p:cNvPr>
          <p:cNvSpPr txBox="1"/>
          <p:nvPr/>
        </p:nvSpPr>
        <p:spPr>
          <a:xfrm>
            <a:off x="97877" y="2794788"/>
            <a:ext cx="366036" cy="1169551"/>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行前沟通</a:t>
            </a:r>
          </a:p>
        </p:txBody>
      </p:sp>
      <p:sp>
        <p:nvSpPr>
          <p:cNvPr id="10" name="文本框 9">
            <a:extLst>
              <a:ext uri="{FF2B5EF4-FFF2-40B4-BE49-F238E27FC236}">
                <a16:creationId xmlns:a16="http://schemas.microsoft.com/office/drawing/2014/main" id="{F00AF656-728C-0390-E908-568865984E38}"/>
              </a:ext>
            </a:extLst>
          </p:cNvPr>
          <p:cNvSpPr txBox="1"/>
          <p:nvPr/>
        </p:nvSpPr>
        <p:spPr>
          <a:xfrm>
            <a:off x="479535" y="1696752"/>
            <a:ext cx="1525188" cy="3954929"/>
          </a:xfrm>
          <a:prstGeom prst="rect">
            <a:avLst/>
          </a:prstGeom>
          <a:noFill/>
        </p:spPr>
        <p:txBody>
          <a:bodyPr wrap="square">
            <a:spAutoFit/>
          </a:bodyPr>
          <a:lstStyle/>
          <a:p>
            <a:pPr marL="171450" lvl="0" indent="-171450" fontAlgn="b">
              <a:spcBef>
                <a:spcPts val="600"/>
              </a:spcBef>
              <a:buFont typeface="Wingdings" panose="05000000000000000000" pitchFamily="2" charset="2"/>
              <a:buChar char="Ø"/>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Ø"/>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带儿童</a:t>
            </a: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带宠物</a:t>
            </a: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单独送物品</a:t>
            </a: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a:extLst>
              <a:ext uri="{FF2B5EF4-FFF2-40B4-BE49-F238E27FC236}">
                <a16:creationId xmlns:a16="http://schemas.microsoft.com/office/drawing/2014/main" id="{8DA726CA-E5CF-0068-A131-12AF47E44B3A}"/>
              </a:ext>
            </a:extLst>
          </p:cNvPr>
          <p:cNvSpPr txBox="1"/>
          <p:nvPr/>
        </p:nvSpPr>
        <p:spPr>
          <a:xfrm>
            <a:off x="1743022" y="1410280"/>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a:extLst>
              <a:ext uri="{FF2B5EF4-FFF2-40B4-BE49-F238E27FC236}">
                <a16:creationId xmlns:a16="http://schemas.microsoft.com/office/drawing/2014/main" id="{9BF95A83-A547-F655-B3BA-0B9B49B679D2}"/>
              </a:ext>
            </a:extLst>
          </p:cNvPr>
          <p:cNvSpPr txBox="1"/>
          <p:nvPr/>
        </p:nvSpPr>
        <p:spPr>
          <a:xfrm>
            <a:off x="8583715" y="1415891"/>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a:extLst>
              <a:ext uri="{FF2B5EF4-FFF2-40B4-BE49-F238E27FC236}">
                <a16:creationId xmlns:a16="http://schemas.microsoft.com/office/drawing/2014/main" id="{8BD56068-39CA-D579-9BDC-8290B14CDDA5}"/>
              </a:ext>
            </a:extLst>
          </p:cNvPr>
          <p:cNvCxnSpPr/>
          <p:nvPr/>
        </p:nvCxnSpPr>
        <p:spPr>
          <a:xfrm>
            <a:off x="3344241" y="185026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005E5851-4F8D-8BC3-611F-D4F7CD7AF10C}"/>
              </a:ext>
            </a:extLst>
          </p:cNvPr>
          <p:cNvCxnSpPr/>
          <p:nvPr/>
        </p:nvCxnSpPr>
        <p:spPr>
          <a:xfrm>
            <a:off x="7885091" y="1919517"/>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a:extLst>
              <a:ext uri="{FF2B5EF4-FFF2-40B4-BE49-F238E27FC236}">
                <a16:creationId xmlns:a16="http://schemas.microsoft.com/office/drawing/2014/main" id="{E8F5C673-A463-3CF4-0C84-7FEA9EE0C4DC}"/>
              </a:ext>
            </a:extLst>
          </p:cNvPr>
          <p:cNvSpPr txBox="1"/>
          <p:nvPr/>
        </p:nvSpPr>
        <p:spPr>
          <a:xfrm>
            <a:off x="63106" y="1364762"/>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场景</a:t>
            </a:r>
          </a:p>
        </p:txBody>
      </p:sp>
      <p:cxnSp>
        <p:nvCxnSpPr>
          <p:cNvPr id="34" name="直接连接符 33">
            <a:extLst>
              <a:ext uri="{FF2B5EF4-FFF2-40B4-BE49-F238E27FC236}">
                <a16:creationId xmlns:a16="http://schemas.microsoft.com/office/drawing/2014/main" id="{340ED8E6-71C1-717B-1C54-0592B3DA97C4}"/>
              </a:ext>
            </a:extLst>
          </p:cNvPr>
          <p:cNvCxnSpPr/>
          <p:nvPr/>
        </p:nvCxnSpPr>
        <p:spPr>
          <a:xfrm>
            <a:off x="1519212" y="1804339"/>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a:extLst>
              <a:ext uri="{FF2B5EF4-FFF2-40B4-BE49-F238E27FC236}">
                <a16:creationId xmlns:a16="http://schemas.microsoft.com/office/drawing/2014/main" id="{43192C5D-5A9F-F810-BD39-656C989C299F}"/>
              </a:ext>
            </a:extLst>
          </p:cNvPr>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66" name="直接连接符 65">
            <a:extLst>
              <a:ext uri="{FF2B5EF4-FFF2-40B4-BE49-F238E27FC236}">
                <a16:creationId xmlns:a16="http://schemas.microsoft.com/office/drawing/2014/main" id="{BC04518B-775A-32F4-A94D-11375DE43409}"/>
              </a:ext>
            </a:extLst>
          </p:cNvPr>
          <p:cNvCxnSpPr/>
          <p:nvPr/>
        </p:nvCxnSpPr>
        <p:spPr>
          <a:xfrm>
            <a:off x="568010" y="4446359"/>
            <a:ext cx="11332126"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9F9BED56-88D8-13BC-4B50-320EBCB36441}"/>
              </a:ext>
            </a:extLst>
          </p:cNvPr>
          <p:cNvCxnSpPr/>
          <p:nvPr/>
        </p:nvCxnSpPr>
        <p:spPr>
          <a:xfrm>
            <a:off x="668760" y="3163879"/>
            <a:ext cx="11332126"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B818B222-AC6A-AC4A-135C-B9814EFE40D7}"/>
              </a:ext>
            </a:extLst>
          </p:cNvPr>
          <p:cNvSpPr txBox="1"/>
          <p:nvPr/>
        </p:nvSpPr>
        <p:spPr>
          <a:xfrm>
            <a:off x="1595350" y="2112894"/>
            <a:ext cx="1773159" cy="1054135"/>
          </a:xfrm>
          <a:prstGeom prst="rect">
            <a:avLst/>
          </a:prstGeom>
          <a:noFill/>
        </p:spPr>
        <p:txBody>
          <a:bodyPr wrap="square" rtlCol="0">
            <a:spAutoFit/>
          </a:bodyPr>
          <a:lstStyle/>
          <a:p>
            <a:pPr marL="171450" indent="-171450">
              <a:spcBef>
                <a:spcPts val="600"/>
              </a:spcBef>
              <a:buFont typeface="Arial" panose="020B0604020202020204" pitchFamily="34" charset="0"/>
              <a:buChar char="•"/>
            </a:pPr>
            <a:r>
              <a:rPr lang="zh-CN" altLang="en-US" sz="1050" dirty="0"/>
              <a:t>期望型需求</a:t>
            </a:r>
            <a:r>
              <a:rPr lang="en-US" altLang="zh-CN" sz="1050" dirty="0"/>
              <a:t>-</a:t>
            </a:r>
            <a:r>
              <a:rPr lang="zh-CN" altLang="en-US" sz="1050" dirty="0"/>
              <a:t>有乘客提出可以提供儿童安全座椅，但要求较高</a:t>
            </a:r>
            <a:endParaRPr lang="en-US" altLang="zh-CN" sz="1050" dirty="0"/>
          </a:p>
          <a:p>
            <a:pPr>
              <a:spcBef>
                <a:spcPts val="600"/>
              </a:spcBef>
            </a:pPr>
            <a:endParaRPr lang="en-US" altLang="zh-CN" sz="1050" dirty="0"/>
          </a:p>
          <a:p>
            <a:pPr marL="171450" indent="-171450">
              <a:spcBef>
                <a:spcPts val="600"/>
              </a:spcBef>
              <a:buFont typeface="Arial" panose="020B0604020202020204" pitchFamily="34" charset="0"/>
              <a:buChar char="•"/>
            </a:pPr>
            <a:endParaRPr lang="zh-CN" altLang="en-US" sz="1050" dirty="0"/>
          </a:p>
        </p:txBody>
      </p:sp>
      <p:sp>
        <p:nvSpPr>
          <p:cNvPr id="17" name="文本框 16">
            <a:extLst>
              <a:ext uri="{FF2B5EF4-FFF2-40B4-BE49-F238E27FC236}">
                <a16:creationId xmlns:a16="http://schemas.microsoft.com/office/drawing/2014/main" id="{50F53BE7-3B2A-59D3-0217-B55D4C9B9506}"/>
              </a:ext>
            </a:extLst>
          </p:cNvPr>
          <p:cNvSpPr txBox="1"/>
          <p:nvPr/>
        </p:nvSpPr>
        <p:spPr>
          <a:xfrm>
            <a:off x="1578983" y="5072633"/>
            <a:ext cx="1773159" cy="654025"/>
          </a:xfrm>
          <a:prstGeom prst="rect">
            <a:avLst/>
          </a:prstGeom>
          <a:noFill/>
        </p:spPr>
        <p:txBody>
          <a:bodyPr wrap="square" rtlCol="0">
            <a:spAutoFit/>
          </a:bodyPr>
          <a:lstStyle/>
          <a:p>
            <a:pPr marL="171450" indent="-171450">
              <a:spcBef>
                <a:spcPts val="600"/>
              </a:spcBef>
              <a:buFont typeface="Arial" panose="020B0604020202020204" pitchFamily="34" charset="0"/>
              <a:buChar char="•"/>
            </a:pPr>
            <a:r>
              <a:rPr lang="zh-CN" altLang="en-US" sz="1050" dirty="0"/>
              <a:t>需要确认地点反复沟通</a:t>
            </a:r>
            <a:endParaRPr lang="en-US" altLang="zh-CN" sz="1050" dirty="0"/>
          </a:p>
          <a:p>
            <a:pPr marL="171450" indent="-171450">
              <a:spcBef>
                <a:spcPts val="600"/>
              </a:spcBef>
              <a:buFont typeface="Arial" panose="020B0604020202020204" pitchFamily="34" charset="0"/>
              <a:buChar char="•"/>
            </a:pPr>
            <a:r>
              <a:rPr lang="zh-CN" altLang="en-US" sz="1050" dirty="0"/>
              <a:t>特殊需求沟通</a:t>
            </a:r>
            <a:endParaRPr lang="en-US" altLang="zh-CN" sz="1050" dirty="0"/>
          </a:p>
          <a:p>
            <a:pPr marL="171450" indent="-171450">
              <a:buFont typeface="Arial" panose="020B0604020202020204" pitchFamily="34" charset="0"/>
              <a:buChar char="•"/>
            </a:pPr>
            <a:endParaRPr lang="zh-CN" altLang="en-US" sz="1050" dirty="0"/>
          </a:p>
        </p:txBody>
      </p:sp>
      <p:sp>
        <p:nvSpPr>
          <p:cNvPr id="5" name="文本框 4">
            <a:extLst>
              <a:ext uri="{FF2B5EF4-FFF2-40B4-BE49-F238E27FC236}">
                <a16:creationId xmlns:a16="http://schemas.microsoft.com/office/drawing/2014/main" id="{A4C75DFF-07F9-32AD-F2AD-C04211E096CB}"/>
              </a:ext>
            </a:extLst>
          </p:cNvPr>
          <p:cNvSpPr txBox="1"/>
          <p:nvPr/>
        </p:nvSpPr>
        <p:spPr>
          <a:xfrm>
            <a:off x="1511832" y="3520745"/>
            <a:ext cx="1790715" cy="815608"/>
          </a:xfrm>
          <a:prstGeom prst="rect">
            <a:avLst/>
          </a:prstGeom>
          <a:noFill/>
        </p:spPr>
        <p:txBody>
          <a:bodyPr wrap="square">
            <a:spAutoFit/>
          </a:bodyPr>
          <a:lstStyle/>
          <a:p>
            <a:pPr marL="171450" indent="-171450">
              <a:spcBef>
                <a:spcPts val="600"/>
              </a:spcBef>
              <a:buFont typeface="Arial" panose="020B0604020202020204" pitchFamily="34" charset="0"/>
              <a:buChar char="•"/>
            </a:pPr>
            <a:r>
              <a:rPr lang="zh-CN" altLang="en-US" sz="1050" dirty="0"/>
              <a:t>带较大宠物，沟通是否可以乘坐，避免上车后拒载</a:t>
            </a:r>
            <a:endParaRPr lang="en-US" altLang="zh-CN" sz="1050" dirty="0"/>
          </a:p>
          <a:p>
            <a:pPr marL="171450" indent="-171450">
              <a:spcBef>
                <a:spcPts val="600"/>
              </a:spcBef>
              <a:buFont typeface="Arial" panose="020B0604020202020204" pitchFamily="34" charset="0"/>
              <a:buChar char="•"/>
            </a:pPr>
            <a:endParaRPr lang="en-US" altLang="zh-CN" sz="1050" dirty="0"/>
          </a:p>
        </p:txBody>
      </p:sp>
      <p:sp>
        <p:nvSpPr>
          <p:cNvPr id="21" name="文本框 20">
            <a:extLst>
              <a:ext uri="{FF2B5EF4-FFF2-40B4-BE49-F238E27FC236}">
                <a16:creationId xmlns:a16="http://schemas.microsoft.com/office/drawing/2014/main" id="{A7A43D95-7F6E-D77C-F943-0C029741407D}"/>
              </a:ext>
            </a:extLst>
          </p:cNvPr>
          <p:cNvSpPr txBox="1"/>
          <p:nvPr/>
        </p:nvSpPr>
        <p:spPr>
          <a:xfrm>
            <a:off x="3440846" y="1932942"/>
            <a:ext cx="2473754" cy="276999"/>
          </a:xfrm>
          <a:prstGeom prst="rect">
            <a:avLst/>
          </a:prstGeom>
          <a:noFill/>
        </p:spPr>
        <p:txBody>
          <a:bodyPr wrap="none" rtlCol="0">
            <a:spAutoFit/>
          </a:bodyPr>
          <a:lstStyle/>
          <a:p>
            <a:pPr marL="285750" indent="-285750">
              <a:buFont typeface="Wingdings" panose="05000000000000000000" pitchFamily="2" charset="2"/>
              <a:buChar char="Ø"/>
            </a:pPr>
            <a:r>
              <a:rPr lang="zh-CN" altLang="en-US" sz="1200" b="1" dirty="0"/>
              <a:t>乘客非常看重幼童的乘车安全</a:t>
            </a:r>
          </a:p>
        </p:txBody>
      </p:sp>
      <p:sp>
        <p:nvSpPr>
          <p:cNvPr id="30" name="文本框 29">
            <a:extLst>
              <a:ext uri="{FF2B5EF4-FFF2-40B4-BE49-F238E27FC236}">
                <a16:creationId xmlns:a16="http://schemas.microsoft.com/office/drawing/2014/main" id="{9BDE15C7-0898-3077-4E4D-933842DED3A4}"/>
              </a:ext>
            </a:extLst>
          </p:cNvPr>
          <p:cNvSpPr txBox="1"/>
          <p:nvPr/>
        </p:nvSpPr>
        <p:spPr>
          <a:xfrm>
            <a:off x="3405762" y="3241366"/>
            <a:ext cx="1435008"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司机对宠物态度</a:t>
            </a:r>
          </a:p>
        </p:txBody>
      </p:sp>
      <p:sp>
        <p:nvSpPr>
          <p:cNvPr id="31" name="文本框 30">
            <a:extLst>
              <a:ext uri="{FF2B5EF4-FFF2-40B4-BE49-F238E27FC236}">
                <a16:creationId xmlns:a16="http://schemas.microsoft.com/office/drawing/2014/main" id="{7BD5B8BD-929E-90A0-1D52-A8977D1D58F5}"/>
              </a:ext>
            </a:extLst>
          </p:cNvPr>
          <p:cNvSpPr txBox="1"/>
          <p:nvPr/>
        </p:nvSpPr>
        <p:spPr>
          <a:xfrm>
            <a:off x="3389661" y="3540501"/>
            <a:ext cx="2909771" cy="757387"/>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sz="1000" dirty="0"/>
              <a:t>有宠物一定要提前沟通，即使选择宠物模式</a:t>
            </a:r>
            <a:endParaRPr lang="en-US" altLang="zh-CN" sz="1000" dirty="0"/>
          </a:p>
          <a:p>
            <a:pPr marL="285750" indent="-285750">
              <a:lnSpc>
                <a:spcPct val="150000"/>
              </a:lnSpc>
              <a:buFont typeface="Arial" panose="020B0604020202020204" pitchFamily="34" charset="0"/>
              <a:buChar char="•"/>
            </a:pPr>
            <a:r>
              <a:rPr lang="zh-CN" altLang="en-US" sz="1000" dirty="0"/>
              <a:t>小型宠物，小猫，小狗还可以</a:t>
            </a:r>
            <a:endParaRPr lang="en-US" altLang="zh-CN" sz="1000" dirty="0"/>
          </a:p>
          <a:p>
            <a:pPr marL="285750" indent="-285750">
              <a:lnSpc>
                <a:spcPct val="150000"/>
              </a:lnSpc>
              <a:buFont typeface="Arial" panose="020B0604020202020204" pitchFamily="34" charset="0"/>
              <a:buChar char="•"/>
            </a:pPr>
            <a:r>
              <a:rPr lang="zh-CN" altLang="en-US" sz="1000" dirty="0"/>
              <a:t>大型宠物，即使在平台标注有宠物也会拒载</a:t>
            </a:r>
          </a:p>
        </p:txBody>
      </p:sp>
      <p:sp>
        <p:nvSpPr>
          <p:cNvPr id="33" name="文本框 32">
            <a:extLst>
              <a:ext uri="{FF2B5EF4-FFF2-40B4-BE49-F238E27FC236}">
                <a16:creationId xmlns:a16="http://schemas.microsoft.com/office/drawing/2014/main" id="{B329EDA7-8E9B-DF59-8820-9CAA79E7E675}"/>
              </a:ext>
            </a:extLst>
          </p:cNvPr>
          <p:cNvSpPr txBox="1"/>
          <p:nvPr/>
        </p:nvSpPr>
        <p:spPr>
          <a:xfrm>
            <a:off x="5880745" y="3197547"/>
            <a:ext cx="1281120"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乘客担心拒载</a:t>
            </a:r>
          </a:p>
        </p:txBody>
      </p:sp>
      <p:sp>
        <p:nvSpPr>
          <p:cNvPr id="35" name="文本框 34">
            <a:extLst>
              <a:ext uri="{FF2B5EF4-FFF2-40B4-BE49-F238E27FC236}">
                <a16:creationId xmlns:a16="http://schemas.microsoft.com/office/drawing/2014/main" id="{79B4FB76-E89E-5B4F-653E-5F3B8504193E}"/>
              </a:ext>
            </a:extLst>
          </p:cNvPr>
          <p:cNvSpPr txBox="1"/>
          <p:nvPr/>
        </p:nvSpPr>
        <p:spPr>
          <a:xfrm>
            <a:off x="6369645" y="3613584"/>
            <a:ext cx="1383712" cy="246221"/>
          </a:xfrm>
          <a:prstGeom prst="rect">
            <a:avLst/>
          </a:prstGeom>
          <a:noFill/>
        </p:spPr>
        <p:txBody>
          <a:bodyPr wrap="none" rtlCol="0">
            <a:spAutoFit/>
          </a:bodyPr>
          <a:lstStyle/>
          <a:p>
            <a:pPr marL="171450" indent="-171450">
              <a:buFont typeface="Arial" panose="020B0604020202020204" pitchFamily="34" charset="0"/>
              <a:buChar char="•"/>
            </a:pPr>
            <a:r>
              <a:rPr lang="zh-CN" altLang="en-US" sz="1000" dirty="0"/>
              <a:t>大型宠物，如金毛</a:t>
            </a:r>
          </a:p>
        </p:txBody>
      </p:sp>
      <p:sp>
        <p:nvSpPr>
          <p:cNvPr id="37" name="文本框 36">
            <a:extLst>
              <a:ext uri="{FF2B5EF4-FFF2-40B4-BE49-F238E27FC236}">
                <a16:creationId xmlns:a16="http://schemas.microsoft.com/office/drawing/2014/main" id="{E14B088E-E2BF-4EFB-13B5-680727D1B1BA}"/>
              </a:ext>
            </a:extLst>
          </p:cNvPr>
          <p:cNvSpPr txBox="1"/>
          <p:nvPr/>
        </p:nvSpPr>
        <p:spPr>
          <a:xfrm>
            <a:off x="3355097" y="4948141"/>
            <a:ext cx="973343"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忘掉物品</a:t>
            </a:r>
          </a:p>
        </p:txBody>
      </p:sp>
      <p:sp>
        <p:nvSpPr>
          <p:cNvPr id="38" name="文本框 37">
            <a:extLst>
              <a:ext uri="{FF2B5EF4-FFF2-40B4-BE49-F238E27FC236}">
                <a16:creationId xmlns:a16="http://schemas.microsoft.com/office/drawing/2014/main" id="{02D7CE68-6AAE-ABA0-CFE0-613B0F08C7E6}"/>
              </a:ext>
            </a:extLst>
          </p:cNvPr>
          <p:cNvSpPr txBox="1"/>
          <p:nvPr/>
        </p:nvSpPr>
        <p:spPr>
          <a:xfrm>
            <a:off x="3626935" y="5346653"/>
            <a:ext cx="870751" cy="526554"/>
          </a:xfrm>
          <a:prstGeom prst="rect">
            <a:avLst/>
          </a:prstGeom>
          <a:noFill/>
        </p:spPr>
        <p:txBody>
          <a:bodyPr wrap="none" rtlCol="0">
            <a:spAutoFit/>
          </a:bodyPr>
          <a:lstStyle/>
          <a:p>
            <a:pPr marL="171450" indent="-171450">
              <a:lnSpc>
                <a:spcPct val="150000"/>
              </a:lnSpc>
              <a:buFont typeface="Arial" panose="020B0604020202020204" pitchFamily="34" charset="0"/>
              <a:buChar char="•"/>
            </a:pPr>
            <a:r>
              <a:rPr lang="zh-CN" altLang="en-US" sz="1000" dirty="0"/>
              <a:t>忘掉行李</a:t>
            </a:r>
            <a:endParaRPr lang="en-US" altLang="zh-CN" sz="1000" dirty="0"/>
          </a:p>
          <a:p>
            <a:pPr marL="171450" indent="-171450">
              <a:lnSpc>
                <a:spcPct val="150000"/>
              </a:lnSpc>
              <a:buFont typeface="Arial" panose="020B0604020202020204" pitchFamily="34" charset="0"/>
              <a:buChar char="•"/>
            </a:pPr>
            <a:r>
              <a:rPr lang="zh-CN" altLang="en-US" sz="1000" dirty="0"/>
              <a:t>紧急文件</a:t>
            </a:r>
          </a:p>
        </p:txBody>
      </p:sp>
      <p:sp>
        <p:nvSpPr>
          <p:cNvPr id="39" name="文本框 38">
            <a:extLst>
              <a:ext uri="{FF2B5EF4-FFF2-40B4-BE49-F238E27FC236}">
                <a16:creationId xmlns:a16="http://schemas.microsoft.com/office/drawing/2014/main" id="{FDFFCA6A-B17C-2260-0B83-68BF0A891153}"/>
              </a:ext>
            </a:extLst>
          </p:cNvPr>
          <p:cNvSpPr txBox="1"/>
          <p:nvPr/>
        </p:nvSpPr>
        <p:spPr>
          <a:xfrm>
            <a:off x="5823829" y="4929164"/>
            <a:ext cx="973343"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反复沟通</a:t>
            </a:r>
          </a:p>
        </p:txBody>
      </p:sp>
      <p:sp>
        <p:nvSpPr>
          <p:cNvPr id="44" name="文本框 43">
            <a:extLst>
              <a:ext uri="{FF2B5EF4-FFF2-40B4-BE49-F238E27FC236}">
                <a16:creationId xmlns:a16="http://schemas.microsoft.com/office/drawing/2014/main" id="{BF2A6976-2881-F743-A71D-30C9C6D09E6D}"/>
              </a:ext>
            </a:extLst>
          </p:cNvPr>
          <p:cNvSpPr txBox="1"/>
          <p:nvPr/>
        </p:nvSpPr>
        <p:spPr>
          <a:xfrm>
            <a:off x="6205080" y="5270171"/>
            <a:ext cx="998991" cy="526554"/>
          </a:xfrm>
          <a:prstGeom prst="rect">
            <a:avLst/>
          </a:prstGeom>
          <a:noFill/>
        </p:spPr>
        <p:txBody>
          <a:bodyPr wrap="none" rtlCol="0">
            <a:spAutoFit/>
          </a:bodyPr>
          <a:lstStyle/>
          <a:p>
            <a:pPr marL="171450" indent="-171450">
              <a:lnSpc>
                <a:spcPct val="150000"/>
              </a:lnSpc>
              <a:buFont typeface="Arial" panose="020B0604020202020204" pitchFamily="34" charset="0"/>
              <a:buChar char="•"/>
            </a:pPr>
            <a:r>
              <a:rPr lang="zh-CN" altLang="en-US" sz="1000" dirty="0"/>
              <a:t>发送方沟通</a:t>
            </a:r>
            <a:endParaRPr lang="en-US" altLang="zh-CN" sz="1000" dirty="0"/>
          </a:p>
          <a:p>
            <a:pPr marL="171450" indent="-171450">
              <a:lnSpc>
                <a:spcPct val="150000"/>
              </a:lnSpc>
              <a:buFont typeface="Arial" panose="020B0604020202020204" pitchFamily="34" charset="0"/>
              <a:buChar char="•"/>
            </a:pPr>
            <a:r>
              <a:rPr lang="zh-CN" altLang="en-US" sz="1000" dirty="0"/>
              <a:t>接受方沟通</a:t>
            </a:r>
            <a:endParaRPr lang="en-US" altLang="zh-CN" sz="1000" dirty="0"/>
          </a:p>
        </p:txBody>
      </p:sp>
      <p:sp>
        <p:nvSpPr>
          <p:cNvPr id="48" name="文本框 47">
            <a:extLst>
              <a:ext uri="{FF2B5EF4-FFF2-40B4-BE49-F238E27FC236}">
                <a16:creationId xmlns:a16="http://schemas.microsoft.com/office/drawing/2014/main" id="{DE50CD0A-6CAF-C903-14B6-2C0B0B1BB647}"/>
              </a:ext>
            </a:extLst>
          </p:cNvPr>
          <p:cNvSpPr txBox="1"/>
          <p:nvPr/>
        </p:nvSpPr>
        <p:spPr>
          <a:xfrm>
            <a:off x="8639866" y="127992"/>
            <a:ext cx="2597168" cy="646331"/>
          </a:xfrm>
          <a:prstGeom prst="rect">
            <a:avLst/>
          </a:prstGeom>
          <a:noFill/>
        </p:spPr>
        <p:txBody>
          <a:bodyPr wrap="square" rtlCol="0">
            <a:spAutoFit/>
          </a:bodyPr>
          <a:lstStyle/>
          <a:p>
            <a:pPr marL="285750" indent="-285750">
              <a:buFont typeface="Arial" panose="020B0604020202020204" pitchFamily="34" charset="0"/>
              <a:buChar char="•"/>
            </a:pPr>
            <a:r>
              <a:rPr lang="zh-CN" altLang="en-US" sz="1200" dirty="0"/>
              <a:t>提供物品模式</a:t>
            </a:r>
            <a:endParaRPr lang="en-US" altLang="zh-CN" sz="1200" dirty="0"/>
          </a:p>
          <a:p>
            <a:pPr marL="285750" indent="-285750">
              <a:buFont typeface="Arial" panose="020B0604020202020204" pitchFamily="34" charset="0"/>
              <a:buChar char="•"/>
            </a:pPr>
            <a:endParaRPr lang="en-US" altLang="zh-CN" sz="1200" dirty="0"/>
          </a:p>
          <a:p>
            <a:pPr marL="285750" indent="-285750">
              <a:buFont typeface="Arial" panose="020B0604020202020204" pitchFamily="34" charset="0"/>
              <a:buChar char="•"/>
            </a:pPr>
            <a:r>
              <a:rPr lang="zh-CN" altLang="en-US" sz="1200" dirty="0"/>
              <a:t>取消中途所有服务与提醒</a:t>
            </a:r>
          </a:p>
        </p:txBody>
      </p:sp>
      <p:sp>
        <p:nvSpPr>
          <p:cNvPr id="4" name="文本框 3">
            <a:extLst>
              <a:ext uri="{FF2B5EF4-FFF2-40B4-BE49-F238E27FC236}">
                <a16:creationId xmlns:a16="http://schemas.microsoft.com/office/drawing/2014/main" id="{F8183E6F-15C6-058C-4294-2BF6DE972D8B}"/>
              </a:ext>
            </a:extLst>
          </p:cNvPr>
          <p:cNvSpPr txBox="1"/>
          <p:nvPr/>
        </p:nvSpPr>
        <p:spPr>
          <a:xfrm>
            <a:off x="7934708" y="2242708"/>
            <a:ext cx="723275" cy="253916"/>
          </a:xfrm>
          <a:prstGeom prst="rect">
            <a:avLst/>
          </a:prstGeom>
          <a:noFill/>
        </p:spPr>
        <p:txBody>
          <a:bodyPr wrap="none" rtlCol="0">
            <a:spAutoFit/>
          </a:bodyPr>
          <a:lstStyle/>
          <a:p>
            <a:r>
              <a:rPr lang="zh-CN" altLang="en-US" sz="1050" b="1" dirty="0"/>
              <a:t>机会点：</a:t>
            </a:r>
          </a:p>
        </p:txBody>
      </p:sp>
      <p:sp>
        <p:nvSpPr>
          <p:cNvPr id="6" name="文本框 5">
            <a:extLst>
              <a:ext uri="{FF2B5EF4-FFF2-40B4-BE49-F238E27FC236}">
                <a16:creationId xmlns:a16="http://schemas.microsoft.com/office/drawing/2014/main" id="{343CD1AD-B5BD-58F9-A293-4F3C68D6DFC8}"/>
              </a:ext>
            </a:extLst>
          </p:cNvPr>
          <p:cNvSpPr txBox="1"/>
          <p:nvPr/>
        </p:nvSpPr>
        <p:spPr>
          <a:xfrm>
            <a:off x="7937211" y="2875942"/>
            <a:ext cx="588623" cy="253916"/>
          </a:xfrm>
          <a:prstGeom prst="rect">
            <a:avLst/>
          </a:prstGeom>
          <a:noFill/>
        </p:spPr>
        <p:txBody>
          <a:bodyPr wrap="none" rtlCol="0">
            <a:spAutoFit/>
          </a:bodyPr>
          <a:lstStyle/>
          <a:p>
            <a:r>
              <a:rPr lang="zh-CN" altLang="en-US" sz="1050" b="1" dirty="0"/>
              <a:t>展望：</a:t>
            </a:r>
          </a:p>
        </p:txBody>
      </p:sp>
      <p:sp>
        <p:nvSpPr>
          <p:cNvPr id="7" name="文本框 6">
            <a:extLst>
              <a:ext uri="{FF2B5EF4-FFF2-40B4-BE49-F238E27FC236}">
                <a16:creationId xmlns:a16="http://schemas.microsoft.com/office/drawing/2014/main" id="{C025FD18-3ECD-0A28-AA84-AADD19F553B8}"/>
              </a:ext>
            </a:extLst>
          </p:cNvPr>
          <p:cNvSpPr txBox="1"/>
          <p:nvPr/>
        </p:nvSpPr>
        <p:spPr>
          <a:xfrm>
            <a:off x="7897839" y="1820622"/>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8" name="文本框 7">
            <a:extLst>
              <a:ext uri="{FF2B5EF4-FFF2-40B4-BE49-F238E27FC236}">
                <a16:creationId xmlns:a16="http://schemas.microsoft.com/office/drawing/2014/main" id="{9C58A7C7-DC99-52F6-E74A-86D8296C6FFF}"/>
              </a:ext>
            </a:extLst>
          </p:cNvPr>
          <p:cNvSpPr txBox="1"/>
          <p:nvPr/>
        </p:nvSpPr>
        <p:spPr>
          <a:xfrm>
            <a:off x="8497927" y="2260046"/>
            <a:ext cx="3316421" cy="707886"/>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000" dirty="0"/>
              <a:t>司机</a:t>
            </a:r>
            <a:r>
              <a:rPr lang="en-US" altLang="zh-CN" sz="1000" dirty="0"/>
              <a:t>Agent</a:t>
            </a:r>
            <a:r>
              <a:rPr lang="zh-CN" altLang="en-US" sz="1000" dirty="0"/>
              <a:t>可以提供智能运用上面三种能结合驾驶，监测看护，娱乐等儿童陪护模式</a:t>
            </a:r>
            <a:endParaRPr lang="en-US" altLang="zh-CN" sz="1000" dirty="0"/>
          </a:p>
          <a:p>
            <a:pPr marL="171450" indent="-171450">
              <a:buFont typeface="Wingdings" panose="05000000000000000000" pitchFamily="2" charset="2"/>
              <a:buChar char="ü"/>
            </a:pPr>
            <a:r>
              <a:rPr lang="zh-CN" altLang="en-US" sz="1000" dirty="0"/>
              <a:t>匹配带儿童座椅的车辆</a:t>
            </a:r>
            <a:endParaRPr lang="en-US" altLang="zh-CN" sz="1000" dirty="0"/>
          </a:p>
          <a:p>
            <a:endParaRPr lang="zh-CN" altLang="en-US" sz="1000" dirty="0"/>
          </a:p>
        </p:txBody>
      </p:sp>
      <p:sp>
        <p:nvSpPr>
          <p:cNvPr id="12" name="文本框 11">
            <a:extLst>
              <a:ext uri="{FF2B5EF4-FFF2-40B4-BE49-F238E27FC236}">
                <a16:creationId xmlns:a16="http://schemas.microsoft.com/office/drawing/2014/main" id="{33398566-6529-3D43-BF51-8D608CA6ADF8}"/>
              </a:ext>
            </a:extLst>
          </p:cNvPr>
          <p:cNvSpPr txBox="1"/>
          <p:nvPr/>
        </p:nvSpPr>
        <p:spPr>
          <a:xfrm>
            <a:off x="8576824" y="4856132"/>
            <a:ext cx="3340646" cy="1323439"/>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00" dirty="0"/>
              <a:t>授权司机</a:t>
            </a:r>
            <a:r>
              <a:rPr lang="en-US" altLang="zh-CN" sz="1000" dirty="0"/>
              <a:t>Agent</a:t>
            </a:r>
            <a:r>
              <a:rPr lang="zh-CN" altLang="en-US" sz="1000" dirty="0"/>
              <a:t>自动拨打电话与分享钥匙及识别接物品人的面部及人体，自动接受接物品的地址</a:t>
            </a:r>
            <a:endParaRPr lang="en-US" altLang="zh-CN" sz="1000" dirty="0"/>
          </a:p>
          <a:p>
            <a:pPr marL="171450" indent="-171450">
              <a:spcBef>
                <a:spcPts val="600"/>
              </a:spcBef>
              <a:buFont typeface="Wingdings" panose="05000000000000000000" pitchFamily="2" charset="2"/>
              <a:buChar char="ü"/>
            </a:pPr>
            <a:r>
              <a:rPr lang="zh-CN" altLang="en-US" sz="1000" dirty="0"/>
              <a:t>远程控制车辆精准停靠位置与拨打接物品人电话，与识别接物品的人</a:t>
            </a:r>
            <a:endParaRPr lang="en-US" altLang="zh-CN" sz="1000" dirty="0"/>
          </a:p>
          <a:p>
            <a:pPr marL="171450" indent="-171450">
              <a:spcBef>
                <a:spcPts val="600"/>
              </a:spcBef>
              <a:buFont typeface="Wingdings" panose="05000000000000000000" pitchFamily="2" charset="2"/>
              <a:buChar char="ü"/>
            </a:pPr>
            <a:r>
              <a:rPr lang="zh-CN" altLang="en-US" sz="1000" dirty="0"/>
              <a:t>自动分享临时钥匙分享给接物品的陌生人</a:t>
            </a:r>
            <a:endParaRPr lang="en-US" altLang="zh-CN" sz="1000" dirty="0"/>
          </a:p>
          <a:p>
            <a:pPr marL="171450" indent="-171450">
              <a:buFont typeface="Wingdings" panose="05000000000000000000" pitchFamily="2" charset="2"/>
              <a:buChar char="ü"/>
            </a:pPr>
            <a:endParaRPr lang="en-US" altLang="zh-CN" sz="1000" dirty="0"/>
          </a:p>
          <a:p>
            <a:endParaRPr lang="zh-CN" altLang="en-US" sz="1000" dirty="0"/>
          </a:p>
        </p:txBody>
      </p:sp>
      <p:sp>
        <p:nvSpPr>
          <p:cNvPr id="3" name="文本框 2">
            <a:extLst>
              <a:ext uri="{FF2B5EF4-FFF2-40B4-BE49-F238E27FC236}">
                <a16:creationId xmlns:a16="http://schemas.microsoft.com/office/drawing/2014/main" id="{D2425DCE-20CB-E252-0BF1-232994645FFB}"/>
              </a:ext>
            </a:extLst>
          </p:cNvPr>
          <p:cNvSpPr txBox="1"/>
          <p:nvPr/>
        </p:nvSpPr>
        <p:spPr>
          <a:xfrm>
            <a:off x="8583715" y="2907740"/>
            <a:ext cx="3316421" cy="253916"/>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000" dirty="0"/>
              <a:t>可以通过机械设计提供可收放的儿童座椅</a:t>
            </a:r>
          </a:p>
        </p:txBody>
      </p:sp>
      <p:sp>
        <p:nvSpPr>
          <p:cNvPr id="13" name="文本框 12">
            <a:extLst>
              <a:ext uri="{FF2B5EF4-FFF2-40B4-BE49-F238E27FC236}">
                <a16:creationId xmlns:a16="http://schemas.microsoft.com/office/drawing/2014/main" id="{FBC36A90-C622-EB8C-B311-42612F38A88F}"/>
              </a:ext>
            </a:extLst>
          </p:cNvPr>
          <p:cNvSpPr txBox="1"/>
          <p:nvPr/>
        </p:nvSpPr>
        <p:spPr>
          <a:xfrm>
            <a:off x="7829931" y="3248501"/>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19" name="文本框 18">
            <a:extLst>
              <a:ext uri="{FF2B5EF4-FFF2-40B4-BE49-F238E27FC236}">
                <a16:creationId xmlns:a16="http://schemas.microsoft.com/office/drawing/2014/main" id="{20F2778C-8206-0078-1ADF-C4F3891D5535}"/>
              </a:ext>
            </a:extLst>
          </p:cNvPr>
          <p:cNvSpPr txBox="1"/>
          <p:nvPr/>
        </p:nvSpPr>
        <p:spPr>
          <a:xfrm>
            <a:off x="8597834" y="3266603"/>
            <a:ext cx="3379646" cy="253916"/>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000" dirty="0"/>
              <a:t>香氛的浓度与味道的语音控制</a:t>
            </a:r>
          </a:p>
        </p:txBody>
      </p:sp>
      <p:sp>
        <p:nvSpPr>
          <p:cNvPr id="20" name="文本框 19">
            <a:extLst>
              <a:ext uri="{FF2B5EF4-FFF2-40B4-BE49-F238E27FC236}">
                <a16:creationId xmlns:a16="http://schemas.microsoft.com/office/drawing/2014/main" id="{648AF499-5C5D-4388-7754-5546FA283F7D}"/>
              </a:ext>
            </a:extLst>
          </p:cNvPr>
          <p:cNvSpPr txBox="1"/>
          <p:nvPr/>
        </p:nvSpPr>
        <p:spPr>
          <a:xfrm>
            <a:off x="7823571" y="3522310"/>
            <a:ext cx="760144" cy="253916"/>
          </a:xfrm>
          <a:prstGeom prst="rect">
            <a:avLst/>
          </a:prstGeom>
          <a:noFill/>
        </p:spPr>
        <p:txBody>
          <a:bodyPr wrap="none" rtlCol="0">
            <a:spAutoFit/>
          </a:bodyPr>
          <a:lstStyle/>
          <a:p>
            <a:r>
              <a:rPr lang="zh-CN" altLang="en-US" sz="1050" dirty="0"/>
              <a:t> </a:t>
            </a:r>
            <a:r>
              <a:rPr lang="zh-CN" altLang="en-US" sz="1050" b="1" dirty="0"/>
              <a:t>机会点</a:t>
            </a:r>
            <a:r>
              <a:rPr lang="zh-CN" altLang="en-US" sz="1050" dirty="0"/>
              <a:t>：</a:t>
            </a:r>
          </a:p>
        </p:txBody>
      </p:sp>
      <p:sp>
        <p:nvSpPr>
          <p:cNvPr id="22" name="文本框 21">
            <a:extLst>
              <a:ext uri="{FF2B5EF4-FFF2-40B4-BE49-F238E27FC236}">
                <a16:creationId xmlns:a16="http://schemas.microsoft.com/office/drawing/2014/main" id="{EB06EA76-ED02-3C2F-896C-6A5B245C7A7A}"/>
              </a:ext>
            </a:extLst>
          </p:cNvPr>
          <p:cNvSpPr txBox="1"/>
          <p:nvPr/>
        </p:nvSpPr>
        <p:spPr>
          <a:xfrm>
            <a:off x="8583715" y="3541094"/>
            <a:ext cx="3379646" cy="415498"/>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000" dirty="0"/>
              <a:t>司机</a:t>
            </a:r>
            <a:r>
              <a:rPr lang="en-US" altLang="zh-CN" sz="1000" dirty="0"/>
              <a:t>Agent</a:t>
            </a:r>
            <a:r>
              <a:rPr lang="zh-CN" altLang="en-US" sz="1000" dirty="0"/>
              <a:t>提前开启能够抑制各种宠物味道的香氛，并判断宠物大小，智能调节香氛浓度</a:t>
            </a:r>
          </a:p>
        </p:txBody>
      </p:sp>
      <p:sp>
        <p:nvSpPr>
          <p:cNvPr id="23" name="文本框 22">
            <a:extLst>
              <a:ext uri="{FF2B5EF4-FFF2-40B4-BE49-F238E27FC236}">
                <a16:creationId xmlns:a16="http://schemas.microsoft.com/office/drawing/2014/main" id="{9F0BD546-1C21-6D2F-308B-38485C6886A7}"/>
              </a:ext>
            </a:extLst>
          </p:cNvPr>
          <p:cNvSpPr txBox="1"/>
          <p:nvPr/>
        </p:nvSpPr>
        <p:spPr>
          <a:xfrm>
            <a:off x="7900342" y="4001027"/>
            <a:ext cx="625492" cy="253916"/>
          </a:xfrm>
          <a:prstGeom prst="rect">
            <a:avLst/>
          </a:prstGeom>
          <a:noFill/>
        </p:spPr>
        <p:txBody>
          <a:bodyPr wrap="none" rtlCol="0">
            <a:spAutoFit/>
          </a:bodyPr>
          <a:lstStyle/>
          <a:p>
            <a:r>
              <a:rPr lang="zh-CN" altLang="en-US" sz="1050" dirty="0"/>
              <a:t> </a:t>
            </a:r>
            <a:r>
              <a:rPr lang="zh-CN" altLang="en-US" sz="1050" b="1" dirty="0"/>
              <a:t>展望</a:t>
            </a:r>
            <a:r>
              <a:rPr lang="zh-CN" altLang="en-US" sz="1050" dirty="0"/>
              <a:t>：</a:t>
            </a:r>
          </a:p>
        </p:txBody>
      </p:sp>
      <p:sp>
        <p:nvSpPr>
          <p:cNvPr id="25" name="文本框 24">
            <a:extLst>
              <a:ext uri="{FF2B5EF4-FFF2-40B4-BE49-F238E27FC236}">
                <a16:creationId xmlns:a16="http://schemas.microsoft.com/office/drawing/2014/main" id="{D501B826-75CF-0A29-6864-A1276D78BCAF}"/>
              </a:ext>
            </a:extLst>
          </p:cNvPr>
          <p:cNvSpPr txBox="1"/>
          <p:nvPr/>
        </p:nvSpPr>
        <p:spPr>
          <a:xfrm>
            <a:off x="8574778" y="4003575"/>
            <a:ext cx="3379646" cy="253916"/>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000" dirty="0"/>
              <a:t>未来可以提供放宠物的设备（可自动收放）</a:t>
            </a:r>
          </a:p>
        </p:txBody>
      </p:sp>
      <p:sp>
        <p:nvSpPr>
          <p:cNvPr id="32" name="文本框 31">
            <a:extLst>
              <a:ext uri="{FF2B5EF4-FFF2-40B4-BE49-F238E27FC236}">
                <a16:creationId xmlns:a16="http://schemas.microsoft.com/office/drawing/2014/main" id="{B4E64800-8C20-D393-4B1F-CEDFE04B6664}"/>
              </a:ext>
            </a:extLst>
          </p:cNvPr>
          <p:cNvSpPr txBox="1"/>
          <p:nvPr/>
        </p:nvSpPr>
        <p:spPr>
          <a:xfrm>
            <a:off x="7799345" y="4489259"/>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40" name="文本框 39">
            <a:extLst>
              <a:ext uri="{FF2B5EF4-FFF2-40B4-BE49-F238E27FC236}">
                <a16:creationId xmlns:a16="http://schemas.microsoft.com/office/drawing/2014/main" id="{E42090A2-DD2E-FB85-026A-CA1906B8A509}"/>
              </a:ext>
            </a:extLst>
          </p:cNvPr>
          <p:cNvSpPr txBox="1"/>
          <p:nvPr/>
        </p:nvSpPr>
        <p:spPr>
          <a:xfrm>
            <a:off x="7799345" y="4801546"/>
            <a:ext cx="760144" cy="253916"/>
          </a:xfrm>
          <a:prstGeom prst="rect">
            <a:avLst/>
          </a:prstGeom>
          <a:noFill/>
        </p:spPr>
        <p:txBody>
          <a:bodyPr wrap="none" rtlCol="0">
            <a:spAutoFit/>
          </a:bodyPr>
          <a:lstStyle/>
          <a:p>
            <a:r>
              <a:rPr lang="zh-CN" altLang="en-US" sz="1050" dirty="0"/>
              <a:t> </a:t>
            </a:r>
            <a:r>
              <a:rPr lang="zh-CN" altLang="en-US" sz="1050" b="1" dirty="0"/>
              <a:t>机会点</a:t>
            </a:r>
            <a:r>
              <a:rPr lang="zh-CN" altLang="en-US" sz="1050" dirty="0"/>
              <a:t>：</a:t>
            </a:r>
          </a:p>
        </p:txBody>
      </p:sp>
      <p:sp>
        <p:nvSpPr>
          <p:cNvPr id="41" name="文本框 40">
            <a:extLst>
              <a:ext uri="{FF2B5EF4-FFF2-40B4-BE49-F238E27FC236}">
                <a16:creationId xmlns:a16="http://schemas.microsoft.com/office/drawing/2014/main" id="{55F04A46-C106-A5A3-0741-8E67D0EAB0BD}"/>
              </a:ext>
            </a:extLst>
          </p:cNvPr>
          <p:cNvSpPr txBox="1"/>
          <p:nvPr/>
        </p:nvSpPr>
        <p:spPr>
          <a:xfrm>
            <a:off x="7851102" y="5895966"/>
            <a:ext cx="625492" cy="253916"/>
          </a:xfrm>
          <a:prstGeom prst="rect">
            <a:avLst/>
          </a:prstGeom>
          <a:noFill/>
        </p:spPr>
        <p:txBody>
          <a:bodyPr wrap="none" rtlCol="0">
            <a:spAutoFit/>
          </a:bodyPr>
          <a:lstStyle/>
          <a:p>
            <a:r>
              <a:rPr lang="zh-CN" altLang="en-US" sz="1050" dirty="0"/>
              <a:t> </a:t>
            </a:r>
            <a:r>
              <a:rPr lang="zh-CN" altLang="en-US" sz="1050" b="1" dirty="0"/>
              <a:t>展望</a:t>
            </a:r>
            <a:r>
              <a:rPr lang="zh-CN" altLang="en-US" sz="1050" dirty="0"/>
              <a:t>：</a:t>
            </a:r>
          </a:p>
        </p:txBody>
      </p:sp>
      <p:sp>
        <p:nvSpPr>
          <p:cNvPr id="42" name="文本框 41">
            <a:extLst>
              <a:ext uri="{FF2B5EF4-FFF2-40B4-BE49-F238E27FC236}">
                <a16:creationId xmlns:a16="http://schemas.microsoft.com/office/drawing/2014/main" id="{8672A0EE-A1BD-A40A-1527-4B2079C0EED7}"/>
              </a:ext>
            </a:extLst>
          </p:cNvPr>
          <p:cNvSpPr txBox="1"/>
          <p:nvPr/>
        </p:nvSpPr>
        <p:spPr>
          <a:xfrm>
            <a:off x="8497927" y="1841281"/>
            <a:ext cx="3316421" cy="553998"/>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000" dirty="0"/>
              <a:t>可单独语音控制驾驶模式，监测看护，娱乐等儿童陪护模式</a:t>
            </a:r>
            <a:endParaRPr lang="en-US" altLang="zh-CN" sz="1000" dirty="0"/>
          </a:p>
          <a:p>
            <a:endParaRPr lang="zh-CN" altLang="en-US" sz="1000" dirty="0"/>
          </a:p>
        </p:txBody>
      </p:sp>
      <p:sp>
        <p:nvSpPr>
          <p:cNvPr id="43" name="文本框 42">
            <a:extLst>
              <a:ext uri="{FF2B5EF4-FFF2-40B4-BE49-F238E27FC236}">
                <a16:creationId xmlns:a16="http://schemas.microsoft.com/office/drawing/2014/main" id="{68EBCACB-DC34-BB6B-CF82-667931CDA549}"/>
              </a:ext>
            </a:extLst>
          </p:cNvPr>
          <p:cNvSpPr txBox="1"/>
          <p:nvPr/>
        </p:nvSpPr>
        <p:spPr>
          <a:xfrm>
            <a:off x="8525834" y="4517595"/>
            <a:ext cx="3689335" cy="253916"/>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000" dirty="0"/>
              <a:t>手动分享钥匙，近距离手机控制泊车，发送地址到车</a:t>
            </a:r>
          </a:p>
        </p:txBody>
      </p:sp>
      <p:sp>
        <p:nvSpPr>
          <p:cNvPr id="45" name="文本框 44">
            <a:extLst>
              <a:ext uri="{FF2B5EF4-FFF2-40B4-BE49-F238E27FC236}">
                <a16:creationId xmlns:a16="http://schemas.microsoft.com/office/drawing/2014/main" id="{58B8240C-7CB6-7B33-E330-95FD0A4D5A48}"/>
              </a:ext>
            </a:extLst>
          </p:cNvPr>
          <p:cNvSpPr txBox="1"/>
          <p:nvPr/>
        </p:nvSpPr>
        <p:spPr>
          <a:xfrm>
            <a:off x="8345458" y="5879383"/>
            <a:ext cx="3884397" cy="261610"/>
          </a:xfrm>
          <a:prstGeom prst="rect">
            <a:avLst/>
          </a:prstGeom>
          <a:noFill/>
        </p:spPr>
        <p:txBody>
          <a:bodyPr wrap="none" rtlCol="0">
            <a:spAutoFit/>
          </a:bodyPr>
          <a:lstStyle/>
          <a:p>
            <a:pPr marL="171450" indent="-171450">
              <a:buFont typeface="Wingdings" panose="05000000000000000000" pitchFamily="2" charset="2"/>
              <a:buChar char="ü"/>
            </a:pPr>
            <a:r>
              <a:rPr lang="zh-CN" altLang="en-US" sz="1100" dirty="0"/>
              <a:t>接受远程语音控制车辆行为，到哪里去，去哪里，停哪里</a:t>
            </a:r>
          </a:p>
        </p:txBody>
      </p:sp>
    </p:spTree>
    <p:extLst>
      <p:ext uri="{BB962C8B-B14F-4D97-AF65-F5344CB8AC3E}">
        <p14:creationId xmlns:p14="http://schemas.microsoft.com/office/powerpoint/2010/main" val="1386402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38FA2-1787-D050-90A8-A3D5F67FD69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C504D42-4E3F-F4A0-C14B-2516973283E4}"/>
              </a:ext>
            </a:extLst>
          </p:cNvPr>
          <p:cNvSpPr>
            <a:spLocks noGrp="1"/>
          </p:cNvSpPr>
          <p:nvPr>
            <p:ph type="title" idx="4294967295"/>
          </p:nvPr>
        </p:nvSpPr>
        <p:spPr>
          <a:xfrm>
            <a:off x="669924" y="433637"/>
            <a:ext cx="10440000" cy="595063"/>
          </a:xfrm>
        </p:spPr>
        <p:txBody>
          <a:bodyPr/>
          <a:lstStyle/>
          <a:p>
            <a:r>
              <a:rPr lang="zh-CN" altLang="en-US" dirty="0"/>
              <a:t>上车前阶段</a:t>
            </a:r>
            <a:r>
              <a:rPr lang="en-US" altLang="zh-CN" dirty="0"/>
              <a:t>——</a:t>
            </a:r>
            <a:r>
              <a:rPr lang="zh-CN" altLang="en-US" dirty="0"/>
              <a:t>定位与接驾</a:t>
            </a:r>
          </a:p>
        </p:txBody>
      </p:sp>
      <p:sp>
        <p:nvSpPr>
          <p:cNvPr id="16" name="文本占位符 4">
            <a:extLst>
              <a:ext uri="{FF2B5EF4-FFF2-40B4-BE49-F238E27FC236}">
                <a16:creationId xmlns:a16="http://schemas.microsoft.com/office/drawing/2014/main" id="{54EE3425-8412-8E68-5AEE-7A373262F520}"/>
              </a:ext>
            </a:extLst>
          </p:cNvPr>
          <p:cNvSpPr txBox="1"/>
          <p:nvPr/>
        </p:nvSpPr>
        <p:spPr>
          <a:xfrm>
            <a:off x="4569007" y="1386047"/>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a:extLst>
              <a:ext uri="{FF2B5EF4-FFF2-40B4-BE49-F238E27FC236}">
                <a16:creationId xmlns:a16="http://schemas.microsoft.com/office/drawing/2014/main" id="{B5FB2ED3-D86E-77F1-1F17-E968F006E09A}"/>
              </a:ext>
            </a:extLst>
          </p:cNvPr>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a:extLst>
              <a:ext uri="{FF2B5EF4-FFF2-40B4-BE49-F238E27FC236}">
                <a16:creationId xmlns:a16="http://schemas.microsoft.com/office/drawing/2014/main" id="{019BA519-63EB-4356-3468-7BA76815F652}"/>
              </a:ext>
            </a:extLst>
          </p:cNvPr>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a:extLst>
              <a:ext uri="{FF2B5EF4-FFF2-40B4-BE49-F238E27FC236}">
                <a16:creationId xmlns:a16="http://schemas.microsoft.com/office/drawing/2014/main" id="{D770884B-400E-9705-D817-E09A18E0D277}"/>
              </a:ext>
            </a:extLst>
          </p:cNvPr>
          <p:cNvSpPr txBox="1"/>
          <p:nvPr/>
        </p:nvSpPr>
        <p:spPr>
          <a:xfrm>
            <a:off x="97877" y="2794788"/>
            <a:ext cx="366036" cy="1384995"/>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定位与接驾</a:t>
            </a:r>
          </a:p>
        </p:txBody>
      </p:sp>
      <p:sp>
        <p:nvSpPr>
          <p:cNvPr id="10" name="文本框 9">
            <a:extLst>
              <a:ext uri="{FF2B5EF4-FFF2-40B4-BE49-F238E27FC236}">
                <a16:creationId xmlns:a16="http://schemas.microsoft.com/office/drawing/2014/main" id="{78EF5799-87C1-67AE-DDA7-67C163AA5A6A}"/>
              </a:ext>
            </a:extLst>
          </p:cNvPr>
          <p:cNvSpPr txBox="1"/>
          <p:nvPr/>
        </p:nvSpPr>
        <p:spPr>
          <a:xfrm>
            <a:off x="405484" y="2374279"/>
            <a:ext cx="1525188" cy="5432256"/>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定位不准</a:t>
            </a: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接驾时间较长</a:t>
            </a: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a:extLst>
              <a:ext uri="{FF2B5EF4-FFF2-40B4-BE49-F238E27FC236}">
                <a16:creationId xmlns:a16="http://schemas.microsoft.com/office/drawing/2014/main" id="{64990B42-F3CD-C74B-97CF-292770107F1A}"/>
              </a:ext>
            </a:extLst>
          </p:cNvPr>
          <p:cNvSpPr txBox="1"/>
          <p:nvPr/>
        </p:nvSpPr>
        <p:spPr>
          <a:xfrm>
            <a:off x="1657234" y="1383485"/>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a:extLst>
              <a:ext uri="{FF2B5EF4-FFF2-40B4-BE49-F238E27FC236}">
                <a16:creationId xmlns:a16="http://schemas.microsoft.com/office/drawing/2014/main" id="{87B2E7E9-A78B-060C-D759-D4995B8F6910}"/>
              </a:ext>
            </a:extLst>
          </p:cNvPr>
          <p:cNvSpPr txBox="1"/>
          <p:nvPr/>
        </p:nvSpPr>
        <p:spPr>
          <a:xfrm>
            <a:off x="8623718" y="1395662"/>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sp>
        <p:nvSpPr>
          <p:cNvPr id="29" name="文本占位符 4">
            <a:extLst>
              <a:ext uri="{FF2B5EF4-FFF2-40B4-BE49-F238E27FC236}">
                <a16:creationId xmlns:a16="http://schemas.microsoft.com/office/drawing/2014/main" id="{FC80261C-8D85-EF92-D67C-9418AEF7400A}"/>
              </a:ext>
            </a:extLst>
          </p:cNvPr>
          <p:cNvSpPr txBox="1"/>
          <p:nvPr/>
        </p:nvSpPr>
        <p:spPr>
          <a:xfrm>
            <a:off x="201348" y="1372685"/>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场景</a:t>
            </a:r>
          </a:p>
        </p:txBody>
      </p:sp>
      <p:cxnSp>
        <p:nvCxnSpPr>
          <p:cNvPr id="34" name="直接连接符 33">
            <a:extLst>
              <a:ext uri="{FF2B5EF4-FFF2-40B4-BE49-F238E27FC236}">
                <a16:creationId xmlns:a16="http://schemas.microsoft.com/office/drawing/2014/main" id="{766C3E2D-E33D-AA98-0D1D-FB7DA668661F}"/>
              </a:ext>
            </a:extLst>
          </p:cNvPr>
          <p:cNvCxnSpPr/>
          <p:nvPr/>
        </p:nvCxnSpPr>
        <p:spPr>
          <a:xfrm>
            <a:off x="1657234" y="185026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6CBDA1DD-C891-E429-ACC0-A79917780DF2}"/>
              </a:ext>
            </a:extLst>
          </p:cNvPr>
          <p:cNvCxnSpPr/>
          <p:nvPr/>
        </p:nvCxnSpPr>
        <p:spPr>
          <a:xfrm>
            <a:off x="622924" y="4272087"/>
            <a:ext cx="11332126"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751F3BBB-51CE-55B4-F7AC-1D71F42C9D33}"/>
              </a:ext>
            </a:extLst>
          </p:cNvPr>
          <p:cNvSpPr txBox="1"/>
          <p:nvPr/>
        </p:nvSpPr>
        <p:spPr>
          <a:xfrm>
            <a:off x="1657234" y="2696095"/>
            <a:ext cx="1773159" cy="492443"/>
          </a:xfrm>
          <a:prstGeom prst="rect">
            <a:avLst/>
          </a:prstGeom>
          <a:noFill/>
        </p:spPr>
        <p:txBody>
          <a:bodyPr wrap="square" rtlCol="0">
            <a:spAutoFit/>
          </a:bodyPr>
          <a:lstStyle/>
          <a:p>
            <a:pPr marL="171450" indent="-171450">
              <a:spcBef>
                <a:spcPts val="600"/>
              </a:spcBef>
              <a:buFont typeface="Arial" panose="020B0604020202020204" pitchFamily="34" charset="0"/>
              <a:buChar char="•"/>
            </a:pPr>
            <a:r>
              <a:rPr lang="zh-CN" altLang="en-US" sz="1050" dirty="0"/>
              <a:t>路两侧的定位偏差</a:t>
            </a:r>
            <a:endParaRPr lang="en-US" altLang="zh-CN" sz="1050" dirty="0"/>
          </a:p>
          <a:p>
            <a:pPr marL="171450" indent="-171450">
              <a:spcBef>
                <a:spcPts val="600"/>
              </a:spcBef>
              <a:buFont typeface="Arial" panose="020B0604020202020204" pitchFamily="34" charset="0"/>
              <a:buChar char="•"/>
            </a:pPr>
            <a:r>
              <a:rPr lang="zh-CN" altLang="en-US" sz="1050" dirty="0"/>
              <a:t>近距离的定位偏差</a:t>
            </a:r>
          </a:p>
        </p:txBody>
      </p:sp>
      <p:sp>
        <p:nvSpPr>
          <p:cNvPr id="19" name="文本框 18">
            <a:extLst>
              <a:ext uri="{FF2B5EF4-FFF2-40B4-BE49-F238E27FC236}">
                <a16:creationId xmlns:a16="http://schemas.microsoft.com/office/drawing/2014/main" id="{C3663F49-CF53-9119-8A03-ED259B648410}"/>
              </a:ext>
            </a:extLst>
          </p:cNvPr>
          <p:cNvSpPr txBox="1"/>
          <p:nvPr/>
        </p:nvSpPr>
        <p:spPr>
          <a:xfrm>
            <a:off x="1638680" y="4700884"/>
            <a:ext cx="1773159" cy="738664"/>
          </a:xfrm>
          <a:prstGeom prst="rect">
            <a:avLst/>
          </a:prstGeom>
          <a:noFill/>
        </p:spPr>
        <p:txBody>
          <a:bodyPr wrap="square" rtlCol="0">
            <a:spAutoFit/>
          </a:bodyPr>
          <a:lstStyle/>
          <a:p>
            <a:pPr marL="171450" indent="-171450">
              <a:buFont typeface="Arial" panose="020B0604020202020204" pitchFamily="34" charset="0"/>
              <a:buChar char="•"/>
            </a:pPr>
            <a:r>
              <a:rPr lang="en-US" altLang="zh-CN" sz="1050" dirty="0"/>
              <a:t>3-5</a:t>
            </a:r>
            <a:r>
              <a:rPr lang="zh-CN" altLang="en-US" sz="1050" dirty="0"/>
              <a:t>分钟以上要电话沟通，避免飞单</a:t>
            </a:r>
            <a:endParaRPr lang="en-US" altLang="zh-CN" sz="1050" dirty="0"/>
          </a:p>
          <a:p>
            <a:pPr marL="171450" indent="-171450">
              <a:buFont typeface="Arial" panose="020B0604020202020204" pitchFamily="34" charset="0"/>
              <a:buChar char="•"/>
            </a:pPr>
            <a:endParaRPr lang="en-US" altLang="zh-CN" sz="1050" dirty="0"/>
          </a:p>
          <a:p>
            <a:pPr marL="171450" indent="-171450">
              <a:buFont typeface="Arial" panose="020B0604020202020204" pitchFamily="34" charset="0"/>
              <a:buChar char="•"/>
            </a:pPr>
            <a:endParaRPr lang="zh-CN" altLang="en-US" sz="1050" dirty="0"/>
          </a:p>
        </p:txBody>
      </p:sp>
      <p:cxnSp>
        <p:nvCxnSpPr>
          <p:cNvPr id="3" name="直接连接符 2">
            <a:extLst>
              <a:ext uri="{FF2B5EF4-FFF2-40B4-BE49-F238E27FC236}">
                <a16:creationId xmlns:a16="http://schemas.microsoft.com/office/drawing/2014/main" id="{10861E26-C801-A018-C56B-AA8F3FDF3A77}"/>
              </a:ext>
            </a:extLst>
          </p:cNvPr>
          <p:cNvCxnSpPr/>
          <p:nvPr/>
        </p:nvCxnSpPr>
        <p:spPr>
          <a:xfrm>
            <a:off x="3402031" y="1810163"/>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8A0F0422-3191-22F6-F89C-FF531D628D03}"/>
              </a:ext>
            </a:extLst>
          </p:cNvPr>
          <p:cNvCxnSpPr/>
          <p:nvPr/>
        </p:nvCxnSpPr>
        <p:spPr>
          <a:xfrm>
            <a:off x="7358497" y="185026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D23DCD06-AFC9-B36F-5938-D0DD14C3F5E5}"/>
              </a:ext>
            </a:extLst>
          </p:cNvPr>
          <p:cNvSpPr txBox="1"/>
          <p:nvPr/>
        </p:nvSpPr>
        <p:spPr>
          <a:xfrm>
            <a:off x="3430393" y="1963558"/>
            <a:ext cx="1742785" cy="261610"/>
          </a:xfrm>
          <a:prstGeom prst="rect">
            <a:avLst/>
          </a:prstGeom>
          <a:noFill/>
        </p:spPr>
        <p:txBody>
          <a:bodyPr wrap="none" rtlCol="0">
            <a:spAutoFit/>
          </a:bodyPr>
          <a:lstStyle/>
          <a:p>
            <a:pPr marL="285750" indent="-285750">
              <a:buFont typeface="Wingdings" panose="05000000000000000000" pitchFamily="2" charset="2"/>
              <a:buChar char="Ø"/>
            </a:pPr>
            <a:r>
              <a:rPr lang="zh-CN" altLang="en-US" sz="1100" b="1" dirty="0"/>
              <a:t>接驾时马路对面停车</a:t>
            </a:r>
          </a:p>
        </p:txBody>
      </p:sp>
      <p:sp>
        <p:nvSpPr>
          <p:cNvPr id="21" name="文本框 20">
            <a:extLst>
              <a:ext uri="{FF2B5EF4-FFF2-40B4-BE49-F238E27FC236}">
                <a16:creationId xmlns:a16="http://schemas.microsoft.com/office/drawing/2014/main" id="{5F08562A-3B78-7F27-1FBF-CB646459CFA1}"/>
              </a:ext>
            </a:extLst>
          </p:cNvPr>
          <p:cNvSpPr txBox="1"/>
          <p:nvPr/>
        </p:nvSpPr>
        <p:spPr>
          <a:xfrm>
            <a:off x="3821377" y="5134668"/>
            <a:ext cx="2416046" cy="790666"/>
          </a:xfrm>
          <a:prstGeom prst="rect">
            <a:avLst/>
          </a:prstGeom>
          <a:noFill/>
        </p:spPr>
        <p:txBody>
          <a:bodyPr wrap="none" rtlCol="0">
            <a:spAutoFit/>
          </a:bodyPr>
          <a:lstStyle/>
          <a:p>
            <a:pPr marL="342900" indent="-342900">
              <a:lnSpc>
                <a:spcPct val="150000"/>
              </a:lnSpc>
              <a:buFont typeface="Arial" panose="020B0604020202020204" pitchFamily="34" charset="0"/>
              <a:buChar char="•"/>
            </a:pPr>
            <a:r>
              <a:rPr lang="zh-CN" altLang="en-US" sz="1050" dirty="0"/>
              <a:t>接驾时很近拥堵，接驾时间长</a:t>
            </a:r>
            <a:endParaRPr lang="en-US" altLang="zh-CN" sz="1050" dirty="0"/>
          </a:p>
          <a:p>
            <a:pPr marL="342900" indent="-342900">
              <a:lnSpc>
                <a:spcPct val="150000"/>
              </a:lnSpc>
              <a:buFont typeface="Arial" panose="020B0604020202020204" pitchFamily="34" charset="0"/>
              <a:buChar char="•"/>
            </a:pPr>
            <a:r>
              <a:rPr lang="zh-CN" altLang="en-US" sz="1050" dirty="0"/>
              <a:t>接驾距离较远，接驾时间长</a:t>
            </a:r>
          </a:p>
          <a:p>
            <a:pPr marL="342900" indent="-342900">
              <a:lnSpc>
                <a:spcPct val="150000"/>
              </a:lnSpc>
              <a:buFont typeface="Arial" panose="020B0604020202020204" pitchFamily="34" charset="0"/>
              <a:buChar char="•"/>
            </a:pPr>
            <a:r>
              <a:rPr lang="zh-CN" altLang="en-US" sz="1050" dirty="0"/>
              <a:t>安抚客户尽快到达，及预计时间</a:t>
            </a:r>
          </a:p>
        </p:txBody>
      </p:sp>
      <p:sp>
        <p:nvSpPr>
          <p:cNvPr id="25" name="文本框 24">
            <a:extLst>
              <a:ext uri="{FF2B5EF4-FFF2-40B4-BE49-F238E27FC236}">
                <a16:creationId xmlns:a16="http://schemas.microsoft.com/office/drawing/2014/main" id="{379FE8E7-A786-F7F6-6551-CDA4D43466F2}"/>
              </a:ext>
            </a:extLst>
          </p:cNvPr>
          <p:cNvSpPr txBox="1"/>
          <p:nvPr/>
        </p:nvSpPr>
        <p:spPr>
          <a:xfrm>
            <a:off x="3606370" y="4808606"/>
            <a:ext cx="3100529"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接驾时间超过</a:t>
            </a:r>
            <a:r>
              <a:rPr lang="en-US" altLang="zh-CN" sz="1100" b="1" dirty="0"/>
              <a:t>3-5</a:t>
            </a:r>
            <a:r>
              <a:rPr lang="zh-CN" altLang="en-US" sz="1100" b="1" dirty="0"/>
              <a:t>分钟，司机会主打电话沟通</a:t>
            </a:r>
          </a:p>
        </p:txBody>
      </p:sp>
      <p:sp>
        <p:nvSpPr>
          <p:cNvPr id="27" name="文本框 26">
            <a:extLst>
              <a:ext uri="{FF2B5EF4-FFF2-40B4-BE49-F238E27FC236}">
                <a16:creationId xmlns:a16="http://schemas.microsoft.com/office/drawing/2014/main" id="{AF1AD2BF-3166-ECDB-570A-C3878B4062F0}"/>
              </a:ext>
            </a:extLst>
          </p:cNvPr>
          <p:cNvSpPr txBox="1"/>
          <p:nvPr/>
        </p:nvSpPr>
        <p:spPr>
          <a:xfrm>
            <a:off x="3427609" y="2241906"/>
            <a:ext cx="2596354" cy="56996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050" dirty="0"/>
              <a:t>路中有围挡，需要绕路</a:t>
            </a:r>
            <a:endParaRPr lang="en-US" altLang="zh-CN" sz="1050" dirty="0"/>
          </a:p>
          <a:p>
            <a:pPr marL="285750" indent="-285750">
              <a:lnSpc>
                <a:spcPct val="150000"/>
              </a:lnSpc>
              <a:buFont typeface="Arial" panose="020B0604020202020204" pitchFamily="34" charset="0"/>
              <a:buChar char="•"/>
            </a:pPr>
            <a:r>
              <a:rPr lang="zh-CN" altLang="en-US" sz="1050" dirty="0"/>
              <a:t>协商走到对面</a:t>
            </a:r>
          </a:p>
        </p:txBody>
      </p:sp>
      <p:sp>
        <p:nvSpPr>
          <p:cNvPr id="44" name="文本框 43">
            <a:extLst>
              <a:ext uri="{FF2B5EF4-FFF2-40B4-BE49-F238E27FC236}">
                <a16:creationId xmlns:a16="http://schemas.microsoft.com/office/drawing/2014/main" id="{4BF6DB07-0EAC-53EB-0366-1523EE9CBA6C}"/>
              </a:ext>
            </a:extLst>
          </p:cNvPr>
          <p:cNvSpPr txBox="1"/>
          <p:nvPr/>
        </p:nvSpPr>
        <p:spPr>
          <a:xfrm>
            <a:off x="7991921" y="2404822"/>
            <a:ext cx="3963128" cy="1547027"/>
          </a:xfrm>
          <a:prstGeom prst="rect">
            <a:avLst/>
          </a:prstGeom>
          <a:noFill/>
        </p:spPr>
        <p:txBody>
          <a:bodyPr wrap="square" rtlCol="0">
            <a:spAutoFit/>
          </a:bodyPr>
          <a:lstStyle/>
          <a:p>
            <a:pPr marL="171450" indent="-171450">
              <a:lnSpc>
                <a:spcPct val="150000"/>
              </a:lnSpc>
              <a:buFont typeface="Wingdings" panose="05000000000000000000" pitchFamily="2" charset="2"/>
              <a:buChar char="ü"/>
            </a:pPr>
            <a:r>
              <a:rPr lang="zh-CN" altLang="en-US" sz="1050" dirty="0"/>
              <a:t>支持更泛化更复杂更自然的语音控制如停到马路对边，往前开</a:t>
            </a:r>
            <a:r>
              <a:rPr lang="en-US" altLang="zh-CN" sz="1050" dirty="0"/>
              <a:t>100</a:t>
            </a:r>
            <a:r>
              <a:rPr lang="zh-CN" altLang="en-US" sz="1050" dirty="0"/>
              <a:t>米，停到那个牌子下面等</a:t>
            </a:r>
            <a:endParaRPr lang="en-US" altLang="zh-CN" sz="1050" dirty="0"/>
          </a:p>
          <a:p>
            <a:pPr marL="171450" indent="-171450">
              <a:lnSpc>
                <a:spcPct val="150000"/>
              </a:lnSpc>
              <a:buFont typeface="Wingdings" panose="05000000000000000000" pitchFamily="2" charset="2"/>
              <a:buChar char="ü"/>
            </a:pPr>
            <a:r>
              <a:rPr lang="zh-CN" altLang="en-US" sz="1050" dirty="0"/>
              <a:t>可授权车外控车或者司机</a:t>
            </a:r>
            <a:r>
              <a:rPr lang="en-US" altLang="zh-CN" sz="1050" dirty="0"/>
              <a:t>agent</a:t>
            </a:r>
            <a:r>
              <a:rPr lang="zh-CN" altLang="en-US" sz="1050" dirty="0"/>
              <a:t>手机客户端控制，告诉车端司机</a:t>
            </a:r>
            <a:r>
              <a:rPr lang="en-US" altLang="zh-CN" sz="1050" dirty="0"/>
              <a:t>Agent</a:t>
            </a:r>
            <a:r>
              <a:rPr lang="zh-CN" altLang="en-US" sz="1050" dirty="0"/>
              <a:t>如何驾驶</a:t>
            </a:r>
            <a:endParaRPr lang="en-US" altLang="zh-CN" sz="1050" dirty="0"/>
          </a:p>
          <a:p>
            <a:pPr marL="171450" indent="-171450">
              <a:lnSpc>
                <a:spcPct val="150000"/>
              </a:lnSpc>
              <a:buFont typeface="Wingdings" panose="05000000000000000000" pitchFamily="2" charset="2"/>
              <a:buChar char="ü"/>
            </a:pPr>
            <a:r>
              <a:rPr lang="zh-CN" altLang="en-US" sz="1050" dirty="0"/>
              <a:t>近距离支持车外语音控制，如掉头，路边停一下等</a:t>
            </a:r>
            <a:endParaRPr lang="en-US" altLang="zh-CN" sz="1050" dirty="0"/>
          </a:p>
          <a:p>
            <a:pPr marL="285750" indent="-285750">
              <a:lnSpc>
                <a:spcPct val="150000"/>
              </a:lnSpc>
              <a:buFont typeface="Wingdings" panose="05000000000000000000" pitchFamily="2" charset="2"/>
              <a:buChar char="Ø"/>
            </a:pPr>
            <a:endParaRPr lang="zh-CN" altLang="en-US" sz="1200" dirty="0"/>
          </a:p>
        </p:txBody>
      </p:sp>
      <p:sp>
        <p:nvSpPr>
          <p:cNvPr id="48" name="文本框 47">
            <a:extLst>
              <a:ext uri="{FF2B5EF4-FFF2-40B4-BE49-F238E27FC236}">
                <a16:creationId xmlns:a16="http://schemas.microsoft.com/office/drawing/2014/main" id="{79A50A34-5B0D-F4B1-305D-BCF06AF6481D}"/>
              </a:ext>
            </a:extLst>
          </p:cNvPr>
          <p:cNvSpPr txBox="1"/>
          <p:nvPr/>
        </p:nvSpPr>
        <p:spPr>
          <a:xfrm>
            <a:off x="5099128" y="1951001"/>
            <a:ext cx="1601721" cy="261610"/>
          </a:xfrm>
          <a:prstGeom prst="rect">
            <a:avLst/>
          </a:prstGeom>
          <a:noFill/>
        </p:spPr>
        <p:txBody>
          <a:bodyPr wrap="none" rtlCol="0">
            <a:spAutoFit/>
          </a:bodyPr>
          <a:lstStyle/>
          <a:p>
            <a:pPr marL="285750" indent="-285750">
              <a:buFont typeface="Wingdings" panose="05000000000000000000" pitchFamily="2" charset="2"/>
              <a:buChar char="Ø"/>
            </a:pPr>
            <a:r>
              <a:rPr lang="zh-CN" altLang="en-US" sz="1100" b="1" dirty="0"/>
              <a:t>近距离时沟通位置</a:t>
            </a:r>
          </a:p>
        </p:txBody>
      </p:sp>
      <p:sp>
        <p:nvSpPr>
          <p:cNvPr id="52" name="文本框 51">
            <a:extLst>
              <a:ext uri="{FF2B5EF4-FFF2-40B4-BE49-F238E27FC236}">
                <a16:creationId xmlns:a16="http://schemas.microsoft.com/office/drawing/2014/main" id="{F3EB218B-939E-5D64-4B68-BA96F9359096}"/>
              </a:ext>
            </a:extLst>
          </p:cNvPr>
          <p:cNvSpPr txBox="1"/>
          <p:nvPr/>
        </p:nvSpPr>
        <p:spPr>
          <a:xfrm>
            <a:off x="5300815" y="2224824"/>
            <a:ext cx="2130045" cy="56996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050" dirty="0"/>
              <a:t>互相描述位置与地址特征，确定开过了，还是还没到</a:t>
            </a:r>
          </a:p>
        </p:txBody>
      </p:sp>
      <p:sp>
        <p:nvSpPr>
          <p:cNvPr id="4" name="文本框 3">
            <a:extLst>
              <a:ext uri="{FF2B5EF4-FFF2-40B4-BE49-F238E27FC236}">
                <a16:creationId xmlns:a16="http://schemas.microsoft.com/office/drawing/2014/main" id="{7B79F38C-83A2-0811-F861-07FCB5B31D61}"/>
              </a:ext>
            </a:extLst>
          </p:cNvPr>
          <p:cNvSpPr txBox="1"/>
          <p:nvPr/>
        </p:nvSpPr>
        <p:spPr>
          <a:xfrm>
            <a:off x="7340832" y="2294897"/>
            <a:ext cx="723275" cy="253916"/>
          </a:xfrm>
          <a:prstGeom prst="rect">
            <a:avLst/>
          </a:prstGeom>
          <a:noFill/>
        </p:spPr>
        <p:txBody>
          <a:bodyPr wrap="none" rtlCol="0">
            <a:spAutoFit/>
          </a:bodyPr>
          <a:lstStyle/>
          <a:p>
            <a:r>
              <a:rPr lang="zh-CN" altLang="en-US" sz="1050" b="1" dirty="0"/>
              <a:t>机会点：</a:t>
            </a:r>
          </a:p>
        </p:txBody>
      </p:sp>
      <p:sp>
        <p:nvSpPr>
          <p:cNvPr id="6" name="文本框 5">
            <a:extLst>
              <a:ext uri="{FF2B5EF4-FFF2-40B4-BE49-F238E27FC236}">
                <a16:creationId xmlns:a16="http://schemas.microsoft.com/office/drawing/2014/main" id="{F706523E-6749-AE7F-D0E0-E7332B1D83B9}"/>
              </a:ext>
            </a:extLst>
          </p:cNvPr>
          <p:cNvSpPr txBox="1"/>
          <p:nvPr/>
        </p:nvSpPr>
        <p:spPr>
          <a:xfrm>
            <a:off x="7403298" y="3573525"/>
            <a:ext cx="588623" cy="253916"/>
          </a:xfrm>
          <a:prstGeom prst="rect">
            <a:avLst/>
          </a:prstGeom>
          <a:noFill/>
        </p:spPr>
        <p:txBody>
          <a:bodyPr wrap="none" rtlCol="0">
            <a:spAutoFit/>
          </a:bodyPr>
          <a:lstStyle/>
          <a:p>
            <a:r>
              <a:rPr lang="zh-CN" altLang="en-US" sz="1050" b="1" dirty="0"/>
              <a:t>展望：</a:t>
            </a:r>
          </a:p>
        </p:txBody>
      </p:sp>
      <p:sp>
        <p:nvSpPr>
          <p:cNvPr id="8" name="文本框 7">
            <a:extLst>
              <a:ext uri="{FF2B5EF4-FFF2-40B4-BE49-F238E27FC236}">
                <a16:creationId xmlns:a16="http://schemas.microsoft.com/office/drawing/2014/main" id="{067CD63F-6DDE-3D55-5FB2-9CC3DE09EB6E}"/>
              </a:ext>
            </a:extLst>
          </p:cNvPr>
          <p:cNvSpPr txBox="1"/>
          <p:nvPr/>
        </p:nvSpPr>
        <p:spPr>
          <a:xfrm>
            <a:off x="7286135" y="1822377"/>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12" name="文本框 11">
            <a:extLst>
              <a:ext uri="{FF2B5EF4-FFF2-40B4-BE49-F238E27FC236}">
                <a16:creationId xmlns:a16="http://schemas.microsoft.com/office/drawing/2014/main" id="{1342412B-8B8F-7851-0863-E8E61C553987}"/>
              </a:ext>
            </a:extLst>
          </p:cNvPr>
          <p:cNvSpPr txBox="1"/>
          <p:nvPr/>
        </p:nvSpPr>
        <p:spPr>
          <a:xfrm>
            <a:off x="7999461" y="1860416"/>
            <a:ext cx="3840990" cy="415498"/>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050" dirty="0"/>
              <a:t>语音控制智驾往前一点，靠边停车，超过前车等简单指令</a:t>
            </a:r>
            <a:endParaRPr lang="en-US" altLang="zh-CN" sz="1050" dirty="0"/>
          </a:p>
          <a:p>
            <a:pPr marL="171450" indent="-171450">
              <a:buFont typeface="Wingdings" panose="05000000000000000000" pitchFamily="2" charset="2"/>
              <a:buChar char="ü"/>
            </a:pPr>
            <a:r>
              <a:rPr lang="zh-CN" altLang="en-US" sz="1050" dirty="0"/>
              <a:t>车外简单语音控制泊出，如开出来一点</a:t>
            </a:r>
          </a:p>
        </p:txBody>
      </p:sp>
      <p:sp>
        <p:nvSpPr>
          <p:cNvPr id="13" name="文本框 12">
            <a:extLst>
              <a:ext uri="{FF2B5EF4-FFF2-40B4-BE49-F238E27FC236}">
                <a16:creationId xmlns:a16="http://schemas.microsoft.com/office/drawing/2014/main" id="{82A5C927-3092-2308-FF95-39A3D42405ED}"/>
              </a:ext>
            </a:extLst>
          </p:cNvPr>
          <p:cNvSpPr txBox="1"/>
          <p:nvPr/>
        </p:nvSpPr>
        <p:spPr>
          <a:xfrm>
            <a:off x="7949939" y="3834089"/>
            <a:ext cx="3963127" cy="430887"/>
          </a:xfrm>
          <a:prstGeom prst="rect">
            <a:avLst/>
          </a:prstGeom>
          <a:noFill/>
        </p:spPr>
        <p:txBody>
          <a:bodyPr wrap="square" rtlCol="0">
            <a:spAutoFit/>
          </a:bodyPr>
          <a:lstStyle/>
          <a:p>
            <a:pPr marL="285750" indent="-285750">
              <a:buFont typeface="Wingdings" panose="05000000000000000000" pitchFamily="2" charset="2"/>
              <a:buChar char="ü"/>
            </a:pPr>
            <a:r>
              <a:rPr lang="zh-CN" altLang="en-US" sz="1100" dirty="0"/>
              <a:t>可使用手机与车端</a:t>
            </a:r>
            <a:r>
              <a:rPr lang="en-US" altLang="zh-CN" sz="1100" dirty="0"/>
              <a:t>agent</a:t>
            </a:r>
            <a:r>
              <a:rPr lang="zh-CN" altLang="en-US" sz="1100" dirty="0"/>
              <a:t>自由对话，像跟人一样，实现车辆控制</a:t>
            </a:r>
          </a:p>
        </p:txBody>
      </p:sp>
      <p:sp>
        <p:nvSpPr>
          <p:cNvPr id="14" name="文本框 13">
            <a:extLst>
              <a:ext uri="{FF2B5EF4-FFF2-40B4-BE49-F238E27FC236}">
                <a16:creationId xmlns:a16="http://schemas.microsoft.com/office/drawing/2014/main" id="{E2A26BD4-0C85-2CA3-F9C2-FAB6137DBE16}"/>
              </a:ext>
            </a:extLst>
          </p:cNvPr>
          <p:cNvSpPr txBox="1"/>
          <p:nvPr/>
        </p:nvSpPr>
        <p:spPr>
          <a:xfrm>
            <a:off x="7376163" y="4962931"/>
            <a:ext cx="723275" cy="253916"/>
          </a:xfrm>
          <a:prstGeom prst="rect">
            <a:avLst/>
          </a:prstGeom>
          <a:noFill/>
        </p:spPr>
        <p:txBody>
          <a:bodyPr wrap="none" rtlCol="0">
            <a:spAutoFit/>
          </a:bodyPr>
          <a:lstStyle/>
          <a:p>
            <a:r>
              <a:rPr lang="zh-CN" altLang="en-US" sz="1050" b="1" dirty="0"/>
              <a:t>机会点：</a:t>
            </a:r>
          </a:p>
        </p:txBody>
      </p:sp>
      <p:sp>
        <p:nvSpPr>
          <p:cNvPr id="15" name="文本框 14">
            <a:extLst>
              <a:ext uri="{FF2B5EF4-FFF2-40B4-BE49-F238E27FC236}">
                <a16:creationId xmlns:a16="http://schemas.microsoft.com/office/drawing/2014/main" id="{11EF8FC3-82AC-ED01-585C-1546E4C334AD}"/>
              </a:ext>
            </a:extLst>
          </p:cNvPr>
          <p:cNvSpPr txBox="1"/>
          <p:nvPr/>
        </p:nvSpPr>
        <p:spPr>
          <a:xfrm>
            <a:off x="7384668" y="5874360"/>
            <a:ext cx="588623" cy="253916"/>
          </a:xfrm>
          <a:prstGeom prst="rect">
            <a:avLst/>
          </a:prstGeom>
          <a:noFill/>
        </p:spPr>
        <p:txBody>
          <a:bodyPr wrap="none" rtlCol="0">
            <a:spAutoFit/>
          </a:bodyPr>
          <a:lstStyle/>
          <a:p>
            <a:r>
              <a:rPr lang="zh-CN" altLang="en-US" sz="1050" b="1" dirty="0"/>
              <a:t>展望：</a:t>
            </a:r>
          </a:p>
        </p:txBody>
      </p:sp>
      <p:sp>
        <p:nvSpPr>
          <p:cNvPr id="20" name="文本框 19">
            <a:extLst>
              <a:ext uri="{FF2B5EF4-FFF2-40B4-BE49-F238E27FC236}">
                <a16:creationId xmlns:a16="http://schemas.microsoft.com/office/drawing/2014/main" id="{D0916A2B-9E5F-96B1-EB44-F0274634DB1E}"/>
              </a:ext>
            </a:extLst>
          </p:cNvPr>
          <p:cNvSpPr txBox="1"/>
          <p:nvPr/>
        </p:nvSpPr>
        <p:spPr>
          <a:xfrm>
            <a:off x="7326426" y="4322833"/>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22" name="文本框 21">
            <a:extLst>
              <a:ext uri="{FF2B5EF4-FFF2-40B4-BE49-F238E27FC236}">
                <a16:creationId xmlns:a16="http://schemas.microsoft.com/office/drawing/2014/main" id="{E31F0974-53BD-D2F9-69BD-82142D4B27A0}"/>
              </a:ext>
            </a:extLst>
          </p:cNvPr>
          <p:cNvSpPr txBox="1"/>
          <p:nvPr/>
        </p:nvSpPr>
        <p:spPr>
          <a:xfrm>
            <a:off x="7999461" y="4368546"/>
            <a:ext cx="4150567" cy="548292"/>
          </a:xfrm>
          <a:prstGeom prst="rect">
            <a:avLst/>
          </a:prstGeom>
          <a:noFill/>
        </p:spPr>
        <p:txBody>
          <a:bodyPr wrap="square" rtlCol="0">
            <a:spAutoFit/>
          </a:bodyPr>
          <a:lstStyle/>
          <a:p>
            <a:pPr marL="285750" indent="-285750">
              <a:lnSpc>
                <a:spcPct val="150000"/>
              </a:lnSpc>
              <a:buFont typeface="Wingdings" panose="05000000000000000000" pitchFamily="2" charset="2"/>
              <a:buChar char="ü"/>
            </a:pPr>
            <a:r>
              <a:rPr lang="zh-CN" altLang="en-US" sz="1050" dirty="0"/>
              <a:t>座舱乘客语音拨打电话，导航显示距离目的地距离与时间，以及当前拥堵情况</a:t>
            </a:r>
          </a:p>
        </p:txBody>
      </p:sp>
      <p:sp>
        <p:nvSpPr>
          <p:cNvPr id="23" name="文本框 22">
            <a:extLst>
              <a:ext uri="{FF2B5EF4-FFF2-40B4-BE49-F238E27FC236}">
                <a16:creationId xmlns:a16="http://schemas.microsoft.com/office/drawing/2014/main" id="{C5FE00BB-C36A-42CD-B373-29D5EBE16CA0}"/>
              </a:ext>
            </a:extLst>
          </p:cNvPr>
          <p:cNvSpPr txBox="1"/>
          <p:nvPr/>
        </p:nvSpPr>
        <p:spPr>
          <a:xfrm>
            <a:off x="7999461" y="4981490"/>
            <a:ext cx="4150567" cy="789512"/>
          </a:xfrm>
          <a:prstGeom prst="rect">
            <a:avLst/>
          </a:prstGeom>
          <a:noFill/>
        </p:spPr>
        <p:txBody>
          <a:bodyPr wrap="square" rtlCol="0">
            <a:spAutoFit/>
          </a:bodyPr>
          <a:lstStyle/>
          <a:p>
            <a:pPr marL="285750" indent="-285750">
              <a:lnSpc>
                <a:spcPct val="150000"/>
              </a:lnSpc>
              <a:buFont typeface="Wingdings" panose="05000000000000000000" pitchFamily="2" charset="2"/>
              <a:buChar char="ü"/>
            </a:pPr>
            <a:r>
              <a:rPr lang="zh-CN" altLang="en-US" sz="1050" dirty="0"/>
              <a:t>车机端司机</a:t>
            </a:r>
            <a:r>
              <a:rPr lang="en-US" altLang="zh-CN" sz="1050" dirty="0"/>
              <a:t>agent</a:t>
            </a:r>
            <a:r>
              <a:rPr lang="zh-CN" altLang="en-US" sz="1050" dirty="0"/>
              <a:t>，根据当前路况，距离远近，接驾时间，超过</a:t>
            </a:r>
            <a:r>
              <a:rPr lang="en-US" altLang="zh-CN" sz="1050" dirty="0"/>
              <a:t>5</a:t>
            </a:r>
            <a:r>
              <a:rPr lang="zh-CN" altLang="en-US" sz="1050" dirty="0"/>
              <a:t>分钟，超过</a:t>
            </a:r>
            <a:r>
              <a:rPr lang="en-US" altLang="zh-CN" sz="1050" dirty="0"/>
              <a:t>3</a:t>
            </a:r>
            <a:r>
              <a:rPr lang="zh-CN" altLang="en-US" sz="1050" dirty="0"/>
              <a:t>分钟，自动发送到手机客户端</a:t>
            </a:r>
            <a:r>
              <a:rPr lang="en-US" altLang="zh-CN" sz="1050" dirty="0"/>
              <a:t>app</a:t>
            </a:r>
          </a:p>
          <a:p>
            <a:pPr marL="285750" indent="-285750">
              <a:lnSpc>
                <a:spcPct val="150000"/>
              </a:lnSpc>
              <a:buFont typeface="Wingdings" panose="05000000000000000000" pitchFamily="2" charset="2"/>
              <a:buChar char="ü"/>
            </a:pPr>
            <a:r>
              <a:rPr lang="zh-CN" altLang="en-US" sz="1050" dirty="0"/>
              <a:t>自动生成安抚的话术，避免被接人的过于交际</a:t>
            </a:r>
          </a:p>
        </p:txBody>
      </p:sp>
      <p:sp>
        <p:nvSpPr>
          <p:cNvPr id="24" name="文本框 23">
            <a:extLst>
              <a:ext uri="{FF2B5EF4-FFF2-40B4-BE49-F238E27FC236}">
                <a16:creationId xmlns:a16="http://schemas.microsoft.com/office/drawing/2014/main" id="{3009CB27-BE5A-3471-DBAD-78CDF9D36DE4}"/>
              </a:ext>
            </a:extLst>
          </p:cNvPr>
          <p:cNvSpPr txBox="1"/>
          <p:nvPr/>
        </p:nvSpPr>
        <p:spPr>
          <a:xfrm>
            <a:off x="7999461" y="5932354"/>
            <a:ext cx="3963127" cy="430887"/>
          </a:xfrm>
          <a:prstGeom prst="rect">
            <a:avLst/>
          </a:prstGeom>
          <a:noFill/>
        </p:spPr>
        <p:txBody>
          <a:bodyPr wrap="square" rtlCol="0">
            <a:spAutoFit/>
          </a:bodyPr>
          <a:lstStyle/>
          <a:p>
            <a:pPr marL="285750" indent="-285750">
              <a:buFont typeface="Wingdings" panose="05000000000000000000" pitchFamily="2" charset="2"/>
              <a:buChar char="ü"/>
            </a:pPr>
            <a:r>
              <a:rPr lang="zh-CN" altLang="en-US" sz="1100" dirty="0"/>
              <a:t>可使用手机与车端</a:t>
            </a:r>
            <a:r>
              <a:rPr lang="en-US" altLang="zh-CN" sz="1100" dirty="0"/>
              <a:t>agent</a:t>
            </a:r>
            <a:r>
              <a:rPr lang="zh-CN" altLang="en-US" sz="1100" dirty="0"/>
              <a:t>自由对话，像跟人一样，实现信息实时沟通，情感化陪伴</a:t>
            </a:r>
          </a:p>
        </p:txBody>
      </p:sp>
      <p:cxnSp>
        <p:nvCxnSpPr>
          <p:cNvPr id="32" name="直接连接符 25">
            <a:extLst>
              <a:ext uri="{FF2B5EF4-FFF2-40B4-BE49-F238E27FC236}">
                <a16:creationId xmlns:a16="http://schemas.microsoft.com/office/drawing/2014/main" id="{8AD60755-C4D0-C4C8-056B-DCA0E06942E1}"/>
              </a:ext>
            </a:extLst>
          </p:cNvPr>
          <p:cNvCxnSpPr/>
          <p:nvPr/>
        </p:nvCxnSpPr>
        <p:spPr>
          <a:xfrm>
            <a:off x="431787" y="6432205"/>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33216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95795-5F61-452F-099C-57EA1B7664F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A371FC6-677A-C192-DEEA-431561263B99}"/>
              </a:ext>
            </a:extLst>
          </p:cNvPr>
          <p:cNvSpPr>
            <a:spLocks noGrp="1"/>
          </p:cNvSpPr>
          <p:nvPr>
            <p:ph type="title" idx="4294967295"/>
          </p:nvPr>
        </p:nvSpPr>
        <p:spPr>
          <a:xfrm>
            <a:off x="669924" y="433637"/>
            <a:ext cx="10440000" cy="595063"/>
          </a:xfrm>
        </p:spPr>
        <p:txBody>
          <a:bodyPr/>
          <a:lstStyle/>
          <a:p>
            <a:r>
              <a:rPr lang="zh-CN" altLang="en-US" dirty="0"/>
              <a:t>上车前阶段</a:t>
            </a:r>
            <a:r>
              <a:rPr lang="en-US" altLang="zh-CN" dirty="0"/>
              <a:t>——</a:t>
            </a:r>
            <a:r>
              <a:rPr lang="zh-CN" altLang="en-US" dirty="0"/>
              <a:t>定位与接驾</a:t>
            </a:r>
          </a:p>
        </p:txBody>
      </p:sp>
      <p:sp>
        <p:nvSpPr>
          <p:cNvPr id="16" name="文本占位符 4">
            <a:extLst>
              <a:ext uri="{FF2B5EF4-FFF2-40B4-BE49-F238E27FC236}">
                <a16:creationId xmlns:a16="http://schemas.microsoft.com/office/drawing/2014/main" id="{777EB624-2B78-3439-E4C2-004133F78D59}"/>
              </a:ext>
            </a:extLst>
          </p:cNvPr>
          <p:cNvSpPr txBox="1"/>
          <p:nvPr/>
        </p:nvSpPr>
        <p:spPr>
          <a:xfrm>
            <a:off x="4332384" y="1395486"/>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a:extLst>
              <a:ext uri="{FF2B5EF4-FFF2-40B4-BE49-F238E27FC236}">
                <a16:creationId xmlns:a16="http://schemas.microsoft.com/office/drawing/2014/main" id="{BDF4B55F-1914-1A7C-5D48-6525161E7501}"/>
              </a:ext>
            </a:extLst>
          </p:cNvPr>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a:extLst>
              <a:ext uri="{FF2B5EF4-FFF2-40B4-BE49-F238E27FC236}">
                <a16:creationId xmlns:a16="http://schemas.microsoft.com/office/drawing/2014/main" id="{0380AE2B-1C71-F028-253F-B9327AC26F45}"/>
              </a:ext>
            </a:extLst>
          </p:cNvPr>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a:extLst>
              <a:ext uri="{FF2B5EF4-FFF2-40B4-BE49-F238E27FC236}">
                <a16:creationId xmlns:a16="http://schemas.microsoft.com/office/drawing/2014/main" id="{01F4C438-6775-CC6F-4BFE-2D99683E9685}"/>
              </a:ext>
            </a:extLst>
          </p:cNvPr>
          <p:cNvSpPr txBox="1"/>
          <p:nvPr/>
        </p:nvSpPr>
        <p:spPr>
          <a:xfrm>
            <a:off x="97877" y="2794788"/>
            <a:ext cx="366036" cy="1384995"/>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定位与接驾</a:t>
            </a:r>
          </a:p>
        </p:txBody>
      </p:sp>
      <p:sp>
        <p:nvSpPr>
          <p:cNvPr id="10" name="文本框 9">
            <a:extLst>
              <a:ext uri="{FF2B5EF4-FFF2-40B4-BE49-F238E27FC236}">
                <a16:creationId xmlns:a16="http://schemas.microsoft.com/office/drawing/2014/main" id="{B131BE41-42CA-BC86-89F1-2705111116C7}"/>
              </a:ext>
            </a:extLst>
          </p:cNvPr>
          <p:cNvSpPr txBox="1"/>
          <p:nvPr/>
        </p:nvSpPr>
        <p:spPr>
          <a:xfrm>
            <a:off x="374410" y="653314"/>
            <a:ext cx="1525188" cy="3216265"/>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提前叫车等待</a:t>
            </a: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a:extLst>
              <a:ext uri="{FF2B5EF4-FFF2-40B4-BE49-F238E27FC236}">
                <a16:creationId xmlns:a16="http://schemas.microsoft.com/office/drawing/2014/main" id="{75AAB319-5425-8CED-1104-B84545B9795A}"/>
              </a:ext>
            </a:extLst>
          </p:cNvPr>
          <p:cNvSpPr txBox="1"/>
          <p:nvPr/>
        </p:nvSpPr>
        <p:spPr>
          <a:xfrm>
            <a:off x="1698067" y="1359080"/>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a:extLst>
              <a:ext uri="{FF2B5EF4-FFF2-40B4-BE49-F238E27FC236}">
                <a16:creationId xmlns:a16="http://schemas.microsoft.com/office/drawing/2014/main" id="{A566E4DB-17A3-745F-B355-F01E1030B08C}"/>
              </a:ext>
            </a:extLst>
          </p:cNvPr>
          <p:cNvSpPr txBox="1"/>
          <p:nvPr/>
        </p:nvSpPr>
        <p:spPr>
          <a:xfrm>
            <a:off x="8658545" y="1387411"/>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sp>
        <p:nvSpPr>
          <p:cNvPr id="29" name="文本占位符 4">
            <a:extLst>
              <a:ext uri="{FF2B5EF4-FFF2-40B4-BE49-F238E27FC236}">
                <a16:creationId xmlns:a16="http://schemas.microsoft.com/office/drawing/2014/main" id="{4540D653-0F56-944E-C7BB-AC796C5789A8}"/>
              </a:ext>
            </a:extLst>
          </p:cNvPr>
          <p:cNvSpPr txBox="1"/>
          <p:nvPr/>
        </p:nvSpPr>
        <p:spPr>
          <a:xfrm>
            <a:off x="320111" y="1389551"/>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中高场景</a:t>
            </a:r>
          </a:p>
        </p:txBody>
      </p:sp>
      <p:cxnSp>
        <p:nvCxnSpPr>
          <p:cNvPr id="34" name="直接连接符 33">
            <a:extLst>
              <a:ext uri="{FF2B5EF4-FFF2-40B4-BE49-F238E27FC236}">
                <a16:creationId xmlns:a16="http://schemas.microsoft.com/office/drawing/2014/main" id="{83D93C15-CCF7-010F-0947-AADDA6BAA60F}"/>
              </a:ext>
            </a:extLst>
          </p:cNvPr>
          <p:cNvCxnSpPr/>
          <p:nvPr/>
        </p:nvCxnSpPr>
        <p:spPr>
          <a:xfrm>
            <a:off x="1596850" y="179643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a:extLst>
              <a:ext uri="{FF2B5EF4-FFF2-40B4-BE49-F238E27FC236}">
                <a16:creationId xmlns:a16="http://schemas.microsoft.com/office/drawing/2014/main" id="{62E581BE-7733-98B7-0FEC-AD44DDE24194}"/>
              </a:ext>
            </a:extLst>
          </p:cNvPr>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7" name="文本框 16">
            <a:extLst>
              <a:ext uri="{FF2B5EF4-FFF2-40B4-BE49-F238E27FC236}">
                <a16:creationId xmlns:a16="http://schemas.microsoft.com/office/drawing/2014/main" id="{6856BE8C-056A-B4DD-2A95-33D4BC809284}"/>
              </a:ext>
            </a:extLst>
          </p:cNvPr>
          <p:cNvSpPr txBox="1"/>
          <p:nvPr/>
        </p:nvSpPr>
        <p:spPr>
          <a:xfrm>
            <a:off x="1627172" y="2487335"/>
            <a:ext cx="1773159" cy="1223412"/>
          </a:xfrm>
          <a:prstGeom prst="rect">
            <a:avLst/>
          </a:prstGeom>
          <a:noFill/>
        </p:spPr>
        <p:txBody>
          <a:bodyPr wrap="square" rtlCol="0">
            <a:spAutoFit/>
          </a:bodyPr>
          <a:lstStyle/>
          <a:p>
            <a:pPr marL="171450" indent="-171450">
              <a:buFont typeface="Arial" panose="020B0604020202020204" pitchFamily="34" charset="0"/>
              <a:buChar char="•"/>
            </a:pPr>
            <a:r>
              <a:rPr lang="zh-CN" altLang="en-US" sz="1050" dirty="0"/>
              <a:t>提前叫车，等待时间过长，如女生、喝酒等</a:t>
            </a:r>
            <a:r>
              <a:rPr lang="en-US" altLang="zh-CN" sz="1050" dirty="0"/>
              <a:t>.</a:t>
            </a:r>
            <a:r>
              <a:rPr lang="zh-CN" altLang="en-US" sz="1050" dirty="0"/>
              <a:t>   </a:t>
            </a:r>
            <a:endParaRPr lang="en-US" altLang="zh-CN" sz="1050" dirty="0"/>
          </a:p>
          <a:p>
            <a:pPr marL="171450" indent="-171450">
              <a:buFont typeface="Arial" panose="020B0604020202020204" pitchFamily="34" charset="0"/>
              <a:buChar char="•"/>
            </a:pPr>
            <a:endParaRPr lang="en-US" altLang="zh-CN" sz="1050" dirty="0"/>
          </a:p>
          <a:p>
            <a:pPr marL="171450" indent="-171450">
              <a:buFont typeface="Arial" panose="020B0604020202020204" pitchFamily="34" charset="0"/>
              <a:buChar char="•"/>
            </a:pPr>
            <a:r>
              <a:rPr lang="zh-CN" altLang="en-US" sz="1050" dirty="0"/>
              <a:t>超过一定时间，司机有多选择</a:t>
            </a:r>
            <a:endParaRPr lang="en-US" altLang="zh-CN" sz="1050" dirty="0"/>
          </a:p>
          <a:p>
            <a:pPr marL="171450" indent="-171450">
              <a:buFont typeface="Arial" panose="020B0604020202020204" pitchFamily="34" charset="0"/>
              <a:buChar char="•"/>
            </a:pPr>
            <a:endParaRPr lang="en-US" altLang="zh-CN" sz="1050" dirty="0"/>
          </a:p>
          <a:p>
            <a:pPr marL="171450" indent="-171450">
              <a:buFont typeface="Arial" panose="020B0604020202020204" pitchFamily="34" charset="0"/>
              <a:buChar char="•"/>
            </a:pPr>
            <a:endParaRPr lang="zh-CN" altLang="en-US" sz="1050" dirty="0"/>
          </a:p>
        </p:txBody>
      </p:sp>
      <p:cxnSp>
        <p:nvCxnSpPr>
          <p:cNvPr id="3" name="直接连接符 2">
            <a:extLst>
              <a:ext uri="{FF2B5EF4-FFF2-40B4-BE49-F238E27FC236}">
                <a16:creationId xmlns:a16="http://schemas.microsoft.com/office/drawing/2014/main" id="{D410348D-B05C-ABE9-2184-E29D303F0847}"/>
              </a:ext>
            </a:extLst>
          </p:cNvPr>
          <p:cNvCxnSpPr/>
          <p:nvPr/>
        </p:nvCxnSpPr>
        <p:spPr>
          <a:xfrm>
            <a:off x="3259332" y="1891060"/>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214BA399-2A8B-8D59-95E4-E76F979A589E}"/>
              </a:ext>
            </a:extLst>
          </p:cNvPr>
          <p:cNvCxnSpPr/>
          <p:nvPr/>
        </p:nvCxnSpPr>
        <p:spPr>
          <a:xfrm>
            <a:off x="7475282" y="1891060"/>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B0AB10EC-483F-576F-ADA6-FBA5419EBFF4}"/>
              </a:ext>
            </a:extLst>
          </p:cNvPr>
          <p:cNvSpPr txBox="1"/>
          <p:nvPr/>
        </p:nvSpPr>
        <p:spPr>
          <a:xfrm>
            <a:off x="3350923" y="2005766"/>
            <a:ext cx="1768433"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个别用户习惯提前叫车</a:t>
            </a:r>
          </a:p>
        </p:txBody>
      </p:sp>
      <p:sp>
        <p:nvSpPr>
          <p:cNvPr id="31" name="文本框 30">
            <a:extLst>
              <a:ext uri="{FF2B5EF4-FFF2-40B4-BE49-F238E27FC236}">
                <a16:creationId xmlns:a16="http://schemas.microsoft.com/office/drawing/2014/main" id="{8164ED3C-6399-F915-198E-AF9F1D330F88}"/>
              </a:ext>
            </a:extLst>
          </p:cNvPr>
          <p:cNvSpPr txBox="1"/>
          <p:nvPr/>
        </p:nvSpPr>
        <p:spPr>
          <a:xfrm>
            <a:off x="5106438" y="2011926"/>
            <a:ext cx="2473754"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超过系统等待时间司机有多种选择</a:t>
            </a:r>
          </a:p>
        </p:txBody>
      </p:sp>
      <p:sp>
        <p:nvSpPr>
          <p:cNvPr id="35" name="文本框 34">
            <a:extLst>
              <a:ext uri="{FF2B5EF4-FFF2-40B4-BE49-F238E27FC236}">
                <a16:creationId xmlns:a16="http://schemas.microsoft.com/office/drawing/2014/main" id="{CE92BF07-D14F-A128-DE42-85F451AE6EB6}"/>
              </a:ext>
            </a:extLst>
          </p:cNvPr>
          <p:cNvSpPr txBox="1"/>
          <p:nvPr/>
        </p:nvSpPr>
        <p:spPr>
          <a:xfrm>
            <a:off x="3368468" y="2314944"/>
            <a:ext cx="1550424" cy="790666"/>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sz="1050" dirty="0"/>
              <a:t>司机反馈女性群体</a:t>
            </a:r>
            <a:endParaRPr lang="en-US" altLang="zh-CN" sz="1050" dirty="0"/>
          </a:p>
          <a:p>
            <a:pPr marL="285750" indent="-285750">
              <a:lnSpc>
                <a:spcPct val="150000"/>
              </a:lnSpc>
              <a:buFont typeface="Arial" panose="020B0604020202020204" pitchFamily="34" charset="0"/>
              <a:buChar char="•"/>
            </a:pPr>
            <a:r>
              <a:rPr lang="zh-CN" altLang="en-US" sz="1050" dirty="0"/>
              <a:t>聚会喝酒人员</a:t>
            </a:r>
            <a:endParaRPr lang="en-US" altLang="zh-CN" sz="1050" dirty="0"/>
          </a:p>
          <a:p>
            <a:pPr marL="285750" indent="-285750">
              <a:lnSpc>
                <a:spcPct val="150000"/>
              </a:lnSpc>
              <a:buFont typeface="Arial" panose="020B0604020202020204" pitchFamily="34" charset="0"/>
              <a:buChar char="•"/>
            </a:pPr>
            <a:r>
              <a:rPr lang="zh-CN" altLang="en-US" sz="1050" dirty="0"/>
              <a:t>个人习惯，车等人</a:t>
            </a:r>
          </a:p>
        </p:txBody>
      </p:sp>
      <p:sp>
        <p:nvSpPr>
          <p:cNvPr id="37" name="文本框 36">
            <a:extLst>
              <a:ext uri="{FF2B5EF4-FFF2-40B4-BE49-F238E27FC236}">
                <a16:creationId xmlns:a16="http://schemas.microsoft.com/office/drawing/2014/main" id="{E17B8A5B-659E-6026-1735-86BD61D373F9}"/>
              </a:ext>
            </a:extLst>
          </p:cNvPr>
          <p:cNvSpPr txBox="1"/>
          <p:nvPr/>
        </p:nvSpPr>
        <p:spPr>
          <a:xfrm>
            <a:off x="4974020" y="2378364"/>
            <a:ext cx="2453762" cy="79066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050" dirty="0"/>
              <a:t>司机有的选择超时取消，或沟通后取消</a:t>
            </a:r>
            <a:endParaRPr lang="en-US" altLang="zh-CN" sz="1050" dirty="0"/>
          </a:p>
          <a:p>
            <a:pPr marL="285750" indent="-285750">
              <a:lnSpc>
                <a:spcPct val="150000"/>
              </a:lnSpc>
              <a:buFont typeface="Arial" panose="020B0604020202020204" pitchFamily="34" charset="0"/>
              <a:buChar char="•"/>
            </a:pPr>
            <a:r>
              <a:rPr lang="zh-CN" altLang="en-US" sz="1050" dirty="0"/>
              <a:t>司机有的选择沟通后继续等待</a:t>
            </a:r>
          </a:p>
        </p:txBody>
      </p:sp>
      <p:sp>
        <p:nvSpPr>
          <p:cNvPr id="38" name="文本框 37">
            <a:extLst>
              <a:ext uri="{FF2B5EF4-FFF2-40B4-BE49-F238E27FC236}">
                <a16:creationId xmlns:a16="http://schemas.microsoft.com/office/drawing/2014/main" id="{BE73C338-B9F8-66C3-C947-FC846BF89525}"/>
              </a:ext>
            </a:extLst>
          </p:cNvPr>
          <p:cNvSpPr txBox="1"/>
          <p:nvPr/>
        </p:nvSpPr>
        <p:spPr>
          <a:xfrm>
            <a:off x="8141616" y="2069238"/>
            <a:ext cx="3743328" cy="1454244"/>
          </a:xfrm>
          <a:prstGeom prst="rect">
            <a:avLst/>
          </a:prstGeom>
          <a:noFill/>
        </p:spPr>
        <p:txBody>
          <a:bodyPr wrap="square" rtlCol="0">
            <a:spAutoFit/>
          </a:bodyPr>
          <a:lstStyle/>
          <a:p>
            <a:pPr marL="285750" indent="-285750">
              <a:buFont typeface="Wingdings" panose="05000000000000000000" pitchFamily="2" charset="2"/>
              <a:buChar char="ü"/>
            </a:pPr>
            <a:endParaRPr lang="en-US" altLang="zh-CN" sz="1050" dirty="0"/>
          </a:p>
          <a:p>
            <a:pPr marL="285750" indent="-285750">
              <a:spcBef>
                <a:spcPts val="600"/>
              </a:spcBef>
              <a:buFont typeface="Wingdings" panose="05000000000000000000" pitchFamily="2" charset="2"/>
              <a:buChar char="ü"/>
            </a:pPr>
            <a:r>
              <a:rPr lang="zh-CN" altLang="en-US" sz="1050" dirty="0"/>
              <a:t>司机</a:t>
            </a:r>
            <a:r>
              <a:rPr lang="en-US" altLang="zh-CN" sz="1050" dirty="0"/>
              <a:t>Agent</a:t>
            </a:r>
            <a:r>
              <a:rPr lang="zh-CN" altLang="en-US" sz="1050" dirty="0"/>
              <a:t>可选择距离接驾点相对好停车的位置，提前停车等待，乘客快到路边，马上开过去</a:t>
            </a:r>
            <a:endParaRPr lang="en-US" altLang="zh-CN" sz="1050" dirty="0"/>
          </a:p>
          <a:p>
            <a:pPr marL="171450" indent="-171450">
              <a:spcBef>
                <a:spcPts val="600"/>
              </a:spcBef>
              <a:buFont typeface="Wingdings" panose="05000000000000000000" pitchFamily="2" charset="2"/>
              <a:buChar char="ü"/>
            </a:pPr>
            <a:r>
              <a:rPr lang="zh-CN" altLang="en-US" sz="1050" dirty="0"/>
              <a:t>根据目的地址，沟通内容与状态，判断乘客的状态，是否喝酒，做好长时停车的准备</a:t>
            </a:r>
            <a:endParaRPr lang="en-US" altLang="zh-CN" sz="1050" dirty="0"/>
          </a:p>
          <a:p>
            <a:pPr marL="171450" indent="-171450">
              <a:spcBef>
                <a:spcPts val="600"/>
              </a:spcBef>
              <a:buFont typeface="Wingdings" panose="05000000000000000000" pitchFamily="2" charset="2"/>
              <a:buChar char="ü"/>
            </a:pPr>
            <a:r>
              <a:rPr lang="en-US" altLang="zh-CN" sz="1050" dirty="0"/>
              <a:t> </a:t>
            </a:r>
            <a:r>
              <a:rPr lang="zh-CN" altLang="en-US" sz="1050" dirty="0"/>
              <a:t>  实时判断乘客的位置，如果已经到路边马上开过去</a:t>
            </a:r>
            <a:endParaRPr lang="en-US" altLang="zh-CN" sz="1050" dirty="0"/>
          </a:p>
          <a:p>
            <a:pPr marL="285750" indent="-285750">
              <a:buFont typeface="Wingdings" panose="05000000000000000000" pitchFamily="2" charset="2"/>
              <a:buChar char="ü"/>
            </a:pPr>
            <a:endParaRPr lang="zh-CN" altLang="en-US" sz="1050" dirty="0"/>
          </a:p>
        </p:txBody>
      </p:sp>
      <p:sp>
        <p:nvSpPr>
          <p:cNvPr id="4" name="文本框 3">
            <a:extLst>
              <a:ext uri="{FF2B5EF4-FFF2-40B4-BE49-F238E27FC236}">
                <a16:creationId xmlns:a16="http://schemas.microsoft.com/office/drawing/2014/main" id="{4BE8B737-F485-C0C0-8998-4323F70FFEC3}"/>
              </a:ext>
            </a:extLst>
          </p:cNvPr>
          <p:cNvSpPr txBox="1"/>
          <p:nvPr/>
        </p:nvSpPr>
        <p:spPr>
          <a:xfrm>
            <a:off x="7543444" y="2256429"/>
            <a:ext cx="723275" cy="253916"/>
          </a:xfrm>
          <a:prstGeom prst="rect">
            <a:avLst/>
          </a:prstGeom>
          <a:noFill/>
        </p:spPr>
        <p:txBody>
          <a:bodyPr wrap="none" rtlCol="0">
            <a:spAutoFit/>
          </a:bodyPr>
          <a:lstStyle/>
          <a:p>
            <a:r>
              <a:rPr lang="zh-CN" altLang="en-US" sz="1050" b="1" dirty="0"/>
              <a:t>机会点：</a:t>
            </a:r>
          </a:p>
        </p:txBody>
      </p:sp>
      <p:sp>
        <p:nvSpPr>
          <p:cNvPr id="6" name="文本框 5">
            <a:extLst>
              <a:ext uri="{FF2B5EF4-FFF2-40B4-BE49-F238E27FC236}">
                <a16:creationId xmlns:a16="http://schemas.microsoft.com/office/drawing/2014/main" id="{15B153E5-5E62-6D74-C4C5-6A7D55EF3FCE}"/>
              </a:ext>
            </a:extLst>
          </p:cNvPr>
          <p:cNvSpPr txBox="1"/>
          <p:nvPr/>
        </p:nvSpPr>
        <p:spPr>
          <a:xfrm>
            <a:off x="7609054" y="3323396"/>
            <a:ext cx="588623" cy="253916"/>
          </a:xfrm>
          <a:prstGeom prst="rect">
            <a:avLst/>
          </a:prstGeom>
          <a:noFill/>
        </p:spPr>
        <p:txBody>
          <a:bodyPr wrap="none" rtlCol="0">
            <a:spAutoFit/>
          </a:bodyPr>
          <a:lstStyle/>
          <a:p>
            <a:r>
              <a:rPr lang="zh-CN" altLang="en-US" sz="1050" b="1" dirty="0"/>
              <a:t>展望：</a:t>
            </a:r>
          </a:p>
        </p:txBody>
      </p:sp>
      <p:sp>
        <p:nvSpPr>
          <p:cNvPr id="8" name="文本框 7">
            <a:extLst>
              <a:ext uri="{FF2B5EF4-FFF2-40B4-BE49-F238E27FC236}">
                <a16:creationId xmlns:a16="http://schemas.microsoft.com/office/drawing/2014/main" id="{36DF0C2D-E0FA-F843-03C3-712FCFAFA7D1}"/>
              </a:ext>
            </a:extLst>
          </p:cNvPr>
          <p:cNvSpPr txBox="1"/>
          <p:nvPr/>
        </p:nvSpPr>
        <p:spPr>
          <a:xfrm>
            <a:off x="7525010" y="1820957"/>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cxnSp>
        <p:nvCxnSpPr>
          <p:cNvPr id="15" name="直接连接符 14">
            <a:extLst>
              <a:ext uri="{FF2B5EF4-FFF2-40B4-BE49-F238E27FC236}">
                <a16:creationId xmlns:a16="http://schemas.microsoft.com/office/drawing/2014/main" id="{59ED8A48-E3B8-1B00-0FFC-11717F9ED90E}"/>
              </a:ext>
            </a:extLst>
          </p:cNvPr>
          <p:cNvCxnSpPr/>
          <p:nvPr/>
        </p:nvCxnSpPr>
        <p:spPr>
          <a:xfrm>
            <a:off x="534838" y="4051060"/>
            <a:ext cx="11332126"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D3724C3F-EDF9-F8A8-3652-5AAAF62FF336}"/>
              </a:ext>
            </a:extLst>
          </p:cNvPr>
          <p:cNvSpPr txBox="1"/>
          <p:nvPr/>
        </p:nvSpPr>
        <p:spPr>
          <a:xfrm>
            <a:off x="374410" y="2876847"/>
            <a:ext cx="1525188" cy="2970044"/>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私人司机接驾</a:t>
            </a: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01F227DF-B8E8-2EC2-E9D0-919C2C911C85}"/>
              </a:ext>
            </a:extLst>
          </p:cNvPr>
          <p:cNvSpPr txBox="1"/>
          <p:nvPr/>
        </p:nvSpPr>
        <p:spPr>
          <a:xfrm>
            <a:off x="1596850" y="4824460"/>
            <a:ext cx="1773159" cy="577081"/>
          </a:xfrm>
          <a:prstGeom prst="rect">
            <a:avLst/>
          </a:prstGeom>
          <a:noFill/>
        </p:spPr>
        <p:txBody>
          <a:bodyPr wrap="square" rtlCol="0">
            <a:spAutoFit/>
          </a:bodyPr>
          <a:lstStyle/>
          <a:p>
            <a:pPr marL="171450" indent="-171450">
              <a:buFont typeface="Arial" panose="020B0604020202020204" pitchFamily="34" charset="0"/>
              <a:buChar char="•"/>
            </a:pPr>
            <a:r>
              <a:rPr lang="zh-CN" altLang="en-US" sz="1050" dirty="0"/>
              <a:t>私人司机的老板见客户出来，希望门口上车更有面子</a:t>
            </a:r>
          </a:p>
        </p:txBody>
      </p:sp>
      <p:sp>
        <p:nvSpPr>
          <p:cNvPr id="24" name="文本框 23">
            <a:extLst>
              <a:ext uri="{FF2B5EF4-FFF2-40B4-BE49-F238E27FC236}">
                <a16:creationId xmlns:a16="http://schemas.microsoft.com/office/drawing/2014/main" id="{CE623303-00C2-A606-A4BE-F7AFA80F9E0C}"/>
              </a:ext>
            </a:extLst>
          </p:cNvPr>
          <p:cNvSpPr txBox="1"/>
          <p:nvPr/>
        </p:nvSpPr>
        <p:spPr>
          <a:xfrm>
            <a:off x="3368701" y="4568000"/>
            <a:ext cx="3063008" cy="79066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050" dirty="0"/>
              <a:t>希望能在大厅门口</a:t>
            </a:r>
            <a:endParaRPr lang="en-US" altLang="zh-CN" sz="1050" dirty="0"/>
          </a:p>
          <a:p>
            <a:pPr marL="285750" indent="-285750">
              <a:lnSpc>
                <a:spcPct val="150000"/>
              </a:lnSpc>
              <a:buFont typeface="Arial" panose="020B0604020202020204" pitchFamily="34" charset="0"/>
              <a:buChar char="•"/>
            </a:pPr>
            <a:r>
              <a:rPr lang="zh-CN" altLang="en-US" sz="1050" dirty="0"/>
              <a:t>商业写字楼大楼专用上车处</a:t>
            </a:r>
            <a:endParaRPr lang="en-US" altLang="zh-CN" sz="1050" dirty="0"/>
          </a:p>
          <a:p>
            <a:pPr marL="285750" indent="-285750">
              <a:lnSpc>
                <a:spcPct val="150000"/>
              </a:lnSpc>
              <a:buFont typeface="Arial" panose="020B0604020202020204" pitchFamily="34" charset="0"/>
              <a:buChar char="•"/>
            </a:pPr>
            <a:r>
              <a:rPr lang="zh-CN" altLang="en-US" sz="1050" dirty="0"/>
              <a:t>高档酒店门口</a:t>
            </a:r>
          </a:p>
        </p:txBody>
      </p:sp>
      <p:sp>
        <p:nvSpPr>
          <p:cNvPr id="32" name="文本框 31">
            <a:extLst>
              <a:ext uri="{FF2B5EF4-FFF2-40B4-BE49-F238E27FC236}">
                <a16:creationId xmlns:a16="http://schemas.microsoft.com/office/drawing/2014/main" id="{DB7B907C-26AC-B9FD-5826-F7EDDE75E459}"/>
              </a:ext>
            </a:extLst>
          </p:cNvPr>
          <p:cNvSpPr txBox="1"/>
          <p:nvPr/>
        </p:nvSpPr>
        <p:spPr>
          <a:xfrm>
            <a:off x="3395891" y="4284110"/>
            <a:ext cx="1204176"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最好接驾地点</a:t>
            </a:r>
          </a:p>
        </p:txBody>
      </p:sp>
      <p:sp>
        <p:nvSpPr>
          <p:cNvPr id="33" name="文本框 32">
            <a:extLst>
              <a:ext uri="{FF2B5EF4-FFF2-40B4-BE49-F238E27FC236}">
                <a16:creationId xmlns:a16="http://schemas.microsoft.com/office/drawing/2014/main" id="{3267BCA1-D1BB-2E8E-0553-DA017EB6B776}"/>
              </a:ext>
            </a:extLst>
          </p:cNvPr>
          <p:cNvSpPr txBox="1"/>
          <p:nvPr/>
        </p:nvSpPr>
        <p:spPr>
          <a:xfrm>
            <a:off x="5302275" y="4252766"/>
            <a:ext cx="1204176"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最好接驾时间</a:t>
            </a:r>
          </a:p>
        </p:txBody>
      </p:sp>
      <p:sp>
        <p:nvSpPr>
          <p:cNvPr id="39" name="文本框 38">
            <a:extLst>
              <a:ext uri="{FF2B5EF4-FFF2-40B4-BE49-F238E27FC236}">
                <a16:creationId xmlns:a16="http://schemas.microsoft.com/office/drawing/2014/main" id="{D4B5E1FF-BBF8-EEA2-BF1B-EBB8FAAF752B}"/>
              </a:ext>
            </a:extLst>
          </p:cNvPr>
          <p:cNvSpPr txBox="1"/>
          <p:nvPr/>
        </p:nvSpPr>
        <p:spPr>
          <a:xfrm>
            <a:off x="5675571" y="4568000"/>
            <a:ext cx="1622531" cy="56881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050" dirty="0"/>
              <a:t>稍微提前一点到达</a:t>
            </a:r>
            <a:endParaRPr lang="en-US" altLang="zh-CN" sz="1050" dirty="0"/>
          </a:p>
          <a:p>
            <a:pPr marL="285750" indent="-285750">
              <a:lnSpc>
                <a:spcPct val="150000"/>
              </a:lnSpc>
              <a:buFont typeface="Arial" panose="020B0604020202020204" pitchFamily="34" charset="0"/>
              <a:buChar char="•"/>
            </a:pPr>
            <a:r>
              <a:rPr lang="zh-CN" altLang="en-US" sz="1050" dirty="0"/>
              <a:t>要车等人</a:t>
            </a:r>
          </a:p>
        </p:txBody>
      </p:sp>
      <p:sp>
        <p:nvSpPr>
          <p:cNvPr id="41" name="文本框 40">
            <a:extLst>
              <a:ext uri="{FF2B5EF4-FFF2-40B4-BE49-F238E27FC236}">
                <a16:creationId xmlns:a16="http://schemas.microsoft.com/office/drawing/2014/main" id="{30E4CFB0-8362-7002-931F-9A6237A565A8}"/>
              </a:ext>
            </a:extLst>
          </p:cNvPr>
          <p:cNvSpPr txBox="1"/>
          <p:nvPr/>
        </p:nvSpPr>
        <p:spPr>
          <a:xfrm>
            <a:off x="8141616" y="1991690"/>
            <a:ext cx="3743332" cy="261610"/>
          </a:xfrm>
          <a:prstGeom prst="rect">
            <a:avLst/>
          </a:prstGeom>
          <a:noFill/>
        </p:spPr>
        <p:txBody>
          <a:bodyPr wrap="none" rtlCol="0">
            <a:spAutoFit/>
          </a:bodyPr>
          <a:lstStyle/>
          <a:p>
            <a:pPr marL="171450" indent="-171450">
              <a:buFont typeface="Wingdings" panose="05000000000000000000" pitchFamily="2" charset="2"/>
              <a:buChar char="ü"/>
            </a:pPr>
            <a:r>
              <a:rPr lang="zh-CN" altLang="en-US" sz="1100" dirty="0"/>
              <a:t>司机端能看到乘客端与上车点位置，可开启智驾开过去</a:t>
            </a:r>
          </a:p>
        </p:txBody>
      </p:sp>
      <p:sp>
        <p:nvSpPr>
          <p:cNvPr id="45" name="文本框 44">
            <a:extLst>
              <a:ext uri="{FF2B5EF4-FFF2-40B4-BE49-F238E27FC236}">
                <a16:creationId xmlns:a16="http://schemas.microsoft.com/office/drawing/2014/main" id="{109B22EC-1393-D74A-9C59-E813E1CBE200}"/>
              </a:ext>
            </a:extLst>
          </p:cNvPr>
          <p:cNvSpPr txBox="1"/>
          <p:nvPr/>
        </p:nvSpPr>
        <p:spPr>
          <a:xfrm>
            <a:off x="8118277" y="3591462"/>
            <a:ext cx="3589022" cy="430887"/>
          </a:xfrm>
          <a:prstGeom prst="rect">
            <a:avLst/>
          </a:prstGeom>
          <a:noFill/>
        </p:spPr>
        <p:txBody>
          <a:bodyPr wrap="square">
            <a:spAutoFit/>
          </a:bodyPr>
          <a:lstStyle/>
          <a:p>
            <a:pPr marL="171450" indent="-171450">
              <a:spcBef>
                <a:spcPts val="600"/>
              </a:spcBef>
              <a:buFont typeface="Wingdings" panose="05000000000000000000" pitchFamily="2" charset="2"/>
              <a:buChar char="ü"/>
            </a:pPr>
            <a:r>
              <a:rPr lang="zh-CN" altLang="en-US" sz="1050" dirty="0"/>
              <a:t>判断乘客的长期习惯特征，进行特殊的处理是马上就到，还是稍等再到，做好长时停车的准备</a:t>
            </a:r>
            <a:endParaRPr lang="en-US" altLang="zh-CN" sz="1050" dirty="0"/>
          </a:p>
        </p:txBody>
      </p:sp>
      <p:sp>
        <p:nvSpPr>
          <p:cNvPr id="46" name="文本框 45">
            <a:extLst>
              <a:ext uri="{FF2B5EF4-FFF2-40B4-BE49-F238E27FC236}">
                <a16:creationId xmlns:a16="http://schemas.microsoft.com/office/drawing/2014/main" id="{92EA4593-17FD-2BEE-5159-F28AD088D69C}"/>
              </a:ext>
            </a:extLst>
          </p:cNvPr>
          <p:cNvSpPr txBox="1"/>
          <p:nvPr/>
        </p:nvSpPr>
        <p:spPr>
          <a:xfrm>
            <a:off x="7524974" y="4123484"/>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47" name="文本框 46">
            <a:extLst>
              <a:ext uri="{FF2B5EF4-FFF2-40B4-BE49-F238E27FC236}">
                <a16:creationId xmlns:a16="http://schemas.microsoft.com/office/drawing/2014/main" id="{FD780927-510A-4A0E-DE87-D3F01464544E}"/>
              </a:ext>
            </a:extLst>
          </p:cNvPr>
          <p:cNvSpPr txBox="1"/>
          <p:nvPr/>
        </p:nvSpPr>
        <p:spPr>
          <a:xfrm>
            <a:off x="8198607" y="4133722"/>
            <a:ext cx="3566196" cy="577081"/>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050" dirty="0"/>
              <a:t>智驾支持车位到车位的城市</a:t>
            </a:r>
            <a:r>
              <a:rPr lang="en-US" altLang="zh-CN" sz="1050" dirty="0"/>
              <a:t>NOA</a:t>
            </a:r>
            <a:r>
              <a:rPr lang="zh-CN" altLang="en-US" sz="1050" dirty="0"/>
              <a:t>，但不支持园区和场站临停的停车点如专门上下车处的这类能力</a:t>
            </a:r>
            <a:endParaRPr lang="en-US" altLang="zh-CN" sz="1050" dirty="0"/>
          </a:p>
          <a:p>
            <a:pPr marL="171450" indent="-171450">
              <a:buFont typeface="Wingdings" panose="05000000000000000000" pitchFamily="2" charset="2"/>
              <a:buChar char="ü"/>
            </a:pPr>
            <a:r>
              <a:rPr lang="zh-CN" altLang="en-US" sz="1050" dirty="0"/>
              <a:t>临停地点的导航也没有</a:t>
            </a:r>
            <a:endParaRPr lang="en-US" altLang="zh-CN" sz="1050" dirty="0"/>
          </a:p>
        </p:txBody>
      </p:sp>
      <p:sp>
        <p:nvSpPr>
          <p:cNvPr id="50" name="文本框 49">
            <a:extLst>
              <a:ext uri="{FF2B5EF4-FFF2-40B4-BE49-F238E27FC236}">
                <a16:creationId xmlns:a16="http://schemas.microsoft.com/office/drawing/2014/main" id="{5D686514-C374-067F-FFFE-3CFC35E12816}"/>
              </a:ext>
            </a:extLst>
          </p:cNvPr>
          <p:cNvSpPr txBox="1"/>
          <p:nvPr/>
        </p:nvSpPr>
        <p:spPr>
          <a:xfrm>
            <a:off x="7539623" y="4689283"/>
            <a:ext cx="760144" cy="253916"/>
          </a:xfrm>
          <a:prstGeom prst="rect">
            <a:avLst/>
          </a:prstGeom>
          <a:noFill/>
        </p:spPr>
        <p:txBody>
          <a:bodyPr wrap="none" rtlCol="0">
            <a:spAutoFit/>
          </a:bodyPr>
          <a:lstStyle/>
          <a:p>
            <a:r>
              <a:rPr lang="zh-CN" altLang="en-US" sz="1050" dirty="0"/>
              <a:t> </a:t>
            </a:r>
            <a:r>
              <a:rPr lang="zh-CN" altLang="en-US" sz="1050" b="1" dirty="0"/>
              <a:t>机会点</a:t>
            </a:r>
            <a:r>
              <a:rPr lang="zh-CN" altLang="en-US" sz="1050" dirty="0"/>
              <a:t>：</a:t>
            </a:r>
          </a:p>
        </p:txBody>
      </p:sp>
      <p:sp>
        <p:nvSpPr>
          <p:cNvPr id="53" name="文本框 52">
            <a:extLst>
              <a:ext uri="{FF2B5EF4-FFF2-40B4-BE49-F238E27FC236}">
                <a16:creationId xmlns:a16="http://schemas.microsoft.com/office/drawing/2014/main" id="{FAE6BB85-C895-7A87-EBCA-BA27448D0771}"/>
              </a:ext>
            </a:extLst>
          </p:cNvPr>
          <p:cNvSpPr txBox="1"/>
          <p:nvPr/>
        </p:nvSpPr>
        <p:spPr>
          <a:xfrm>
            <a:off x="8198607" y="4823711"/>
            <a:ext cx="3566196" cy="900246"/>
          </a:xfrm>
          <a:prstGeom prst="rect">
            <a:avLst/>
          </a:prstGeom>
          <a:noFill/>
        </p:spPr>
        <p:txBody>
          <a:bodyPr wrap="square" rtlCol="0">
            <a:spAutoFit/>
          </a:bodyPr>
          <a:lstStyle/>
          <a:p>
            <a:pPr marL="171450" indent="-171450">
              <a:buFont typeface="Wingdings" panose="05000000000000000000" pitchFamily="2" charset="2"/>
              <a:buChar char="ü"/>
            </a:pPr>
            <a:r>
              <a:rPr lang="zh-CN" altLang="en-US" sz="1050" dirty="0"/>
              <a:t>智驾导航能够支持内部场地内，临停地点作为目的地，如大厅门口，写字楼上下车处，高档酒店门口</a:t>
            </a:r>
            <a:endParaRPr lang="en-US" altLang="zh-CN" sz="1050" dirty="0"/>
          </a:p>
          <a:p>
            <a:pPr marL="171450" indent="-171450">
              <a:buFont typeface="Wingdings" panose="05000000000000000000" pitchFamily="2" charset="2"/>
              <a:buChar char="ü"/>
            </a:pPr>
            <a:r>
              <a:rPr lang="zh-CN" altLang="en-US" sz="1050" dirty="0"/>
              <a:t>能够判断乘客位置与临时上车点位置，智能掌握开到临时停靠的时机，或者能识别乘客，看到乘客，能够马上开过去</a:t>
            </a:r>
          </a:p>
        </p:txBody>
      </p:sp>
      <p:sp>
        <p:nvSpPr>
          <p:cNvPr id="55" name="文本框 54">
            <a:extLst>
              <a:ext uri="{FF2B5EF4-FFF2-40B4-BE49-F238E27FC236}">
                <a16:creationId xmlns:a16="http://schemas.microsoft.com/office/drawing/2014/main" id="{478FEE62-7E2C-B244-C236-9DFEFE7C99C5}"/>
              </a:ext>
            </a:extLst>
          </p:cNvPr>
          <p:cNvSpPr txBox="1"/>
          <p:nvPr/>
        </p:nvSpPr>
        <p:spPr>
          <a:xfrm>
            <a:off x="7609053" y="5691508"/>
            <a:ext cx="588623" cy="253916"/>
          </a:xfrm>
          <a:prstGeom prst="rect">
            <a:avLst/>
          </a:prstGeom>
          <a:noFill/>
        </p:spPr>
        <p:txBody>
          <a:bodyPr wrap="none" rtlCol="0">
            <a:spAutoFit/>
          </a:bodyPr>
          <a:lstStyle/>
          <a:p>
            <a:r>
              <a:rPr lang="zh-CN" altLang="en-US" sz="1050" b="1" dirty="0"/>
              <a:t>展望：</a:t>
            </a:r>
          </a:p>
        </p:txBody>
      </p:sp>
      <p:sp>
        <p:nvSpPr>
          <p:cNvPr id="57" name="文本框 56">
            <a:extLst>
              <a:ext uri="{FF2B5EF4-FFF2-40B4-BE49-F238E27FC236}">
                <a16:creationId xmlns:a16="http://schemas.microsoft.com/office/drawing/2014/main" id="{E26AB602-E6E1-60B1-471B-3FA62C552342}"/>
              </a:ext>
            </a:extLst>
          </p:cNvPr>
          <p:cNvSpPr txBox="1"/>
          <p:nvPr/>
        </p:nvSpPr>
        <p:spPr>
          <a:xfrm>
            <a:off x="8141616" y="5752606"/>
            <a:ext cx="3589022" cy="253916"/>
          </a:xfrm>
          <a:prstGeom prst="rect">
            <a:avLst/>
          </a:prstGeom>
          <a:noFill/>
        </p:spPr>
        <p:txBody>
          <a:bodyPr wrap="square">
            <a:spAutoFit/>
          </a:bodyPr>
          <a:lstStyle/>
          <a:p>
            <a:pPr marL="171450" indent="-171450">
              <a:spcBef>
                <a:spcPts val="600"/>
              </a:spcBef>
              <a:buFont typeface="Wingdings" panose="05000000000000000000" pitchFamily="2" charset="2"/>
              <a:buChar char="ü"/>
            </a:pPr>
            <a:r>
              <a:rPr lang="zh-CN" altLang="en-US" sz="1050" dirty="0"/>
              <a:t>所有内部路与园区路等各种路基，城市</a:t>
            </a:r>
            <a:r>
              <a:rPr lang="en-US" altLang="zh-CN" sz="1050" dirty="0"/>
              <a:t>NOA</a:t>
            </a:r>
            <a:r>
              <a:rPr lang="zh-CN" altLang="en-US" sz="1050" dirty="0"/>
              <a:t>都能支持</a:t>
            </a:r>
            <a:endParaRPr lang="en-US" altLang="zh-CN" sz="1050" dirty="0"/>
          </a:p>
        </p:txBody>
      </p:sp>
    </p:spTree>
    <p:extLst>
      <p:ext uri="{BB962C8B-B14F-4D97-AF65-F5344CB8AC3E}">
        <p14:creationId xmlns:p14="http://schemas.microsoft.com/office/powerpoint/2010/main" val="2158795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41548-A684-296B-0CC5-7FCE9DF0631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328CF69-9CCD-540E-DC9F-BF931C1ED33A}"/>
              </a:ext>
            </a:extLst>
          </p:cNvPr>
          <p:cNvSpPr>
            <a:spLocks noGrp="1"/>
          </p:cNvSpPr>
          <p:nvPr>
            <p:ph type="title" idx="4294967295"/>
          </p:nvPr>
        </p:nvSpPr>
        <p:spPr>
          <a:xfrm>
            <a:off x="669924" y="433637"/>
            <a:ext cx="10440000" cy="595063"/>
          </a:xfrm>
        </p:spPr>
        <p:txBody>
          <a:bodyPr/>
          <a:lstStyle/>
          <a:p>
            <a:r>
              <a:rPr lang="zh-CN" altLang="en-US" dirty="0"/>
              <a:t>上车前阶段</a:t>
            </a:r>
            <a:r>
              <a:rPr lang="en-US" altLang="zh-CN" dirty="0"/>
              <a:t>——</a:t>
            </a:r>
            <a:r>
              <a:rPr lang="zh-CN" altLang="en-US" dirty="0"/>
              <a:t>定位与接驾</a:t>
            </a:r>
          </a:p>
        </p:txBody>
      </p:sp>
      <p:sp>
        <p:nvSpPr>
          <p:cNvPr id="16" name="文本占位符 4">
            <a:extLst>
              <a:ext uri="{FF2B5EF4-FFF2-40B4-BE49-F238E27FC236}">
                <a16:creationId xmlns:a16="http://schemas.microsoft.com/office/drawing/2014/main" id="{5D1EE582-AB1F-0DDC-58CF-7B5696053D0E}"/>
              </a:ext>
            </a:extLst>
          </p:cNvPr>
          <p:cNvSpPr txBox="1"/>
          <p:nvPr/>
        </p:nvSpPr>
        <p:spPr>
          <a:xfrm>
            <a:off x="5183625" y="1395662"/>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a:extLst>
              <a:ext uri="{FF2B5EF4-FFF2-40B4-BE49-F238E27FC236}">
                <a16:creationId xmlns:a16="http://schemas.microsoft.com/office/drawing/2014/main" id="{752DC2EA-2045-20E3-787E-FB1D7924596E}"/>
              </a:ext>
            </a:extLst>
          </p:cNvPr>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a:extLst>
              <a:ext uri="{FF2B5EF4-FFF2-40B4-BE49-F238E27FC236}">
                <a16:creationId xmlns:a16="http://schemas.microsoft.com/office/drawing/2014/main" id="{3D00AB96-430F-1933-04A8-499078916996}"/>
              </a:ext>
            </a:extLst>
          </p:cNvPr>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a:extLst>
              <a:ext uri="{FF2B5EF4-FFF2-40B4-BE49-F238E27FC236}">
                <a16:creationId xmlns:a16="http://schemas.microsoft.com/office/drawing/2014/main" id="{AF18BD4E-D2E1-ED4A-F3E7-C7628C01726D}"/>
              </a:ext>
            </a:extLst>
          </p:cNvPr>
          <p:cNvSpPr txBox="1"/>
          <p:nvPr/>
        </p:nvSpPr>
        <p:spPr>
          <a:xfrm>
            <a:off x="97877" y="2794788"/>
            <a:ext cx="366036" cy="1384995"/>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定位与接驾</a:t>
            </a:r>
          </a:p>
        </p:txBody>
      </p:sp>
      <p:sp>
        <p:nvSpPr>
          <p:cNvPr id="10" name="文本框 9">
            <a:extLst>
              <a:ext uri="{FF2B5EF4-FFF2-40B4-BE49-F238E27FC236}">
                <a16:creationId xmlns:a16="http://schemas.microsoft.com/office/drawing/2014/main" id="{F510323A-112F-DCAE-B434-2E9CB999A207}"/>
              </a:ext>
            </a:extLst>
          </p:cNvPr>
          <p:cNvSpPr txBox="1"/>
          <p:nvPr/>
        </p:nvSpPr>
        <p:spPr>
          <a:xfrm>
            <a:off x="460351" y="1944702"/>
            <a:ext cx="1001081" cy="4708981"/>
          </a:xfrm>
          <a:prstGeom prst="rect">
            <a:avLst/>
          </a:prstGeom>
          <a:noFill/>
        </p:spPr>
        <p:txBody>
          <a:bodyPr wrap="square">
            <a:spAutoFit/>
          </a:bodyPr>
          <a:lstStyle/>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交通管制地点不好接驾</a:t>
            </a: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接驾地点不好停车</a:t>
            </a: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a:extLst>
              <a:ext uri="{FF2B5EF4-FFF2-40B4-BE49-F238E27FC236}">
                <a16:creationId xmlns:a16="http://schemas.microsoft.com/office/drawing/2014/main" id="{2264B443-3B36-9A84-17E9-B7ECEA1E6ABF}"/>
              </a:ext>
            </a:extLst>
          </p:cNvPr>
          <p:cNvSpPr txBox="1"/>
          <p:nvPr/>
        </p:nvSpPr>
        <p:spPr>
          <a:xfrm>
            <a:off x="2143529" y="1384066"/>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a:extLst>
              <a:ext uri="{FF2B5EF4-FFF2-40B4-BE49-F238E27FC236}">
                <a16:creationId xmlns:a16="http://schemas.microsoft.com/office/drawing/2014/main" id="{6D9AF691-51C7-1E9C-A75F-97914EA1865E}"/>
              </a:ext>
            </a:extLst>
          </p:cNvPr>
          <p:cNvSpPr txBox="1"/>
          <p:nvPr/>
        </p:nvSpPr>
        <p:spPr>
          <a:xfrm>
            <a:off x="9262073" y="1398077"/>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a:extLst>
              <a:ext uri="{FF2B5EF4-FFF2-40B4-BE49-F238E27FC236}">
                <a16:creationId xmlns:a16="http://schemas.microsoft.com/office/drawing/2014/main" id="{228197D8-5AF1-F85A-9FE1-08DA73511685}"/>
              </a:ext>
            </a:extLst>
          </p:cNvPr>
          <p:cNvCxnSpPr/>
          <p:nvPr/>
        </p:nvCxnSpPr>
        <p:spPr>
          <a:xfrm>
            <a:off x="2912186" y="1722620"/>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a:extLst>
              <a:ext uri="{FF2B5EF4-FFF2-40B4-BE49-F238E27FC236}">
                <a16:creationId xmlns:a16="http://schemas.microsoft.com/office/drawing/2014/main" id="{EDB75216-5D5B-18F6-9778-37CD2080EA74}"/>
              </a:ext>
            </a:extLst>
          </p:cNvPr>
          <p:cNvSpPr txBox="1"/>
          <p:nvPr/>
        </p:nvSpPr>
        <p:spPr>
          <a:xfrm>
            <a:off x="320111" y="1389551"/>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中高场景</a:t>
            </a:r>
          </a:p>
        </p:txBody>
      </p:sp>
      <p:cxnSp>
        <p:nvCxnSpPr>
          <p:cNvPr id="34" name="直接连接符 33">
            <a:extLst>
              <a:ext uri="{FF2B5EF4-FFF2-40B4-BE49-F238E27FC236}">
                <a16:creationId xmlns:a16="http://schemas.microsoft.com/office/drawing/2014/main" id="{3ED2C7D7-A8AA-8E3A-32C0-E5628B56840B}"/>
              </a:ext>
            </a:extLst>
          </p:cNvPr>
          <p:cNvCxnSpPr/>
          <p:nvPr/>
        </p:nvCxnSpPr>
        <p:spPr>
          <a:xfrm>
            <a:off x="1445142" y="1722620"/>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a:extLst>
              <a:ext uri="{FF2B5EF4-FFF2-40B4-BE49-F238E27FC236}">
                <a16:creationId xmlns:a16="http://schemas.microsoft.com/office/drawing/2014/main" id="{7C5419B1-E68E-F238-81FD-FD36B4279A73}"/>
              </a:ext>
            </a:extLst>
          </p:cNvPr>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9" name="直接连接符 8">
            <a:extLst>
              <a:ext uri="{FF2B5EF4-FFF2-40B4-BE49-F238E27FC236}">
                <a16:creationId xmlns:a16="http://schemas.microsoft.com/office/drawing/2014/main" id="{31FC3140-B800-E020-0927-9C98A6D28361}"/>
              </a:ext>
            </a:extLst>
          </p:cNvPr>
          <p:cNvCxnSpPr/>
          <p:nvPr/>
        </p:nvCxnSpPr>
        <p:spPr>
          <a:xfrm>
            <a:off x="698651" y="3599539"/>
            <a:ext cx="11332126"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F814CE5F-F5E9-62C0-F070-F38F5598B5F9}"/>
              </a:ext>
            </a:extLst>
          </p:cNvPr>
          <p:cNvSpPr txBox="1"/>
          <p:nvPr/>
        </p:nvSpPr>
        <p:spPr>
          <a:xfrm>
            <a:off x="1492069" y="2261232"/>
            <a:ext cx="1476090" cy="815608"/>
          </a:xfrm>
          <a:prstGeom prst="rect">
            <a:avLst/>
          </a:prstGeom>
          <a:noFill/>
        </p:spPr>
        <p:txBody>
          <a:bodyPr wrap="square" rtlCol="0">
            <a:spAutoFit/>
          </a:bodyPr>
          <a:lstStyle/>
          <a:p>
            <a:pPr marL="171450" indent="-171450">
              <a:spcBef>
                <a:spcPts val="600"/>
              </a:spcBef>
              <a:buFont typeface="Arial" panose="020B0604020202020204" pitchFamily="34" charset="0"/>
              <a:buChar char="•"/>
            </a:pPr>
            <a:r>
              <a:rPr lang="zh-CN" altLang="en-US" sz="1050" dirty="0"/>
              <a:t>演唱会等交通管制地点后，约定停车地点无法到达</a:t>
            </a:r>
            <a:endParaRPr lang="en-US" altLang="zh-CN" sz="1050" dirty="0"/>
          </a:p>
          <a:p>
            <a:pPr marL="171450" indent="-171450">
              <a:spcBef>
                <a:spcPts val="600"/>
              </a:spcBef>
              <a:buFont typeface="Arial" panose="020B0604020202020204" pitchFamily="34" charset="0"/>
              <a:buChar char="•"/>
            </a:pPr>
            <a:r>
              <a:rPr lang="zh-CN" altLang="en-US" sz="1050" dirty="0"/>
              <a:t>线下扫码下单打车</a:t>
            </a:r>
          </a:p>
        </p:txBody>
      </p:sp>
      <p:sp>
        <p:nvSpPr>
          <p:cNvPr id="17" name="文本框 16">
            <a:extLst>
              <a:ext uri="{FF2B5EF4-FFF2-40B4-BE49-F238E27FC236}">
                <a16:creationId xmlns:a16="http://schemas.microsoft.com/office/drawing/2014/main" id="{860A5AEA-199B-87D1-EB23-6BA6A95D9BF9}"/>
              </a:ext>
            </a:extLst>
          </p:cNvPr>
          <p:cNvSpPr txBox="1"/>
          <p:nvPr/>
        </p:nvSpPr>
        <p:spPr>
          <a:xfrm>
            <a:off x="1992539" y="4793594"/>
            <a:ext cx="1773159" cy="577081"/>
          </a:xfrm>
          <a:prstGeom prst="rect">
            <a:avLst/>
          </a:prstGeom>
          <a:noFill/>
        </p:spPr>
        <p:txBody>
          <a:bodyPr wrap="square" rtlCol="0">
            <a:spAutoFit/>
          </a:bodyPr>
          <a:lstStyle/>
          <a:p>
            <a:pPr marL="171450" indent="-171450">
              <a:buFont typeface="Arial" panose="020B0604020202020204" pitchFamily="34" charset="0"/>
              <a:buChar char="•"/>
            </a:pPr>
            <a:endParaRPr lang="en-US" altLang="zh-CN" sz="1050" dirty="0"/>
          </a:p>
          <a:p>
            <a:pPr marL="171450" indent="-171450">
              <a:buFont typeface="Arial" panose="020B0604020202020204" pitchFamily="34" charset="0"/>
              <a:buChar char="•"/>
            </a:pPr>
            <a:endParaRPr lang="en-US" altLang="zh-CN" sz="1050" dirty="0"/>
          </a:p>
          <a:p>
            <a:pPr marL="171450" indent="-171450">
              <a:buFont typeface="Arial" panose="020B0604020202020204" pitchFamily="34" charset="0"/>
              <a:buChar char="•"/>
            </a:pPr>
            <a:endParaRPr lang="zh-CN" altLang="en-US" sz="1050" dirty="0"/>
          </a:p>
        </p:txBody>
      </p:sp>
      <p:sp>
        <p:nvSpPr>
          <p:cNvPr id="5" name="文本框 4">
            <a:extLst>
              <a:ext uri="{FF2B5EF4-FFF2-40B4-BE49-F238E27FC236}">
                <a16:creationId xmlns:a16="http://schemas.microsoft.com/office/drawing/2014/main" id="{0732818E-9586-4134-32B6-E2A87D965847}"/>
              </a:ext>
            </a:extLst>
          </p:cNvPr>
          <p:cNvSpPr txBox="1"/>
          <p:nvPr/>
        </p:nvSpPr>
        <p:spPr>
          <a:xfrm>
            <a:off x="1469911" y="4407880"/>
            <a:ext cx="1773159" cy="1692771"/>
          </a:xfrm>
          <a:prstGeom prst="rect">
            <a:avLst/>
          </a:prstGeom>
          <a:noFill/>
        </p:spPr>
        <p:txBody>
          <a:bodyPr wrap="square" rtlCol="0">
            <a:spAutoFit/>
          </a:bodyPr>
          <a:lstStyle/>
          <a:p>
            <a:pPr marL="171450" indent="-171450">
              <a:spcBef>
                <a:spcPts val="600"/>
              </a:spcBef>
              <a:buFont typeface="Arial" panose="020B0604020202020204" pitchFamily="34" charset="0"/>
              <a:buChar char="•"/>
            </a:pPr>
            <a:r>
              <a:rPr lang="zh-CN" altLang="en-US" sz="1050" dirty="0"/>
              <a:t>黄线无法停车</a:t>
            </a:r>
            <a:endParaRPr lang="en-US" altLang="zh-CN" sz="1050" dirty="0"/>
          </a:p>
          <a:p>
            <a:pPr marL="171450" indent="-171450">
              <a:spcBef>
                <a:spcPts val="600"/>
              </a:spcBef>
              <a:buFont typeface="Arial" panose="020B0604020202020204" pitchFamily="34" charset="0"/>
              <a:buChar char="•"/>
            </a:pPr>
            <a:endParaRPr lang="en-US" altLang="zh-CN" sz="1050" dirty="0"/>
          </a:p>
          <a:p>
            <a:pPr marL="171450" indent="-171450">
              <a:spcBef>
                <a:spcPts val="600"/>
              </a:spcBef>
              <a:buFont typeface="Arial" panose="020B0604020202020204" pitchFamily="34" charset="0"/>
              <a:buChar char="•"/>
            </a:pPr>
            <a:r>
              <a:rPr lang="zh-CN" altLang="en-US" sz="1050" dirty="0">
                <a:solidFill>
                  <a:srgbClr val="000000"/>
                </a:solidFill>
                <a:latin typeface="微软雅黑" panose="020B0503020204020204" pitchFamily="34" charset="-122"/>
                <a:ea typeface="微软雅黑" panose="020B0503020204020204" pitchFamily="34" charset="-122"/>
              </a:rPr>
              <a:t>停车位资源紧张</a:t>
            </a:r>
            <a:endParaRPr lang="en-US" altLang="zh-CN" sz="1050" dirty="0">
              <a:solidFill>
                <a:srgbClr val="000000"/>
              </a:solidFill>
              <a:latin typeface="微软雅黑" panose="020B0503020204020204" pitchFamily="34" charset="-122"/>
              <a:ea typeface="微软雅黑" panose="020B0503020204020204" pitchFamily="34" charset="-122"/>
            </a:endParaRPr>
          </a:p>
          <a:p>
            <a:pPr marL="171450" indent="-171450">
              <a:spcBef>
                <a:spcPts val="600"/>
              </a:spcBef>
              <a:buFont typeface="Arial" panose="020B0604020202020204" pitchFamily="34" charset="0"/>
              <a:buChar char="•"/>
            </a:pPr>
            <a:endParaRPr lang="en-US" altLang="zh-CN" sz="1050" dirty="0"/>
          </a:p>
          <a:p>
            <a:pPr marL="171450" indent="-171450">
              <a:spcBef>
                <a:spcPts val="600"/>
              </a:spcBef>
              <a:buFont typeface="Arial" panose="020B0604020202020204" pitchFamily="34" charset="0"/>
              <a:buChar char="•"/>
            </a:pPr>
            <a:endParaRPr lang="en-US" altLang="zh-CN" sz="1050" dirty="0"/>
          </a:p>
          <a:p>
            <a:pPr marL="171450" indent="-171450">
              <a:spcBef>
                <a:spcPts val="600"/>
              </a:spcBef>
              <a:buFont typeface="Arial" panose="020B0604020202020204" pitchFamily="34" charset="0"/>
              <a:buChar char="•"/>
            </a:pPr>
            <a:endParaRPr lang="en-US" altLang="zh-CN" sz="1050" dirty="0"/>
          </a:p>
          <a:p>
            <a:pPr marL="171450" indent="-171450">
              <a:spcBef>
                <a:spcPts val="600"/>
              </a:spcBef>
              <a:buFont typeface="Arial" panose="020B0604020202020204" pitchFamily="34" charset="0"/>
              <a:buChar char="•"/>
            </a:pPr>
            <a:endParaRPr lang="zh-CN" altLang="en-US" sz="1050" dirty="0"/>
          </a:p>
        </p:txBody>
      </p:sp>
      <p:cxnSp>
        <p:nvCxnSpPr>
          <p:cNvPr id="14" name="直接连接符 13">
            <a:extLst>
              <a:ext uri="{FF2B5EF4-FFF2-40B4-BE49-F238E27FC236}">
                <a16:creationId xmlns:a16="http://schemas.microsoft.com/office/drawing/2014/main" id="{BA6B279A-E5FC-E5CC-9361-055DA17494AA}"/>
              </a:ext>
            </a:extLst>
          </p:cNvPr>
          <p:cNvCxnSpPr/>
          <p:nvPr/>
        </p:nvCxnSpPr>
        <p:spPr>
          <a:xfrm>
            <a:off x="6744394" y="1780651"/>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AB4FF35A-F1F0-4AE8-8A0C-262A4CC9E135}"/>
              </a:ext>
            </a:extLst>
          </p:cNvPr>
          <p:cNvSpPr txBox="1"/>
          <p:nvPr/>
        </p:nvSpPr>
        <p:spPr>
          <a:xfrm>
            <a:off x="5162432" y="1996226"/>
            <a:ext cx="2188512" cy="261610"/>
          </a:xfrm>
          <a:prstGeom prst="rect">
            <a:avLst/>
          </a:prstGeom>
          <a:noFill/>
        </p:spPr>
        <p:txBody>
          <a:bodyPr wrap="square">
            <a:spAutoFit/>
          </a:bodyPr>
          <a:lstStyle/>
          <a:p>
            <a:pPr marL="285750" indent="-285750">
              <a:buFont typeface="Wingdings" panose="05000000000000000000" pitchFamily="2" charset="2"/>
              <a:buChar char="Ø"/>
            </a:pPr>
            <a:r>
              <a:rPr lang="zh-CN" altLang="en-US" sz="1100" b="1" dirty="0"/>
              <a:t>线下扫码下单打车</a:t>
            </a:r>
          </a:p>
        </p:txBody>
      </p:sp>
      <p:sp>
        <p:nvSpPr>
          <p:cNvPr id="25" name="文本框 24">
            <a:extLst>
              <a:ext uri="{FF2B5EF4-FFF2-40B4-BE49-F238E27FC236}">
                <a16:creationId xmlns:a16="http://schemas.microsoft.com/office/drawing/2014/main" id="{499E9E1F-5E3F-CFAB-BAE6-990403804DF0}"/>
              </a:ext>
            </a:extLst>
          </p:cNvPr>
          <p:cNvSpPr txBox="1"/>
          <p:nvPr/>
        </p:nvSpPr>
        <p:spPr>
          <a:xfrm>
            <a:off x="4887789" y="2397120"/>
            <a:ext cx="1983025" cy="103188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050" dirty="0"/>
              <a:t>报销人员</a:t>
            </a:r>
            <a:endParaRPr lang="en-US" altLang="zh-CN" sz="1050" dirty="0"/>
          </a:p>
          <a:p>
            <a:pPr marL="285750" indent="-285750">
              <a:lnSpc>
                <a:spcPct val="150000"/>
              </a:lnSpc>
              <a:buFont typeface="Arial" panose="020B0604020202020204" pitchFamily="34" charset="0"/>
              <a:buChar char="•"/>
            </a:pPr>
            <a:r>
              <a:rPr lang="zh-CN" altLang="en-US" sz="1050" dirty="0"/>
              <a:t>扫码线上下单行程安全</a:t>
            </a:r>
            <a:endParaRPr lang="en-US" altLang="zh-CN" sz="1050" dirty="0"/>
          </a:p>
          <a:p>
            <a:pPr marL="285750" indent="-285750">
              <a:lnSpc>
                <a:spcPct val="150000"/>
              </a:lnSpc>
              <a:buFont typeface="Arial" panose="020B0604020202020204" pitchFamily="34" charset="0"/>
              <a:buChar char="•"/>
            </a:pPr>
            <a:endParaRPr lang="en-US" altLang="zh-CN" sz="1050" dirty="0"/>
          </a:p>
          <a:p>
            <a:pPr marL="285750" indent="-285750">
              <a:lnSpc>
                <a:spcPct val="150000"/>
              </a:lnSpc>
              <a:buFont typeface="Arial" panose="020B0604020202020204" pitchFamily="34" charset="0"/>
              <a:buChar char="•"/>
            </a:pPr>
            <a:endParaRPr lang="zh-CN" altLang="en-US" sz="1050" dirty="0"/>
          </a:p>
        </p:txBody>
      </p:sp>
      <p:sp>
        <p:nvSpPr>
          <p:cNvPr id="27" name="文本框 26">
            <a:extLst>
              <a:ext uri="{FF2B5EF4-FFF2-40B4-BE49-F238E27FC236}">
                <a16:creationId xmlns:a16="http://schemas.microsoft.com/office/drawing/2014/main" id="{55F1B176-EFA0-CFFB-3716-797EE5EA1A76}"/>
              </a:ext>
            </a:extLst>
          </p:cNvPr>
          <p:cNvSpPr txBox="1"/>
          <p:nvPr/>
        </p:nvSpPr>
        <p:spPr>
          <a:xfrm>
            <a:off x="2906552" y="1995485"/>
            <a:ext cx="2664775" cy="261610"/>
          </a:xfrm>
          <a:prstGeom prst="rect">
            <a:avLst/>
          </a:prstGeom>
          <a:noFill/>
        </p:spPr>
        <p:txBody>
          <a:bodyPr wrap="square">
            <a:spAutoFit/>
          </a:bodyPr>
          <a:lstStyle/>
          <a:p>
            <a:pPr marL="285750" indent="-285750">
              <a:buFont typeface="Wingdings" panose="05000000000000000000" pitchFamily="2" charset="2"/>
              <a:buChar char="Ø"/>
            </a:pPr>
            <a:r>
              <a:rPr lang="zh-CN" altLang="en-US" sz="1100" b="1" dirty="0"/>
              <a:t>交通管制，约定地点无法达到</a:t>
            </a:r>
          </a:p>
        </p:txBody>
      </p:sp>
      <p:sp>
        <p:nvSpPr>
          <p:cNvPr id="30" name="文本框 29">
            <a:extLst>
              <a:ext uri="{FF2B5EF4-FFF2-40B4-BE49-F238E27FC236}">
                <a16:creationId xmlns:a16="http://schemas.microsoft.com/office/drawing/2014/main" id="{C39F308C-D549-6B15-3214-90D6E8E3F53D}"/>
              </a:ext>
            </a:extLst>
          </p:cNvPr>
          <p:cNvSpPr txBox="1"/>
          <p:nvPr/>
        </p:nvSpPr>
        <p:spPr>
          <a:xfrm>
            <a:off x="3222285" y="2285310"/>
            <a:ext cx="896399" cy="790666"/>
          </a:xfrm>
          <a:prstGeom prst="rect">
            <a:avLst/>
          </a:prstGeom>
          <a:noFill/>
        </p:spPr>
        <p:txBody>
          <a:bodyPr wrap="none" rtlCol="0">
            <a:spAutoFit/>
          </a:bodyPr>
          <a:lstStyle/>
          <a:p>
            <a:pPr marL="171450" indent="-171450">
              <a:lnSpc>
                <a:spcPct val="150000"/>
              </a:lnSpc>
              <a:buFont typeface="Arial" panose="020B0604020202020204" pitchFamily="34" charset="0"/>
              <a:buChar char="•"/>
            </a:pPr>
            <a:r>
              <a:rPr lang="zh-CN" altLang="en-US" sz="1050" dirty="0"/>
              <a:t>演唱会</a:t>
            </a:r>
            <a:endParaRPr lang="en-US" altLang="zh-CN" sz="1050" dirty="0"/>
          </a:p>
          <a:p>
            <a:pPr marL="171450" indent="-171450">
              <a:lnSpc>
                <a:spcPct val="150000"/>
              </a:lnSpc>
              <a:buFont typeface="Arial" panose="020B0604020202020204" pitchFamily="34" charset="0"/>
              <a:buChar char="•"/>
            </a:pPr>
            <a:r>
              <a:rPr lang="zh-CN" altLang="en-US" sz="1050" dirty="0"/>
              <a:t>运动会</a:t>
            </a:r>
            <a:endParaRPr lang="en-US" altLang="zh-CN" sz="1050" dirty="0"/>
          </a:p>
          <a:p>
            <a:pPr marL="171450" indent="-171450">
              <a:lnSpc>
                <a:spcPct val="150000"/>
              </a:lnSpc>
              <a:buFont typeface="Arial" panose="020B0604020202020204" pitchFamily="34" charset="0"/>
              <a:buChar char="•"/>
            </a:pPr>
            <a:r>
              <a:rPr lang="zh-CN" altLang="en-US" sz="1050" dirty="0"/>
              <a:t>群体活动</a:t>
            </a:r>
            <a:endParaRPr lang="zh-CN" altLang="en-US" sz="1400" dirty="0"/>
          </a:p>
        </p:txBody>
      </p:sp>
      <p:sp>
        <p:nvSpPr>
          <p:cNvPr id="33" name="文本框 32">
            <a:extLst>
              <a:ext uri="{FF2B5EF4-FFF2-40B4-BE49-F238E27FC236}">
                <a16:creationId xmlns:a16="http://schemas.microsoft.com/office/drawing/2014/main" id="{9174F856-3733-6C19-3374-ACA98DE6B9EF}"/>
              </a:ext>
            </a:extLst>
          </p:cNvPr>
          <p:cNvSpPr txBox="1"/>
          <p:nvPr/>
        </p:nvSpPr>
        <p:spPr>
          <a:xfrm>
            <a:off x="2932642" y="4241557"/>
            <a:ext cx="1319592" cy="261610"/>
          </a:xfrm>
          <a:prstGeom prst="rect">
            <a:avLst/>
          </a:prstGeom>
          <a:noFill/>
        </p:spPr>
        <p:txBody>
          <a:bodyPr wrap="none" rtlCol="0">
            <a:spAutoFit/>
          </a:bodyPr>
          <a:lstStyle/>
          <a:p>
            <a:pPr marL="285750" indent="-285750">
              <a:buFont typeface="Wingdings" panose="05000000000000000000" pitchFamily="2" charset="2"/>
              <a:buChar char="Ø"/>
            </a:pPr>
            <a:r>
              <a:rPr lang="zh-CN" altLang="en-US" sz="1100" b="1" dirty="0"/>
              <a:t>违规无法停车</a:t>
            </a:r>
          </a:p>
        </p:txBody>
      </p:sp>
      <p:sp>
        <p:nvSpPr>
          <p:cNvPr id="35" name="文本框 34">
            <a:extLst>
              <a:ext uri="{FF2B5EF4-FFF2-40B4-BE49-F238E27FC236}">
                <a16:creationId xmlns:a16="http://schemas.microsoft.com/office/drawing/2014/main" id="{0A083379-27E8-31C8-98EE-77E8FC6482C8}"/>
              </a:ext>
            </a:extLst>
          </p:cNvPr>
          <p:cNvSpPr txBox="1"/>
          <p:nvPr/>
        </p:nvSpPr>
        <p:spPr>
          <a:xfrm>
            <a:off x="4977324" y="4227738"/>
            <a:ext cx="1742785" cy="261610"/>
          </a:xfrm>
          <a:prstGeom prst="rect">
            <a:avLst/>
          </a:prstGeom>
          <a:noFill/>
        </p:spPr>
        <p:txBody>
          <a:bodyPr wrap="none" rtlCol="0">
            <a:spAutoFit/>
          </a:bodyPr>
          <a:lstStyle/>
          <a:p>
            <a:pPr marL="285750" indent="-285750">
              <a:buFont typeface="Wingdings" panose="05000000000000000000" pitchFamily="2" charset="2"/>
              <a:buChar char="Ø"/>
            </a:pPr>
            <a:r>
              <a:rPr lang="zh-CN" altLang="en-US" sz="1100" b="1" dirty="0"/>
              <a:t>影响交通的无法停车</a:t>
            </a:r>
          </a:p>
        </p:txBody>
      </p:sp>
      <p:sp>
        <p:nvSpPr>
          <p:cNvPr id="37" name="文本框 36">
            <a:extLst>
              <a:ext uri="{FF2B5EF4-FFF2-40B4-BE49-F238E27FC236}">
                <a16:creationId xmlns:a16="http://schemas.microsoft.com/office/drawing/2014/main" id="{3CC54EB6-B07A-1A09-6A2A-BCA28199BA40}"/>
              </a:ext>
            </a:extLst>
          </p:cNvPr>
          <p:cNvSpPr txBox="1"/>
          <p:nvPr/>
        </p:nvSpPr>
        <p:spPr>
          <a:xfrm>
            <a:off x="3049421" y="4430647"/>
            <a:ext cx="1178528" cy="569964"/>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sz="1050" dirty="0"/>
              <a:t>黄线</a:t>
            </a:r>
            <a:endParaRPr lang="en-US" altLang="zh-CN" sz="1050" dirty="0"/>
          </a:p>
          <a:p>
            <a:pPr marL="285750" indent="-285750">
              <a:lnSpc>
                <a:spcPct val="150000"/>
              </a:lnSpc>
              <a:buFont typeface="Arial" panose="020B0604020202020204" pitchFamily="34" charset="0"/>
              <a:buChar char="•"/>
            </a:pPr>
            <a:r>
              <a:rPr lang="zh-CN" altLang="en-US" sz="1050" dirty="0"/>
              <a:t>禁停标志等</a:t>
            </a:r>
          </a:p>
        </p:txBody>
      </p:sp>
      <p:sp>
        <p:nvSpPr>
          <p:cNvPr id="38" name="文本框 37">
            <a:extLst>
              <a:ext uri="{FF2B5EF4-FFF2-40B4-BE49-F238E27FC236}">
                <a16:creationId xmlns:a16="http://schemas.microsoft.com/office/drawing/2014/main" id="{C388BA2F-A21E-A352-846C-1A8A726AA3BD}"/>
              </a:ext>
            </a:extLst>
          </p:cNvPr>
          <p:cNvSpPr txBox="1"/>
          <p:nvPr/>
        </p:nvSpPr>
        <p:spPr>
          <a:xfrm>
            <a:off x="5394165" y="4549867"/>
            <a:ext cx="1319592" cy="569964"/>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sz="1050" dirty="0"/>
              <a:t>繁华商业街</a:t>
            </a:r>
            <a:endParaRPr lang="en-US" altLang="zh-CN" sz="1050" dirty="0"/>
          </a:p>
          <a:p>
            <a:pPr marL="285750" indent="-285750">
              <a:lnSpc>
                <a:spcPct val="150000"/>
              </a:lnSpc>
              <a:buFont typeface="Arial" panose="020B0604020202020204" pitchFamily="34" charset="0"/>
              <a:buChar char="•"/>
            </a:pPr>
            <a:r>
              <a:rPr lang="zh-CN" altLang="en-US" sz="1050" dirty="0"/>
              <a:t>老旧小区门口</a:t>
            </a:r>
          </a:p>
        </p:txBody>
      </p:sp>
      <p:sp>
        <p:nvSpPr>
          <p:cNvPr id="39" name="文本框 38">
            <a:extLst>
              <a:ext uri="{FF2B5EF4-FFF2-40B4-BE49-F238E27FC236}">
                <a16:creationId xmlns:a16="http://schemas.microsoft.com/office/drawing/2014/main" id="{1E05388F-5857-E6C6-767C-E254806E6D2F}"/>
              </a:ext>
            </a:extLst>
          </p:cNvPr>
          <p:cNvSpPr txBox="1"/>
          <p:nvPr/>
        </p:nvSpPr>
        <p:spPr>
          <a:xfrm flipH="1">
            <a:off x="7398780" y="4203458"/>
            <a:ext cx="4424583" cy="1680717"/>
          </a:xfrm>
          <a:prstGeom prst="rect">
            <a:avLst/>
          </a:prstGeom>
          <a:noFill/>
        </p:spPr>
        <p:txBody>
          <a:bodyPr wrap="square" rtlCol="0">
            <a:spAutoFit/>
          </a:bodyPr>
          <a:lstStyle/>
          <a:p>
            <a:pPr marL="171450" indent="-171450">
              <a:lnSpc>
                <a:spcPct val="150000"/>
              </a:lnSpc>
              <a:buFont typeface="Wingdings" panose="05000000000000000000" pitchFamily="2" charset="2"/>
              <a:buChar char="ü"/>
            </a:pPr>
            <a:r>
              <a:rPr lang="zh-CN" altLang="en-US" sz="1000" dirty="0"/>
              <a:t>提前到达后能够车内摄像头智能判断停车位是否违法（黄线、禁停线等），是否可以安全停车，如果发现无法停车，智能判断重新约定停车地点，并告知乘客</a:t>
            </a:r>
            <a:endParaRPr lang="en-US" altLang="zh-CN" sz="1000" dirty="0"/>
          </a:p>
          <a:p>
            <a:pPr marL="171450" indent="-171450">
              <a:lnSpc>
                <a:spcPct val="150000"/>
              </a:lnSpc>
              <a:buFont typeface="Wingdings" panose="05000000000000000000" pitchFamily="2" charset="2"/>
              <a:buChar char="ü"/>
            </a:pPr>
            <a:r>
              <a:rPr lang="zh-CN" altLang="en-US" sz="1000" dirty="0"/>
              <a:t>能力理解车外管理员的手势及语音指令，进行相关操作</a:t>
            </a:r>
            <a:endParaRPr lang="en-US" altLang="zh-CN" sz="1000" dirty="0"/>
          </a:p>
          <a:p>
            <a:pPr marL="171450" indent="-171450">
              <a:lnSpc>
                <a:spcPct val="150000"/>
              </a:lnSpc>
              <a:buFont typeface="Wingdings" panose="05000000000000000000" pitchFamily="2" charset="2"/>
              <a:buChar char="ü"/>
            </a:pPr>
            <a:r>
              <a:rPr lang="zh-CN" altLang="en-US" sz="1000" dirty="0"/>
              <a:t>告知乘客变更当前停车位置状态，并发送新约定位置，及乘客预计时间</a:t>
            </a:r>
            <a:endParaRPr lang="en-US" altLang="zh-CN" sz="1000" dirty="0"/>
          </a:p>
          <a:p>
            <a:pPr marL="171450" indent="-171450">
              <a:lnSpc>
                <a:spcPct val="150000"/>
              </a:lnSpc>
              <a:buFont typeface="Wingdings" panose="05000000000000000000" pitchFamily="2" charset="2"/>
              <a:buChar char="ü"/>
            </a:pPr>
            <a:r>
              <a:rPr lang="zh-CN" altLang="en-US" sz="1000" dirty="0"/>
              <a:t>告知当前停车状态，判断条件是否准许，如果不易被发现，智能告知乘客需要怎么找车，通过周边什么特征找车</a:t>
            </a:r>
          </a:p>
        </p:txBody>
      </p:sp>
      <p:sp>
        <p:nvSpPr>
          <p:cNvPr id="52" name="文本框 51">
            <a:extLst>
              <a:ext uri="{FF2B5EF4-FFF2-40B4-BE49-F238E27FC236}">
                <a16:creationId xmlns:a16="http://schemas.microsoft.com/office/drawing/2014/main" id="{5FDE130A-158A-6DF8-A5C3-CD141F021D50}"/>
              </a:ext>
            </a:extLst>
          </p:cNvPr>
          <p:cNvSpPr txBox="1"/>
          <p:nvPr/>
        </p:nvSpPr>
        <p:spPr>
          <a:xfrm flipH="1">
            <a:off x="7439941" y="2122413"/>
            <a:ext cx="4591425" cy="1092607"/>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50" dirty="0"/>
              <a:t>司机</a:t>
            </a:r>
            <a:r>
              <a:rPr lang="en-US" altLang="zh-CN" sz="1050" dirty="0"/>
              <a:t>agent</a:t>
            </a:r>
            <a:r>
              <a:rPr lang="zh-CN" altLang="en-US" sz="1050" dirty="0"/>
              <a:t>能够根据交通管制情况及信息，结合车位摄像头信息判断，了解周边可能停车地点，快速计算出，可能接驾的停车位置</a:t>
            </a:r>
            <a:endParaRPr lang="en-US" altLang="zh-CN" sz="1050" dirty="0"/>
          </a:p>
          <a:p>
            <a:pPr marL="171450" indent="-171450">
              <a:spcBef>
                <a:spcPts val="600"/>
              </a:spcBef>
              <a:buFont typeface="Wingdings" panose="05000000000000000000" pitchFamily="2" charset="2"/>
              <a:buChar char="ü"/>
            </a:pPr>
            <a:r>
              <a:rPr lang="zh-CN" altLang="en-US" sz="1050" dirty="0"/>
              <a:t>演唱会，运动会可能多个停靠点和停车位综合计算，及其周边管制情况与拥堵情况，给出最佳上车后最快出发上车地点，并通知乘客</a:t>
            </a:r>
            <a:endParaRPr lang="en-US" altLang="zh-CN" sz="1050" dirty="0"/>
          </a:p>
          <a:p>
            <a:pPr marL="171450" indent="-171450">
              <a:spcBef>
                <a:spcPts val="600"/>
              </a:spcBef>
              <a:buFont typeface="Wingdings" panose="05000000000000000000" pitchFamily="2" charset="2"/>
              <a:buChar char="ü"/>
            </a:pPr>
            <a:r>
              <a:rPr lang="en-US" altLang="zh-CN" sz="1050" dirty="0"/>
              <a:t>D2D</a:t>
            </a:r>
            <a:r>
              <a:rPr lang="zh-CN" altLang="en-US" sz="1050" dirty="0"/>
              <a:t>智驾不需要自己学习，别人学习过也能在这些场地第一次使用</a:t>
            </a:r>
            <a:endParaRPr lang="en-US" altLang="zh-CN" sz="1050" dirty="0"/>
          </a:p>
        </p:txBody>
      </p:sp>
      <p:sp>
        <p:nvSpPr>
          <p:cNvPr id="63" name="文本框 62">
            <a:extLst>
              <a:ext uri="{FF2B5EF4-FFF2-40B4-BE49-F238E27FC236}">
                <a16:creationId xmlns:a16="http://schemas.microsoft.com/office/drawing/2014/main" id="{893A1EC6-1F23-2594-D14C-9AD13F92C332}"/>
              </a:ext>
            </a:extLst>
          </p:cNvPr>
          <p:cNvSpPr txBox="1"/>
          <p:nvPr/>
        </p:nvSpPr>
        <p:spPr>
          <a:xfrm>
            <a:off x="2858360" y="5339165"/>
            <a:ext cx="2894029" cy="557268"/>
          </a:xfrm>
          <a:prstGeom prst="rect">
            <a:avLst/>
          </a:prstGeom>
          <a:noFill/>
        </p:spPr>
        <p:txBody>
          <a:bodyPr wrap="square">
            <a:spAutoFit/>
          </a:bodyPr>
          <a:lstStyle/>
          <a:p>
            <a:pPr marL="171450" indent="-171450">
              <a:lnSpc>
                <a:spcPct val="150000"/>
              </a:lnSpc>
              <a:buFont typeface="Arial" panose="020B0604020202020204" pitchFamily="34" charset="0"/>
              <a:buChar char="•"/>
            </a:pPr>
            <a:r>
              <a:rPr lang="zh-CN" altLang="en-US" sz="1050" dirty="0"/>
              <a:t>停车等待</a:t>
            </a:r>
            <a:r>
              <a:rPr lang="en-US" altLang="zh-CN" sz="1050" dirty="0"/>
              <a:t>1</a:t>
            </a:r>
            <a:r>
              <a:rPr lang="zh-CN" altLang="en-US" sz="1050" dirty="0"/>
              <a:t>小时，被取消，如迪斯尼等</a:t>
            </a:r>
            <a:endParaRPr lang="en-US" altLang="zh-CN" sz="1050" dirty="0"/>
          </a:p>
          <a:p>
            <a:pPr marL="171450" indent="-171450">
              <a:lnSpc>
                <a:spcPct val="150000"/>
              </a:lnSpc>
              <a:buFont typeface="Arial" panose="020B0604020202020204" pitchFamily="34" charset="0"/>
              <a:buChar char="•"/>
            </a:pPr>
            <a:endParaRPr lang="en-US" altLang="zh-CN" sz="1100" dirty="0"/>
          </a:p>
        </p:txBody>
      </p:sp>
      <p:sp>
        <p:nvSpPr>
          <p:cNvPr id="64" name="文本框 63">
            <a:extLst>
              <a:ext uri="{FF2B5EF4-FFF2-40B4-BE49-F238E27FC236}">
                <a16:creationId xmlns:a16="http://schemas.microsoft.com/office/drawing/2014/main" id="{41CF728E-389C-E894-C575-FFBB0394046D}"/>
              </a:ext>
            </a:extLst>
          </p:cNvPr>
          <p:cNvSpPr txBox="1"/>
          <p:nvPr/>
        </p:nvSpPr>
        <p:spPr>
          <a:xfrm>
            <a:off x="2858501" y="5007115"/>
            <a:ext cx="2589170" cy="261610"/>
          </a:xfrm>
          <a:prstGeom prst="rect">
            <a:avLst/>
          </a:prstGeom>
          <a:noFill/>
        </p:spPr>
        <p:txBody>
          <a:bodyPr wrap="none" rtlCol="0">
            <a:spAutoFit/>
          </a:bodyPr>
          <a:lstStyle/>
          <a:p>
            <a:pPr marL="285750" indent="-285750">
              <a:buFont typeface="Wingdings" panose="05000000000000000000" pitchFamily="2" charset="2"/>
              <a:buChar char="Ø"/>
            </a:pPr>
            <a:r>
              <a:rPr lang="zh-CN" altLang="en-US" sz="1100" b="1" dirty="0"/>
              <a:t>停车位资源紧张，无法进入等待区</a:t>
            </a:r>
          </a:p>
        </p:txBody>
      </p:sp>
      <p:sp>
        <p:nvSpPr>
          <p:cNvPr id="3" name="文本框 2">
            <a:extLst>
              <a:ext uri="{FF2B5EF4-FFF2-40B4-BE49-F238E27FC236}">
                <a16:creationId xmlns:a16="http://schemas.microsoft.com/office/drawing/2014/main" id="{8709F3BB-EDB0-2823-8883-5D9DBF47F678}"/>
              </a:ext>
            </a:extLst>
          </p:cNvPr>
          <p:cNvSpPr txBox="1"/>
          <p:nvPr/>
        </p:nvSpPr>
        <p:spPr>
          <a:xfrm>
            <a:off x="6820270" y="2119134"/>
            <a:ext cx="723275" cy="253916"/>
          </a:xfrm>
          <a:prstGeom prst="rect">
            <a:avLst/>
          </a:prstGeom>
          <a:noFill/>
        </p:spPr>
        <p:txBody>
          <a:bodyPr wrap="none" rtlCol="0">
            <a:spAutoFit/>
          </a:bodyPr>
          <a:lstStyle/>
          <a:p>
            <a:r>
              <a:rPr lang="zh-CN" altLang="en-US" sz="1050" b="1" dirty="0"/>
              <a:t>机会点：</a:t>
            </a:r>
          </a:p>
        </p:txBody>
      </p:sp>
      <p:sp>
        <p:nvSpPr>
          <p:cNvPr id="4" name="文本框 3">
            <a:extLst>
              <a:ext uri="{FF2B5EF4-FFF2-40B4-BE49-F238E27FC236}">
                <a16:creationId xmlns:a16="http://schemas.microsoft.com/office/drawing/2014/main" id="{100727E3-AEE4-3206-47ED-4BF167DB7B9C}"/>
              </a:ext>
            </a:extLst>
          </p:cNvPr>
          <p:cNvSpPr txBox="1"/>
          <p:nvPr/>
        </p:nvSpPr>
        <p:spPr>
          <a:xfrm>
            <a:off x="6820270" y="3201786"/>
            <a:ext cx="588623" cy="253916"/>
          </a:xfrm>
          <a:prstGeom prst="rect">
            <a:avLst/>
          </a:prstGeom>
          <a:noFill/>
        </p:spPr>
        <p:txBody>
          <a:bodyPr wrap="none" rtlCol="0">
            <a:spAutoFit/>
          </a:bodyPr>
          <a:lstStyle/>
          <a:p>
            <a:r>
              <a:rPr lang="zh-CN" altLang="en-US" sz="1050" b="1" dirty="0"/>
              <a:t>展望：</a:t>
            </a:r>
          </a:p>
        </p:txBody>
      </p:sp>
      <p:sp>
        <p:nvSpPr>
          <p:cNvPr id="6" name="文本框 5">
            <a:extLst>
              <a:ext uri="{FF2B5EF4-FFF2-40B4-BE49-F238E27FC236}">
                <a16:creationId xmlns:a16="http://schemas.microsoft.com/office/drawing/2014/main" id="{B77E4233-F40B-7ABA-8CD6-FDA4C0B4A5AE}"/>
              </a:ext>
            </a:extLst>
          </p:cNvPr>
          <p:cNvSpPr txBox="1"/>
          <p:nvPr/>
        </p:nvSpPr>
        <p:spPr>
          <a:xfrm>
            <a:off x="6775144" y="1803217"/>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7" name="文本框 6">
            <a:extLst>
              <a:ext uri="{FF2B5EF4-FFF2-40B4-BE49-F238E27FC236}">
                <a16:creationId xmlns:a16="http://schemas.microsoft.com/office/drawing/2014/main" id="{14D15C25-3D4D-66C9-AA5C-29C11C9C8756}"/>
              </a:ext>
            </a:extLst>
          </p:cNvPr>
          <p:cNvSpPr txBox="1"/>
          <p:nvPr/>
        </p:nvSpPr>
        <p:spPr>
          <a:xfrm>
            <a:off x="6793578" y="4231350"/>
            <a:ext cx="723275" cy="253916"/>
          </a:xfrm>
          <a:prstGeom prst="rect">
            <a:avLst/>
          </a:prstGeom>
          <a:noFill/>
        </p:spPr>
        <p:txBody>
          <a:bodyPr wrap="none" rtlCol="0">
            <a:spAutoFit/>
          </a:bodyPr>
          <a:lstStyle/>
          <a:p>
            <a:r>
              <a:rPr lang="zh-CN" altLang="en-US" sz="1050" b="1" dirty="0"/>
              <a:t>机会点：</a:t>
            </a:r>
          </a:p>
        </p:txBody>
      </p:sp>
      <p:sp>
        <p:nvSpPr>
          <p:cNvPr id="8" name="文本框 7">
            <a:extLst>
              <a:ext uri="{FF2B5EF4-FFF2-40B4-BE49-F238E27FC236}">
                <a16:creationId xmlns:a16="http://schemas.microsoft.com/office/drawing/2014/main" id="{3EB95ADF-3D46-538F-0994-C61345DF35D0}"/>
              </a:ext>
            </a:extLst>
          </p:cNvPr>
          <p:cNvSpPr txBox="1"/>
          <p:nvPr/>
        </p:nvSpPr>
        <p:spPr>
          <a:xfrm>
            <a:off x="6820270" y="5862960"/>
            <a:ext cx="588623" cy="253916"/>
          </a:xfrm>
          <a:prstGeom prst="rect">
            <a:avLst/>
          </a:prstGeom>
          <a:noFill/>
        </p:spPr>
        <p:txBody>
          <a:bodyPr wrap="none" rtlCol="0">
            <a:spAutoFit/>
          </a:bodyPr>
          <a:lstStyle/>
          <a:p>
            <a:r>
              <a:rPr lang="zh-CN" altLang="en-US" sz="1050" b="1" dirty="0"/>
              <a:t>展望：</a:t>
            </a:r>
          </a:p>
        </p:txBody>
      </p:sp>
      <p:sp>
        <p:nvSpPr>
          <p:cNvPr id="12" name="文本框 11">
            <a:extLst>
              <a:ext uri="{FF2B5EF4-FFF2-40B4-BE49-F238E27FC236}">
                <a16:creationId xmlns:a16="http://schemas.microsoft.com/office/drawing/2014/main" id="{794E27C7-8238-ED8B-0DF4-66E8446E61F8}"/>
              </a:ext>
            </a:extLst>
          </p:cNvPr>
          <p:cNvSpPr txBox="1"/>
          <p:nvPr/>
        </p:nvSpPr>
        <p:spPr>
          <a:xfrm>
            <a:off x="6734509" y="3676180"/>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15" name="文本框 14">
            <a:extLst>
              <a:ext uri="{FF2B5EF4-FFF2-40B4-BE49-F238E27FC236}">
                <a16:creationId xmlns:a16="http://schemas.microsoft.com/office/drawing/2014/main" id="{324C0F5D-BD4D-EAED-A6EB-82941FFF8432}"/>
              </a:ext>
            </a:extLst>
          </p:cNvPr>
          <p:cNvSpPr txBox="1"/>
          <p:nvPr/>
        </p:nvSpPr>
        <p:spPr>
          <a:xfrm>
            <a:off x="7459917" y="3189530"/>
            <a:ext cx="4302308" cy="430887"/>
          </a:xfrm>
          <a:prstGeom prst="rect">
            <a:avLst/>
          </a:prstGeom>
          <a:noFill/>
        </p:spPr>
        <p:txBody>
          <a:bodyPr wrap="square">
            <a:spAutoFit/>
          </a:bodyPr>
          <a:lstStyle/>
          <a:p>
            <a:pPr marL="171450" indent="-171450">
              <a:buFont typeface="Wingdings" panose="05000000000000000000" pitchFamily="2" charset="2"/>
              <a:buChar char="ü"/>
            </a:pPr>
            <a:r>
              <a:rPr lang="zh-CN" altLang="en-US" sz="1050" dirty="0"/>
              <a:t>对于</a:t>
            </a:r>
            <a:r>
              <a:rPr lang="en-US" altLang="zh-CN" sz="1050" dirty="0"/>
              <a:t>robotaxi</a:t>
            </a:r>
            <a:r>
              <a:rPr lang="zh-CN" altLang="en-US" sz="1050" dirty="0"/>
              <a:t>的司机</a:t>
            </a:r>
            <a:r>
              <a:rPr lang="en-US" altLang="zh-CN" sz="1050" dirty="0"/>
              <a:t>agent </a:t>
            </a:r>
            <a:r>
              <a:rPr lang="zh-CN" altLang="en-US" sz="1050" dirty="0"/>
              <a:t>支持近场通信，旁边很近乘客可以快速预约上车</a:t>
            </a:r>
            <a:endParaRPr lang="en-US" altLang="zh-CN" sz="1050" dirty="0"/>
          </a:p>
        </p:txBody>
      </p:sp>
      <p:sp>
        <p:nvSpPr>
          <p:cNvPr id="19" name="文本框 18">
            <a:extLst>
              <a:ext uri="{FF2B5EF4-FFF2-40B4-BE49-F238E27FC236}">
                <a16:creationId xmlns:a16="http://schemas.microsoft.com/office/drawing/2014/main" id="{9E2E55F4-EF09-3FF8-BBD2-6302B6CC941D}"/>
              </a:ext>
            </a:extLst>
          </p:cNvPr>
          <p:cNvSpPr txBox="1"/>
          <p:nvPr/>
        </p:nvSpPr>
        <p:spPr>
          <a:xfrm>
            <a:off x="7427932" y="1860971"/>
            <a:ext cx="4129657" cy="253916"/>
          </a:xfrm>
          <a:prstGeom prst="rect">
            <a:avLst/>
          </a:prstGeom>
          <a:noFill/>
        </p:spPr>
        <p:txBody>
          <a:bodyPr wrap="none" rtlCol="0">
            <a:spAutoFit/>
          </a:bodyPr>
          <a:lstStyle/>
          <a:p>
            <a:pPr marL="171450" indent="-171450">
              <a:buFont typeface="Wingdings" panose="05000000000000000000" pitchFamily="2" charset="2"/>
              <a:buChar char="ü"/>
            </a:pPr>
            <a:r>
              <a:rPr lang="zh-CN" altLang="en-US" sz="1050" dirty="0"/>
              <a:t>只能给出地点的多个口，</a:t>
            </a:r>
            <a:r>
              <a:rPr lang="en-US" altLang="zh-CN" sz="1050" dirty="0"/>
              <a:t>D2D</a:t>
            </a:r>
            <a:r>
              <a:rPr lang="zh-CN" altLang="en-US" sz="1050" dirty="0"/>
              <a:t>仅支持有限商场，也需要提前记忆</a:t>
            </a:r>
          </a:p>
        </p:txBody>
      </p:sp>
      <p:sp>
        <p:nvSpPr>
          <p:cNvPr id="20" name="文本框 19">
            <a:extLst>
              <a:ext uri="{FF2B5EF4-FFF2-40B4-BE49-F238E27FC236}">
                <a16:creationId xmlns:a16="http://schemas.microsoft.com/office/drawing/2014/main" id="{A60357BC-BEEC-CC73-75C6-397DC1CDF5F4}"/>
              </a:ext>
            </a:extLst>
          </p:cNvPr>
          <p:cNvSpPr txBox="1"/>
          <p:nvPr/>
        </p:nvSpPr>
        <p:spPr>
          <a:xfrm>
            <a:off x="7459917" y="3693611"/>
            <a:ext cx="4663945" cy="577081"/>
          </a:xfrm>
          <a:prstGeom prst="rect">
            <a:avLst/>
          </a:prstGeom>
          <a:noFill/>
        </p:spPr>
        <p:txBody>
          <a:bodyPr wrap="square">
            <a:spAutoFit/>
          </a:bodyPr>
          <a:lstStyle/>
          <a:p>
            <a:pPr marL="171450" indent="-171450">
              <a:buFont typeface="Wingdings" panose="05000000000000000000" pitchFamily="2" charset="2"/>
              <a:buChar char="ü"/>
            </a:pPr>
            <a:r>
              <a:rPr lang="zh-CN" altLang="en-US" sz="1050" dirty="0"/>
              <a:t>大数据能够给出热点区域的最佳停车点，但对于一些新意外情况，无法实时调整</a:t>
            </a:r>
            <a:endParaRPr lang="en-US" altLang="zh-CN" sz="1050" dirty="0"/>
          </a:p>
          <a:p>
            <a:pPr marL="171450" indent="-171450">
              <a:buFont typeface="Wingdings" panose="05000000000000000000" pitchFamily="2" charset="2"/>
              <a:buChar char="ü"/>
            </a:pPr>
            <a:r>
              <a:rPr lang="zh-CN" altLang="en-US" sz="1050" dirty="0"/>
              <a:t>特斯拉支持车外的简单手势交互</a:t>
            </a:r>
            <a:endParaRPr lang="en-US" altLang="zh-CN" sz="1050" dirty="0"/>
          </a:p>
        </p:txBody>
      </p:sp>
      <p:sp>
        <p:nvSpPr>
          <p:cNvPr id="22" name="文本框 21">
            <a:extLst>
              <a:ext uri="{FF2B5EF4-FFF2-40B4-BE49-F238E27FC236}">
                <a16:creationId xmlns:a16="http://schemas.microsoft.com/office/drawing/2014/main" id="{B9648D1E-7383-34CC-7E84-3B885370C543}"/>
              </a:ext>
            </a:extLst>
          </p:cNvPr>
          <p:cNvSpPr txBox="1"/>
          <p:nvPr/>
        </p:nvSpPr>
        <p:spPr>
          <a:xfrm>
            <a:off x="7427932" y="5868496"/>
            <a:ext cx="4862228" cy="253916"/>
          </a:xfrm>
          <a:prstGeom prst="rect">
            <a:avLst/>
          </a:prstGeom>
          <a:noFill/>
        </p:spPr>
        <p:txBody>
          <a:bodyPr wrap="none" rtlCol="0">
            <a:spAutoFit/>
          </a:bodyPr>
          <a:lstStyle/>
          <a:p>
            <a:pPr marL="171450" indent="-171450">
              <a:buFont typeface="Wingdings" panose="05000000000000000000" pitchFamily="2" charset="2"/>
              <a:buChar char="ü"/>
            </a:pPr>
            <a:r>
              <a:rPr lang="zh-CN" altLang="en-US" sz="1050" dirty="0"/>
              <a:t>司机</a:t>
            </a:r>
            <a:r>
              <a:rPr lang="en-US" altLang="zh-CN" sz="1050" dirty="0"/>
              <a:t>agent</a:t>
            </a:r>
            <a:r>
              <a:rPr lang="zh-CN" altLang="en-US" sz="1050" dirty="0"/>
              <a:t>能够运用物理</a:t>
            </a:r>
            <a:r>
              <a:rPr lang="en-US" altLang="zh-CN" sz="1050" dirty="0"/>
              <a:t>AI</a:t>
            </a:r>
            <a:r>
              <a:rPr lang="zh-CN" altLang="en-US" sz="1050" dirty="0"/>
              <a:t>处理车外各种紧急情况，像专业司机一样进行处理</a:t>
            </a:r>
          </a:p>
        </p:txBody>
      </p:sp>
    </p:spTree>
    <p:extLst>
      <p:ext uri="{BB962C8B-B14F-4D97-AF65-F5344CB8AC3E}">
        <p14:creationId xmlns:p14="http://schemas.microsoft.com/office/powerpoint/2010/main" val="1671597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2C49B-4070-0BCD-5630-2558F737F24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9B206C5-5EDC-C6C3-3E0D-E8BE80253A2B}"/>
              </a:ext>
            </a:extLst>
          </p:cNvPr>
          <p:cNvSpPr>
            <a:spLocks noGrp="1"/>
          </p:cNvSpPr>
          <p:nvPr>
            <p:ph type="title" idx="4294967295"/>
          </p:nvPr>
        </p:nvSpPr>
        <p:spPr>
          <a:xfrm>
            <a:off x="669924" y="433637"/>
            <a:ext cx="10440000" cy="595063"/>
          </a:xfrm>
        </p:spPr>
        <p:txBody>
          <a:bodyPr/>
          <a:lstStyle/>
          <a:p>
            <a:r>
              <a:rPr lang="zh-CN" altLang="en-US" dirty="0"/>
              <a:t>上车时阶段</a:t>
            </a:r>
            <a:r>
              <a:rPr lang="en-US" altLang="zh-CN" dirty="0"/>
              <a:t>——</a:t>
            </a:r>
            <a:r>
              <a:rPr lang="zh-CN" altLang="en-US" dirty="0"/>
              <a:t>协助上车</a:t>
            </a:r>
            <a:r>
              <a:rPr lang="en-US" altLang="zh-CN" dirty="0"/>
              <a:t>&amp;</a:t>
            </a:r>
            <a:r>
              <a:rPr lang="zh-CN" altLang="en-US" dirty="0"/>
              <a:t>行程确认</a:t>
            </a:r>
          </a:p>
        </p:txBody>
      </p:sp>
      <p:sp>
        <p:nvSpPr>
          <p:cNvPr id="16" name="文本占位符 4">
            <a:extLst>
              <a:ext uri="{FF2B5EF4-FFF2-40B4-BE49-F238E27FC236}">
                <a16:creationId xmlns:a16="http://schemas.microsoft.com/office/drawing/2014/main" id="{2252EB75-8CF4-D63C-01CD-C25BFE9C6FFE}"/>
              </a:ext>
            </a:extLst>
          </p:cNvPr>
          <p:cNvSpPr txBox="1"/>
          <p:nvPr/>
        </p:nvSpPr>
        <p:spPr>
          <a:xfrm>
            <a:off x="5183625" y="1395662"/>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a:extLst>
              <a:ext uri="{FF2B5EF4-FFF2-40B4-BE49-F238E27FC236}">
                <a16:creationId xmlns:a16="http://schemas.microsoft.com/office/drawing/2014/main" id="{1AE138D3-607E-E0C4-ABD1-BE1F67CD4E5D}"/>
              </a:ext>
            </a:extLst>
          </p:cNvPr>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a:extLst>
              <a:ext uri="{FF2B5EF4-FFF2-40B4-BE49-F238E27FC236}">
                <a16:creationId xmlns:a16="http://schemas.microsoft.com/office/drawing/2014/main" id="{B02AC91A-09B7-EB0F-C40D-7808BBBEA220}"/>
              </a:ext>
            </a:extLst>
          </p:cNvPr>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a:extLst>
              <a:ext uri="{FF2B5EF4-FFF2-40B4-BE49-F238E27FC236}">
                <a16:creationId xmlns:a16="http://schemas.microsoft.com/office/drawing/2014/main" id="{EED92E4A-118E-EB85-4EAF-A2BF78257595}"/>
              </a:ext>
            </a:extLst>
          </p:cNvPr>
          <p:cNvSpPr txBox="1"/>
          <p:nvPr/>
        </p:nvSpPr>
        <p:spPr>
          <a:xfrm>
            <a:off x="92021" y="2704718"/>
            <a:ext cx="366036" cy="1169551"/>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协助上车</a:t>
            </a:r>
          </a:p>
        </p:txBody>
      </p:sp>
      <p:sp>
        <p:nvSpPr>
          <p:cNvPr id="10" name="文本框 9">
            <a:extLst>
              <a:ext uri="{FF2B5EF4-FFF2-40B4-BE49-F238E27FC236}">
                <a16:creationId xmlns:a16="http://schemas.microsoft.com/office/drawing/2014/main" id="{6D0891FC-A692-0E24-1AF8-FED8CB889E4C}"/>
              </a:ext>
            </a:extLst>
          </p:cNvPr>
          <p:cNvSpPr txBox="1"/>
          <p:nvPr/>
        </p:nvSpPr>
        <p:spPr>
          <a:xfrm>
            <a:off x="460351" y="1944702"/>
            <a:ext cx="1009196" cy="3400931"/>
          </a:xfrm>
          <a:prstGeom prst="rect">
            <a:avLst/>
          </a:prstGeom>
          <a:noFill/>
        </p:spPr>
        <p:txBody>
          <a:bodyPr wrap="square">
            <a:spAutoFit/>
          </a:bodyPr>
          <a:lstStyle/>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协助特殊人群与天气</a:t>
            </a: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协助行李较多者</a:t>
            </a: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协助开后备箱</a:t>
            </a:r>
            <a:endParaRPr lang="en-US" altLang="zh-CN" sz="11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a:extLst>
              <a:ext uri="{FF2B5EF4-FFF2-40B4-BE49-F238E27FC236}">
                <a16:creationId xmlns:a16="http://schemas.microsoft.com/office/drawing/2014/main" id="{04E5ED83-4245-BE0B-9287-FA19F79078DA}"/>
              </a:ext>
            </a:extLst>
          </p:cNvPr>
          <p:cNvSpPr txBox="1"/>
          <p:nvPr/>
        </p:nvSpPr>
        <p:spPr>
          <a:xfrm>
            <a:off x="2143529" y="1384066"/>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a:extLst>
              <a:ext uri="{FF2B5EF4-FFF2-40B4-BE49-F238E27FC236}">
                <a16:creationId xmlns:a16="http://schemas.microsoft.com/office/drawing/2014/main" id="{B2E97B99-B3B1-4498-AD5D-EAD14CB61D3C}"/>
              </a:ext>
            </a:extLst>
          </p:cNvPr>
          <p:cNvSpPr txBox="1"/>
          <p:nvPr/>
        </p:nvSpPr>
        <p:spPr>
          <a:xfrm>
            <a:off x="9262073" y="1398077"/>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a:extLst>
              <a:ext uri="{FF2B5EF4-FFF2-40B4-BE49-F238E27FC236}">
                <a16:creationId xmlns:a16="http://schemas.microsoft.com/office/drawing/2014/main" id="{275CF949-BB7F-90B2-470D-D5A0D83E7339}"/>
              </a:ext>
            </a:extLst>
          </p:cNvPr>
          <p:cNvCxnSpPr/>
          <p:nvPr/>
        </p:nvCxnSpPr>
        <p:spPr>
          <a:xfrm>
            <a:off x="3060940" y="1810163"/>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a:extLst>
              <a:ext uri="{FF2B5EF4-FFF2-40B4-BE49-F238E27FC236}">
                <a16:creationId xmlns:a16="http://schemas.microsoft.com/office/drawing/2014/main" id="{66009E05-AFEB-A757-20B6-529001A66F62}"/>
              </a:ext>
            </a:extLst>
          </p:cNvPr>
          <p:cNvSpPr txBox="1"/>
          <p:nvPr/>
        </p:nvSpPr>
        <p:spPr>
          <a:xfrm>
            <a:off x="320111" y="1389551"/>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中高场景</a:t>
            </a:r>
          </a:p>
        </p:txBody>
      </p:sp>
      <p:cxnSp>
        <p:nvCxnSpPr>
          <p:cNvPr id="34" name="直接连接符 33">
            <a:extLst>
              <a:ext uri="{FF2B5EF4-FFF2-40B4-BE49-F238E27FC236}">
                <a16:creationId xmlns:a16="http://schemas.microsoft.com/office/drawing/2014/main" id="{E3D5043D-17D6-9B63-4933-6002DF2D9A7A}"/>
              </a:ext>
            </a:extLst>
          </p:cNvPr>
          <p:cNvCxnSpPr/>
          <p:nvPr/>
        </p:nvCxnSpPr>
        <p:spPr>
          <a:xfrm>
            <a:off x="1329431" y="1751609"/>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a:extLst>
              <a:ext uri="{FF2B5EF4-FFF2-40B4-BE49-F238E27FC236}">
                <a16:creationId xmlns:a16="http://schemas.microsoft.com/office/drawing/2014/main" id="{BAF857A8-E1FF-2531-8FEA-3A9482B2B01B}"/>
              </a:ext>
            </a:extLst>
          </p:cNvPr>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9" name="直接连接符 8">
            <a:extLst>
              <a:ext uri="{FF2B5EF4-FFF2-40B4-BE49-F238E27FC236}">
                <a16:creationId xmlns:a16="http://schemas.microsoft.com/office/drawing/2014/main" id="{405C4788-679D-2288-DF0A-8E23674428BA}"/>
              </a:ext>
            </a:extLst>
          </p:cNvPr>
          <p:cNvCxnSpPr>
            <a:cxnSpLocks/>
          </p:cNvCxnSpPr>
          <p:nvPr/>
        </p:nvCxnSpPr>
        <p:spPr>
          <a:xfrm flipV="1">
            <a:off x="637988" y="3251758"/>
            <a:ext cx="6949583" cy="8876"/>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EA89D44D-92DA-1449-D000-2A927D1D92A4}"/>
              </a:ext>
            </a:extLst>
          </p:cNvPr>
          <p:cNvSpPr txBox="1"/>
          <p:nvPr/>
        </p:nvSpPr>
        <p:spPr>
          <a:xfrm>
            <a:off x="1965406" y="2313611"/>
            <a:ext cx="1773159" cy="253916"/>
          </a:xfrm>
          <a:prstGeom prst="rect">
            <a:avLst/>
          </a:prstGeom>
          <a:noFill/>
        </p:spPr>
        <p:txBody>
          <a:bodyPr wrap="square" rtlCol="0">
            <a:spAutoFit/>
          </a:bodyPr>
          <a:lstStyle/>
          <a:p>
            <a:pPr marL="171450" indent="-171450">
              <a:spcBef>
                <a:spcPts val="600"/>
              </a:spcBef>
              <a:buFont typeface="Arial" panose="020B0604020202020204" pitchFamily="34" charset="0"/>
              <a:buChar char="•"/>
            </a:pPr>
            <a:endParaRPr lang="zh-CN" altLang="en-US" sz="1050" dirty="0"/>
          </a:p>
        </p:txBody>
      </p:sp>
      <p:sp>
        <p:nvSpPr>
          <p:cNvPr id="5" name="文本框 4">
            <a:extLst>
              <a:ext uri="{FF2B5EF4-FFF2-40B4-BE49-F238E27FC236}">
                <a16:creationId xmlns:a16="http://schemas.microsoft.com/office/drawing/2014/main" id="{0829BC3F-DD18-4CA1-D281-EC53BE039199}"/>
              </a:ext>
            </a:extLst>
          </p:cNvPr>
          <p:cNvSpPr txBox="1"/>
          <p:nvPr/>
        </p:nvSpPr>
        <p:spPr>
          <a:xfrm>
            <a:off x="1944513" y="4005258"/>
            <a:ext cx="1773159" cy="730969"/>
          </a:xfrm>
          <a:prstGeom prst="rect">
            <a:avLst/>
          </a:prstGeom>
          <a:noFill/>
        </p:spPr>
        <p:txBody>
          <a:bodyPr wrap="square" rtlCol="0">
            <a:spAutoFit/>
          </a:bodyPr>
          <a:lstStyle/>
          <a:p>
            <a:pPr marL="171450" indent="-171450">
              <a:spcBef>
                <a:spcPts val="600"/>
              </a:spcBef>
              <a:buFont typeface="Arial" panose="020B0604020202020204" pitchFamily="34" charset="0"/>
              <a:buChar char="•"/>
            </a:pPr>
            <a:endParaRPr lang="en-US" altLang="zh-CN" sz="1050" dirty="0"/>
          </a:p>
          <a:p>
            <a:pPr marL="171450" indent="-171450">
              <a:spcBef>
                <a:spcPts val="600"/>
              </a:spcBef>
              <a:buFont typeface="Arial" panose="020B0604020202020204" pitchFamily="34" charset="0"/>
              <a:buChar char="•"/>
            </a:pPr>
            <a:endParaRPr lang="en-US" altLang="zh-CN" sz="1050" dirty="0"/>
          </a:p>
          <a:p>
            <a:pPr marL="171450" indent="-171450">
              <a:spcBef>
                <a:spcPts val="600"/>
              </a:spcBef>
              <a:buFont typeface="Arial" panose="020B0604020202020204" pitchFamily="34" charset="0"/>
              <a:buChar char="•"/>
            </a:pPr>
            <a:endParaRPr lang="zh-CN" altLang="en-US" sz="1050" dirty="0"/>
          </a:p>
        </p:txBody>
      </p:sp>
      <p:cxnSp>
        <p:nvCxnSpPr>
          <p:cNvPr id="14" name="直接连接符 13">
            <a:extLst>
              <a:ext uri="{FF2B5EF4-FFF2-40B4-BE49-F238E27FC236}">
                <a16:creationId xmlns:a16="http://schemas.microsoft.com/office/drawing/2014/main" id="{471C5A1A-D64B-71C9-FD8D-AE860A01060E}"/>
              </a:ext>
            </a:extLst>
          </p:cNvPr>
          <p:cNvCxnSpPr/>
          <p:nvPr/>
        </p:nvCxnSpPr>
        <p:spPr>
          <a:xfrm>
            <a:off x="7587571" y="1810163"/>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178E463C-65ED-147E-68E8-4683CF228042}"/>
              </a:ext>
            </a:extLst>
          </p:cNvPr>
          <p:cNvSpPr txBox="1"/>
          <p:nvPr/>
        </p:nvSpPr>
        <p:spPr>
          <a:xfrm flipH="1">
            <a:off x="7945984" y="3189715"/>
            <a:ext cx="4025551" cy="1294906"/>
          </a:xfrm>
          <a:prstGeom prst="rect">
            <a:avLst/>
          </a:prstGeom>
          <a:noFill/>
        </p:spPr>
        <p:txBody>
          <a:bodyPr wrap="square" rtlCol="0">
            <a:spAutoFit/>
          </a:bodyPr>
          <a:lstStyle/>
          <a:p>
            <a:pPr marL="171450" indent="-171450">
              <a:lnSpc>
                <a:spcPct val="150000"/>
              </a:lnSpc>
              <a:spcBef>
                <a:spcPts val="600"/>
              </a:spcBef>
              <a:buFont typeface="Wingdings" panose="05000000000000000000" pitchFamily="2" charset="2"/>
              <a:buChar char="ü"/>
            </a:pPr>
            <a:r>
              <a:rPr lang="en-US" altLang="zh-CN" sz="1000" dirty="0"/>
              <a:t>Agent</a:t>
            </a:r>
            <a:r>
              <a:rPr lang="zh-CN" altLang="en-US" sz="1000" dirty="0"/>
              <a:t>对于特殊地点与乘客标签及天气，主动语音提醒帮助拿行李</a:t>
            </a:r>
            <a:endParaRPr lang="en-US" altLang="zh-CN" sz="1000" dirty="0"/>
          </a:p>
          <a:p>
            <a:pPr marL="171450" indent="-171450">
              <a:spcBef>
                <a:spcPts val="600"/>
              </a:spcBef>
              <a:buFont typeface="Wingdings" panose="05000000000000000000" pitchFamily="2" charset="2"/>
              <a:buChar char="ü"/>
            </a:pPr>
            <a:r>
              <a:rPr lang="en-US" altLang="zh-CN" sz="1000" dirty="0"/>
              <a:t>Agent</a:t>
            </a:r>
            <a:r>
              <a:rPr lang="zh-CN" altLang="en-US" sz="1000" dirty="0"/>
              <a:t>可智能判断开车门与关车门，全车车门，或者支持司机语音开关前后排车门，实现无接触式开门</a:t>
            </a:r>
            <a:endParaRPr lang="en-US" altLang="zh-CN" sz="1000" dirty="0"/>
          </a:p>
          <a:p>
            <a:pPr marL="171450" indent="-171450">
              <a:spcBef>
                <a:spcPts val="600"/>
              </a:spcBef>
              <a:buFont typeface="Wingdings" panose="05000000000000000000" pitchFamily="2" charset="2"/>
              <a:buChar char="ü"/>
            </a:pPr>
            <a:r>
              <a:rPr lang="zh-CN" altLang="en-US" sz="1000" dirty="0"/>
              <a:t>对于行李较多车，司机</a:t>
            </a:r>
            <a:r>
              <a:rPr lang="en-US" altLang="zh-CN" sz="1000" dirty="0"/>
              <a:t>agent</a:t>
            </a:r>
            <a:r>
              <a:rPr lang="zh-CN" altLang="en-US" sz="1000" dirty="0"/>
              <a:t>可智能主动判断开启后背箱时机，</a:t>
            </a:r>
            <a:r>
              <a:rPr lang="en-US" altLang="zh-CN" sz="1000" dirty="0"/>
              <a:t>Agent</a:t>
            </a:r>
            <a:r>
              <a:rPr lang="zh-CN" altLang="en-US" sz="1000" dirty="0"/>
              <a:t>支持乘客车外语音开闭后备箱，实现无接触式开后背箱</a:t>
            </a:r>
          </a:p>
          <a:p>
            <a:pPr marL="171450" indent="-171450">
              <a:lnSpc>
                <a:spcPct val="150000"/>
              </a:lnSpc>
              <a:buFont typeface="Wingdings" panose="05000000000000000000" pitchFamily="2" charset="2"/>
              <a:buChar char="ü"/>
            </a:pPr>
            <a:endParaRPr lang="zh-CN" altLang="en-US" sz="1000" dirty="0"/>
          </a:p>
        </p:txBody>
      </p:sp>
      <p:cxnSp>
        <p:nvCxnSpPr>
          <p:cNvPr id="3" name="直接连接符 2">
            <a:extLst>
              <a:ext uri="{FF2B5EF4-FFF2-40B4-BE49-F238E27FC236}">
                <a16:creationId xmlns:a16="http://schemas.microsoft.com/office/drawing/2014/main" id="{55F36E4D-D44E-D370-D7A8-B18E9F92367B}"/>
              </a:ext>
            </a:extLst>
          </p:cNvPr>
          <p:cNvCxnSpPr>
            <a:cxnSpLocks/>
          </p:cNvCxnSpPr>
          <p:nvPr/>
        </p:nvCxnSpPr>
        <p:spPr>
          <a:xfrm>
            <a:off x="466872" y="4247787"/>
            <a:ext cx="7132449"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800E7901-E6F1-BEB5-2BF9-0A821BCD4F00}"/>
              </a:ext>
            </a:extLst>
          </p:cNvPr>
          <p:cNvSpPr txBox="1"/>
          <p:nvPr/>
        </p:nvSpPr>
        <p:spPr>
          <a:xfrm>
            <a:off x="1356223" y="4659110"/>
            <a:ext cx="1627369" cy="261610"/>
          </a:xfrm>
          <a:prstGeom prst="rect">
            <a:avLst/>
          </a:prstGeom>
          <a:noFill/>
        </p:spPr>
        <p:txBody>
          <a:bodyPr wrap="none" rtlCol="0">
            <a:spAutoFit/>
          </a:bodyPr>
          <a:lstStyle/>
          <a:p>
            <a:pPr marL="171450" indent="-171450">
              <a:buFont typeface="Arial" panose="020B0604020202020204" pitchFamily="34" charset="0"/>
              <a:buChar char="•"/>
            </a:pPr>
            <a:r>
              <a:rPr lang="zh-CN" altLang="en-US" sz="1100" dirty="0"/>
              <a:t>有乘客不会开后备箱</a:t>
            </a:r>
          </a:p>
        </p:txBody>
      </p:sp>
      <p:sp>
        <p:nvSpPr>
          <p:cNvPr id="6" name="文本框 5">
            <a:extLst>
              <a:ext uri="{FF2B5EF4-FFF2-40B4-BE49-F238E27FC236}">
                <a16:creationId xmlns:a16="http://schemas.microsoft.com/office/drawing/2014/main" id="{04653EF5-DB45-2869-7307-F82914562555}"/>
              </a:ext>
            </a:extLst>
          </p:cNvPr>
          <p:cNvSpPr txBox="1"/>
          <p:nvPr/>
        </p:nvSpPr>
        <p:spPr>
          <a:xfrm>
            <a:off x="1362008" y="3469229"/>
            <a:ext cx="1627369" cy="569964"/>
          </a:xfrm>
          <a:prstGeom prst="rect">
            <a:avLst/>
          </a:prstGeom>
          <a:noFill/>
        </p:spPr>
        <p:txBody>
          <a:bodyPr wrap="none" rtlCol="0">
            <a:spAutoFit/>
          </a:bodyPr>
          <a:lstStyle/>
          <a:p>
            <a:pPr marL="171450" indent="-171450">
              <a:lnSpc>
                <a:spcPct val="150000"/>
              </a:lnSpc>
              <a:buFont typeface="Arial" panose="020B0604020202020204" pitchFamily="34" charset="0"/>
              <a:buChar char="•"/>
            </a:pPr>
            <a:r>
              <a:rPr lang="zh-CN" altLang="en-US" sz="1100" dirty="0"/>
              <a:t>专车标准服务</a:t>
            </a:r>
            <a:endParaRPr lang="en-US" altLang="zh-CN" sz="1100" dirty="0"/>
          </a:p>
          <a:p>
            <a:pPr marL="171450" indent="-171450">
              <a:lnSpc>
                <a:spcPct val="150000"/>
              </a:lnSpc>
              <a:buFont typeface="Arial" panose="020B0604020202020204" pitchFamily="34" charset="0"/>
              <a:buChar char="•"/>
            </a:pPr>
            <a:r>
              <a:rPr lang="zh-CN" altLang="en-US" sz="1100" dirty="0"/>
              <a:t>快车司机选择性服务</a:t>
            </a:r>
          </a:p>
        </p:txBody>
      </p:sp>
      <p:sp>
        <p:nvSpPr>
          <p:cNvPr id="7" name="文本框 6">
            <a:extLst>
              <a:ext uri="{FF2B5EF4-FFF2-40B4-BE49-F238E27FC236}">
                <a16:creationId xmlns:a16="http://schemas.microsoft.com/office/drawing/2014/main" id="{DA913BDE-FB37-95CD-984E-CA3439647533}"/>
              </a:ext>
            </a:extLst>
          </p:cNvPr>
          <p:cNvSpPr txBox="1"/>
          <p:nvPr/>
        </p:nvSpPr>
        <p:spPr>
          <a:xfrm>
            <a:off x="1401615" y="2011143"/>
            <a:ext cx="1763630" cy="1077796"/>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100" dirty="0"/>
              <a:t>专车会帮助搀扶，开车门等</a:t>
            </a:r>
            <a:endParaRPr lang="en-US" altLang="zh-CN" sz="1100" dirty="0"/>
          </a:p>
          <a:p>
            <a:pPr marL="171450" indent="-171450">
              <a:lnSpc>
                <a:spcPct val="150000"/>
              </a:lnSpc>
              <a:buFont typeface="Arial" panose="020B0604020202020204" pitchFamily="34" charset="0"/>
              <a:buChar char="•"/>
            </a:pPr>
            <a:endParaRPr lang="en-US" altLang="zh-CN" sz="1100" dirty="0"/>
          </a:p>
          <a:p>
            <a:pPr marL="171450" indent="-171450">
              <a:lnSpc>
                <a:spcPct val="150000"/>
              </a:lnSpc>
              <a:buFont typeface="Arial" panose="020B0604020202020204" pitchFamily="34" charset="0"/>
              <a:buChar char="•"/>
            </a:pPr>
            <a:r>
              <a:rPr lang="zh-CN" altLang="en-US" sz="1100" dirty="0"/>
              <a:t>快车司机看个人修养</a:t>
            </a:r>
          </a:p>
        </p:txBody>
      </p:sp>
      <p:sp>
        <p:nvSpPr>
          <p:cNvPr id="12" name="文本框 11">
            <a:extLst>
              <a:ext uri="{FF2B5EF4-FFF2-40B4-BE49-F238E27FC236}">
                <a16:creationId xmlns:a16="http://schemas.microsoft.com/office/drawing/2014/main" id="{CAB10147-C7E6-B158-8252-E5386A557409}"/>
              </a:ext>
            </a:extLst>
          </p:cNvPr>
          <p:cNvSpPr txBox="1"/>
          <p:nvPr/>
        </p:nvSpPr>
        <p:spPr>
          <a:xfrm>
            <a:off x="3158226" y="3366355"/>
            <a:ext cx="2614818"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未协助乘客，快车司机可能会被投诉</a:t>
            </a:r>
          </a:p>
        </p:txBody>
      </p:sp>
      <p:sp>
        <p:nvSpPr>
          <p:cNvPr id="15" name="文本框 14">
            <a:extLst>
              <a:ext uri="{FF2B5EF4-FFF2-40B4-BE49-F238E27FC236}">
                <a16:creationId xmlns:a16="http://schemas.microsoft.com/office/drawing/2014/main" id="{2A5FAD41-0663-A242-A4CA-696C3BAC7C13}"/>
              </a:ext>
            </a:extLst>
          </p:cNvPr>
          <p:cNvSpPr txBox="1"/>
          <p:nvPr/>
        </p:nvSpPr>
        <p:spPr>
          <a:xfrm>
            <a:off x="4202444" y="1989873"/>
            <a:ext cx="1768433" cy="739241"/>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特殊地点需要协助场景</a:t>
            </a:r>
            <a:endParaRPr lang="en-US" altLang="zh-CN" sz="1100" b="1" dirty="0"/>
          </a:p>
          <a:p>
            <a:pPr marL="285750" indent="-285750">
              <a:lnSpc>
                <a:spcPct val="150000"/>
              </a:lnSpc>
              <a:buFont typeface="Arial" panose="020B0604020202020204" pitchFamily="34" charset="0"/>
              <a:buChar char="•"/>
            </a:pPr>
            <a:r>
              <a:rPr lang="zh-CN" altLang="en-US" sz="1050" dirty="0"/>
              <a:t>医院门口</a:t>
            </a:r>
            <a:endParaRPr lang="en-US" altLang="zh-CN" sz="1050" dirty="0"/>
          </a:p>
          <a:p>
            <a:pPr marL="285750" indent="-285750">
              <a:lnSpc>
                <a:spcPct val="150000"/>
              </a:lnSpc>
              <a:buFont typeface="Arial" panose="020B0604020202020204" pitchFamily="34" charset="0"/>
              <a:buChar char="•"/>
            </a:pPr>
            <a:r>
              <a:rPr lang="zh-CN" altLang="en-US" sz="1050" dirty="0"/>
              <a:t>机场高铁等</a:t>
            </a:r>
          </a:p>
        </p:txBody>
      </p:sp>
      <p:sp>
        <p:nvSpPr>
          <p:cNvPr id="19" name="文本框 18">
            <a:extLst>
              <a:ext uri="{FF2B5EF4-FFF2-40B4-BE49-F238E27FC236}">
                <a16:creationId xmlns:a16="http://schemas.microsoft.com/office/drawing/2014/main" id="{0D0BFD71-7674-8627-0ABF-8888D62E25EC}"/>
              </a:ext>
            </a:extLst>
          </p:cNvPr>
          <p:cNvSpPr txBox="1"/>
          <p:nvPr/>
        </p:nvSpPr>
        <p:spPr>
          <a:xfrm>
            <a:off x="3065207" y="2011111"/>
            <a:ext cx="1204176"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需要帮助人群</a:t>
            </a:r>
          </a:p>
        </p:txBody>
      </p:sp>
      <p:sp>
        <p:nvSpPr>
          <p:cNvPr id="20" name="文本框 19">
            <a:extLst>
              <a:ext uri="{FF2B5EF4-FFF2-40B4-BE49-F238E27FC236}">
                <a16:creationId xmlns:a16="http://schemas.microsoft.com/office/drawing/2014/main" id="{875B44EE-EFB2-07CA-EA5A-B06DA5404CB3}"/>
              </a:ext>
            </a:extLst>
          </p:cNvPr>
          <p:cNvSpPr txBox="1"/>
          <p:nvPr/>
        </p:nvSpPr>
        <p:spPr>
          <a:xfrm>
            <a:off x="3419355" y="2241227"/>
            <a:ext cx="627095" cy="1031886"/>
          </a:xfrm>
          <a:prstGeom prst="rect">
            <a:avLst/>
          </a:prstGeom>
          <a:noFill/>
        </p:spPr>
        <p:txBody>
          <a:bodyPr wrap="none" rtlCol="0">
            <a:spAutoFit/>
          </a:bodyPr>
          <a:lstStyle/>
          <a:p>
            <a:pPr marL="171450" indent="-171450">
              <a:lnSpc>
                <a:spcPct val="150000"/>
              </a:lnSpc>
              <a:buFont typeface="Arial" panose="020B0604020202020204" pitchFamily="34" charset="0"/>
              <a:buChar char="•"/>
            </a:pPr>
            <a:r>
              <a:rPr lang="zh-CN" altLang="en-US" sz="1050" dirty="0"/>
              <a:t>病人</a:t>
            </a:r>
            <a:endParaRPr lang="en-US" altLang="zh-CN" sz="1050" dirty="0"/>
          </a:p>
          <a:p>
            <a:pPr marL="171450" indent="-171450">
              <a:lnSpc>
                <a:spcPct val="150000"/>
              </a:lnSpc>
              <a:buFont typeface="Arial" panose="020B0604020202020204" pitchFamily="34" charset="0"/>
              <a:buChar char="•"/>
            </a:pPr>
            <a:r>
              <a:rPr lang="zh-CN" altLang="en-US" sz="1050" dirty="0"/>
              <a:t>老人</a:t>
            </a:r>
            <a:endParaRPr lang="en-US" altLang="zh-CN" sz="1050" dirty="0"/>
          </a:p>
          <a:p>
            <a:pPr marL="171450" indent="-171450">
              <a:lnSpc>
                <a:spcPct val="150000"/>
              </a:lnSpc>
              <a:buFont typeface="Arial" panose="020B0604020202020204" pitchFamily="34" charset="0"/>
              <a:buChar char="•"/>
            </a:pPr>
            <a:r>
              <a:rPr lang="zh-CN" altLang="en-US" sz="1050" dirty="0"/>
              <a:t>孩子</a:t>
            </a:r>
            <a:endParaRPr lang="en-US" altLang="zh-CN" sz="1050" dirty="0"/>
          </a:p>
          <a:p>
            <a:pPr marL="171450" indent="-171450">
              <a:lnSpc>
                <a:spcPct val="150000"/>
              </a:lnSpc>
              <a:buFont typeface="Arial" panose="020B0604020202020204" pitchFamily="34" charset="0"/>
              <a:buChar char="•"/>
            </a:pPr>
            <a:endParaRPr lang="zh-CN" altLang="en-US" sz="1050" dirty="0"/>
          </a:p>
        </p:txBody>
      </p:sp>
      <p:sp>
        <p:nvSpPr>
          <p:cNvPr id="21" name="文本框 20">
            <a:extLst>
              <a:ext uri="{FF2B5EF4-FFF2-40B4-BE49-F238E27FC236}">
                <a16:creationId xmlns:a16="http://schemas.microsoft.com/office/drawing/2014/main" id="{07467297-600E-B3D4-F488-CDADFA0DB290}"/>
              </a:ext>
            </a:extLst>
          </p:cNvPr>
          <p:cNvSpPr txBox="1"/>
          <p:nvPr/>
        </p:nvSpPr>
        <p:spPr>
          <a:xfrm>
            <a:off x="5830888" y="2002589"/>
            <a:ext cx="1896673" cy="1928285"/>
          </a:xfrm>
          <a:prstGeom prst="rect">
            <a:avLst/>
          </a:prstGeom>
          <a:noFill/>
        </p:spPr>
        <p:txBody>
          <a:bodyPr wrap="square" rtlCol="0">
            <a:spAutoFit/>
          </a:bodyPr>
          <a:lstStyle/>
          <a:p>
            <a:pPr marL="171450" indent="-171450">
              <a:buFont typeface="Wingdings" panose="05000000000000000000" pitchFamily="2" charset="2"/>
              <a:buChar char="Ø"/>
            </a:pPr>
            <a:r>
              <a:rPr lang="zh-CN" altLang="en-US" sz="1100" b="1" dirty="0"/>
              <a:t>特殊天气需要协助场景</a:t>
            </a:r>
            <a:endParaRPr lang="en-US" altLang="zh-CN" sz="1100" b="1" dirty="0"/>
          </a:p>
          <a:p>
            <a:pPr marL="285750" indent="-285750">
              <a:lnSpc>
                <a:spcPct val="150000"/>
              </a:lnSpc>
              <a:buFont typeface="Arial" panose="020B0604020202020204" pitchFamily="34" charset="0"/>
              <a:buChar char="•"/>
            </a:pPr>
            <a:r>
              <a:rPr lang="zh-CN" altLang="en-US" sz="1050" dirty="0"/>
              <a:t>雨天如暴雨，帮助撑伞避免淋湿</a:t>
            </a:r>
            <a:endParaRPr lang="en-US" altLang="zh-CN" sz="1050" dirty="0"/>
          </a:p>
          <a:p>
            <a:pPr marL="285750" indent="-285750">
              <a:lnSpc>
                <a:spcPct val="150000"/>
              </a:lnSpc>
              <a:buFont typeface="Arial" panose="020B0604020202020204" pitchFamily="34" charset="0"/>
              <a:buChar char="•"/>
            </a:pPr>
            <a:r>
              <a:rPr lang="zh-CN" altLang="en-US" sz="1050" dirty="0"/>
              <a:t>大雪天</a:t>
            </a:r>
            <a:endParaRPr lang="en-US" altLang="zh-CN" sz="1050" dirty="0"/>
          </a:p>
          <a:p>
            <a:pPr marL="285750" indent="-285750">
              <a:lnSpc>
                <a:spcPct val="150000"/>
              </a:lnSpc>
              <a:buFont typeface="Arial" panose="020B0604020202020204" pitchFamily="34" charset="0"/>
              <a:buChar char="•"/>
            </a:pPr>
            <a:endParaRPr lang="en-US" altLang="zh-CN" sz="1050" dirty="0"/>
          </a:p>
          <a:p>
            <a:pPr marL="285750" indent="-285750">
              <a:lnSpc>
                <a:spcPct val="150000"/>
              </a:lnSpc>
              <a:buFont typeface="Arial" panose="020B0604020202020204" pitchFamily="34" charset="0"/>
              <a:buChar char="•"/>
            </a:pPr>
            <a:endParaRPr lang="en-US" altLang="zh-CN" sz="1050" dirty="0"/>
          </a:p>
          <a:p>
            <a:pPr marL="285750" indent="-285750">
              <a:lnSpc>
                <a:spcPct val="150000"/>
              </a:lnSpc>
              <a:buFont typeface="Arial" panose="020B0604020202020204" pitchFamily="34" charset="0"/>
              <a:buChar char="•"/>
            </a:pPr>
            <a:endParaRPr lang="en-US" altLang="zh-CN" sz="1050" dirty="0"/>
          </a:p>
          <a:p>
            <a:pPr marL="285750" indent="-285750">
              <a:lnSpc>
                <a:spcPct val="150000"/>
              </a:lnSpc>
              <a:buFont typeface="Arial" panose="020B0604020202020204" pitchFamily="34" charset="0"/>
              <a:buChar char="•"/>
            </a:pPr>
            <a:endParaRPr lang="zh-CN" altLang="en-US" sz="1050" dirty="0"/>
          </a:p>
        </p:txBody>
      </p:sp>
      <p:sp>
        <p:nvSpPr>
          <p:cNvPr id="22" name="文本框 21">
            <a:extLst>
              <a:ext uri="{FF2B5EF4-FFF2-40B4-BE49-F238E27FC236}">
                <a16:creationId xmlns:a16="http://schemas.microsoft.com/office/drawing/2014/main" id="{93401F79-E0BB-9196-D135-C276BEE66B74}"/>
              </a:ext>
            </a:extLst>
          </p:cNvPr>
          <p:cNvSpPr txBox="1"/>
          <p:nvPr/>
        </p:nvSpPr>
        <p:spPr>
          <a:xfrm>
            <a:off x="3093695" y="4423758"/>
            <a:ext cx="1345240"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乘车较少的乘客</a:t>
            </a:r>
            <a:endParaRPr lang="en-US" altLang="zh-CN" sz="1100" b="1" dirty="0"/>
          </a:p>
        </p:txBody>
      </p:sp>
      <p:sp>
        <p:nvSpPr>
          <p:cNvPr id="31" name="文本框 30">
            <a:extLst>
              <a:ext uri="{FF2B5EF4-FFF2-40B4-BE49-F238E27FC236}">
                <a16:creationId xmlns:a16="http://schemas.microsoft.com/office/drawing/2014/main" id="{8F025A2D-A404-2FA6-A995-C9179D2C3EB0}"/>
              </a:ext>
            </a:extLst>
          </p:cNvPr>
          <p:cNvSpPr txBox="1"/>
          <p:nvPr/>
        </p:nvSpPr>
        <p:spPr>
          <a:xfrm>
            <a:off x="4403374" y="4433065"/>
            <a:ext cx="2905375" cy="261610"/>
          </a:xfrm>
          <a:prstGeom prst="rect">
            <a:avLst/>
          </a:prstGeom>
          <a:noFill/>
        </p:spPr>
        <p:txBody>
          <a:bodyPr wrap="square">
            <a:spAutoFit/>
          </a:bodyPr>
          <a:lstStyle/>
          <a:p>
            <a:pPr marL="285750" indent="-285750">
              <a:buFont typeface="Wingdings" panose="05000000000000000000" pitchFamily="2" charset="2"/>
              <a:buChar char="Ø"/>
            </a:pPr>
            <a:r>
              <a:rPr lang="zh-CN" altLang="en-US" sz="1100" b="1" dirty="0"/>
              <a:t>后备箱的开启位置不好找</a:t>
            </a:r>
          </a:p>
        </p:txBody>
      </p:sp>
      <p:sp>
        <p:nvSpPr>
          <p:cNvPr id="24" name="文本框 23">
            <a:extLst>
              <a:ext uri="{FF2B5EF4-FFF2-40B4-BE49-F238E27FC236}">
                <a16:creationId xmlns:a16="http://schemas.microsoft.com/office/drawing/2014/main" id="{D612BA73-B9DA-E789-08F9-78FB778B7B4F}"/>
              </a:ext>
            </a:extLst>
          </p:cNvPr>
          <p:cNvSpPr txBox="1"/>
          <p:nvPr/>
        </p:nvSpPr>
        <p:spPr>
          <a:xfrm>
            <a:off x="7636190" y="2814863"/>
            <a:ext cx="723275" cy="253916"/>
          </a:xfrm>
          <a:prstGeom prst="rect">
            <a:avLst/>
          </a:prstGeom>
          <a:noFill/>
        </p:spPr>
        <p:txBody>
          <a:bodyPr wrap="none" rtlCol="0">
            <a:spAutoFit/>
          </a:bodyPr>
          <a:lstStyle/>
          <a:p>
            <a:r>
              <a:rPr lang="zh-CN" altLang="en-US" sz="1050" b="1" dirty="0"/>
              <a:t>机会点：</a:t>
            </a:r>
          </a:p>
        </p:txBody>
      </p:sp>
      <p:sp>
        <p:nvSpPr>
          <p:cNvPr id="25" name="文本框 24">
            <a:extLst>
              <a:ext uri="{FF2B5EF4-FFF2-40B4-BE49-F238E27FC236}">
                <a16:creationId xmlns:a16="http://schemas.microsoft.com/office/drawing/2014/main" id="{A7CFFA48-4BD6-2B58-D524-975221319DD0}"/>
              </a:ext>
            </a:extLst>
          </p:cNvPr>
          <p:cNvSpPr txBox="1"/>
          <p:nvPr/>
        </p:nvSpPr>
        <p:spPr>
          <a:xfrm>
            <a:off x="7684431" y="4641395"/>
            <a:ext cx="588623" cy="253916"/>
          </a:xfrm>
          <a:prstGeom prst="rect">
            <a:avLst/>
          </a:prstGeom>
          <a:noFill/>
        </p:spPr>
        <p:txBody>
          <a:bodyPr wrap="none" rtlCol="0">
            <a:spAutoFit/>
          </a:bodyPr>
          <a:lstStyle/>
          <a:p>
            <a:r>
              <a:rPr lang="zh-CN" altLang="en-US" sz="1050" b="1" dirty="0"/>
              <a:t>展望：</a:t>
            </a:r>
          </a:p>
        </p:txBody>
      </p:sp>
      <p:sp>
        <p:nvSpPr>
          <p:cNvPr id="27" name="文本框 26">
            <a:extLst>
              <a:ext uri="{FF2B5EF4-FFF2-40B4-BE49-F238E27FC236}">
                <a16:creationId xmlns:a16="http://schemas.microsoft.com/office/drawing/2014/main" id="{DCC8ECAC-F175-E4AD-F234-F9D661449D09}"/>
              </a:ext>
            </a:extLst>
          </p:cNvPr>
          <p:cNvSpPr txBox="1"/>
          <p:nvPr/>
        </p:nvSpPr>
        <p:spPr>
          <a:xfrm>
            <a:off x="7599321" y="1810163"/>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38" name="文本框 37">
            <a:extLst>
              <a:ext uri="{FF2B5EF4-FFF2-40B4-BE49-F238E27FC236}">
                <a16:creationId xmlns:a16="http://schemas.microsoft.com/office/drawing/2014/main" id="{3A4A4F62-EE7F-FDF8-F80F-89062E540E7A}"/>
              </a:ext>
            </a:extLst>
          </p:cNvPr>
          <p:cNvSpPr txBox="1"/>
          <p:nvPr/>
        </p:nvSpPr>
        <p:spPr>
          <a:xfrm>
            <a:off x="8065771" y="1997435"/>
            <a:ext cx="4015843" cy="790666"/>
          </a:xfrm>
          <a:prstGeom prst="rect">
            <a:avLst/>
          </a:prstGeom>
          <a:noFill/>
        </p:spPr>
        <p:txBody>
          <a:bodyPr wrap="none" rtlCol="0">
            <a:spAutoFit/>
          </a:bodyPr>
          <a:lstStyle/>
          <a:p>
            <a:pPr marL="171450" indent="-171450">
              <a:lnSpc>
                <a:spcPct val="150000"/>
              </a:lnSpc>
              <a:buFont typeface="Wingdings" panose="05000000000000000000" pitchFamily="2" charset="2"/>
              <a:buChar char="ü"/>
            </a:pPr>
            <a:r>
              <a:rPr lang="zh-CN" altLang="en-US" sz="1050" dirty="0"/>
              <a:t>车内语音开关车门，后背箱</a:t>
            </a:r>
            <a:endParaRPr lang="en-US" altLang="zh-CN" sz="1050" dirty="0"/>
          </a:p>
          <a:p>
            <a:pPr marL="171450" indent="-171450">
              <a:lnSpc>
                <a:spcPct val="150000"/>
              </a:lnSpc>
              <a:buFont typeface="Wingdings" panose="05000000000000000000" pitchFamily="2" charset="2"/>
              <a:buChar char="ü"/>
            </a:pPr>
            <a:r>
              <a:rPr lang="zh-CN" altLang="en-US" sz="1050" dirty="0"/>
              <a:t>车外语音开后背箱</a:t>
            </a:r>
            <a:endParaRPr lang="en-US" altLang="zh-CN" sz="1050" dirty="0"/>
          </a:p>
          <a:p>
            <a:pPr marL="171450" indent="-171450">
              <a:lnSpc>
                <a:spcPct val="150000"/>
              </a:lnSpc>
              <a:buFont typeface="Wingdings" panose="05000000000000000000" pitchFamily="2" charset="2"/>
              <a:buChar char="ü"/>
            </a:pPr>
            <a:r>
              <a:rPr lang="zh-CN" altLang="en-US" sz="1050" dirty="0"/>
              <a:t>解锁状态下，车门外指定位置可感应式自动开门（商务</a:t>
            </a:r>
            <a:r>
              <a:rPr lang="en-US" altLang="zh-CN" sz="1050" dirty="0"/>
              <a:t>MPV</a:t>
            </a:r>
            <a:r>
              <a:rPr lang="zh-CN" altLang="en-US" sz="1050" dirty="0"/>
              <a:t>）</a:t>
            </a:r>
          </a:p>
        </p:txBody>
      </p:sp>
      <p:sp>
        <p:nvSpPr>
          <p:cNvPr id="39" name="文本框 38">
            <a:extLst>
              <a:ext uri="{FF2B5EF4-FFF2-40B4-BE49-F238E27FC236}">
                <a16:creationId xmlns:a16="http://schemas.microsoft.com/office/drawing/2014/main" id="{FE92B7D9-887A-79EA-78B9-745EABBAACD2}"/>
              </a:ext>
            </a:extLst>
          </p:cNvPr>
          <p:cNvSpPr txBox="1"/>
          <p:nvPr/>
        </p:nvSpPr>
        <p:spPr>
          <a:xfrm>
            <a:off x="7978815" y="4870668"/>
            <a:ext cx="2784737" cy="988219"/>
          </a:xfrm>
          <a:prstGeom prst="rect">
            <a:avLst/>
          </a:prstGeom>
          <a:noFill/>
        </p:spPr>
        <p:txBody>
          <a:bodyPr wrap="none" rtlCol="0">
            <a:spAutoFit/>
          </a:bodyPr>
          <a:lstStyle/>
          <a:p>
            <a:pPr marL="171450" indent="-171450">
              <a:lnSpc>
                <a:spcPct val="150000"/>
              </a:lnSpc>
              <a:buFont typeface="Wingdings" panose="05000000000000000000" pitchFamily="2" charset="2"/>
              <a:buChar char="ü"/>
            </a:pPr>
            <a:r>
              <a:rPr lang="en-US" altLang="zh-CN" sz="1000" dirty="0"/>
              <a:t>Robotaxi</a:t>
            </a:r>
            <a:r>
              <a:rPr lang="zh-CN" altLang="en-US" sz="1000" dirty="0"/>
              <a:t>场景，机器人帮助拿行李上车</a:t>
            </a:r>
            <a:endParaRPr lang="en-US" altLang="zh-CN" sz="1000" dirty="0"/>
          </a:p>
          <a:p>
            <a:pPr marL="171450" indent="-171450">
              <a:lnSpc>
                <a:spcPct val="150000"/>
              </a:lnSpc>
              <a:buFont typeface="Wingdings" panose="05000000000000000000" pitchFamily="2" charset="2"/>
              <a:buChar char="ü"/>
            </a:pPr>
            <a:r>
              <a:rPr lang="en-US" altLang="zh-CN" sz="1000" dirty="0"/>
              <a:t>Robotaxi</a:t>
            </a:r>
            <a:r>
              <a:rPr lang="zh-CN" altLang="en-US" sz="1000" dirty="0"/>
              <a:t>场景，机器人帮助搀扶老人上车</a:t>
            </a:r>
            <a:endParaRPr lang="en-US" altLang="zh-CN" sz="1000" dirty="0"/>
          </a:p>
          <a:p>
            <a:pPr marL="171450" indent="-171450">
              <a:lnSpc>
                <a:spcPct val="150000"/>
              </a:lnSpc>
              <a:buFont typeface="Wingdings" panose="05000000000000000000" pitchFamily="2" charset="2"/>
              <a:buChar char="ü"/>
            </a:pPr>
            <a:r>
              <a:rPr lang="en-US" altLang="zh-CN" sz="1000" dirty="0"/>
              <a:t>Robotaxi</a:t>
            </a:r>
            <a:r>
              <a:rPr lang="zh-CN" altLang="en-US" sz="1000" dirty="0"/>
              <a:t>场景，机器人帮助照看孩子与病人</a:t>
            </a:r>
            <a:endParaRPr lang="en-US" altLang="zh-CN" sz="1000" dirty="0"/>
          </a:p>
          <a:p>
            <a:pPr marL="171450" indent="-171450">
              <a:lnSpc>
                <a:spcPct val="150000"/>
              </a:lnSpc>
              <a:buFont typeface="Wingdings" panose="05000000000000000000" pitchFamily="2" charset="2"/>
              <a:buChar char="ü"/>
            </a:pPr>
            <a:r>
              <a:rPr lang="en-US" altLang="zh-CN" sz="1000" dirty="0"/>
              <a:t>Robotaxi</a:t>
            </a:r>
            <a:r>
              <a:rPr lang="zh-CN" altLang="en-US" sz="1000" dirty="0"/>
              <a:t>场景，机器人帮助撑伞</a:t>
            </a:r>
          </a:p>
        </p:txBody>
      </p:sp>
    </p:spTree>
    <p:extLst>
      <p:ext uri="{BB962C8B-B14F-4D97-AF65-F5344CB8AC3E}">
        <p14:creationId xmlns:p14="http://schemas.microsoft.com/office/powerpoint/2010/main" val="3301731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C8987-530D-5D37-430F-F661B864BF1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966FDEB-71BB-99BA-8693-65EBD998D8DB}"/>
              </a:ext>
            </a:extLst>
          </p:cNvPr>
          <p:cNvSpPr>
            <a:spLocks noGrp="1"/>
          </p:cNvSpPr>
          <p:nvPr>
            <p:ph type="title" idx="4294967295"/>
          </p:nvPr>
        </p:nvSpPr>
        <p:spPr>
          <a:xfrm>
            <a:off x="669924" y="433637"/>
            <a:ext cx="10440000" cy="595063"/>
          </a:xfrm>
        </p:spPr>
        <p:txBody>
          <a:bodyPr/>
          <a:lstStyle/>
          <a:p>
            <a:r>
              <a:rPr lang="zh-CN" altLang="en-US" dirty="0"/>
              <a:t>上车时阶段</a:t>
            </a:r>
            <a:r>
              <a:rPr lang="en-US" altLang="zh-CN" dirty="0"/>
              <a:t>——</a:t>
            </a:r>
            <a:r>
              <a:rPr lang="zh-CN" altLang="en-US" dirty="0"/>
              <a:t>协助上车</a:t>
            </a:r>
            <a:r>
              <a:rPr lang="en-US" altLang="zh-CN" dirty="0"/>
              <a:t>&amp;</a:t>
            </a:r>
            <a:r>
              <a:rPr lang="zh-CN" altLang="en-US" dirty="0"/>
              <a:t>行程确认</a:t>
            </a:r>
          </a:p>
        </p:txBody>
      </p:sp>
      <p:sp>
        <p:nvSpPr>
          <p:cNvPr id="16" name="文本占位符 4">
            <a:extLst>
              <a:ext uri="{FF2B5EF4-FFF2-40B4-BE49-F238E27FC236}">
                <a16:creationId xmlns:a16="http://schemas.microsoft.com/office/drawing/2014/main" id="{6BD13E7F-9A3A-E71E-541E-D79A0A80FFAD}"/>
              </a:ext>
            </a:extLst>
          </p:cNvPr>
          <p:cNvSpPr txBox="1"/>
          <p:nvPr/>
        </p:nvSpPr>
        <p:spPr>
          <a:xfrm>
            <a:off x="5183625" y="1395662"/>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a:extLst>
              <a:ext uri="{FF2B5EF4-FFF2-40B4-BE49-F238E27FC236}">
                <a16:creationId xmlns:a16="http://schemas.microsoft.com/office/drawing/2014/main" id="{CBB4C3B0-B3FD-964D-16D7-BE76E1049EC9}"/>
              </a:ext>
            </a:extLst>
          </p:cNvPr>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58" name="文本占位符 4">
            <a:extLst>
              <a:ext uri="{FF2B5EF4-FFF2-40B4-BE49-F238E27FC236}">
                <a16:creationId xmlns:a16="http://schemas.microsoft.com/office/drawing/2014/main" id="{B3A33734-5AB8-54B3-745B-4BB64220317C}"/>
              </a:ext>
            </a:extLst>
          </p:cNvPr>
          <p:cNvSpPr txBox="1"/>
          <p:nvPr/>
        </p:nvSpPr>
        <p:spPr>
          <a:xfrm>
            <a:off x="2143529" y="1384066"/>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a:extLst>
              <a:ext uri="{FF2B5EF4-FFF2-40B4-BE49-F238E27FC236}">
                <a16:creationId xmlns:a16="http://schemas.microsoft.com/office/drawing/2014/main" id="{90AEFBF2-A063-8A2B-B8EC-8F8F84D01B70}"/>
              </a:ext>
            </a:extLst>
          </p:cNvPr>
          <p:cNvSpPr txBox="1"/>
          <p:nvPr/>
        </p:nvSpPr>
        <p:spPr>
          <a:xfrm>
            <a:off x="9262073" y="1398077"/>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a:extLst>
              <a:ext uri="{FF2B5EF4-FFF2-40B4-BE49-F238E27FC236}">
                <a16:creationId xmlns:a16="http://schemas.microsoft.com/office/drawing/2014/main" id="{81C65ECB-79F0-0AEA-779A-EEC5125B69AA}"/>
              </a:ext>
            </a:extLst>
          </p:cNvPr>
          <p:cNvCxnSpPr/>
          <p:nvPr/>
        </p:nvCxnSpPr>
        <p:spPr>
          <a:xfrm>
            <a:off x="3733800" y="1834362"/>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a:extLst>
              <a:ext uri="{FF2B5EF4-FFF2-40B4-BE49-F238E27FC236}">
                <a16:creationId xmlns:a16="http://schemas.microsoft.com/office/drawing/2014/main" id="{29BCC325-A750-2589-0866-72B928F0B250}"/>
              </a:ext>
            </a:extLst>
          </p:cNvPr>
          <p:cNvSpPr txBox="1"/>
          <p:nvPr/>
        </p:nvSpPr>
        <p:spPr>
          <a:xfrm>
            <a:off x="320111" y="1389551"/>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中高场景</a:t>
            </a:r>
          </a:p>
        </p:txBody>
      </p:sp>
      <p:cxnSp>
        <p:nvCxnSpPr>
          <p:cNvPr id="34" name="直接连接符 33">
            <a:extLst>
              <a:ext uri="{FF2B5EF4-FFF2-40B4-BE49-F238E27FC236}">
                <a16:creationId xmlns:a16="http://schemas.microsoft.com/office/drawing/2014/main" id="{4D8CCE47-BBAA-55D9-710B-4AB4482037CF}"/>
              </a:ext>
            </a:extLst>
          </p:cNvPr>
          <p:cNvCxnSpPr/>
          <p:nvPr/>
        </p:nvCxnSpPr>
        <p:spPr>
          <a:xfrm>
            <a:off x="1648014" y="1744107"/>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a:extLst>
              <a:ext uri="{FF2B5EF4-FFF2-40B4-BE49-F238E27FC236}">
                <a16:creationId xmlns:a16="http://schemas.microsoft.com/office/drawing/2014/main" id="{C7081E3C-14AF-965F-D5A8-73046186BE2A}"/>
              </a:ext>
            </a:extLst>
          </p:cNvPr>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7" name="文本框 16">
            <a:extLst>
              <a:ext uri="{FF2B5EF4-FFF2-40B4-BE49-F238E27FC236}">
                <a16:creationId xmlns:a16="http://schemas.microsoft.com/office/drawing/2014/main" id="{B66DC810-F02A-B6FD-9867-BC804B4FCAA7}"/>
              </a:ext>
            </a:extLst>
          </p:cNvPr>
          <p:cNvSpPr txBox="1"/>
          <p:nvPr/>
        </p:nvSpPr>
        <p:spPr>
          <a:xfrm>
            <a:off x="1901155" y="5140813"/>
            <a:ext cx="1773159" cy="577081"/>
          </a:xfrm>
          <a:prstGeom prst="rect">
            <a:avLst/>
          </a:prstGeom>
          <a:noFill/>
        </p:spPr>
        <p:txBody>
          <a:bodyPr wrap="square" rtlCol="0">
            <a:spAutoFit/>
          </a:bodyPr>
          <a:lstStyle/>
          <a:p>
            <a:pPr marL="171450" indent="-171450">
              <a:buFont typeface="Arial" panose="020B0604020202020204" pitchFamily="34" charset="0"/>
              <a:buChar char="•"/>
            </a:pPr>
            <a:endParaRPr lang="en-US" altLang="zh-CN" sz="1050" dirty="0"/>
          </a:p>
          <a:p>
            <a:pPr marL="171450" indent="-171450">
              <a:buFont typeface="Arial" panose="020B0604020202020204" pitchFamily="34" charset="0"/>
              <a:buChar char="•"/>
            </a:pPr>
            <a:endParaRPr lang="en-US" altLang="zh-CN" sz="1050" dirty="0"/>
          </a:p>
          <a:p>
            <a:pPr marL="171450" indent="-171450">
              <a:buFont typeface="Arial" panose="020B0604020202020204" pitchFamily="34" charset="0"/>
              <a:buChar char="•"/>
            </a:pPr>
            <a:endParaRPr lang="zh-CN" altLang="en-US" sz="1050" dirty="0"/>
          </a:p>
        </p:txBody>
      </p:sp>
      <p:sp>
        <p:nvSpPr>
          <p:cNvPr id="5" name="文本框 4">
            <a:extLst>
              <a:ext uri="{FF2B5EF4-FFF2-40B4-BE49-F238E27FC236}">
                <a16:creationId xmlns:a16="http://schemas.microsoft.com/office/drawing/2014/main" id="{C8B5713E-BC10-A33F-E58C-A3265FE2331C}"/>
              </a:ext>
            </a:extLst>
          </p:cNvPr>
          <p:cNvSpPr txBox="1"/>
          <p:nvPr/>
        </p:nvSpPr>
        <p:spPr>
          <a:xfrm>
            <a:off x="1944513" y="4005258"/>
            <a:ext cx="1773159" cy="730969"/>
          </a:xfrm>
          <a:prstGeom prst="rect">
            <a:avLst/>
          </a:prstGeom>
          <a:noFill/>
        </p:spPr>
        <p:txBody>
          <a:bodyPr wrap="square" rtlCol="0">
            <a:spAutoFit/>
          </a:bodyPr>
          <a:lstStyle/>
          <a:p>
            <a:pPr marL="171450" indent="-171450">
              <a:spcBef>
                <a:spcPts val="600"/>
              </a:spcBef>
              <a:buFont typeface="Arial" panose="020B0604020202020204" pitchFamily="34" charset="0"/>
              <a:buChar char="•"/>
            </a:pPr>
            <a:endParaRPr lang="en-US" altLang="zh-CN" sz="1050" dirty="0"/>
          </a:p>
          <a:p>
            <a:pPr marL="171450" indent="-171450">
              <a:spcBef>
                <a:spcPts val="600"/>
              </a:spcBef>
              <a:buFont typeface="Arial" panose="020B0604020202020204" pitchFamily="34" charset="0"/>
              <a:buChar char="•"/>
            </a:pPr>
            <a:endParaRPr lang="en-US" altLang="zh-CN" sz="1050" dirty="0"/>
          </a:p>
          <a:p>
            <a:pPr marL="171450" indent="-171450">
              <a:spcBef>
                <a:spcPts val="600"/>
              </a:spcBef>
              <a:buFont typeface="Arial" panose="020B0604020202020204" pitchFamily="34" charset="0"/>
              <a:buChar char="•"/>
            </a:pPr>
            <a:endParaRPr lang="zh-CN" altLang="en-US" sz="1050" dirty="0"/>
          </a:p>
        </p:txBody>
      </p:sp>
      <p:cxnSp>
        <p:nvCxnSpPr>
          <p:cNvPr id="14" name="直接连接符 13">
            <a:extLst>
              <a:ext uri="{FF2B5EF4-FFF2-40B4-BE49-F238E27FC236}">
                <a16:creationId xmlns:a16="http://schemas.microsoft.com/office/drawing/2014/main" id="{A2E6C60B-1B86-AFCD-F642-178715D351B2}"/>
              </a:ext>
            </a:extLst>
          </p:cNvPr>
          <p:cNvCxnSpPr/>
          <p:nvPr/>
        </p:nvCxnSpPr>
        <p:spPr>
          <a:xfrm>
            <a:off x="7223645" y="185026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162063E2-3207-07FF-4D18-8EC5EE203706}"/>
              </a:ext>
            </a:extLst>
          </p:cNvPr>
          <p:cNvCxnSpPr>
            <a:cxnSpLocks/>
          </p:cNvCxnSpPr>
          <p:nvPr/>
        </p:nvCxnSpPr>
        <p:spPr>
          <a:xfrm>
            <a:off x="536253" y="4005258"/>
            <a:ext cx="6687392"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0" name="直接连接符 25">
            <a:extLst>
              <a:ext uri="{FF2B5EF4-FFF2-40B4-BE49-F238E27FC236}">
                <a16:creationId xmlns:a16="http://schemas.microsoft.com/office/drawing/2014/main" id="{CD50A7C3-3E37-574D-3E3F-41AFAD161B62}"/>
              </a:ext>
            </a:extLst>
          </p:cNvPr>
          <p:cNvCxnSpPr/>
          <p:nvPr/>
        </p:nvCxnSpPr>
        <p:spPr>
          <a:xfrm>
            <a:off x="452476" y="1834362"/>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41" name="文本框 40">
            <a:extLst>
              <a:ext uri="{FF2B5EF4-FFF2-40B4-BE49-F238E27FC236}">
                <a16:creationId xmlns:a16="http://schemas.microsoft.com/office/drawing/2014/main" id="{E02C451D-2A7C-FB31-750F-D12879A9A1C8}"/>
              </a:ext>
            </a:extLst>
          </p:cNvPr>
          <p:cNvSpPr txBox="1"/>
          <p:nvPr/>
        </p:nvSpPr>
        <p:spPr>
          <a:xfrm>
            <a:off x="110319" y="3203560"/>
            <a:ext cx="366036" cy="1384995"/>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行程</a:t>
            </a:r>
            <a:endPar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确认</a:t>
            </a:r>
            <a:endParaRPr kumimoji="0"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endPar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2" name="文本框 41">
            <a:extLst>
              <a:ext uri="{FF2B5EF4-FFF2-40B4-BE49-F238E27FC236}">
                <a16:creationId xmlns:a16="http://schemas.microsoft.com/office/drawing/2014/main" id="{6D1773AA-452D-F445-D980-F6E657C6B691}"/>
              </a:ext>
            </a:extLst>
          </p:cNvPr>
          <p:cNvSpPr txBox="1"/>
          <p:nvPr/>
        </p:nvSpPr>
        <p:spPr>
          <a:xfrm>
            <a:off x="629984" y="4615114"/>
            <a:ext cx="1063112" cy="261610"/>
          </a:xfrm>
          <a:prstGeom prst="rect">
            <a:avLst/>
          </a:prstGeom>
          <a:noFill/>
        </p:spPr>
        <p:txBody>
          <a:bodyPr wrap="none" rtlCol="0">
            <a:spAutoFit/>
          </a:bodyPr>
          <a:lstStyle/>
          <a:p>
            <a:pPr marL="171450" indent="-171450" fontAlgn="b">
              <a:spcBef>
                <a:spcPts val="600"/>
              </a:spcBef>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目的地确认</a:t>
            </a:r>
          </a:p>
        </p:txBody>
      </p:sp>
      <p:sp>
        <p:nvSpPr>
          <p:cNvPr id="43" name="文本框 42">
            <a:extLst>
              <a:ext uri="{FF2B5EF4-FFF2-40B4-BE49-F238E27FC236}">
                <a16:creationId xmlns:a16="http://schemas.microsoft.com/office/drawing/2014/main" id="{08196540-1E70-8395-C40A-2681B91586E4}"/>
              </a:ext>
            </a:extLst>
          </p:cNvPr>
          <p:cNvSpPr txBox="1"/>
          <p:nvPr/>
        </p:nvSpPr>
        <p:spPr>
          <a:xfrm>
            <a:off x="664619" y="2651265"/>
            <a:ext cx="922047" cy="261610"/>
          </a:xfrm>
          <a:prstGeom prst="rect">
            <a:avLst/>
          </a:prstGeom>
          <a:noFill/>
        </p:spPr>
        <p:txBody>
          <a:bodyPr wrap="none" rtlCol="0">
            <a:spAutoFit/>
          </a:bodyPr>
          <a:lstStyle/>
          <a:p>
            <a:pPr marL="171450" indent="-171450" fontAlgn="b">
              <a:spcBef>
                <a:spcPts val="600"/>
              </a:spcBef>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身份确认</a:t>
            </a:r>
          </a:p>
        </p:txBody>
      </p:sp>
      <p:sp>
        <p:nvSpPr>
          <p:cNvPr id="44" name="文本框 43">
            <a:extLst>
              <a:ext uri="{FF2B5EF4-FFF2-40B4-BE49-F238E27FC236}">
                <a16:creationId xmlns:a16="http://schemas.microsoft.com/office/drawing/2014/main" id="{595783DB-F2F8-5631-5A22-B0C0C87D5356}"/>
              </a:ext>
            </a:extLst>
          </p:cNvPr>
          <p:cNvSpPr txBox="1"/>
          <p:nvPr/>
        </p:nvSpPr>
        <p:spPr>
          <a:xfrm>
            <a:off x="1788265" y="2430473"/>
            <a:ext cx="1204176" cy="569964"/>
          </a:xfrm>
          <a:prstGeom prst="rect">
            <a:avLst/>
          </a:prstGeom>
          <a:noFill/>
        </p:spPr>
        <p:txBody>
          <a:bodyPr wrap="none" rtlCol="0">
            <a:spAutoFit/>
          </a:bodyPr>
          <a:lstStyle/>
          <a:p>
            <a:pPr marL="171450" indent="-171450">
              <a:lnSpc>
                <a:spcPct val="150000"/>
              </a:lnSpc>
              <a:buFont typeface="Arial" panose="020B0604020202020204" pitchFamily="34" charset="0"/>
              <a:buChar char="•"/>
            </a:pPr>
            <a:r>
              <a:rPr lang="zh-CN" altLang="en-US" sz="1100" dirty="0"/>
              <a:t>司机主动询问</a:t>
            </a:r>
            <a:endParaRPr lang="en-US" altLang="zh-CN" sz="1100" dirty="0"/>
          </a:p>
          <a:p>
            <a:pPr marL="171450" indent="-171450">
              <a:lnSpc>
                <a:spcPct val="150000"/>
              </a:lnSpc>
              <a:buFont typeface="Arial" panose="020B0604020202020204" pitchFamily="34" charset="0"/>
              <a:buChar char="•"/>
            </a:pPr>
            <a:r>
              <a:rPr lang="zh-CN" altLang="en-US" sz="1100" dirty="0"/>
              <a:t>乘客主动告知</a:t>
            </a:r>
          </a:p>
        </p:txBody>
      </p:sp>
      <p:sp>
        <p:nvSpPr>
          <p:cNvPr id="45" name="文本框 44">
            <a:extLst>
              <a:ext uri="{FF2B5EF4-FFF2-40B4-BE49-F238E27FC236}">
                <a16:creationId xmlns:a16="http://schemas.microsoft.com/office/drawing/2014/main" id="{167CF4FD-D493-D7A3-9729-B923FDB3ED72}"/>
              </a:ext>
            </a:extLst>
          </p:cNvPr>
          <p:cNvSpPr txBox="1"/>
          <p:nvPr/>
        </p:nvSpPr>
        <p:spPr>
          <a:xfrm>
            <a:off x="1728674" y="4460937"/>
            <a:ext cx="1644094" cy="56996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100" dirty="0"/>
              <a:t>多人打车 </a:t>
            </a:r>
            <a:r>
              <a:rPr lang="en-US" altLang="zh-CN" sz="1100" dirty="0"/>
              <a:t>/ </a:t>
            </a:r>
            <a:r>
              <a:rPr lang="zh-CN" altLang="en-US" sz="1100" dirty="0"/>
              <a:t>扎堆打车地方确认目的地</a:t>
            </a:r>
          </a:p>
        </p:txBody>
      </p:sp>
      <p:sp>
        <p:nvSpPr>
          <p:cNvPr id="48" name="文本框 47">
            <a:extLst>
              <a:ext uri="{FF2B5EF4-FFF2-40B4-BE49-F238E27FC236}">
                <a16:creationId xmlns:a16="http://schemas.microsoft.com/office/drawing/2014/main" id="{C50329D5-F428-44E0-859E-F33BD8B23EE8}"/>
              </a:ext>
            </a:extLst>
          </p:cNvPr>
          <p:cNvSpPr txBox="1"/>
          <p:nvPr/>
        </p:nvSpPr>
        <p:spPr>
          <a:xfrm>
            <a:off x="3821532" y="2414387"/>
            <a:ext cx="3038011" cy="569964"/>
          </a:xfrm>
          <a:prstGeom prst="rect">
            <a:avLst/>
          </a:prstGeom>
          <a:noFill/>
        </p:spPr>
        <p:txBody>
          <a:bodyPr wrap="none" rtlCol="0">
            <a:spAutoFit/>
          </a:bodyPr>
          <a:lstStyle/>
          <a:p>
            <a:pPr marL="171450" indent="-171450">
              <a:lnSpc>
                <a:spcPct val="150000"/>
              </a:lnSpc>
              <a:buFont typeface="Wingdings" panose="05000000000000000000" pitchFamily="2" charset="2"/>
              <a:buChar char="Ø"/>
            </a:pPr>
            <a:r>
              <a:rPr lang="zh-CN" altLang="en-US" sz="1100" b="1" dirty="0"/>
              <a:t>存在一些不主动司机，不主动询问也不发车</a:t>
            </a:r>
            <a:endParaRPr lang="en-US" altLang="zh-CN" sz="1100" b="1" dirty="0"/>
          </a:p>
          <a:p>
            <a:pPr marL="171450" indent="-171450">
              <a:lnSpc>
                <a:spcPct val="150000"/>
              </a:lnSpc>
              <a:buFont typeface="Wingdings" panose="05000000000000000000" pitchFamily="2" charset="2"/>
              <a:buChar char="Ø"/>
            </a:pPr>
            <a:r>
              <a:rPr lang="zh-CN" altLang="en-US" sz="1100" b="1" dirty="0"/>
              <a:t>大多数平台都是手机尾号后</a:t>
            </a:r>
            <a:r>
              <a:rPr lang="en-US" altLang="zh-CN" sz="1100" b="1" dirty="0"/>
              <a:t>4</a:t>
            </a:r>
            <a:r>
              <a:rPr lang="zh-CN" altLang="en-US" sz="1100" b="1" dirty="0"/>
              <a:t>位</a:t>
            </a:r>
          </a:p>
        </p:txBody>
      </p:sp>
      <p:sp>
        <p:nvSpPr>
          <p:cNvPr id="51" name="文本框 50">
            <a:extLst>
              <a:ext uri="{FF2B5EF4-FFF2-40B4-BE49-F238E27FC236}">
                <a16:creationId xmlns:a16="http://schemas.microsoft.com/office/drawing/2014/main" id="{EEF9EBE3-1DA8-A65C-36D3-9A511B3A0244}"/>
              </a:ext>
            </a:extLst>
          </p:cNvPr>
          <p:cNvSpPr txBox="1"/>
          <p:nvPr/>
        </p:nvSpPr>
        <p:spPr>
          <a:xfrm>
            <a:off x="3821532" y="4567408"/>
            <a:ext cx="3317004" cy="569964"/>
          </a:xfrm>
          <a:prstGeom prst="rect">
            <a:avLst/>
          </a:prstGeom>
          <a:noFill/>
        </p:spPr>
        <p:txBody>
          <a:bodyPr wrap="square" anchor="ctr">
            <a:spAutoFit/>
          </a:bodyPr>
          <a:lstStyle/>
          <a:p>
            <a:pPr marL="171450" indent="-171450">
              <a:lnSpc>
                <a:spcPct val="150000"/>
              </a:lnSpc>
              <a:buFont typeface="Wingdings" panose="05000000000000000000" pitchFamily="2" charset="2"/>
              <a:buChar char="Ø"/>
            </a:pPr>
            <a:r>
              <a:rPr lang="zh-CN" altLang="en-US" sz="1100" b="1" dirty="0"/>
              <a:t>打车人群密集的地点（如商场、写字楼、车站）</a:t>
            </a:r>
            <a:endParaRPr lang="en-US" altLang="zh-CN" sz="1100" b="1" dirty="0"/>
          </a:p>
          <a:p>
            <a:pPr marL="171450" indent="-171450">
              <a:lnSpc>
                <a:spcPct val="150000"/>
              </a:lnSpc>
              <a:buFont typeface="Wingdings" panose="05000000000000000000" pitchFamily="2" charset="2"/>
              <a:buChar char="Ø"/>
            </a:pPr>
            <a:r>
              <a:rPr lang="zh-CN" altLang="en-US" sz="1100" b="1" dirty="0"/>
              <a:t>属于尾号确认之外的补充身份核实场景</a:t>
            </a:r>
          </a:p>
        </p:txBody>
      </p:sp>
      <p:sp>
        <p:nvSpPr>
          <p:cNvPr id="54" name="文本框 53">
            <a:extLst>
              <a:ext uri="{FF2B5EF4-FFF2-40B4-BE49-F238E27FC236}">
                <a16:creationId xmlns:a16="http://schemas.microsoft.com/office/drawing/2014/main" id="{4E09F800-1E35-50C4-A47A-45FD42B2C640}"/>
              </a:ext>
            </a:extLst>
          </p:cNvPr>
          <p:cNvSpPr txBox="1"/>
          <p:nvPr/>
        </p:nvSpPr>
        <p:spPr>
          <a:xfrm flipH="1">
            <a:off x="7631813" y="3662050"/>
            <a:ext cx="4266203" cy="2093458"/>
          </a:xfrm>
          <a:prstGeom prst="rect">
            <a:avLst/>
          </a:prstGeom>
          <a:noFill/>
        </p:spPr>
        <p:txBody>
          <a:bodyPr wrap="square" rtlCol="0">
            <a:spAutoFit/>
          </a:bodyPr>
          <a:lstStyle/>
          <a:p>
            <a:pPr marL="171450" indent="-171450">
              <a:lnSpc>
                <a:spcPct val="150000"/>
              </a:lnSpc>
              <a:buFont typeface="Wingdings" panose="05000000000000000000" pitchFamily="2" charset="2"/>
              <a:buChar char="ü"/>
            </a:pPr>
            <a:r>
              <a:rPr lang="zh-CN" altLang="en-US" sz="1100" dirty="0"/>
              <a:t>增加</a:t>
            </a:r>
            <a:r>
              <a:rPr lang="en-US" altLang="zh-CN" sz="1100" dirty="0" err="1"/>
              <a:t>Rototaxi</a:t>
            </a:r>
            <a:r>
              <a:rPr lang="zh-CN" altLang="en-US" sz="1100" dirty="0"/>
              <a:t>的语音互动能力，对于人群比较多的情况下，进行礼貌的语音问询，目的地是否正确</a:t>
            </a:r>
            <a:endParaRPr lang="en-US" altLang="zh-CN" sz="1100" dirty="0"/>
          </a:p>
          <a:p>
            <a:pPr marL="171450" indent="-171450">
              <a:lnSpc>
                <a:spcPct val="150000"/>
              </a:lnSpc>
              <a:buFont typeface="Wingdings" panose="05000000000000000000" pitchFamily="2" charset="2"/>
              <a:buChar char="ü"/>
            </a:pPr>
            <a:r>
              <a:rPr lang="zh-CN" altLang="en-US" sz="1100" dirty="0"/>
              <a:t>支持</a:t>
            </a:r>
            <a:r>
              <a:rPr lang="en-US" altLang="zh-CN" sz="1100" dirty="0" err="1"/>
              <a:t>Rototaxi</a:t>
            </a:r>
            <a:r>
              <a:rPr lang="zh-CN" altLang="en-US" sz="1100" dirty="0"/>
              <a:t>的更灵活语音约定停靠地点，而不是只能指定站点停车</a:t>
            </a:r>
            <a:endParaRPr lang="en-US" altLang="zh-CN" sz="1100" dirty="0"/>
          </a:p>
          <a:p>
            <a:pPr marL="171450" indent="-171450">
              <a:lnSpc>
                <a:spcPct val="150000"/>
              </a:lnSpc>
              <a:buFont typeface="Wingdings" panose="05000000000000000000" pitchFamily="2" charset="2"/>
              <a:buChar char="ü"/>
            </a:pPr>
            <a:r>
              <a:rPr lang="zh-CN" altLang="en-US" sz="1100" dirty="0"/>
              <a:t>对于私家车场景，自动人脸识别和声纹，驾驶位与其他位置，进行各个位置上车后的习惯设定（如温度，座椅位置，香氛浓度等）</a:t>
            </a:r>
            <a:endParaRPr lang="en-US" altLang="zh-CN" sz="1100" dirty="0"/>
          </a:p>
          <a:p>
            <a:pPr marL="171450" indent="-171450">
              <a:lnSpc>
                <a:spcPct val="150000"/>
              </a:lnSpc>
              <a:buFont typeface="Wingdings" panose="05000000000000000000" pitchFamily="2" charset="2"/>
              <a:buChar char="ü"/>
            </a:pPr>
            <a:r>
              <a:rPr lang="zh-CN" altLang="en-US" sz="1100" dirty="0"/>
              <a:t>对于私家车场景，如果乘车是陌生人（车主客人），车主远程授权控制内容及远程身份确认</a:t>
            </a:r>
            <a:endParaRPr lang="en-US" altLang="zh-CN" sz="1100" dirty="0"/>
          </a:p>
        </p:txBody>
      </p:sp>
      <p:sp>
        <p:nvSpPr>
          <p:cNvPr id="24" name="文本框 23">
            <a:extLst>
              <a:ext uri="{FF2B5EF4-FFF2-40B4-BE49-F238E27FC236}">
                <a16:creationId xmlns:a16="http://schemas.microsoft.com/office/drawing/2014/main" id="{914D3598-BA58-ADCC-BC69-7B9C0C31D3E5}"/>
              </a:ext>
            </a:extLst>
          </p:cNvPr>
          <p:cNvSpPr txBox="1"/>
          <p:nvPr/>
        </p:nvSpPr>
        <p:spPr>
          <a:xfrm>
            <a:off x="7242079" y="3444118"/>
            <a:ext cx="723275" cy="253916"/>
          </a:xfrm>
          <a:prstGeom prst="rect">
            <a:avLst/>
          </a:prstGeom>
          <a:noFill/>
        </p:spPr>
        <p:txBody>
          <a:bodyPr wrap="none" rtlCol="0">
            <a:spAutoFit/>
          </a:bodyPr>
          <a:lstStyle/>
          <a:p>
            <a:r>
              <a:rPr lang="zh-CN" altLang="en-US" sz="1050" b="1" dirty="0"/>
              <a:t>机会点：</a:t>
            </a:r>
          </a:p>
        </p:txBody>
      </p:sp>
      <p:sp>
        <p:nvSpPr>
          <p:cNvPr id="25" name="文本框 24">
            <a:extLst>
              <a:ext uri="{FF2B5EF4-FFF2-40B4-BE49-F238E27FC236}">
                <a16:creationId xmlns:a16="http://schemas.microsoft.com/office/drawing/2014/main" id="{D8181845-24C2-E94B-5C07-4737686D335E}"/>
              </a:ext>
            </a:extLst>
          </p:cNvPr>
          <p:cNvSpPr txBox="1"/>
          <p:nvPr/>
        </p:nvSpPr>
        <p:spPr>
          <a:xfrm>
            <a:off x="7293436" y="5717257"/>
            <a:ext cx="588623" cy="253916"/>
          </a:xfrm>
          <a:prstGeom prst="rect">
            <a:avLst/>
          </a:prstGeom>
          <a:noFill/>
        </p:spPr>
        <p:txBody>
          <a:bodyPr wrap="none" rtlCol="0">
            <a:spAutoFit/>
          </a:bodyPr>
          <a:lstStyle/>
          <a:p>
            <a:r>
              <a:rPr lang="zh-CN" altLang="en-US" sz="1050" b="1" dirty="0"/>
              <a:t>展望：</a:t>
            </a:r>
          </a:p>
        </p:txBody>
      </p:sp>
      <p:sp>
        <p:nvSpPr>
          <p:cNvPr id="27" name="文本框 26">
            <a:extLst>
              <a:ext uri="{FF2B5EF4-FFF2-40B4-BE49-F238E27FC236}">
                <a16:creationId xmlns:a16="http://schemas.microsoft.com/office/drawing/2014/main" id="{3FCC6618-CBB5-FDF6-CD8B-CD3925155F4F}"/>
              </a:ext>
            </a:extLst>
          </p:cNvPr>
          <p:cNvSpPr txBox="1"/>
          <p:nvPr/>
        </p:nvSpPr>
        <p:spPr>
          <a:xfrm>
            <a:off x="7223645" y="1935093"/>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33" name="文本框 32">
            <a:extLst>
              <a:ext uri="{FF2B5EF4-FFF2-40B4-BE49-F238E27FC236}">
                <a16:creationId xmlns:a16="http://schemas.microsoft.com/office/drawing/2014/main" id="{5FEAFC40-C75D-4E69-E972-B91EFA21471E}"/>
              </a:ext>
            </a:extLst>
          </p:cNvPr>
          <p:cNvSpPr txBox="1"/>
          <p:nvPr/>
        </p:nvSpPr>
        <p:spPr>
          <a:xfrm flipH="1">
            <a:off x="7622151" y="2114674"/>
            <a:ext cx="3942323" cy="1331711"/>
          </a:xfrm>
          <a:prstGeom prst="rect">
            <a:avLst/>
          </a:prstGeom>
          <a:noFill/>
        </p:spPr>
        <p:txBody>
          <a:bodyPr wrap="square" rtlCol="0">
            <a:spAutoFit/>
          </a:bodyPr>
          <a:lstStyle/>
          <a:p>
            <a:pPr marL="171450" indent="-171450">
              <a:lnSpc>
                <a:spcPct val="150000"/>
              </a:lnSpc>
              <a:buFont typeface="Wingdings" panose="05000000000000000000" pitchFamily="2" charset="2"/>
              <a:buChar char="ü"/>
            </a:pPr>
            <a:r>
              <a:rPr lang="en-US" altLang="zh-CN" sz="1100" dirty="0"/>
              <a:t>Robotaxi</a:t>
            </a:r>
            <a:r>
              <a:rPr lang="zh-CN" altLang="en-US" sz="1100" dirty="0"/>
              <a:t>车外输入手机尾号</a:t>
            </a:r>
            <a:endParaRPr lang="en-US" altLang="zh-CN" sz="1100" dirty="0"/>
          </a:p>
          <a:p>
            <a:pPr marL="171450" indent="-171450">
              <a:lnSpc>
                <a:spcPct val="150000"/>
              </a:lnSpc>
              <a:buFont typeface="Wingdings" panose="05000000000000000000" pitchFamily="2" charset="2"/>
              <a:buChar char="ü"/>
            </a:pPr>
            <a:r>
              <a:rPr lang="zh-CN" altLang="en-US" sz="1100" dirty="0"/>
              <a:t>乘客能通过前排或后排信息交互屏自行查看信息</a:t>
            </a:r>
            <a:endParaRPr lang="en-US" altLang="zh-CN" sz="1100" dirty="0"/>
          </a:p>
          <a:p>
            <a:pPr marL="171450" indent="-171450">
              <a:lnSpc>
                <a:spcPct val="150000"/>
              </a:lnSpc>
              <a:buFont typeface="Wingdings" panose="05000000000000000000" pitchFamily="2" charset="2"/>
              <a:buChar char="ü"/>
            </a:pPr>
            <a:r>
              <a:rPr lang="zh-CN" altLang="en-US" sz="1100" dirty="0"/>
              <a:t>驾驶位人脸识别身份认证，其他位置的声纹识别，进行响应舒适性的调整（座椅位置、温度等），并能互动时，叫响应的名字</a:t>
            </a:r>
          </a:p>
        </p:txBody>
      </p:sp>
      <p:sp>
        <p:nvSpPr>
          <p:cNvPr id="35" name="文本框 34">
            <a:extLst>
              <a:ext uri="{FF2B5EF4-FFF2-40B4-BE49-F238E27FC236}">
                <a16:creationId xmlns:a16="http://schemas.microsoft.com/office/drawing/2014/main" id="{949B7E41-B79D-C508-592E-EAA7D5AF1727}"/>
              </a:ext>
            </a:extLst>
          </p:cNvPr>
          <p:cNvSpPr txBox="1"/>
          <p:nvPr/>
        </p:nvSpPr>
        <p:spPr>
          <a:xfrm>
            <a:off x="7746011" y="5885574"/>
            <a:ext cx="3118161" cy="253916"/>
          </a:xfrm>
          <a:prstGeom prst="rect">
            <a:avLst/>
          </a:prstGeom>
          <a:noFill/>
        </p:spPr>
        <p:txBody>
          <a:bodyPr wrap="none" rtlCol="0">
            <a:spAutoFit/>
          </a:bodyPr>
          <a:lstStyle/>
          <a:p>
            <a:pPr marL="171450" indent="-171450">
              <a:buFont typeface="Wingdings" panose="05000000000000000000" pitchFamily="2" charset="2"/>
              <a:buChar char="ü"/>
            </a:pPr>
            <a:r>
              <a:rPr lang="zh-CN" altLang="en-US" sz="1050" dirty="0"/>
              <a:t>特斯拉</a:t>
            </a:r>
            <a:r>
              <a:rPr lang="en-US" altLang="zh-CN" sz="1050" dirty="0"/>
              <a:t>L4</a:t>
            </a:r>
            <a:r>
              <a:rPr lang="zh-CN" altLang="en-US" sz="1050" dirty="0"/>
              <a:t>的</a:t>
            </a:r>
            <a:r>
              <a:rPr lang="en-US" altLang="zh-CN" sz="1050" dirty="0" err="1"/>
              <a:t>airbnb</a:t>
            </a:r>
            <a:r>
              <a:rPr lang="zh-CN" altLang="en-US" sz="1050" dirty="0"/>
              <a:t>模式</a:t>
            </a:r>
            <a:r>
              <a:rPr lang="en-US" altLang="zh-CN" sz="1050" dirty="0"/>
              <a:t>+</a:t>
            </a:r>
            <a:r>
              <a:rPr lang="zh-CN" altLang="en-US" sz="1050" dirty="0"/>
              <a:t>自己使用模式灵活切换</a:t>
            </a:r>
          </a:p>
        </p:txBody>
      </p:sp>
    </p:spTree>
    <p:extLst>
      <p:ext uri="{BB962C8B-B14F-4D97-AF65-F5344CB8AC3E}">
        <p14:creationId xmlns:p14="http://schemas.microsoft.com/office/powerpoint/2010/main" val="405858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B5C14-6F4A-05DF-E96E-B8C3A14CDA6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1288DD0-07A6-1150-EDB6-0FF947747A93}"/>
              </a:ext>
            </a:extLst>
          </p:cNvPr>
          <p:cNvSpPr>
            <a:spLocks noGrp="1"/>
          </p:cNvSpPr>
          <p:nvPr>
            <p:ph type="title" idx="4294967295"/>
          </p:nvPr>
        </p:nvSpPr>
        <p:spPr>
          <a:xfrm>
            <a:off x="669924" y="433637"/>
            <a:ext cx="10440000" cy="595063"/>
          </a:xfrm>
        </p:spPr>
        <p:txBody>
          <a:bodyPr/>
          <a:lstStyle/>
          <a:p>
            <a:r>
              <a:rPr lang="zh-CN" altLang="en-US" dirty="0"/>
              <a:t>上车时阶段</a:t>
            </a:r>
            <a:r>
              <a:rPr lang="en-US" altLang="zh-CN" dirty="0"/>
              <a:t>——</a:t>
            </a:r>
            <a:r>
              <a:rPr lang="zh-CN" altLang="en-US" dirty="0"/>
              <a:t>行程确认</a:t>
            </a:r>
          </a:p>
        </p:txBody>
      </p:sp>
      <p:sp>
        <p:nvSpPr>
          <p:cNvPr id="16" name="文本占位符 4">
            <a:extLst>
              <a:ext uri="{FF2B5EF4-FFF2-40B4-BE49-F238E27FC236}">
                <a16:creationId xmlns:a16="http://schemas.microsoft.com/office/drawing/2014/main" id="{5F32F933-03F0-4B10-C933-BDE7A7BB0E7C}"/>
              </a:ext>
            </a:extLst>
          </p:cNvPr>
          <p:cNvSpPr txBox="1"/>
          <p:nvPr/>
        </p:nvSpPr>
        <p:spPr>
          <a:xfrm>
            <a:off x="5183625" y="1395662"/>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a:extLst>
              <a:ext uri="{FF2B5EF4-FFF2-40B4-BE49-F238E27FC236}">
                <a16:creationId xmlns:a16="http://schemas.microsoft.com/office/drawing/2014/main" id="{9767A7B4-1525-14A4-1C79-47BC467C00C0}"/>
              </a:ext>
            </a:extLst>
          </p:cNvPr>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a:extLst>
              <a:ext uri="{FF2B5EF4-FFF2-40B4-BE49-F238E27FC236}">
                <a16:creationId xmlns:a16="http://schemas.microsoft.com/office/drawing/2014/main" id="{4B9724D6-C287-BB89-7422-50DBEB851783}"/>
              </a:ext>
            </a:extLst>
          </p:cNvPr>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a:extLst>
              <a:ext uri="{FF2B5EF4-FFF2-40B4-BE49-F238E27FC236}">
                <a16:creationId xmlns:a16="http://schemas.microsoft.com/office/drawing/2014/main" id="{103DE44B-DDAA-3810-23BD-713812F1F10F}"/>
              </a:ext>
            </a:extLst>
          </p:cNvPr>
          <p:cNvSpPr txBox="1"/>
          <p:nvPr/>
        </p:nvSpPr>
        <p:spPr>
          <a:xfrm>
            <a:off x="100836" y="3107151"/>
            <a:ext cx="366036" cy="1169551"/>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行程确认</a:t>
            </a:r>
          </a:p>
        </p:txBody>
      </p:sp>
      <p:sp>
        <p:nvSpPr>
          <p:cNvPr id="10" name="文本框 9">
            <a:extLst>
              <a:ext uri="{FF2B5EF4-FFF2-40B4-BE49-F238E27FC236}">
                <a16:creationId xmlns:a16="http://schemas.microsoft.com/office/drawing/2014/main" id="{DD77FF1F-8571-71E4-4552-ECF242026118}"/>
              </a:ext>
            </a:extLst>
          </p:cNvPr>
          <p:cNvSpPr txBox="1"/>
          <p:nvPr/>
        </p:nvSpPr>
        <p:spPr>
          <a:xfrm>
            <a:off x="432154" y="2252879"/>
            <a:ext cx="996707" cy="3139321"/>
          </a:xfrm>
          <a:prstGeom prst="rect">
            <a:avLst/>
          </a:prstGeom>
          <a:noFill/>
        </p:spPr>
        <p:txBody>
          <a:bodyPr wrap="square">
            <a:spAutoFit/>
          </a:bodyPr>
          <a:lstStyle/>
          <a:p>
            <a:pPr marL="17145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路线到达时间确认</a:t>
            </a: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endParaRPr lang="en-US" altLang="zh-CN" sz="1100" dirty="0">
              <a:solidFill>
                <a:srgbClr val="000000"/>
              </a:solidFill>
              <a:latin typeface="微软雅黑" panose="020B0503020204020204" pitchFamily="34" charset="-122"/>
              <a:ea typeface="微软雅黑" panose="020B0503020204020204" pitchFamily="34" charset="-122"/>
            </a:endParaRPr>
          </a:p>
          <a:p>
            <a:pPr marL="171450" lvl="0" indent="-171450" fontAlgn="b">
              <a:spcBef>
                <a:spcPts val="600"/>
              </a:spcBef>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费用确认</a:t>
            </a:r>
            <a:endParaRPr lang="en-US" altLang="zh-CN" sz="11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a:extLst>
              <a:ext uri="{FF2B5EF4-FFF2-40B4-BE49-F238E27FC236}">
                <a16:creationId xmlns:a16="http://schemas.microsoft.com/office/drawing/2014/main" id="{942E0FE1-D29E-47D0-7369-A17FF334BDE0}"/>
              </a:ext>
            </a:extLst>
          </p:cNvPr>
          <p:cNvSpPr txBox="1"/>
          <p:nvPr/>
        </p:nvSpPr>
        <p:spPr>
          <a:xfrm>
            <a:off x="2143529" y="1384066"/>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a:extLst>
              <a:ext uri="{FF2B5EF4-FFF2-40B4-BE49-F238E27FC236}">
                <a16:creationId xmlns:a16="http://schemas.microsoft.com/office/drawing/2014/main" id="{8055DFBC-D002-36B0-6FF9-FD3C72169395}"/>
              </a:ext>
            </a:extLst>
          </p:cNvPr>
          <p:cNvSpPr txBox="1"/>
          <p:nvPr/>
        </p:nvSpPr>
        <p:spPr>
          <a:xfrm>
            <a:off x="9262073" y="1398077"/>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a:extLst>
              <a:ext uri="{FF2B5EF4-FFF2-40B4-BE49-F238E27FC236}">
                <a16:creationId xmlns:a16="http://schemas.microsoft.com/office/drawing/2014/main" id="{04C67ED1-9C70-627F-0425-B844496CFDCF}"/>
              </a:ext>
            </a:extLst>
          </p:cNvPr>
          <p:cNvCxnSpPr/>
          <p:nvPr/>
        </p:nvCxnSpPr>
        <p:spPr>
          <a:xfrm>
            <a:off x="3102955" y="1810163"/>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a:extLst>
              <a:ext uri="{FF2B5EF4-FFF2-40B4-BE49-F238E27FC236}">
                <a16:creationId xmlns:a16="http://schemas.microsoft.com/office/drawing/2014/main" id="{9E3DDAAF-4986-8476-70D8-847C10B4776C}"/>
              </a:ext>
            </a:extLst>
          </p:cNvPr>
          <p:cNvSpPr txBox="1"/>
          <p:nvPr/>
        </p:nvSpPr>
        <p:spPr>
          <a:xfrm>
            <a:off x="320111" y="1389551"/>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中高场景</a:t>
            </a:r>
          </a:p>
        </p:txBody>
      </p:sp>
      <p:cxnSp>
        <p:nvCxnSpPr>
          <p:cNvPr id="34" name="直接连接符 33">
            <a:extLst>
              <a:ext uri="{FF2B5EF4-FFF2-40B4-BE49-F238E27FC236}">
                <a16:creationId xmlns:a16="http://schemas.microsoft.com/office/drawing/2014/main" id="{0F5D524F-D235-E766-2AF4-8791EE9C3D99}"/>
              </a:ext>
            </a:extLst>
          </p:cNvPr>
          <p:cNvCxnSpPr/>
          <p:nvPr/>
        </p:nvCxnSpPr>
        <p:spPr>
          <a:xfrm>
            <a:off x="1320805" y="1734216"/>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a:extLst>
              <a:ext uri="{FF2B5EF4-FFF2-40B4-BE49-F238E27FC236}">
                <a16:creationId xmlns:a16="http://schemas.microsoft.com/office/drawing/2014/main" id="{80C71760-DD2B-7584-F12F-F6130D21E6EF}"/>
              </a:ext>
            </a:extLst>
          </p:cNvPr>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9" name="直接连接符 8">
            <a:extLst>
              <a:ext uri="{FF2B5EF4-FFF2-40B4-BE49-F238E27FC236}">
                <a16:creationId xmlns:a16="http://schemas.microsoft.com/office/drawing/2014/main" id="{6DC71AA0-4D24-5DF4-F731-22CD66602F9C}"/>
              </a:ext>
            </a:extLst>
          </p:cNvPr>
          <p:cNvCxnSpPr>
            <a:cxnSpLocks/>
          </p:cNvCxnSpPr>
          <p:nvPr/>
        </p:nvCxnSpPr>
        <p:spPr>
          <a:xfrm>
            <a:off x="480328" y="4370742"/>
            <a:ext cx="7369899"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B8AFB850-AEB7-7D29-4F71-7502CFE05C2A}"/>
              </a:ext>
            </a:extLst>
          </p:cNvPr>
          <p:cNvSpPr txBox="1"/>
          <p:nvPr/>
        </p:nvSpPr>
        <p:spPr>
          <a:xfrm>
            <a:off x="1965406" y="2511321"/>
            <a:ext cx="1773159" cy="253916"/>
          </a:xfrm>
          <a:prstGeom prst="rect">
            <a:avLst/>
          </a:prstGeom>
          <a:noFill/>
        </p:spPr>
        <p:txBody>
          <a:bodyPr wrap="square" rtlCol="0">
            <a:spAutoFit/>
          </a:bodyPr>
          <a:lstStyle/>
          <a:p>
            <a:pPr marL="171450" indent="-171450">
              <a:spcBef>
                <a:spcPts val="600"/>
              </a:spcBef>
              <a:buFont typeface="Arial" panose="020B0604020202020204" pitchFamily="34" charset="0"/>
              <a:buChar char="•"/>
            </a:pPr>
            <a:endParaRPr lang="zh-CN" altLang="en-US" sz="1050" dirty="0"/>
          </a:p>
        </p:txBody>
      </p:sp>
      <p:sp>
        <p:nvSpPr>
          <p:cNvPr id="17" name="文本框 16">
            <a:extLst>
              <a:ext uri="{FF2B5EF4-FFF2-40B4-BE49-F238E27FC236}">
                <a16:creationId xmlns:a16="http://schemas.microsoft.com/office/drawing/2014/main" id="{F0B31191-B47B-16BD-ED85-AA3CB86B8AAB}"/>
              </a:ext>
            </a:extLst>
          </p:cNvPr>
          <p:cNvSpPr txBox="1"/>
          <p:nvPr/>
        </p:nvSpPr>
        <p:spPr>
          <a:xfrm>
            <a:off x="1901155" y="5140813"/>
            <a:ext cx="1773159" cy="577081"/>
          </a:xfrm>
          <a:prstGeom prst="rect">
            <a:avLst/>
          </a:prstGeom>
          <a:noFill/>
        </p:spPr>
        <p:txBody>
          <a:bodyPr wrap="square" rtlCol="0">
            <a:spAutoFit/>
          </a:bodyPr>
          <a:lstStyle/>
          <a:p>
            <a:pPr marL="171450" indent="-171450">
              <a:buFont typeface="Arial" panose="020B0604020202020204" pitchFamily="34" charset="0"/>
              <a:buChar char="•"/>
            </a:pPr>
            <a:endParaRPr lang="en-US" altLang="zh-CN" sz="1050" dirty="0"/>
          </a:p>
          <a:p>
            <a:pPr marL="171450" indent="-171450">
              <a:buFont typeface="Arial" panose="020B0604020202020204" pitchFamily="34" charset="0"/>
              <a:buChar char="•"/>
            </a:pPr>
            <a:endParaRPr lang="en-US" altLang="zh-CN" sz="1050" dirty="0"/>
          </a:p>
          <a:p>
            <a:pPr marL="171450" indent="-171450">
              <a:buFont typeface="Arial" panose="020B0604020202020204" pitchFamily="34" charset="0"/>
              <a:buChar char="•"/>
            </a:pPr>
            <a:endParaRPr lang="zh-CN" altLang="en-US" sz="1050" dirty="0"/>
          </a:p>
        </p:txBody>
      </p:sp>
      <p:sp>
        <p:nvSpPr>
          <p:cNvPr id="5" name="文本框 4">
            <a:extLst>
              <a:ext uri="{FF2B5EF4-FFF2-40B4-BE49-F238E27FC236}">
                <a16:creationId xmlns:a16="http://schemas.microsoft.com/office/drawing/2014/main" id="{997784EC-B705-BF99-7519-753DD2A0F259}"/>
              </a:ext>
            </a:extLst>
          </p:cNvPr>
          <p:cNvSpPr txBox="1"/>
          <p:nvPr/>
        </p:nvSpPr>
        <p:spPr>
          <a:xfrm>
            <a:off x="1944513" y="4005258"/>
            <a:ext cx="1773159" cy="730969"/>
          </a:xfrm>
          <a:prstGeom prst="rect">
            <a:avLst/>
          </a:prstGeom>
          <a:noFill/>
        </p:spPr>
        <p:txBody>
          <a:bodyPr wrap="square" rtlCol="0">
            <a:spAutoFit/>
          </a:bodyPr>
          <a:lstStyle/>
          <a:p>
            <a:pPr marL="171450" indent="-171450">
              <a:spcBef>
                <a:spcPts val="600"/>
              </a:spcBef>
              <a:buFont typeface="Arial" panose="020B0604020202020204" pitchFamily="34" charset="0"/>
              <a:buChar char="•"/>
            </a:pPr>
            <a:endParaRPr lang="en-US" altLang="zh-CN" sz="1050" dirty="0"/>
          </a:p>
          <a:p>
            <a:pPr marL="171450" indent="-171450">
              <a:spcBef>
                <a:spcPts val="600"/>
              </a:spcBef>
              <a:buFont typeface="Arial" panose="020B0604020202020204" pitchFamily="34" charset="0"/>
              <a:buChar char="•"/>
            </a:pPr>
            <a:endParaRPr lang="en-US" altLang="zh-CN" sz="1050" dirty="0"/>
          </a:p>
          <a:p>
            <a:pPr marL="171450" indent="-171450">
              <a:spcBef>
                <a:spcPts val="600"/>
              </a:spcBef>
              <a:buFont typeface="Arial" panose="020B0604020202020204" pitchFamily="34" charset="0"/>
              <a:buChar char="•"/>
            </a:pPr>
            <a:endParaRPr lang="zh-CN" altLang="en-US" sz="1050" dirty="0"/>
          </a:p>
        </p:txBody>
      </p:sp>
      <p:cxnSp>
        <p:nvCxnSpPr>
          <p:cNvPr id="14" name="直接连接符 13">
            <a:extLst>
              <a:ext uri="{FF2B5EF4-FFF2-40B4-BE49-F238E27FC236}">
                <a16:creationId xmlns:a16="http://schemas.microsoft.com/office/drawing/2014/main" id="{B8FA4130-CD59-F141-2651-30EB84BDDFEF}"/>
              </a:ext>
            </a:extLst>
          </p:cNvPr>
          <p:cNvCxnSpPr/>
          <p:nvPr/>
        </p:nvCxnSpPr>
        <p:spPr>
          <a:xfrm>
            <a:off x="7846363" y="1890379"/>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D3E7B114-3A0F-53D0-C7D3-8DFA0CA2338E}"/>
              </a:ext>
            </a:extLst>
          </p:cNvPr>
          <p:cNvSpPr txBox="1"/>
          <p:nvPr/>
        </p:nvSpPr>
        <p:spPr>
          <a:xfrm>
            <a:off x="2016291" y="4726570"/>
            <a:ext cx="1722274" cy="430887"/>
          </a:xfrm>
          <a:prstGeom prst="rect">
            <a:avLst/>
          </a:prstGeom>
          <a:noFill/>
        </p:spPr>
        <p:txBody>
          <a:bodyPr wrap="square" rtlCol="0">
            <a:spAutoFit/>
          </a:bodyPr>
          <a:lstStyle/>
          <a:p>
            <a:pPr marL="171450" indent="-171450">
              <a:buFont typeface="Arial" panose="020B0604020202020204" pitchFamily="34" charset="0"/>
              <a:buChar char="•"/>
            </a:pPr>
            <a:endParaRPr lang="en-US" altLang="zh-CN" sz="1100" dirty="0"/>
          </a:p>
          <a:p>
            <a:pPr marL="171450" indent="-171450">
              <a:buFont typeface="Arial" panose="020B0604020202020204" pitchFamily="34" charset="0"/>
              <a:buChar char="•"/>
            </a:pPr>
            <a:endParaRPr lang="zh-CN" altLang="en-US" sz="1100" dirty="0"/>
          </a:p>
        </p:txBody>
      </p:sp>
      <p:sp>
        <p:nvSpPr>
          <p:cNvPr id="7" name="文本框 6">
            <a:extLst>
              <a:ext uri="{FF2B5EF4-FFF2-40B4-BE49-F238E27FC236}">
                <a16:creationId xmlns:a16="http://schemas.microsoft.com/office/drawing/2014/main" id="{521B84E2-763D-11CA-6903-9C2FFDE1ACED}"/>
              </a:ext>
            </a:extLst>
          </p:cNvPr>
          <p:cNvSpPr txBox="1"/>
          <p:nvPr/>
        </p:nvSpPr>
        <p:spPr>
          <a:xfrm>
            <a:off x="1340763" y="2082157"/>
            <a:ext cx="1763630" cy="1839543"/>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100" dirty="0"/>
              <a:t>多人乘车，中途下车</a:t>
            </a:r>
            <a:endParaRPr lang="en-US" altLang="zh-CN" sz="1100" dirty="0"/>
          </a:p>
          <a:p>
            <a:pPr marL="171450" indent="-171450">
              <a:lnSpc>
                <a:spcPct val="150000"/>
              </a:lnSpc>
              <a:buFont typeface="Arial" panose="020B0604020202020204" pitchFamily="34" charset="0"/>
              <a:buChar char="•"/>
            </a:pPr>
            <a:r>
              <a:rPr lang="zh-CN" altLang="en-US" sz="1100" dirty="0"/>
              <a:t>司机确认按导航路线行驶时</a:t>
            </a:r>
            <a:r>
              <a:rPr lang="en-US" altLang="zh-CN" sz="1100" dirty="0"/>
              <a:t>ok</a:t>
            </a:r>
          </a:p>
          <a:p>
            <a:pPr marL="171450" indent="-171450">
              <a:lnSpc>
                <a:spcPct val="150000"/>
              </a:lnSpc>
              <a:buFont typeface="Arial" panose="020B0604020202020204" pitchFamily="34" charset="0"/>
              <a:buChar char="•"/>
            </a:pPr>
            <a:r>
              <a:rPr lang="zh-CN" altLang="en-US" sz="1100" dirty="0"/>
              <a:t>乘客特殊要求，不走高架</a:t>
            </a:r>
            <a:endParaRPr lang="en-US" altLang="zh-CN" sz="1100" dirty="0"/>
          </a:p>
          <a:p>
            <a:pPr marL="171450" indent="-171450">
              <a:lnSpc>
                <a:spcPct val="150000"/>
              </a:lnSpc>
              <a:buFont typeface="Arial" panose="020B0604020202020204" pitchFamily="34" charset="0"/>
              <a:buChar char="•"/>
            </a:pPr>
            <a:r>
              <a:rPr lang="zh-CN" altLang="en-US" sz="1100" dirty="0"/>
              <a:t>提醒比预定时间延长的情形，安全与效率平衡</a:t>
            </a:r>
          </a:p>
        </p:txBody>
      </p:sp>
      <p:sp>
        <p:nvSpPr>
          <p:cNvPr id="8" name="文本框 7">
            <a:extLst>
              <a:ext uri="{FF2B5EF4-FFF2-40B4-BE49-F238E27FC236}">
                <a16:creationId xmlns:a16="http://schemas.microsoft.com/office/drawing/2014/main" id="{BF6D02BC-BBAB-5AA0-4861-9E86E35467EF}"/>
              </a:ext>
            </a:extLst>
          </p:cNvPr>
          <p:cNvSpPr txBox="1"/>
          <p:nvPr/>
        </p:nvSpPr>
        <p:spPr>
          <a:xfrm flipH="1">
            <a:off x="8211681" y="5484598"/>
            <a:ext cx="3537878" cy="789512"/>
          </a:xfrm>
          <a:prstGeom prst="rect">
            <a:avLst/>
          </a:prstGeom>
          <a:noFill/>
        </p:spPr>
        <p:txBody>
          <a:bodyPr wrap="square" rtlCol="0">
            <a:spAutoFit/>
          </a:bodyPr>
          <a:lstStyle/>
          <a:p>
            <a:pPr marL="171450" indent="-171450">
              <a:lnSpc>
                <a:spcPct val="150000"/>
              </a:lnSpc>
              <a:buFont typeface="Wingdings" panose="05000000000000000000" pitchFamily="2" charset="2"/>
              <a:buChar char="ü"/>
            </a:pPr>
            <a:r>
              <a:rPr lang="zh-CN" altLang="en-US" sz="1050" dirty="0"/>
              <a:t>对于</a:t>
            </a:r>
            <a:r>
              <a:rPr lang="en-US" altLang="zh-CN" sz="1050" dirty="0"/>
              <a:t>Robotaxi</a:t>
            </a:r>
            <a:r>
              <a:rPr lang="zh-CN" altLang="en-US" sz="1050" dirty="0"/>
              <a:t>的更丰富定价，如回程高速费，回程费等（</a:t>
            </a:r>
            <a:r>
              <a:rPr lang="en-US" altLang="zh-CN" sz="1050" dirty="0"/>
              <a:t>100%</a:t>
            </a:r>
            <a:r>
              <a:rPr lang="zh-CN" altLang="en-US" sz="1050" dirty="0"/>
              <a:t>无回程单情况下）</a:t>
            </a:r>
            <a:endParaRPr lang="en-US" altLang="zh-CN" sz="1050" dirty="0"/>
          </a:p>
          <a:p>
            <a:pPr>
              <a:lnSpc>
                <a:spcPct val="150000"/>
              </a:lnSpc>
            </a:pPr>
            <a:endParaRPr lang="zh-CN" altLang="en-US" sz="1050" dirty="0"/>
          </a:p>
        </p:txBody>
      </p:sp>
      <p:sp>
        <p:nvSpPr>
          <p:cNvPr id="15" name="文本框 14">
            <a:extLst>
              <a:ext uri="{FF2B5EF4-FFF2-40B4-BE49-F238E27FC236}">
                <a16:creationId xmlns:a16="http://schemas.microsoft.com/office/drawing/2014/main" id="{3A4999C3-62AF-24BC-1980-0B6B4C3798DA}"/>
              </a:ext>
            </a:extLst>
          </p:cNvPr>
          <p:cNvSpPr txBox="1"/>
          <p:nvPr/>
        </p:nvSpPr>
        <p:spPr>
          <a:xfrm>
            <a:off x="4331215" y="2012925"/>
            <a:ext cx="1204176" cy="430887"/>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确认导航路线</a:t>
            </a:r>
            <a:endParaRPr lang="en-US" altLang="zh-CN" sz="1100" b="1" dirty="0"/>
          </a:p>
          <a:p>
            <a:r>
              <a:rPr lang="en-US" altLang="zh-CN" sz="1050" b="1" dirty="0"/>
              <a:t>     </a:t>
            </a:r>
          </a:p>
        </p:txBody>
      </p:sp>
      <p:sp>
        <p:nvSpPr>
          <p:cNvPr id="19" name="文本框 18">
            <a:extLst>
              <a:ext uri="{FF2B5EF4-FFF2-40B4-BE49-F238E27FC236}">
                <a16:creationId xmlns:a16="http://schemas.microsoft.com/office/drawing/2014/main" id="{74F6B1F6-2D1B-855B-7B13-F0640DE351D3}"/>
              </a:ext>
            </a:extLst>
          </p:cNvPr>
          <p:cNvSpPr txBox="1"/>
          <p:nvPr/>
        </p:nvSpPr>
        <p:spPr>
          <a:xfrm>
            <a:off x="3126165" y="2011059"/>
            <a:ext cx="922047"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中途下车</a:t>
            </a:r>
          </a:p>
        </p:txBody>
      </p:sp>
      <p:sp>
        <p:nvSpPr>
          <p:cNvPr id="20" name="文本框 19">
            <a:extLst>
              <a:ext uri="{FF2B5EF4-FFF2-40B4-BE49-F238E27FC236}">
                <a16:creationId xmlns:a16="http://schemas.microsoft.com/office/drawing/2014/main" id="{C1165610-1531-8F92-9CDB-191E6CA08274}"/>
              </a:ext>
            </a:extLst>
          </p:cNvPr>
          <p:cNvSpPr txBox="1"/>
          <p:nvPr/>
        </p:nvSpPr>
        <p:spPr>
          <a:xfrm>
            <a:off x="3282695" y="2329071"/>
            <a:ext cx="1063112" cy="568810"/>
          </a:xfrm>
          <a:prstGeom prst="rect">
            <a:avLst/>
          </a:prstGeom>
          <a:noFill/>
        </p:spPr>
        <p:txBody>
          <a:bodyPr wrap="none" rtlCol="0">
            <a:spAutoFit/>
          </a:bodyPr>
          <a:lstStyle/>
          <a:p>
            <a:pPr marL="171450" indent="-171450">
              <a:lnSpc>
                <a:spcPct val="150000"/>
              </a:lnSpc>
              <a:buFont typeface="Arial" panose="020B0604020202020204" pitchFamily="34" charset="0"/>
              <a:buChar char="•"/>
            </a:pPr>
            <a:r>
              <a:rPr lang="zh-CN" altLang="en-US" sz="1050" dirty="0"/>
              <a:t>添加途经点</a:t>
            </a:r>
            <a:endParaRPr lang="en-US" altLang="zh-CN" sz="1050" dirty="0"/>
          </a:p>
          <a:p>
            <a:pPr marL="171450" indent="-171450">
              <a:lnSpc>
                <a:spcPct val="150000"/>
              </a:lnSpc>
              <a:buFont typeface="Arial" panose="020B0604020202020204" pitchFamily="34" charset="0"/>
              <a:buChar char="•"/>
            </a:pPr>
            <a:r>
              <a:rPr lang="zh-CN" altLang="en-US" sz="1050" dirty="0"/>
              <a:t>客户指路</a:t>
            </a:r>
          </a:p>
        </p:txBody>
      </p:sp>
      <p:sp>
        <p:nvSpPr>
          <p:cNvPr id="21" name="文本框 20">
            <a:extLst>
              <a:ext uri="{FF2B5EF4-FFF2-40B4-BE49-F238E27FC236}">
                <a16:creationId xmlns:a16="http://schemas.microsoft.com/office/drawing/2014/main" id="{338EE6C2-C199-3EA3-C67A-01817817167C}"/>
              </a:ext>
            </a:extLst>
          </p:cNvPr>
          <p:cNvSpPr txBox="1"/>
          <p:nvPr/>
        </p:nvSpPr>
        <p:spPr>
          <a:xfrm>
            <a:off x="6052576" y="1946550"/>
            <a:ext cx="1896673" cy="1043427"/>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sz="1100" b="1" dirty="0"/>
              <a:t>乘客特殊路线要求</a:t>
            </a:r>
            <a:endParaRPr lang="en-US" altLang="zh-CN" sz="1100" b="1" dirty="0"/>
          </a:p>
          <a:p>
            <a:pPr marL="285750" indent="-285750">
              <a:lnSpc>
                <a:spcPct val="150000"/>
              </a:lnSpc>
              <a:buFont typeface="Arial" panose="020B0604020202020204" pitchFamily="34" charset="0"/>
              <a:buChar char="•"/>
            </a:pPr>
            <a:endParaRPr lang="en-US" altLang="zh-CN" sz="1050" dirty="0"/>
          </a:p>
          <a:p>
            <a:pPr marL="285750" indent="-285750">
              <a:lnSpc>
                <a:spcPct val="150000"/>
              </a:lnSpc>
              <a:buFont typeface="Arial" panose="020B0604020202020204" pitchFamily="34" charset="0"/>
              <a:buChar char="•"/>
            </a:pPr>
            <a:endParaRPr lang="en-US" altLang="zh-CN" sz="1050" dirty="0"/>
          </a:p>
          <a:p>
            <a:pPr marL="285750" indent="-285750">
              <a:lnSpc>
                <a:spcPct val="150000"/>
              </a:lnSpc>
              <a:buFont typeface="Arial" panose="020B0604020202020204" pitchFamily="34" charset="0"/>
              <a:buChar char="•"/>
            </a:pPr>
            <a:endParaRPr lang="zh-CN" altLang="en-US" sz="1050" dirty="0"/>
          </a:p>
        </p:txBody>
      </p:sp>
      <p:sp>
        <p:nvSpPr>
          <p:cNvPr id="22" name="文本框 21">
            <a:extLst>
              <a:ext uri="{FF2B5EF4-FFF2-40B4-BE49-F238E27FC236}">
                <a16:creationId xmlns:a16="http://schemas.microsoft.com/office/drawing/2014/main" id="{DAB6C5C0-05FA-B9D7-FBB1-8E6F0FE04777}"/>
              </a:ext>
            </a:extLst>
          </p:cNvPr>
          <p:cNvSpPr txBox="1"/>
          <p:nvPr/>
        </p:nvSpPr>
        <p:spPr>
          <a:xfrm>
            <a:off x="3098005" y="4523972"/>
            <a:ext cx="1281120"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司机加价场景</a:t>
            </a:r>
            <a:endParaRPr lang="en-US" altLang="zh-CN" sz="1200" b="1" dirty="0"/>
          </a:p>
        </p:txBody>
      </p:sp>
      <p:sp>
        <p:nvSpPr>
          <p:cNvPr id="31" name="文本框 30">
            <a:extLst>
              <a:ext uri="{FF2B5EF4-FFF2-40B4-BE49-F238E27FC236}">
                <a16:creationId xmlns:a16="http://schemas.microsoft.com/office/drawing/2014/main" id="{38F10DE2-EFC7-47B9-2904-39E3526F8414}"/>
              </a:ext>
            </a:extLst>
          </p:cNvPr>
          <p:cNvSpPr txBox="1"/>
          <p:nvPr/>
        </p:nvSpPr>
        <p:spPr>
          <a:xfrm>
            <a:off x="4950811" y="5484598"/>
            <a:ext cx="2544272" cy="261610"/>
          </a:xfrm>
          <a:prstGeom prst="rect">
            <a:avLst/>
          </a:prstGeom>
          <a:noFill/>
        </p:spPr>
        <p:txBody>
          <a:bodyPr wrap="square">
            <a:spAutoFit/>
          </a:bodyPr>
          <a:lstStyle/>
          <a:p>
            <a:pPr marL="285750" indent="-285750">
              <a:buFont typeface="Wingdings" panose="05000000000000000000" pitchFamily="2" charset="2"/>
              <a:buChar char="Ø"/>
            </a:pPr>
            <a:r>
              <a:rPr lang="zh-CN" altLang="en-US" sz="1100" dirty="0"/>
              <a:t>正常服务中不包含高速费</a:t>
            </a:r>
          </a:p>
        </p:txBody>
      </p:sp>
      <p:sp>
        <p:nvSpPr>
          <p:cNvPr id="24" name="文本框 23">
            <a:extLst>
              <a:ext uri="{FF2B5EF4-FFF2-40B4-BE49-F238E27FC236}">
                <a16:creationId xmlns:a16="http://schemas.microsoft.com/office/drawing/2014/main" id="{9DD57503-0A77-2632-8383-304712F6394F}"/>
              </a:ext>
            </a:extLst>
          </p:cNvPr>
          <p:cNvSpPr txBox="1"/>
          <p:nvPr/>
        </p:nvSpPr>
        <p:spPr>
          <a:xfrm>
            <a:off x="4412763" y="2255453"/>
            <a:ext cx="1724542" cy="1031886"/>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050" dirty="0"/>
              <a:t>客户赶时间，通过自己手机导航寻找更快路线，如差旅</a:t>
            </a:r>
            <a:endParaRPr lang="en-US" altLang="zh-CN" sz="1050" dirty="0"/>
          </a:p>
          <a:p>
            <a:pPr marL="171450" indent="-171450">
              <a:lnSpc>
                <a:spcPct val="150000"/>
              </a:lnSpc>
              <a:buFont typeface="Arial" panose="020B0604020202020204" pitchFamily="34" charset="0"/>
              <a:buChar char="•"/>
            </a:pPr>
            <a:endParaRPr lang="zh-CN" altLang="en-US" sz="1050" dirty="0"/>
          </a:p>
        </p:txBody>
      </p:sp>
      <p:sp>
        <p:nvSpPr>
          <p:cNvPr id="25" name="文本框 24">
            <a:extLst>
              <a:ext uri="{FF2B5EF4-FFF2-40B4-BE49-F238E27FC236}">
                <a16:creationId xmlns:a16="http://schemas.microsoft.com/office/drawing/2014/main" id="{9A3CC84F-C194-5801-ECBE-4B0BE9F20BDE}"/>
              </a:ext>
            </a:extLst>
          </p:cNvPr>
          <p:cNvSpPr txBox="1"/>
          <p:nvPr/>
        </p:nvSpPr>
        <p:spPr>
          <a:xfrm>
            <a:off x="6193987" y="2262267"/>
            <a:ext cx="1818555" cy="789512"/>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050" dirty="0"/>
              <a:t>不走高架，如醉酒担心呕吐，沿途上厕所</a:t>
            </a:r>
            <a:endParaRPr lang="en-US" altLang="zh-CN" sz="1050" dirty="0"/>
          </a:p>
          <a:p>
            <a:pPr marL="171450" indent="-171450">
              <a:lnSpc>
                <a:spcPct val="150000"/>
              </a:lnSpc>
              <a:buFont typeface="Arial" panose="020B0604020202020204" pitchFamily="34" charset="0"/>
              <a:buChar char="•"/>
            </a:pPr>
            <a:endParaRPr lang="zh-CN" altLang="en-US" sz="1050" dirty="0"/>
          </a:p>
        </p:txBody>
      </p:sp>
      <p:sp>
        <p:nvSpPr>
          <p:cNvPr id="30" name="文本框 29">
            <a:extLst>
              <a:ext uri="{FF2B5EF4-FFF2-40B4-BE49-F238E27FC236}">
                <a16:creationId xmlns:a16="http://schemas.microsoft.com/office/drawing/2014/main" id="{9DA0C3DC-5ADA-3B08-9D6E-1F7C949ED831}"/>
              </a:ext>
            </a:extLst>
          </p:cNvPr>
          <p:cNvSpPr txBox="1"/>
          <p:nvPr/>
        </p:nvSpPr>
        <p:spPr>
          <a:xfrm flipH="1">
            <a:off x="8197643" y="3541731"/>
            <a:ext cx="3781273" cy="2001382"/>
          </a:xfrm>
          <a:prstGeom prst="rect">
            <a:avLst/>
          </a:prstGeom>
          <a:noFill/>
        </p:spPr>
        <p:txBody>
          <a:bodyPr wrap="square" rtlCol="0">
            <a:spAutoFit/>
          </a:bodyPr>
          <a:lstStyle/>
          <a:p>
            <a:pPr marL="171450" indent="-171450">
              <a:lnSpc>
                <a:spcPct val="150000"/>
              </a:lnSpc>
              <a:buFont typeface="Wingdings" panose="05000000000000000000" pitchFamily="2" charset="2"/>
              <a:buChar char="ü"/>
            </a:pPr>
            <a:r>
              <a:rPr lang="zh-CN" altLang="en-US" sz="1050" dirty="0"/>
              <a:t>导航支持不走高架模式或者方便停车模式，如果乘客醉酒等，可以主动询问是否需要设定为方便停车模式或者支持乘客语音设定为方便停车模式，并提醒要慢多长时间</a:t>
            </a:r>
            <a:endParaRPr lang="en-US" altLang="zh-CN" sz="1050" dirty="0"/>
          </a:p>
          <a:p>
            <a:pPr marL="171450" indent="-171450">
              <a:lnSpc>
                <a:spcPct val="150000"/>
              </a:lnSpc>
              <a:buFont typeface="Wingdings" panose="05000000000000000000" pitchFamily="2" charset="2"/>
              <a:buChar char="ü"/>
            </a:pPr>
            <a:r>
              <a:rPr lang="zh-CN" altLang="en-US" sz="1050" dirty="0"/>
              <a:t>目的地到机场，高铁站时，根据各种新导航规划，导致时间可能延误的场景进行延迟语音提醒</a:t>
            </a:r>
            <a:endParaRPr lang="en-US" altLang="zh-CN" sz="1050" dirty="0"/>
          </a:p>
          <a:p>
            <a:pPr marL="171450" indent="-171450">
              <a:lnSpc>
                <a:spcPct val="150000"/>
              </a:lnSpc>
              <a:buFont typeface="Wingdings" panose="05000000000000000000" pitchFamily="2" charset="2"/>
              <a:buChar char="ü"/>
            </a:pPr>
            <a:r>
              <a:rPr lang="zh-CN" altLang="en-US" sz="1050" dirty="0"/>
              <a:t>根据手机与车机日程表打通，智能判断客户非常赶时间时，自动提醒可能的延误时间</a:t>
            </a:r>
            <a:endParaRPr lang="en-US" altLang="zh-CN" sz="1050" dirty="0"/>
          </a:p>
          <a:p>
            <a:pPr marL="171450" indent="-171450">
              <a:lnSpc>
                <a:spcPct val="150000"/>
              </a:lnSpc>
              <a:buFont typeface="Wingdings" panose="05000000000000000000" pitchFamily="2" charset="2"/>
              <a:buChar char="ü"/>
            </a:pPr>
            <a:endParaRPr lang="zh-CN" altLang="en-US" sz="1050" dirty="0"/>
          </a:p>
        </p:txBody>
      </p:sp>
      <p:sp>
        <p:nvSpPr>
          <p:cNvPr id="32" name="文本框 31">
            <a:extLst>
              <a:ext uri="{FF2B5EF4-FFF2-40B4-BE49-F238E27FC236}">
                <a16:creationId xmlns:a16="http://schemas.microsoft.com/office/drawing/2014/main" id="{9B01CCDE-0EB7-202D-00ED-67DDDE155265}"/>
              </a:ext>
            </a:extLst>
          </p:cNvPr>
          <p:cNvSpPr txBox="1"/>
          <p:nvPr/>
        </p:nvSpPr>
        <p:spPr>
          <a:xfrm>
            <a:off x="3124350" y="3102159"/>
            <a:ext cx="2050561"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各种场景下提醒可能的延误</a:t>
            </a:r>
          </a:p>
        </p:txBody>
      </p:sp>
      <p:sp>
        <p:nvSpPr>
          <p:cNvPr id="33" name="文本框 32">
            <a:extLst>
              <a:ext uri="{FF2B5EF4-FFF2-40B4-BE49-F238E27FC236}">
                <a16:creationId xmlns:a16="http://schemas.microsoft.com/office/drawing/2014/main" id="{5391503A-5C9B-AB96-80F3-26864347A86F}"/>
              </a:ext>
            </a:extLst>
          </p:cNvPr>
          <p:cNvSpPr txBox="1"/>
          <p:nvPr/>
        </p:nvSpPr>
        <p:spPr>
          <a:xfrm>
            <a:off x="3296795" y="3406943"/>
            <a:ext cx="1768433" cy="569964"/>
          </a:xfrm>
          <a:prstGeom prst="rect">
            <a:avLst/>
          </a:prstGeom>
          <a:noFill/>
        </p:spPr>
        <p:txBody>
          <a:bodyPr wrap="none" rtlCol="0">
            <a:spAutoFit/>
          </a:bodyPr>
          <a:lstStyle/>
          <a:p>
            <a:pPr marL="171450" indent="-171450">
              <a:lnSpc>
                <a:spcPct val="150000"/>
              </a:lnSpc>
              <a:buFont typeface="Arial" panose="020B0604020202020204" pitchFamily="34" charset="0"/>
              <a:buChar char="•"/>
            </a:pPr>
            <a:r>
              <a:rPr lang="zh-CN" altLang="en-US" sz="1050" dirty="0"/>
              <a:t>老人与孩子更平稳驾驶</a:t>
            </a:r>
            <a:endParaRPr lang="en-US" altLang="zh-CN" sz="1050" dirty="0"/>
          </a:p>
          <a:p>
            <a:pPr marL="171450" indent="-171450">
              <a:lnSpc>
                <a:spcPct val="150000"/>
              </a:lnSpc>
              <a:buFont typeface="Arial" panose="020B0604020202020204" pitchFamily="34" charset="0"/>
              <a:buChar char="•"/>
            </a:pPr>
            <a:r>
              <a:rPr lang="zh-CN" altLang="en-US" sz="1050" dirty="0"/>
              <a:t>轮椅乘客</a:t>
            </a:r>
            <a:endParaRPr lang="en-US" altLang="zh-CN" sz="1050" dirty="0"/>
          </a:p>
        </p:txBody>
      </p:sp>
      <p:sp>
        <p:nvSpPr>
          <p:cNvPr id="37" name="文本框 36">
            <a:extLst>
              <a:ext uri="{FF2B5EF4-FFF2-40B4-BE49-F238E27FC236}">
                <a16:creationId xmlns:a16="http://schemas.microsoft.com/office/drawing/2014/main" id="{9DB4CB36-E2A0-4F2D-3B28-2C95682E2827}"/>
              </a:ext>
            </a:extLst>
          </p:cNvPr>
          <p:cNvSpPr txBox="1"/>
          <p:nvPr/>
        </p:nvSpPr>
        <p:spPr>
          <a:xfrm>
            <a:off x="5144092" y="3394998"/>
            <a:ext cx="1475030" cy="569964"/>
          </a:xfrm>
          <a:prstGeom prst="rect">
            <a:avLst/>
          </a:prstGeom>
          <a:noFill/>
        </p:spPr>
        <p:txBody>
          <a:bodyPr wrap="square">
            <a:spAutoFit/>
          </a:bodyPr>
          <a:lstStyle/>
          <a:p>
            <a:pPr marL="171450" indent="-171450">
              <a:lnSpc>
                <a:spcPct val="150000"/>
              </a:lnSpc>
              <a:buFont typeface="Arial" panose="020B0604020202020204" pitchFamily="34" charset="0"/>
              <a:buChar char="•"/>
            </a:pPr>
            <a:r>
              <a:rPr lang="zh-CN" altLang="en-US" sz="1050" dirty="0"/>
              <a:t>高峰时段</a:t>
            </a:r>
            <a:endParaRPr lang="en-US" altLang="zh-CN" sz="1050" dirty="0"/>
          </a:p>
          <a:p>
            <a:pPr marL="171450" indent="-171450">
              <a:lnSpc>
                <a:spcPct val="150000"/>
              </a:lnSpc>
              <a:buFont typeface="Arial" panose="020B0604020202020204" pitchFamily="34" charset="0"/>
              <a:buChar char="•"/>
            </a:pPr>
            <a:r>
              <a:rPr lang="zh-CN" altLang="en-US" sz="1050" dirty="0"/>
              <a:t>特殊天气</a:t>
            </a:r>
          </a:p>
        </p:txBody>
      </p:sp>
      <p:sp>
        <p:nvSpPr>
          <p:cNvPr id="38" name="文本框 37">
            <a:extLst>
              <a:ext uri="{FF2B5EF4-FFF2-40B4-BE49-F238E27FC236}">
                <a16:creationId xmlns:a16="http://schemas.microsoft.com/office/drawing/2014/main" id="{1DBB78C7-9AB6-3A21-0CAC-E4FEF4541AEA}"/>
              </a:ext>
            </a:extLst>
          </p:cNvPr>
          <p:cNvSpPr txBox="1"/>
          <p:nvPr/>
        </p:nvSpPr>
        <p:spPr>
          <a:xfrm>
            <a:off x="3217931" y="3897420"/>
            <a:ext cx="2105109" cy="305918"/>
          </a:xfrm>
          <a:prstGeom prst="rect">
            <a:avLst/>
          </a:prstGeom>
          <a:noFill/>
        </p:spPr>
        <p:txBody>
          <a:bodyPr wrap="square">
            <a:spAutoFit/>
          </a:bodyPr>
          <a:lstStyle/>
          <a:p>
            <a:pPr marL="171450" indent="-171450">
              <a:lnSpc>
                <a:spcPct val="150000"/>
              </a:lnSpc>
              <a:buFont typeface="Arial" panose="020B0604020202020204" pitchFamily="34" charset="0"/>
              <a:buChar char="•"/>
            </a:pPr>
            <a:r>
              <a:rPr lang="zh-CN" altLang="en-US" sz="1050" dirty="0"/>
              <a:t>指定路线（如不走高架）</a:t>
            </a:r>
          </a:p>
        </p:txBody>
      </p:sp>
      <p:sp>
        <p:nvSpPr>
          <p:cNvPr id="39" name="文本框 38">
            <a:extLst>
              <a:ext uri="{FF2B5EF4-FFF2-40B4-BE49-F238E27FC236}">
                <a16:creationId xmlns:a16="http://schemas.microsoft.com/office/drawing/2014/main" id="{462DCEDB-0B26-EC04-B1BA-088E5AFACFB0}"/>
              </a:ext>
            </a:extLst>
          </p:cNvPr>
          <p:cNvSpPr txBox="1"/>
          <p:nvPr/>
        </p:nvSpPr>
        <p:spPr>
          <a:xfrm>
            <a:off x="1355644" y="4739741"/>
            <a:ext cx="973343" cy="889154"/>
          </a:xfrm>
          <a:prstGeom prst="rect">
            <a:avLst/>
          </a:prstGeom>
          <a:noFill/>
        </p:spPr>
        <p:txBody>
          <a:bodyPr wrap="none" rtlCol="0">
            <a:spAutoFit/>
          </a:bodyPr>
          <a:lstStyle/>
          <a:p>
            <a:pPr marL="171450" indent="-171450">
              <a:lnSpc>
                <a:spcPct val="150000"/>
              </a:lnSpc>
              <a:buFont typeface="Arial" panose="020B0604020202020204" pitchFamily="34" charset="0"/>
              <a:buChar char="•"/>
            </a:pPr>
            <a:r>
              <a:rPr lang="zh-CN" altLang="en-US" sz="1200" dirty="0"/>
              <a:t>司机加价</a:t>
            </a:r>
            <a:endParaRPr lang="en-US" altLang="zh-CN" sz="1200" dirty="0"/>
          </a:p>
          <a:p>
            <a:pPr marL="171450" indent="-171450">
              <a:lnSpc>
                <a:spcPct val="150000"/>
              </a:lnSpc>
              <a:buFont typeface="Arial" panose="020B0604020202020204" pitchFamily="34" charset="0"/>
              <a:buChar char="•"/>
            </a:pPr>
            <a:r>
              <a:rPr lang="zh-CN" altLang="en-US" sz="1200" dirty="0"/>
              <a:t>高速费</a:t>
            </a:r>
          </a:p>
          <a:p>
            <a:pPr marL="171450" indent="-171450">
              <a:lnSpc>
                <a:spcPct val="150000"/>
              </a:lnSpc>
              <a:buFont typeface="Arial" panose="020B0604020202020204" pitchFamily="34" charset="0"/>
              <a:buChar char="•"/>
            </a:pPr>
            <a:endParaRPr lang="zh-CN" altLang="en-US" sz="1200" dirty="0"/>
          </a:p>
        </p:txBody>
      </p:sp>
      <p:sp>
        <p:nvSpPr>
          <p:cNvPr id="42" name="文本框 41">
            <a:extLst>
              <a:ext uri="{FF2B5EF4-FFF2-40B4-BE49-F238E27FC236}">
                <a16:creationId xmlns:a16="http://schemas.microsoft.com/office/drawing/2014/main" id="{655046CC-DD01-02FF-6C3F-B4A0B5A4E536}"/>
              </a:ext>
            </a:extLst>
          </p:cNvPr>
          <p:cNvSpPr txBox="1"/>
          <p:nvPr/>
        </p:nvSpPr>
        <p:spPr>
          <a:xfrm>
            <a:off x="3158091" y="4941483"/>
            <a:ext cx="2098575" cy="738664"/>
          </a:xfrm>
          <a:prstGeom prst="rect">
            <a:avLst/>
          </a:prstGeom>
          <a:noFill/>
        </p:spPr>
        <p:txBody>
          <a:bodyPr wrap="square">
            <a:spAutoFit/>
          </a:bodyPr>
          <a:lstStyle/>
          <a:p>
            <a:pPr marL="171450" indent="-171450">
              <a:buFont typeface="Arial" panose="020B0604020202020204" pitchFamily="34" charset="0"/>
              <a:buChar char="•"/>
            </a:pPr>
            <a:r>
              <a:rPr lang="zh-CN" altLang="en-US" sz="1050" dirty="0"/>
              <a:t>特惠时较远且无回程单，回程服务费</a:t>
            </a:r>
            <a:endParaRPr lang="en-US" altLang="zh-CN" sz="1050" dirty="0"/>
          </a:p>
          <a:p>
            <a:pPr marL="171450" indent="-171450">
              <a:buFont typeface="Arial" panose="020B0604020202020204" pitchFamily="34" charset="0"/>
              <a:buChar char="•"/>
            </a:pPr>
            <a:endParaRPr lang="en-US" altLang="zh-CN" sz="1050" dirty="0"/>
          </a:p>
          <a:p>
            <a:pPr marL="171450" indent="-171450">
              <a:buFont typeface="Arial" panose="020B0604020202020204" pitchFamily="34" charset="0"/>
              <a:buChar char="•"/>
            </a:pPr>
            <a:r>
              <a:rPr lang="zh-CN" altLang="en-US" sz="1050" dirty="0"/>
              <a:t>回程高速费</a:t>
            </a:r>
            <a:endParaRPr lang="en-US" altLang="zh-CN" sz="1050" dirty="0"/>
          </a:p>
        </p:txBody>
      </p:sp>
      <p:sp>
        <p:nvSpPr>
          <p:cNvPr id="43" name="文本框 42">
            <a:extLst>
              <a:ext uri="{FF2B5EF4-FFF2-40B4-BE49-F238E27FC236}">
                <a16:creationId xmlns:a16="http://schemas.microsoft.com/office/drawing/2014/main" id="{A1840D45-3556-CF47-599E-4D7408B5686A}"/>
              </a:ext>
            </a:extLst>
          </p:cNvPr>
          <p:cNvSpPr txBox="1"/>
          <p:nvPr/>
        </p:nvSpPr>
        <p:spPr>
          <a:xfrm>
            <a:off x="4960902" y="4511924"/>
            <a:ext cx="1786066"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乘客加价态度分情况</a:t>
            </a:r>
          </a:p>
        </p:txBody>
      </p:sp>
      <p:sp>
        <p:nvSpPr>
          <p:cNvPr id="44" name="文本框 43">
            <a:extLst>
              <a:ext uri="{FF2B5EF4-FFF2-40B4-BE49-F238E27FC236}">
                <a16:creationId xmlns:a16="http://schemas.microsoft.com/office/drawing/2014/main" id="{2529DFDA-0925-8CE7-BA87-A0020D5CEC9C}"/>
              </a:ext>
            </a:extLst>
          </p:cNvPr>
          <p:cNvSpPr txBox="1"/>
          <p:nvPr/>
        </p:nvSpPr>
        <p:spPr>
          <a:xfrm>
            <a:off x="5348408" y="4811738"/>
            <a:ext cx="2098575" cy="577081"/>
          </a:xfrm>
          <a:prstGeom prst="rect">
            <a:avLst/>
          </a:prstGeom>
          <a:noFill/>
        </p:spPr>
        <p:txBody>
          <a:bodyPr wrap="square">
            <a:spAutoFit/>
          </a:bodyPr>
          <a:lstStyle/>
          <a:p>
            <a:pPr marL="171450" indent="-171450">
              <a:buFont typeface="Arial" panose="020B0604020202020204" pitchFamily="34" charset="0"/>
              <a:buChar char="•"/>
            </a:pPr>
            <a:r>
              <a:rPr lang="zh-CN" altLang="en-US" sz="1050" dirty="0"/>
              <a:t>大多数比较反感临时加价</a:t>
            </a:r>
            <a:endParaRPr lang="en-US" altLang="zh-CN" sz="1050" dirty="0"/>
          </a:p>
          <a:p>
            <a:pPr marL="171450" indent="-171450">
              <a:buFont typeface="Arial" panose="020B0604020202020204" pitchFamily="34" charset="0"/>
              <a:buChar char="•"/>
            </a:pPr>
            <a:endParaRPr lang="en-US" altLang="zh-CN" sz="1050" dirty="0"/>
          </a:p>
          <a:p>
            <a:pPr marL="171450" indent="-171450">
              <a:buFont typeface="Arial" panose="020B0604020202020204" pitchFamily="34" charset="0"/>
              <a:buChar char="•"/>
            </a:pPr>
            <a:r>
              <a:rPr lang="zh-CN" altLang="en-US" sz="1050" dirty="0"/>
              <a:t>少量客户接受</a:t>
            </a:r>
            <a:endParaRPr lang="en-US" altLang="zh-CN" sz="1050" dirty="0"/>
          </a:p>
        </p:txBody>
      </p:sp>
      <p:sp>
        <p:nvSpPr>
          <p:cNvPr id="3" name="文本框 2">
            <a:extLst>
              <a:ext uri="{FF2B5EF4-FFF2-40B4-BE49-F238E27FC236}">
                <a16:creationId xmlns:a16="http://schemas.microsoft.com/office/drawing/2014/main" id="{36CE8375-39D0-3CC2-F37D-B24CC022065F}"/>
              </a:ext>
            </a:extLst>
          </p:cNvPr>
          <p:cNvSpPr txBox="1"/>
          <p:nvPr/>
        </p:nvSpPr>
        <p:spPr>
          <a:xfrm>
            <a:off x="7865817" y="3304538"/>
            <a:ext cx="723275" cy="253916"/>
          </a:xfrm>
          <a:prstGeom prst="rect">
            <a:avLst/>
          </a:prstGeom>
          <a:noFill/>
        </p:spPr>
        <p:txBody>
          <a:bodyPr wrap="none" rtlCol="0">
            <a:spAutoFit/>
          </a:bodyPr>
          <a:lstStyle/>
          <a:p>
            <a:r>
              <a:rPr lang="zh-CN" altLang="en-US" sz="1050" b="1" dirty="0"/>
              <a:t>机会点：</a:t>
            </a:r>
          </a:p>
        </p:txBody>
      </p:sp>
      <p:sp>
        <p:nvSpPr>
          <p:cNvPr id="6" name="文本框 5">
            <a:extLst>
              <a:ext uri="{FF2B5EF4-FFF2-40B4-BE49-F238E27FC236}">
                <a16:creationId xmlns:a16="http://schemas.microsoft.com/office/drawing/2014/main" id="{0E8BABAC-8763-8DA7-BC36-59AAFD9C088A}"/>
              </a:ext>
            </a:extLst>
          </p:cNvPr>
          <p:cNvSpPr txBox="1"/>
          <p:nvPr/>
        </p:nvSpPr>
        <p:spPr>
          <a:xfrm>
            <a:off x="7865817" y="5303204"/>
            <a:ext cx="588623" cy="253916"/>
          </a:xfrm>
          <a:prstGeom prst="rect">
            <a:avLst/>
          </a:prstGeom>
          <a:noFill/>
        </p:spPr>
        <p:txBody>
          <a:bodyPr wrap="none" rtlCol="0">
            <a:spAutoFit/>
          </a:bodyPr>
          <a:lstStyle/>
          <a:p>
            <a:r>
              <a:rPr lang="zh-CN" altLang="en-US" sz="1050" b="1" dirty="0"/>
              <a:t>展望：</a:t>
            </a:r>
          </a:p>
        </p:txBody>
      </p:sp>
      <p:sp>
        <p:nvSpPr>
          <p:cNvPr id="12" name="文本框 11">
            <a:extLst>
              <a:ext uri="{FF2B5EF4-FFF2-40B4-BE49-F238E27FC236}">
                <a16:creationId xmlns:a16="http://schemas.microsoft.com/office/drawing/2014/main" id="{ECF6875E-67E5-5E53-2239-E89DE9513B86}"/>
              </a:ext>
            </a:extLst>
          </p:cNvPr>
          <p:cNvSpPr txBox="1"/>
          <p:nvPr/>
        </p:nvSpPr>
        <p:spPr>
          <a:xfrm>
            <a:off x="7840676" y="1971073"/>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13" name="文本框 12">
            <a:extLst>
              <a:ext uri="{FF2B5EF4-FFF2-40B4-BE49-F238E27FC236}">
                <a16:creationId xmlns:a16="http://schemas.microsoft.com/office/drawing/2014/main" id="{03212277-6E83-C320-2563-6D90A86053F3}"/>
              </a:ext>
            </a:extLst>
          </p:cNvPr>
          <p:cNvSpPr txBox="1"/>
          <p:nvPr/>
        </p:nvSpPr>
        <p:spPr>
          <a:xfrm flipH="1">
            <a:off x="8156010" y="2118702"/>
            <a:ext cx="3421950" cy="1516634"/>
          </a:xfrm>
          <a:prstGeom prst="rect">
            <a:avLst/>
          </a:prstGeom>
          <a:noFill/>
        </p:spPr>
        <p:txBody>
          <a:bodyPr wrap="square" rtlCol="0">
            <a:spAutoFit/>
          </a:bodyPr>
          <a:lstStyle/>
          <a:p>
            <a:pPr marL="171450" indent="-171450">
              <a:lnSpc>
                <a:spcPct val="150000"/>
              </a:lnSpc>
              <a:buFont typeface="Wingdings" panose="05000000000000000000" pitchFamily="2" charset="2"/>
              <a:buChar char="ü"/>
            </a:pPr>
            <a:r>
              <a:rPr lang="zh-CN" altLang="en-US" sz="1050" dirty="0"/>
              <a:t>支持语音添加途经点，并导航重新规划</a:t>
            </a:r>
            <a:endParaRPr lang="en-US" altLang="zh-CN" sz="1050" dirty="0"/>
          </a:p>
          <a:p>
            <a:pPr marL="171450" indent="-171450">
              <a:lnSpc>
                <a:spcPct val="150000"/>
              </a:lnSpc>
              <a:buFont typeface="Wingdings" panose="05000000000000000000" pitchFamily="2" charset="2"/>
              <a:buChar char="ü"/>
            </a:pPr>
            <a:r>
              <a:rPr lang="zh-CN" altLang="en-US" sz="1050" dirty="0"/>
              <a:t>导航路线模式设定，更快还是路线最低，还是费用最低都可以设定</a:t>
            </a:r>
            <a:endParaRPr lang="en-US" altLang="zh-CN" sz="1050" dirty="0"/>
          </a:p>
          <a:p>
            <a:pPr marL="171450" indent="-171450">
              <a:lnSpc>
                <a:spcPct val="150000"/>
              </a:lnSpc>
              <a:buFont typeface="Wingdings" panose="05000000000000000000" pitchFamily="2" charset="2"/>
              <a:buChar char="ü"/>
            </a:pPr>
            <a:r>
              <a:rPr lang="en-US" altLang="zh-CN" sz="1050" dirty="0"/>
              <a:t>Robotaxi</a:t>
            </a:r>
            <a:r>
              <a:rPr lang="zh-CN" altLang="en-US" sz="1050" dirty="0"/>
              <a:t>比较好，不会临时加价</a:t>
            </a:r>
            <a:endParaRPr lang="en-US" altLang="zh-CN" sz="1050" dirty="0"/>
          </a:p>
          <a:p>
            <a:pPr marL="171450" indent="-171450">
              <a:lnSpc>
                <a:spcPct val="150000"/>
              </a:lnSpc>
              <a:buFont typeface="Wingdings" panose="05000000000000000000" pitchFamily="2" charset="2"/>
              <a:buChar char="ü"/>
            </a:pPr>
            <a:r>
              <a:rPr lang="zh-CN" altLang="en-US" sz="1050" dirty="0"/>
              <a:t>主动推荐更快的路线</a:t>
            </a:r>
            <a:endParaRPr lang="en-US" altLang="zh-CN" sz="1050" dirty="0"/>
          </a:p>
          <a:p>
            <a:pPr marL="171450" indent="-171450">
              <a:lnSpc>
                <a:spcPct val="150000"/>
              </a:lnSpc>
              <a:buFont typeface="Wingdings" panose="05000000000000000000" pitchFamily="2" charset="2"/>
              <a:buChar char="ü"/>
            </a:pPr>
            <a:endParaRPr lang="zh-CN" altLang="en-US" sz="1050" dirty="0"/>
          </a:p>
        </p:txBody>
      </p:sp>
    </p:spTree>
    <p:extLst>
      <p:ext uri="{BB962C8B-B14F-4D97-AF65-F5344CB8AC3E}">
        <p14:creationId xmlns:p14="http://schemas.microsoft.com/office/powerpoint/2010/main" val="3499496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69924" y="433637"/>
            <a:ext cx="10440000" cy="595063"/>
          </a:xfrm>
        </p:spPr>
        <p:txBody>
          <a:bodyPr/>
          <a:lstStyle/>
          <a:p>
            <a:r>
              <a:rPr lang="zh-CN" altLang="en-US" dirty="0"/>
              <a:t>行驶阶段</a:t>
            </a:r>
            <a:r>
              <a:rPr lang="en-US" altLang="zh-CN" dirty="0"/>
              <a:t>——</a:t>
            </a:r>
            <a:r>
              <a:rPr lang="zh-CN" altLang="en-US" dirty="0"/>
              <a:t>车内环境舒适调整旅程</a:t>
            </a:r>
          </a:p>
        </p:txBody>
      </p:sp>
      <p:sp>
        <p:nvSpPr>
          <p:cNvPr id="16" name="文本占位符 4"/>
          <p:cNvSpPr txBox="1"/>
          <p:nvPr/>
        </p:nvSpPr>
        <p:spPr>
          <a:xfrm>
            <a:off x="5183625" y="1395662"/>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p:cNvSpPr txBox="1"/>
          <p:nvPr/>
        </p:nvSpPr>
        <p:spPr>
          <a:xfrm>
            <a:off x="97877" y="2794788"/>
            <a:ext cx="366036" cy="2031325"/>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车内环境舒适调整</a:t>
            </a:r>
          </a:p>
        </p:txBody>
      </p:sp>
      <p:sp>
        <p:nvSpPr>
          <p:cNvPr id="10" name="文本框 9"/>
          <p:cNvSpPr txBox="1"/>
          <p:nvPr/>
        </p:nvSpPr>
        <p:spPr>
          <a:xfrm>
            <a:off x="453775" y="2240651"/>
            <a:ext cx="1211152" cy="4124206"/>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座舱与空间舒适调整</a:t>
            </a: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空气质量</a:t>
            </a: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p:cNvSpPr txBox="1"/>
          <p:nvPr/>
        </p:nvSpPr>
        <p:spPr>
          <a:xfrm>
            <a:off x="2143529" y="1384066"/>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p:cNvSpPr txBox="1"/>
          <p:nvPr/>
        </p:nvSpPr>
        <p:spPr>
          <a:xfrm>
            <a:off x="9425902" y="1390273"/>
            <a:ext cx="2682668"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p:cNvCxnSpPr/>
          <p:nvPr/>
        </p:nvCxnSpPr>
        <p:spPr>
          <a:xfrm>
            <a:off x="3048938" y="1834362"/>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7876790" y="1932955"/>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p:cNvSpPr txBox="1"/>
          <p:nvPr/>
        </p:nvSpPr>
        <p:spPr>
          <a:xfrm>
            <a:off x="483782" y="1390273"/>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高频场景</a:t>
            </a:r>
          </a:p>
        </p:txBody>
      </p:sp>
      <p:cxnSp>
        <p:nvCxnSpPr>
          <p:cNvPr id="34" name="直接连接符 33"/>
          <p:cNvCxnSpPr/>
          <p:nvPr/>
        </p:nvCxnSpPr>
        <p:spPr>
          <a:xfrm>
            <a:off x="1536465" y="1804962"/>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4" name="文本框 3">
            <a:extLst>
              <a:ext uri="{FF2B5EF4-FFF2-40B4-BE49-F238E27FC236}">
                <a16:creationId xmlns:a16="http://schemas.microsoft.com/office/drawing/2014/main" id="{FCB75BF8-188E-B1E4-0F4E-E6EDC6BF53A9}"/>
              </a:ext>
            </a:extLst>
          </p:cNvPr>
          <p:cNvSpPr txBox="1"/>
          <p:nvPr/>
        </p:nvSpPr>
        <p:spPr>
          <a:xfrm>
            <a:off x="3071450" y="2095347"/>
            <a:ext cx="1643399" cy="525465"/>
          </a:xfrm>
          <a:prstGeom prst="rect">
            <a:avLst/>
          </a:prstGeom>
          <a:noFill/>
        </p:spPr>
        <p:txBody>
          <a:bodyPr wrap="square">
            <a:spAutoFit/>
          </a:bodyPr>
          <a:lstStyle/>
          <a:p>
            <a:pPr marL="285750" indent="-285750">
              <a:lnSpc>
                <a:spcPct val="150000"/>
              </a:lnSpc>
              <a:buFont typeface="+mj-lt"/>
              <a:buAutoNum type="arabicPeriod"/>
            </a:pPr>
            <a:r>
              <a:rPr lang="zh-CN" altLang="en-US" sz="1000" dirty="0"/>
              <a:t>儿童座椅</a:t>
            </a:r>
            <a:endParaRPr lang="en-US" altLang="zh-CN" sz="1000" dirty="0"/>
          </a:p>
          <a:p>
            <a:pPr marL="285750" indent="-285750">
              <a:lnSpc>
                <a:spcPct val="150000"/>
              </a:lnSpc>
              <a:buFont typeface="+mj-lt"/>
              <a:buAutoNum type="arabicPeriod"/>
            </a:pPr>
            <a:r>
              <a:rPr lang="zh-CN" altLang="en-US" sz="1000" dirty="0"/>
              <a:t>晕车前排就坐</a:t>
            </a:r>
            <a:endParaRPr lang="en-US" altLang="zh-CN" sz="1000" dirty="0"/>
          </a:p>
        </p:txBody>
      </p:sp>
      <p:sp>
        <p:nvSpPr>
          <p:cNvPr id="6" name="文本框 5">
            <a:extLst>
              <a:ext uri="{FF2B5EF4-FFF2-40B4-BE49-F238E27FC236}">
                <a16:creationId xmlns:a16="http://schemas.microsoft.com/office/drawing/2014/main" id="{02DD2A1C-95F3-249B-8021-A7B2D72791DA}"/>
              </a:ext>
            </a:extLst>
          </p:cNvPr>
          <p:cNvSpPr txBox="1"/>
          <p:nvPr/>
        </p:nvSpPr>
        <p:spPr>
          <a:xfrm>
            <a:off x="3152185" y="1847295"/>
            <a:ext cx="922047"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特征需求</a:t>
            </a:r>
          </a:p>
        </p:txBody>
      </p:sp>
      <p:sp>
        <p:nvSpPr>
          <p:cNvPr id="7" name="文本框 6">
            <a:extLst>
              <a:ext uri="{FF2B5EF4-FFF2-40B4-BE49-F238E27FC236}">
                <a16:creationId xmlns:a16="http://schemas.microsoft.com/office/drawing/2014/main" id="{3D568AEE-F23E-069A-B53F-D1115E28989C}"/>
              </a:ext>
            </a:extLst>
          </p:cNvPr>
          <p:cNvSpPr txBox="1"/>
          <p:nvPr/>
        </p:nvSpPr>
        <p:spPr>
          <a:xfrm>
            <a:off x="1527277" y="1985436"/>
            <a:ext cx="1521661" cy="1131079"/>
          </a:xfrm>
          <a:prstGeom prst="rect">
            <a:avLst/>
          </a:prstGeom>
          <a:noFill/>
        </p:spPr>
        <p:txBody>
          <a:bodyPr wrap="square" rtlCol="0">
            <a:spAutoFit/>
          </a:bodyPr>
          <a:lstStyle/>
          <a:p>
            <a:pPr>
              <a:spcBef>
                <a:spcPts val="600"/>
              </a:spcBef>
            </a:pPr>
            <a:r>
              <a:rPr lang="zh-CN" altLang="en-US" sz="1050" dirty="0"/>
              <a:t>以期待型需求为主：</a:t>
            </a:r>
            <a:endParaRPr lang="en-US" altLang="zh-CN" sz="1050" dirty="0"/>
          </a:p>
          <a:p>
            <a:pPr>
              <a:spcBef>
                <a:spcPts val="600"/>
              </a:spcBef>
            </a:pPr>
            <a:r>
              <a:rPr lang="en-US" altLang="zh-CN" sz="1050" dirty="0"/>
              <a:t>1.</a:t>
            </a:r>
            <a:r>
              <a:rPr lang="zh-CN" altLang="en-US" sz="1050" dirty="0"/>
              <a:t>期待更舒适，更灵活，更丰富</a:t>
            </a:r>
            <a:endParaRPr lang="en-US" altLang="zh-CN" sz="1050" dirty="0"/>
          </a:p>
          <a:p>
            <a:pPr>
              <a:spcBef>
                <a:spcPts val="600"/>
              </a:spcBef>
            </a:pPr>
            <a:r>
              <a:rPr lang="en-US" altLang="zh-CN" sz="1050" dirty="0"/>
              <a:t>2.</a:t>
            </a:r>
            <a:r>
              <a:rPr lang="zh-CN" altLang="en-US" sz="1050" dirty="0"/>
              <a:t>最低要求整洁干净</a:t>
            </a:r>
            <a:endParaRPr lang="en-US" altLang="zh-CN" sz="1050" dirty="0"/>
          </a:p>
          <a:p>
            <a:pPr>
              <a:spcBef>
                <a:spcPts val="600"/>
              </a:spcBef>
            </a:pPr>
            <a:endParaRPr lang="zh-CN" altLang="en-US" sz="1050" dirty="0"/>
          </a:p>
        </p:txBody>
      </p:sp>
      <p:sp>
        <p:nvSpPr>
          <p:cNvPr id="8" name="文本框 7">
            <a:extLst>
              <a:ext uri="{FF2B5EF4-FFF2-40B4-BE49-F238E27FC236}">
                <a16:creationId xmlns:a16="http://schemas.microsoft.com/office/drawing/2014/main" id="{5BB3670F-677D-DCCB-BA89-50B1BCB525A3}"/>
              </a:ext>
            </a:extLst>
          </p:cNvPr>
          <p:cNvSpPr txBox="1"/>
          <p:nvPr/>
        </p:nvSpPr>
        <p:spPr>
          <a:xfrm>
            <a:off x="4562194" y="1847295"/>
            <a:ext cx="1345240"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位置与空间需求</a:t>
            </a:r>
          </a:p>
        </p:txBody>
      </p:sp>
      <p:sp>
        <p:nvSpPr>
          <p:cNvPr id="13" name="文本框 12">
            <a:extLst>
              <a:ext uri="{FF2B5EF4-FFF2-40B4-BE49-F238E27FC236}">
                <a16:creationId xmlns:a16="http://schemas.microsoft.com/office/drawing/2014/main" id="{65B1A58E-F8C1-A79D-17AD-267414D40ACA}"/>
              </a:ext>
            </a:extLst>
          </p:cNvPr>
          <p:cNvSpPr txBox="1"/>
          <p:nvPr/>
        </p:nvSpPr>
        <p:spPr>
          <a:xfrm>
            <a:off x="4232770" y="2093371"/>
            <a:ext cx="2057212" cy="526554"/>
          </a:xfrm>
          <a:prstGeom prst="rect">
            <a:avLst/>
          </a:prstGeom>
          <a:noFill/>
        </p:spPr>
        <p:txBody>
          <a:bodyPr wrap="square">
            <a:spAutoFit/>
          </a:bodyPr>
          <a:lstStyle/>
          <a:p>
            <a:pPr marL="285750" indent="-285750">
              <a:lnSpc>
                <a:spcPct val="150000"/>
              </a:lnSpc>
              <a:buFont typeface="+mj-lt"/>
              <a:buAutoNum type="arabicPeriod"/>
            </a:pPr>
            <a:r>
              <a:rPr lang="zh-CN" altLang="en-US" sz="1000" dirty="0"/>
              <a:t>后排座椅角度调整</a:t>
            </a:r>
            <a:endParaRPr lang="en-US" altLang="zh-CN" sz="1000" dirty="0"/>
          </a:p>
          <a:p>
            <a:pPr marL="285750" indent="-285750">
              <a:lnSpc>
                <a:spcPct val="150000"/>
              </a:lnSpc>
              <a:buFont typeface="+mj-lt"/>
              <a:buAutoNum type="arabicPeriod"/>
            </a:pPr>
            <a:r>
              <a:rPr lang="zh-CN" altLang="en-US" sz="1000" dirty="0"/>
              <a:t>前排乘坐副驾座椅空间调整</a:t>
            </a:r>
          </a:p>
        </p:txBody>
      </p:sp>
      <p:sp>
        <p:nvSpPr>
          <p:cNvPr id="15" name="文本框 14">
            <a:extLst>
              <a:ext uri="{FF2B5EF4-FFF2-40B4-BE49-F238E27FC236}">
                <a16:creationId xmlns:a16="http://schemas.microsoft.com/office/drawing/2014/main" id="{7E5387B6-DB4A-9912-CA12-6C3B7B7819EC}"/>
              </a:ext>
            </a:extLst>
          </p:cNvPr>
          <p:cNvSpPr txBox="1"/>
          <p:nvPr/>
        </p:nvSpPr>
        <p:spPr>
          <a:xfrm>
            <a:off x="6139490" y="1847295"/>
            <a:ext cx="1063112"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智能化需求</a:t>
            </a:r>
          </a:p>
        </p:txBody>
      </p:sp>
      <p:sp>
        <p:nvSpPr>
          <p:cNvPr id="23" name="文本框 22">
            <a:extLst>
              <a:ext uri="{FF2B5EF4-FFF2-40B4-BE49-F238E27FC236}">
                <a16:creationId xmlns:a16="http://schemas.microsoft.com/office/drawing/2014/main" id="{D5A76ACE-7DC3-2492-EB72-2F0FAAA706ED}"/>
              </a:ext>
            </a:extLst>
          </p:cNvPr>
          <p:cNvSpPr txBox="1"/>
          <p:nvPr/>
        </p:nvSpPr>
        <p:spPr>
          <a:xfrm>
            <a:off x="6096000" y="2144855"/>
            <a:ext cx="1938731" cy="246221"/>
          </a:xfrm>
          <a:prstGeom prst="rect">
            <a:avLst/>
          </a:prstGeom>
          <a:noFill/>
        </p:spPr>
        <p:txBody>
          <a:bodyPr wrap="square">
            <a:spAutoFit/>
          </a:bodyPr>
          <a:lstStyle/>
          <a:p>
            <a:pPr marL="285750" indent="-285750">
              <a:spcBef>
                <a:spcPts val="600"/>
              </a:spcBef>
              <a:buFont typeface="+mj-lt"/>
              <a:buAutoNum type="arabicPeriod"/>
            </a:pPr>
            <a:r>
              <a:rPr lang="zh-CN" altLang="en-US" sz="1000" dirty="0"/>
              <a:t>座椅按摩、通风、加热</a:t>
            </a:r>
            <a:endParaRPr lang="en-US" altLang="zh-CN" sz="1000" dirty="0"/>
          </a:p>
        </p:txBody>
      </p:sp>
      <p:sp>
        <p:nvSpPr>
          <p:cNvPr id="32" name="文本框 31">
            <a:extLst>
              <a:ext uri="{FF2B5EF4-FFF2-40B4-BE49-F238E27FC236}">
                <a16:creationId xmlns:a16="http://schemas.microsoft.com/office/drawing/2014/main" id="{91D8FEFE-15FC-8D0A-B4E0-EBFE6305138B}"/>
              </a:ext>
            </a:extLst>
          </p:cNvPr>
          <p:cNvSpPr txBox="1"/>
          <p:nvPr/>
        </p:nvSpPr>
        <p:spPr>
          <a:xfrm>
            <a:off x="8261428" y="1990384"/>
            <a:ext cx="2888950" cy="1608133"/>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50" dirty="0"/>
              <a:t>乘客可自由语音控制空调</a:t>
            </a:r>
            <a:endParaRPr lang="en-US" altLang="zh-CN" sz="1050" dirty="0"/>
          </a:p>
          <a:p>
            <a:pPr marL="171450" indent="-171450">
              <a:spcBef>
                <a:spcPts val="600"/>
              </a:spcBef>
              <a:buFont typeface="Wingdings" panose="05000000000000000000" pitchFamily="2" charset="2"/>
              <a:buChar char="ü"/>
            </a:pPr>
            <a:r>
              <a:rPr lang="zh-CN" altLang="en-US" sz="1050" dirty="0"/>
              <a:t>支持语音对香薰的开闭及浓度的调整</a:t>
            </a:r>
            <a:endParaRPr lang="en-US" altLang="zh-CN" sz="1050" dirty="0"/>
          </a:p>
          <a:p>
            <a:pPr marL="171450" indent="-171450">
              <a:spcBef>
                <a:spcPts val="600"/>
              </a:spcBef>
              <a:buFont typeface="Wingdings" panose="05000000000000000000" pitchFamily="2" charset="2"/>
              <a:buChar char="ü"/>
            </a:pPr>
            <a:r>
              <a:rPr lang="zh-CN" altLang="en-US" sz="1050" dirty="0"/>
              <a:t>乘客可自由语音控制空气净化</a:t>
            </a:r>
            <a:endParaRPr lang="en-US" altLang="zh-CN" sz="1050" dirty="0"/>
          </a:p>
          <a:p>
            <a:pPr marL="171450" indent="-171450">
              <a:spcBef>
                <a:spcPts val="600"/>
              </a:spcBef>
              <a:buFont typeface="Wingdings" panose="05000000000000000000" pitchFamily="2" charset="2"/>
              <a:buChar char="ü"/>
            </a:pPr>
            <a:r>
              <a:rPr lang="zh-CN" altLang="en-US" sz="1050" dirty="0"/>
              <a:t>乘客可自由语音控制座椅按摩，通风，加热，语音调整座椅位置与模式</a:t>
            </a:r>
            <a:endParaRPr lang="en-US" altLang="zh-CN" sz="1050" dirty="0"/>
          </a:p>
          <a:p>
            <a:pPr marL="171450" indent="-171450">
              <a:spcBef>
                <a:spcPts val="600"/>
              </a:spcBef>
              <a:buFont typeface="Wingdings" panose="05000000000000000000" pitchFamily="2" charset="2"/>
              <a:buChar char="ü"/>
            </a:pPr>
            <a:endParaRPr lang="en-US" altLang="zh-CN" sz="1050" dirty="0"/>
          </a:p>
          <a:p>
            <a:pPr marL="171450" indent="-171450">
              <a:spcBef>
                <a:spcPts val="600"/>
              </a:spcBef>
              <a:buFont typeface="Wingdings" panose="05000000000000000000" pitchFamily="2" charset="2"/>
              <a:buChar char="ü"/>
            </a:pPr>
            <a:endParaRPr lang="en-US" altLang="zh-CN" sz="1050" dirty="0"/>
          </a:p>
        </p:txBody>
      </p:sp>
      <p:sp>
        <p:nvSpPr>
          <p:cNvPr id="40" name="文本框 39">
            <a:extLst>
              <a:ext uri="{FF2B5EF4-FFF2-40B4-BE49-F238E27FC236}">
                <a16:creationId xmlns:a16="http://schemas.microsoft.com/office/drawing/2014/main" id="{D9549AD8-8D39-BD2F-4151-BB056804CB7F}"/>
              </a:ext>
            </a:extLst>
          </p:cNvPr>
          <p:cNvSpPr txBox="1"/>
          <p:nvPr/>
        </p:nvSpPr>
        <p:spPr>
          <a:xfrm>
            <a:off x="6472168" y="4155547"/>
            <a:ext cx="1345240"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抽烟的乘客吸烟</a:t>
            </a:r>
          </a:p>
        </p:txBody>
      </p:sp>
      <p:sp>
        <p:nvSpPr>
          <p:cNvPr id="41" name="文本框 40">
            <a:extLst>
              <a:ext uri="{FF2B5EF4-FFF2-40B4-BE49-F238E27FC236}">
                <a16:creationId xmlns:a16="http://schemas.microsoft.com/office/drawing/2014/main" id="{49F9D5F1-1B6B-2E20-C542-3F02C204580E}"/>
              </a:ext>
            </a:extLst>
          </p:cNvPr>
          <p:cNvSpPr txBox="1"/>
          <p:nvPr/>
        </p:nvSpPr>
        <p:spPr>
          <a:xfrm>
            <a:off x="3115629" y="4144386"/>
            <a:ext cx="1345240"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对专车香薰敏感</a:t>
            </a:r>
          </a:p>
        </p:txBody>
      </p:sp>
      <p:sp>
        <p:nvSpPr>
          <p:cNvPr id="42" name="文本框 41">
            <a:extLst>
              <a:ext uri="{FF2B5EF4-FFF2-40B4-BE49-F238E27FC236}">
                <a16:creationId xmlns:a16="http://schemas.microsoft.com/office/drawing/2014/main" id="{23C335E0-5BA2-02A9-45C0-A561953969F6}"/>
              </a:ext>
            </a:extLst>
          </p:cNvPr>
          <p:cNvSpPr txBox="1"/>
          <p:nvPr/>
        </p:nvSpPr>
        <p:spPr>
          <a:xfrm>
            <a:off x="4517937" y="4144387"/>
            <a:ext cx="2050561"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觉得空气质量不佳要求通风</a:t>
            </a:r>
          </a:p>
        </p:txBody>
      </p:sp>
      <p:sp>
        <p:nvSpPr>
          <p:cNvPr id="43" name="文本框 42">
            <a:extLst>
              <a:ext uri="{FF2B5EF4-FFF2-40B4-BE49-F238E27FC236}">
                <a16:creationId xmlns:a16="http://schemas.microsoft.com/office/drawing/2014/main" id="{C53728DC-4B16-C078-60A0-BD5F18A1F18B}"/>
              </a:ext>
            </a:extLst>
          </p:cNvPr>
          <p:cNvSpPr txBox="1"/>
          <p:nvPr/>
        </p:nvSpPr>
        <p:spPr>
          <a:xfrm>
            <a:off x="8237357" y="3309542"/>
            <a:ext cx="3645862" cy="1931298"/>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50" dirty="0"/>
              <a:t>根据乘车人特征的上车后缺省空调温度智能设置，如老年温度高一些，年轻人温度低一些</a:t>
            </a:r>
            <a:endParaRPr lang="en-US" altLang="zh-CN" sz="1050" dirty="0"/>
          </a:p>
          <a:p>
            <a:pPr marL="171450" indent="-171450">
              <a:spcBef>
                <a:spcPts val="600"/>
              </a:spcBef>
              <a:buFont typeface="Wingdings" panose="05000000000000000000" pitchFamily="2" charset="2"/>
              <a:buChar char="ü"/>
            </a:pPr>
            <a:r>
              <a:rPr lang="zh-CN" altLang="en-US" sz="1050" dirty="0"/>
              <a:t>根据外部气候环境智能设置缺省温度</a:t>
            </a:r>
            <a:endParaRPr lang="en-US" altLang="zh-CN" sz="1050" dirty="0"/>
          </a:p>
          <a:p>
            <a:pPr marL="171450" indent="-171450">
              <a:spcBef>
                <a:spcPts val="600"/>
              </a:spcBef>
              <a:buFont typeface="Wingdings" panose="05000000000000000000" pitchFamily="2" charset="2"/>
              <a:buChar char="ü"/>
            </a:pPr>
            <a:r>
              <a:rPr lang="zh-CN" altLang="en-US" sz="1050" dirty="0"/>
              <a:t>对于儿童与敏感体质缺省关闭香薰</a:t>
            </a:r>
            <a:endParaRPr lang="en-US" altLang="zh-CN" sz="1050" dirty="0"/>
          </a:p>
          <a:p>
            <a:pPr marL="171450" indent="-171450">
              <a:spcBef>
                <a:spcPts val="600"/>
              </a:spcBef>
              <a:buFont typeface="Wingdings" panose="05000000000000000000" pitchFamily="2" charset="2"/>
              <a:buChar char="ü"/>
            </a:pPr>
            <a:r>
              <a:rPr lang="en-US" altLang="zh-CN" sz="1050" dirty="0"/>
              <a:t>Robotaxi</a:t>
            </a:r>
            <a:r>
              <a:rPr lang="zh-CN" altLang="en-US" sz="1050" dirty="0"/>
              <a:t>场景主动识别吸烟或者有吸烟习惯的乘客，语音提醒不要车内禁止吸烟（优化话术）</a:t>
            </a:r>
            <a:endParaRPr lang="en-US" altLang="zh-CN" sz="1050" dirty="0"/>
          </a:p>
          <a:p>
            <a:pPr marL="171450" indent="-171450">
              <a:spcBef>
                <a:spcPts val="600"/>
              </a:spcBef>
              <a:buFont typeface="Wingdings" panose="05000000000000000000" pitchFamily="2" charset="2"/>
              <a:buChar char="ü"/>
            </a:pPr>
            <a:r>
              <a:rPr lang="zh-CN" altLang="en-US" sz="1050" dirty="0"/>
              <a:t>私家车场景，在哪个位置抽烟，自动打开哪个位置窗户</a:t>
            </a:r>
            <a:endParaRPr lang="en-US" altLang="zh-CN" sz="1050" dirty="0"/>
          </a:p>
          <a:p>
            <a:pPr marL="171450" indent="-171450">
              <a:spcBef>
                <a:spcPts val="600"/>
              </a:spcBef>
              <a:buFont typeface="Wingdings" panose="05000000000000000000" pitchFamily="2" charset="2"/>
              <a:buChar char="ü"/>
            </a:pPr>
            <a:r>
              <a:rPr lang="en-US" altLang="zh-CN" sz="1050" dirty="0"/>
              <a:t>Robotaxi</a:t>
            </a:r>
            <a:r>
              <a:rPr lang="zh-CN" altLang="en-US" sz="1050" dirty="0"/>
              <a:t>场景接完上一单，智能加大空气净化与空调强力通风</a:t>
            </a:r>
            <a:endParaRPr lang="en-US" altLang="zh-CN" sz="1050" dirty="0"/>
          </a:p>
        </p:txBody>
      </p:sp>
      <p:sp>
        <p:nvSpPr>
          <p:cNvPr id="45" name="文本框 44">
            <a:extLst>
              <a:ext uri="{FF2B5EF4-FFF2-40B4-BE49-F238E27FC236}">
                <a16:creationId xmlns:a16="http://schemas.microsoft.com/office/drawing/2014/main" id="{80E0FD81-A600-FF75-ED2A-1E5331347B36}"/>
              </a:ext>
            </a:extLst>
          </p:cNvPr>
          <p:cNvSpPr txBox="1"/>
          <p:nvPr/>
        </p:nvSpPr>
        <p:spPr>
          <a:xfrm>
            <a:off x="3159910" y="4420149"/>
            <a:ext cx="1643399" cy="526554"/>
          </a:xfrm>
          <a:prstGeom prst="rect">
            <a:avLst/>
          </a:prstGeom>
          <a:noFill/>
        </p:spPr>
        <p:txBody>
          <a:bodyPr wrap="square">
            <a:spAutoFit/>
          </a:bodyPr>
          <a:lstStyle/>
          <a:p>
            <a:pPr marL="285750" indent="-285750">
              <a:lnSpc>
                <a:spcPct val="150000"/>
              </a:lnSpc>
              <a:buFont typeface="+mj-lt"/>
              <a:buAutoNum type="arabicPeriod"/>
            </a:pPr>
            <a:r>
              <a:rPr lang="zh-CN" altLang="en-US" sz="1000" dirty="0"/>
              <a:t>儿童</a:t>
            </a:r>
            <a:endParaRPr lang="en-US" altLang="zh-CN" sz="1000" dirty="0"/>
          </a:p>
          <a:p>
            <a:pPr marL="285750" indent="-285750">
              <a:lnSpc>
                <a:spcPct val="150000"/>
              </a:lnSpc>
              <a:buFont typeface="+mj-lt"/>
              <a:buAutoNum type="arabicPeriod"/>
            </a:pPr>
            <a:r>
              <a:rPr lang="zh-CN" altLang="en-US" sz="1000" dirty="0"/>
              <a:t>特殊体质</a:t>
            </a:r>
          </a:p>
        </p:txBody>
      </p:sp>
      <p:sp>
        <p:nvSpPr>
          <p:cNvPr id="46" name="文本框 45">
            <a:extLst>
              <a:ext uri="{FF2B5EF4-FFF2-40B4-BE49-F238E27FC236}">
                <a16:creationId xmlns:a16="http://schemas.microsoft.com/office/drawing/2014/main" id="{C0EF5238-89A7-A14E-FAD4-E4BDAA21D4DA}"/>
              </a:ext>
            </a:extLst>
          </p:cNvPr>
          <p:cNvSpPr txBox="1"/>
          <p:nvPr/>
        </p:nvSpPr>
        <p:spPr>
          <a:xfrm>
            <a:off x="4494833" y="4405596"/>
            <a:ext cx="2119697" cy="757387"/>
          </a:xfrm>
          <a:prstGeom prst="rect">
            <a:avLst/>
          </a:prstGeom>
          <a:noFill/>
        </p:spPr>
        <p:txBody>
          <a:bodyPr wrap="square">
            <a:spAutoFit/>
          </a:bodyPr>
          <a:lstStyle/>
          <a:p>
            <a:pPr marL="285750" indent="-285750">
              <a:lnSpc>
                <a:spcPct val="150000"/>
              </a:lnSpc>
              <a:buFont typeface="+mj-lt"/>
              <a:buAutoNum type="arabicPeriod"/>
            </a:pPr>
            <a:r>
              <a:rPr lang="zh-CN" altLang="en-US" sz="1000" dirty="0"/>
              <a:t>上一个乘客留下的气味</a:t>
            </a:r>
            <a:endParaRPr lang="en-US" altLang="zh-CN" sz="1000" dirty="0"/>
          </a:p>
          <a:p>
            <a:pPr marL="285750" indent="-285750">
              <a:lnSpc>
                <a:spcPct val="150000"/>
              </a:lnSpc>
              <a:buFont typeface="+mj-lt"/>
              <a:buAutoNum type="arabicPeriod"/>
            </a:pPr>
            <a:r>
              <a:rPr lang="zh-CN" altLang="en-US" sz="1000" dirty="0"/>
              <a:t>车与司机本身的味道</a:t>
            </a:r>
            <a:r>
              <a:rPr lang="en-US" altLang="zh-CN" sz="1000" dirty="0"/>
              <a:t>(</a:t>
            </a:r>
            <a:r>
              <a:rPr lang="zh-CN" altLang="en-US" sz="1000" dirty="0"/>
              <a:t>司机睡车里等情形等）</a:t>
            </a:r>
          </a:p>
        </p:txBody>
      </p:sp>
      <p:sp>
        <p:nvSpPr>
          <p:cNvPr id="47" name="文本框 46">
            <a:extLst>
              <a:ext uri="{FF2B5EF4-FFF2-40B4-BE49-F238E27FC236}">
                <a16:creationId xmlns:a16="http://schemas.microsoft.com/office/drawing/2014/main" id="{D0369412-8D69-24BD-F02A-670BFA4D3C2B}"/>
              </a:ext>
            </a:extLst>
          </p:cNvPr>
          <p:cNvSpPr txBox="1"/>
          <p:nvPr/>
        </p:nvSpPr>
        <p:spPr>
          <a:xfrm>
            <a:off x="6646896" y="4447293"/>
            <a:ext cx="2027632" cy="526554"/>
          </a:xfrm>
          <a:prstGeom prst="rect">
            <a:avLst/>
          </a:prstGeom>
          <a:noFill/>
        </p:spPr>
        <p:txBody>
          <a:bodyPr wrap="square">
            <a:spAutoFit/>
          </a:bodyPr>
          <a:lstStyle/>
          <a:p>
            <a:pPr marL="285750" indent="-285750">
              <a:lnSpc>
                <a:spcPct val="150000"/>
              </a:lnSpc>
              <a:buFont typeface="+mj-lt"/>
              <a:buAutoNum type="arabicPeriod"/>
            </a:pPr>
            <a:r>
              <a:rPr lang="zh-CN" altLang="en-US" sz="1000" dirty="0"/>
              <a:t>开窗抽烟</a:t>
            </a:r>
            <a:endParaRPr lang="en-US" altLang="zh-CN" sz="1000" dirty="0"/>
          </a:p>
          <a:p>
            <a:pPr marL="285750" indent="-285750">
              <a:lnSpc>
                <a:spcPct val="150000"/>
              </a:lnSpc>
              <a:buFont typeface="+mj-lt"/>
              <a:buAutoNum type="arabicPeriod"/>
            </a:pPr>
            <a:r>
              <a:rPr lang="zh-CN" altLang="en-US" sz="1000" dirty="0"/>
              <a:t>停车抽烟</a:t>
            </a:r>
          </a:p>
        </p:txBody>
      </p:sp>
      <p:cxnSp>
        <p:nvCxnSpPr>
          <p:cNvPr id="3" name="直接连接符 2">
            <a:extLst>
              <a:ext uri="{FF2B5EF4-FFF2-40B4-BE49-F238E27FC236}">
                <a16:creationId xmlns:a16="http://schemas.microsoft.com/office/drawing/2014/main" id="{D47D0A02-6B42-BB60-B16B-97AB9AC54498}"/>
              </a:ext>
            </a:extLst>
          </p:cNvPr>
          <p:cNvCxnSpPr>
            <a:cxnSpLocks/>
          </p:cNvCxnSpPr>
          <p:nvPr/>
        </p:nvCxnSpPr>
        <p:spPr>
          <a:xfrm>
            <a:off x="483782" y="3913542"/>
            <a:ext cx="7369899"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3FCFE8C6-D791-3645-05F8-98D6227A727F}"/>
              </a:ext>
            </a:extLst>
          </p:cNvPr>
          <p:cNvSpPr txBox="1"/>
          <p:nvPr/>
        </p:nvSpPr>
        <p:spPr>
          <a:xfrm>
            <a:off x="7864380" y="3025351"/>
            <a:ext cx="723275" cy="253916"/>
          </a:xfrm>
          <a:prstGeom prst="rect">
            <a:avLst/>
          </a:prstGeom>
          <a:noFill/>
        </p:spPr>
        <p:txBody>
          <a:bodyPr wrap="none" rtlCol="0">
            <a:spAutoFit/>
          </a:bodyPr>
          <a:lstStyle/>
          <a:p>
            <a:r>
              <a:rPr lang="zh-CN" altLang="en-US" sz="1050" b="1" dirty="0"/>
              <a:t>机会点：</a:t>
            </a:r>
          </a:p>
        </p:txBody>
      </p:sp>
      <p:sp>
        <p:nvSpPr>
          <p:cNvPr id="9" name="文本框 8">
            <a:extLst>
              <a:ext uri="{FF2B5EF4-FFF2-40B4-BE49-F238E27FC236}">
                <a16:creationId xmlns:a16="http://schemas.microsoft.com/office/drawing/2014/main" id="{35B957D6-0AC6-0A37-0F4F-C0282E398ED2}"/>
              </a:ext>
            </a:extLst>
          </p:cNvPr>
          <p:cNvSpPr txBox="1"/>
          <p:nvPr/>
        </p:nvSpPr>
        <p:spPr>
          <a:xfrm>
            <a:off x="7865817" y="5303204"/>
            <a:ext cx="588623" cy="253916"/>
          </a:xfrm>
          <a:prstGeom prst="rect">
            <a:avLst/>
          </a:prstGeom>
          <a:noFill/>
        </p:spPr>
        <p:txBody>
          <a:bodyPr wrap="none" rtlCol="0">
            <a:spAutoFit/>
          </a:bodyPr>
          <a:lstStyle/>
          <a:p>
            <a:r>
              <a:rPr lang="zh-CN" altLang="en-US" sz="1050" b="1" dirty="0"/>
              <a:t>展望：</a:t>
            </a:r>
          </a:p>
        </p:txBody>
      </p:sp>
      <p:sp>
        <p:nvSpPr>
          <p:cNvPr id="11" name="文本框 10">
            <a:extLst>
              <a:ext uri="{FF2B5EF4-FFF2-40B4-BE49-F238E27FC236}">
                <a16:creationId xmlns:a16="http://schemas.microsoft.com/office/drawing/2014/main" id="{BFEB49F8-10F5-B1FE-E415-A191C7D69C9C}"/>
              </a:ext>
            </a:extLst>
          </p:cNvPr>
          <p:cNvSpPr txBox="1"/>
          <p:nvPr/>
        </p:nvSpPr>
        <p:spPr>
          <a:xfrm>
            <a:off x="7834850" y="1832366"/>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17" name="文本框 16">
            <a:extLst>
              <a:ext uri="{FF2B5EF4-FFF2-40B4-BE49-F238E27FC236}">
                <a16:creationId xmlns:a16="http://schemas.microsoft.com/office/drawing/2014/main" id="{479318AB-C64E-166F-1804-A6E161E8C90B}"/>
              </a:ext>
            </a:extLst>
          </p:cNvPr>
          <p:cNvSpPr txBox="1"/>
          <p:nvPr/>
        </p:nvSpPr>
        <p:spPr>
          <a:xfrm>
            <a:off x="6514674" y="5038303"/>
            <a:ext cx="1204176"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私人司机情景</a:t>
            </a:r>
          </a:p>
        </p:txBody>
      </p:sp>
      <p:sp>
        <p:nvSpPr>
          <p:cNvPr id="19" name="文本框 18">
            <a:extLst>
              <a:ext uri="{FF2B5EF4-FFF2-40B4-BE49-F238E27FC236}">
                <a16:creationId xmlns:a16="http://schemas.microsoft.com/office/drawing/2014/main" id="{371D4A4F-9476-3E34-D94C-A3E2C228C6D8}"/>
              </a:ext>
            </a:extLst>
          </p:cNvPr>
          <p:cNvSpPr txBox="1"/>
          <p:nvPr/>
        </p:nvSpPr>
        <p:spPr>
          <a:xfrm>
            <a:off x="6568498" y="5307866"/>
            <a:ext cx="1306724" cy="526554"/>
          </a:xfrm>
          <a:prstGeom prst="rect">
            <a:avLst/>
          </a:prstGeom>
          <a:noFill/>
        </p:spPr>
        <p:txBody>
          <a:bodyPr wrap="square">
            <a:spAutoFit/>
          </a:bodyPr>
          <a:lstStyle/>
          <a:p>
            <a:pPr marL="285750" indent="-285750">
              <a:lnSpc>
                <a:spcPct val="150000"/>
              </a:lnSpc>
              <a:buFont typeface="+mj-lt"/>
              <a:buAutoNum type="arabicPeriod"/>
            </a:pPr>
            <a:r>
              <a:rPr lang="zh-CN" altLang="en-US" sz="1000" dirty="0"/>
              <a:t>老板再车内抽烟</a:t>
            </a:r>
          </a:p>
        </p:txBody>
      </p:sp>
      <p:sp>
        <p:nvSpPr>
          <p:cNvPr id="20" name="文本框 19">
            <a:extLst>
              <a:ext uri="{FF2B5EF4-FFF2-40B4-BE49-F238E27FC236}">
                <a16:creationId xmlns:a16="http://schemas.microsoft.com/office/drawing/2014/main" id="{0F6A39F0-360F-0919-09BE-5DBDCC60BFB0}"/>
              </a:ext>
            </a:extLst>
          </p:cNvPr>
          <p:cNvSpPr txBox="1"/>
          <p:nvPr/>
        </p:nvSpPr>
        <p:spPr>
          <a:xfrm>
            <a:off x="8261428" y="5661919"/>
            <a:ext cx="2888950" cy="492443"/>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50" dirty="0"/>
              <a:t>司机</a:t>
            </a:r>
            <a:r>
              <a:rPr lang="en-US" altLang="zh-CN" sz="1050" dirty="0"/>
              <a:t>agent</a:t>
            </a:r>
            <a:r>
              <a:rPr lang="zh-CN" altLang="en-US" sz="1050" dirty="0"/>
              <a:t>人格化，与乘客建立信任</a:t>
            </a:r>
            <a:endParaRPr lang="en-US" altLang="zh-CN" sz="1050" dirty="0"/>
          </a:p>
          <a:p>
            <a:pPr marL="171450" indent="-171450">
              <a:spcBef>
                <a:spcPts val="600"/>
              </a:spcBef>
              <a:buFont typeface="Wingdings" panose="05000000000000000000" pitchFamily="2" charset="2"/>
              <a:buChar char="ü"/>
            </a:pPr>
            <a:endParaRPr lang="en-US" altLang="zh-CN" sz="1050" dirty="0"/>
          </a:p>
        </p:txBody>
      </p:sp>
      <p:sp>
        <p:nvSpPr>
          <p:cNvPr id="21" name="文本框 37">
            <a:extLst>
              <a:ext uri="{FF2B5EF4-FFF2-40B4-BE49-F238E27FC236}">
                <a16:creationId xmlns:a16="http://schemas.microsoft.com/office/drawing/2014/main" id="{EAC3BCD4-E9A2-C815-8223-891FCEACCA6A}"/>
              </a:ext>
            </a:extLst>
          </p:cNvPr>
          <p:cNvSpPr txBox="1"/>
          <p:nvPr/>
        </p:nvSpPr>
        <p:spPr>
          <a:xfrm>
            <a:off x="1563177" y="4405596"/>
            <a:ext cx="1405486" cy="105413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050" dirty="0"/>
              <a:t>乘客对空气质量有非常在意</a:t>
            </a:r>
            <a:endParaRPr lang="en-US" altLang="zh-CN" sz="1050" dirty="0"/>
          </a:p>
          <a:p>
            <a:pPr>
              <a:spcBef>
                <a:spcPts val="600"/>
              </a:spcBef>
            </a:pPr>
            <a:r>
              <a:rPr lang="en-US" altLang="zh-CN" sz="1050" dirty="0"/>
              <a:t>1.</a:t>
            </a:r>
            <a:r>
              <a:rPr lang="zh-CN" altLang="en-US" sz="1050" dirty="0"/>
              <a:t>寻求更多控制权</a:t>
            </a:r>
            <a:endParaRPr lang="en-US" altLang="zh-CN" sz="1050" dirty="0"/>
          </a:p>
          <a:p>
            <a:pPr>
              <a:spcBef>
                <a:spcPts val="600"/>
              </a:spcBef>
            </a:pPr>
            <a:r>
              <a:rPr lang="en-US" altLang="zh-CN" sz="1050" dirty="0"/>
              <a:t>2.</a:t>
            </a:r>
            <a:r>
              <a:rPr lang="zh-CN" altLang="en-US" sz="1050" dirty="0"/>
              <a:t>普遍抱怨空气质量不好</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C6B98-6F92-EFA6-5FFD-8FEE0472564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8048175-4BC0-38AF-FE18-203B318F79BE}"/>
              </a:ext>
            </a:extLst>
          </p:cNvPr>
          <p:cNvSpPr>
            <a:spLocks noGrp="1"/>
          </p:cNvSpPr>
          <p:nvPr>
            <p:ph type="title" idx="4294967295"/>
          </p:nvPr>
        </p:nvSpPr>
        <p:spPr>
          <a:xfrm>
            <a:off x="669924" y="433637"/>
            <a:ext cx="10440000" cy="595063"/>
          </a:xfrm>
        </p:spPr>
        <p:txBody>
          <a:bodyPr/>
          <a:lstStyle/>
          <a:p>
            <a:r>
              <a:rPr lang="zh-CN" altLang="en-US" dirty="0"/>
              <a:t>行驶阶段</a:t>
            </a:r>
            <a:r>
              <a:rPr lang="en-US" altLang="zh-CN" dirty="0"/>
              <a:t>——</a:t>
            </a:r>
            <a:r>
              <a:rPr lang="zh-CN" altLang="en-US" dirty="0"/>
              <a:t>车内环境舒适调整旅程</a:t>
            </a:r>
          </a:p>
        </p:txBody>
      </p:sp>
      <p:sp>
        <p:nvSpPr>
          <p:cNvPr id="16" name="文本占位符 4">
            <a:extLst>
              <a:ext uri="{FF2B5EF4-FFF2-40B4-BE49-F238E27FC236}">
                <a16:creationId xmlns:a16="http://schemas.microsoft.com/office/drawing/2014/main" id="{4776CA3B-10D1-26E8-16D2-8BF16B5446C7}"/>
              </a:ext>
            </a:extLst>
          </p:cNvPr>
          <p:cNvSpPr txBox="1"/>
          <p:nvPr/>
        </p:nvSpPr>
        <p:spPr>
          <a:xfrm>
            <a:off x="5183625" y="1395662"/>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a:extLst>
              <a:ext uri="{FF2B5EF4-FFF2-40B4-BE49-F238E27FC236}">
                <a16:creationId xmlns:a16="http://schemas.microsoft.com/office/drawing/2014/main" id="{B900D79D-7BD8-9834-59C3-73CBB6FEE49D}"/>
              </a:ext>
            </a:extLst>
          </p:cNvPr>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a:extLst>
              <a:ext uri="{FF2B5EF4-FFF2-40B4-BE49-F238E27FC236}">
                <a16:creationId xmlns:a16="http://schemas.microsoft.com/office/drawing/2014/main" id="{BAC6BA1B-CFFB-1F0F-7F73-565E82A89B73}"/>
              </a:ext>
            </a:extLst>
          </p:cNvPr>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a:extLst>
              <a:ext uri="{FF2B5EF4-FFF2-40B4-BE49-F238E27FC236}">
                <a16:creationId xmlns:a16="http://schemas.microsoft.com/office/drawing/2014/main" id="{D860478C-1C6D-1255-5109-17C3D17330BC}"/>
              </a:ext>
            </a:extLst>
          </p:cNvPr>
          <p:cNvSpPr txBox="1"/>
          <p:nvPr/>
        </p:nvSpPr>
        <p:spPr>
          <a:xfrm>
            <a:off x="97877" y="2794788"/>
            <a:ext cx="366036" cy="2031325"/>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车内环境舒适调整</a:t>
            </a:r>
          </a:p>
        </p:txBody>
      </p:sp>
      <p:sp>
        <p:nvSpPr>
          <p:cNvPr id="10" name="文本框 9">
            <a:extLst>
              <a:ext uri="{FF2B5EF4-FFF2-40B4-BE49-F238E27FC236}">
                <a16:creationId xmlns:a16="http://schemas.microsoft.com/office/drawing/2014/main" id="{E7DB5AC0-BC3B-0C33-C802-E79C54150F06}"/>
              </a:ext>
            </a:extLst>
          </p:cNvPr>
          <p:cNvSpPr txBox="1"/>
          <p:nvPr/>
        </p:nvSpPr>
        <p:spPr>
          <a:xfrm>
            <a:off x="426471" y="-78623"/>
            <a:ext cx="1525188" cy="2893100"/>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降噪场景</a:t>
            </a:r>
            <a:endParaRPr lang="en-US" altLang="zh-CN" sz="12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a:extLst>
              <a:ext uri="{FF2B5EF4-FFF2-40B4-BE49-F238E27FC236}">
                <a16:creationId xmlns:a16="http://schemas.microsoft.com/office/drawing/2014/main" id="{34B8A999-8DD3-52B1-33FF-E8739BDAE7E4}"/>
              </a:ext>
            </a:extLst>
          </p:cNvPr>
          <p:cNvSpPr txBox="1"/>
          <p:nvPr/>
        </p:nvSpPr>
        <p:spPr>
          <a:xfrm>
            <a:off x="2143529" y="1384066"/>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a:extLst>
              <a:ext uri="{FF2B5EF4-FFF2-40B4-BE49-F238E27FC236}">
                <a16:creationId xmlns:a16="http://schemas.microsoft.com/office/drawing/2014/main" id="{A2BBF5EE-BFEF-BD17-1499-F982D9BB2FEC}"/>
              </a:ext>
            </a:extLst>
          </p:cNvPr>
          <p:cNvSpPr txBox="1"/>
          <p:nvPr/>
        </p:nvSpPr>
        <p:spPr>
          <a:xfrm>
            <a:off x="8606393" y="1383578"/>
            <a:ext cx="2682668"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a:extLst>
              <a:ext uri="{FF2B5EF4-FFF2-40B4-BE49-F238E27FC236}">
                <a16:creationId xmlns:a16="http://schemas.microsoft.com/office/drawing/2014/main" id="{09BE79BF-F44B-DD1C-37A7-59A86948087A}"/>
              </a:ext>
            </a:extLst>
          </p:cNvPr>
          <p:cNvCxnSpPr/>
          <p:nvPr/>
        </p:nvCxnSpPr>
        <p:spPr>
          <a:xfrm>
            <a:off x="3025509" y="185026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0FED0AE7-F57E-C854-A8A0-38998CF2C503}"/>
              </a:ext>
            </a:extLst>
          </p:cNvPr>
          <p:cNvCxnSpPr/>
          <p:nvPr/>
        </p:nvCxnSpPr>
        <p:spPr>
          <a:xfrm>
            <a:off x="7269297" y="1874217"/>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a:extLst>
              <a:ext uri="{FF2B5EF4-FFF2-40B4-BE49-F238E27FC236}">
                <a16:creationId xmlns:a16="http://schemas.microsoft.com/office/drawing/2014/main" id="{6B19BC12-CA45-37B9-E4C9-4ED97E4BB02A}"/>
              </a:ext>
            </a:extLst>
          </p:cNvPr>
          <p:cNvSpPr txBox="1"/>
          <p:nvPr/>
        </p:nvSpPr>
        <p:spPr>
          <a:xfrm>
            <a:off x="483782" y="1390273"/>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高频场景</a:t>
            </a:r>
          </a:p>
        </p:txBody>
      </p:sp>
      <p:cxnSp>
        <p:nvCxnSpPr>
          <p:cNvPr id="34" name="直接连接符 33">
            <a:extLst>
              <a:ext uri="{FF2B5EF4-FFF2-40B4-BE49-F238E27FC236}">
                <a16:creationId xmlns:a16="http://schemas.microsoft.com/office/drawing/2014/main" id="{73499E7A-EAF6-67C1-F0DA-6CE4E1B565BF}"/>
              </a:ext>
            </a:extLst>
          </p:cNvPr>
          <p:cNvCxnSpPr/>
          <p:nvPr/>
        </p:nvCxnSpPr>
        <p:spPr>
          <a:xfrm>
            <a:off x="1415695" y="1787633"/>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a:extLst>
              <a:ext uri="{FF2B5EF4-FFF2-40B4-BE49-F238E27FC236}">
                <a16:creationId xmlns:a16="http://schemas.microsoft.com/office/drawing/2014/main" id="{D595BC18-9EDE-B012-81EA-0D43C432CB6A}"/>
              </a:ext>
            </a:extLst>
          </p:cNvPr>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48" name="文本框 47">
            <a:extLst>
              <a:ext uri="{FF2B5EF4-FFF2-40B4-BE49-F238E27FC236}">
                <a16:creationId xmlns:a16="http://schemas.microsoft.com/office/drawing/2014/main" id="{33D6E430-18C3-F14D-2A59-BCC1191D4253}"/>
              </a:ext>
            </a:extLst>
          </p:cNvPr>
          <p:cNvSpPr txBox="1"/>
          <p:nvPr/>
        </p:nvSpPr>
        <p:spPr>
          <a:xfrm>
            <a:off x="1415695" y="2475250"/>
            <a:ext cx="1685392" cy="492443"/>
          </a:xfrm>
          <a:prstGeom prst="rect">
            <a:avLst/>
          </a:prstGeom>
          <a:noFill/>
        </p:spPr>
        <p:txBody>
          <a:bodyPr wrap="square" rtlCol="0">
            <a:spAutoFit/>
          </a:bodyPr>
          <a:lstStyle/>
          <a:p>
            <a:pPr marL="228600" indent="-228600">
              <a:spcBef>
                <a:spcPts val="600"/>
              </a:spcBef>
              <a:buFont typeface="+mj-lt"/>
              <a:buAutoNum type="arabicPeriod"/>
            </a:pPr>
            <a:r>
              <a:rPr lang="zh-CN" altLang="en-US" sz="1050" dirty="0"/>
              <a:t>降噪为主，少量音乐</a:t>
            </a:r>
            <a:endParaRPr lang="en-US" altLang="zh-CN" sz="1050" dirty="0"/>
          </a:p>
          <a:p>
            <a:pPr marL="228600" indent="-228600">
              <a:spcBef>
                <a:spcPts val="600"/>
              </a:spcBef>
              <a:buFont typeface="+mj-lt"/>
              <a:buAutoNum type="arabicPeriod"/>
            </a:pPr>
            <a:r>
              <a:rPr lang="zh-CN" altLang="en-US" sz="1050" dirty="0"/>
              <a:t>司乘均有诉求</a:t>
            </a:r>
          </a:p>
        </p:txBody>
      </p:sp>
      <p:sp>
        <p:nvSpPr>
          <p:cNvPr id="50" name="文本框 49">
            <a:extLst>
              <a:ext uri="{FF2B5EF4-FFF2-40B4-BE49-F238E27FC236}">
                <a16:creationId xmlns:a16="http://schemas.microsoft.com/office/drawing/2014/main" id="{D3E0A2B6-AD49-631B-5CEA-D0BAD1FF038A}"/>
              </a:ext>
            </a:extLst>
          </p:cNvPr>
          <p:cNvSpPr txBox="1"/>
          <p:nvPr/>
        </p:nvSpPr>
        <p:spPr>
          <a:xfrm>
            <a:off x="3025509" y="1874217"/>
            <a:ext cx="1204176"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乘客需要降噪</a:t>
            </a:r>
          </a:p>
        </p:txBody>
      </p:sp>
      <p:sp>
        <p:nvSpPr>
          <p:cNvPr id="53" name="文本框 52">
            <a:extLst>
              <a:ext uri="{FF2B5EF4-FFF2-40B4-BE49-F238E27FC236}">
                <a16:creationId xmlns:a16="http://schemas.microsoft.com/office/drawing/2014/main" id="{D206E7C8-2B0B-04C2-F794-BB6CEC81811E}"/>
              </a:ext>
            </a:extLst>
          </p:cNvPr>
          <p:cNvSpPr txBox="1"/>
          <p:nvPr/>
        </p:nvSpPr>
        <p:spPr>
          <a:xfrm>
            <a:off x="5329927" y="1860429"/>
            <a:ext cx="1204176"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司机需要降噪</a:t>
            </a:r>
          </a:p>
        </p:txBody>
      </p:sp>
      <p:sp>
        <p:nvSpPr>
          <p:cNvPr id="55" name="文本框 54">
            <a:extLst>
              <a:ext uri="{FF2B5EF4-FFF2-40B4-BE49-F238E27FC236}">
                <a16:creationId xmlns:a16="http://schemas.microsoft.com/office/drawing/2014/main" id="{42BFEA36-DAB7-9FE9-F11A-956B8A247559}"/>
              </a:ext>
            </a:extLst>
          </p:cNvPr>
          <p:cNvSpPr txBox="1"/>
          <p:nvPr/>
        </p:nvSpPr>
        <p:spPr>
          <a:xfrm>
            <a:off x="5361066" y="2443712"/>
            <a:ext cx="1486304"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乘客要求播放音乐</a:t>
            </a:r>
          </a:p>
        </p:txBody>
      </p:sp>
      <p:sp>
        <p:nvSpPr>
          <p:cNvPr id="56" name="文本框 55">
            <a:extLst>
              <a:ext uri="{FF2B5EF4-FFF2-40B4-BE49-F238E27FC236}">
                <a16:creationId xmlns:a16="http://schemas.microsoft.com/office/drawing/2014/main" id="{4AF89C54-4C0D-5DBA-B316-44A154E3272B}"/>
              </a:ext>
            </a:extLst>
          </p:cNvPr>
          <p:cNvSpPr txBox="1"/>
          <p:nvPr/>
        </p:nvSpPr>
        <p:spPr>
          <a:xfrm>
            <a:off x="3052085" y="2101966"/>
            <a:ext cx="3066299" cy="988219"/>
          </a:xfrm>
          <a:prstGeom prst="rect">
            <a:avLst/>
          </a:prstGeom>
          <a:noFill/>
        </p:spPr>
        <p:txBody>
          <a:bodyPr wrap="square">
            <a:spAutoFit/>
          </a:bodyPr>
          <a:lstStyle/>
          <a:p>
            <a:pPr marL="285750" indent="-285750">
              <a:lnSpc>
                <a:spcPct val="150000"/>
              </a:lnSpc>
              <a:buFont typeface="+mj-lt"/>
              <a:buAutoNum type="arabicPeriod"/>
            </a:pPr>
            <a:r>
              <a:rPr lang="zh-CN" altLang="en-US" sz="1000" dirty="0"/>
              <a:t>存在司机播放音乐，打电话的情况</a:t>
            </a:r>
            <a:endParaRPr lang="en-US" altLang="zh-CN" sz="1000" dirty="0"/>
          </a:p>
          <a:p>
            <a:pPr marL="285750" indent="-285750">
              <a:lnSpc>
                <a:spcPct val="150000"/>
              </a:lnSpc>
              <a:buFont typeface="+mj-lt"/>
              <a:buAutoNum type="arabicPeriod"/>
            </a:pPr>
            <a:r>
              <a:rPr lang="zh-CN" altLang="en-US" sz="1000" dirty="0"/>
              <a:t>导航声音过大</a:t>
            </a:r>
            <a:endParaRPr lang="en-US" altLang="zh-CN" sz="1000" dirty="0"/>
          </a:p>
          <a:p>
            <a:pPr marL="285750" indent="-285750">
              <a:lnSpc>
                <a:spcPct val="150000"/>
              </a:lnSpc>
              <a:buFont typeface="+mj-lt"/>
              <a:buAutoNum type="arabicPeriod"/>
            </a:pPr>
            <a:r>
              <a:rPr lang="zh-CN" altLang="en-US" sz="1000" dirty="0"/>
              <a:t>乘客很疲劳需要非常安静</a:t>
            </a:r>
            <a:endParaRPr lang="en-US" altLang="zh-CN" sz="1000" dirty="0"/>
          </a:p>
          <a:p>
            <a:pPr marL="285750" indent="-285750">
              <a:lnSpc>
                <a:spcPct val="150000"/>
              </a:lnSpc>
              <a:buFont typeface="+mj-lt"/>
              <a:buAutoNum type="arabicPeriod"/>
            </a:pPr>
            <a:r>
              <a:rPr lang="zh-CN" altLang="en-US" sz="1000" dirty="0"/>
              <a:t>睡眠时隔绝路燥，需要降噪耳机</a:t>
            </a:r>
          </a:p>
        </p:txBody>
      </p:sp>
      <p:sp>
        <p:nvSpPr>
          <p:cNvPr id="59" name="文本框 58">
            <a:extLst>
              <a:ext uri="{FF2B5EF4-FFF2-40B4-BE49-F238E27FC236}">
                <a16:creationId xmlns:a16="http://schemas.microsoft.com/office/drawing/2014/main" id="{B4DA880A-9D31-4E8E-5E6F-FBE9824AA93A}"/>
              </a:ext>
            </a:extLst>
          </p:cNvPr>
          <p:cNvSpPr txBox="1"/>
          <p:nvPr/>
        </p:nvSpPr>
        <p:spPr>
          <a:xfrm>
            <a:off x="7854488" y="2814477"/>
            <a:ext cx="3750925" cy="630942"/>
          </a:xfrm>
          <a:prstGeom prst="rect">
            <a:avLst/>
          </a:prstGeom>
          <a:noFill/>
        </p:spPr>
        <p:txBody>
          <a:bodyPr wrap="square">
            <a:spAutoFit/>
          </a:bodyPr>
          <a:lstStyle/>
          <a:p>
            <a:pPr marL="285750" indent="-285750">
              <a:spcBef>
                <a:spcPts val="600"/>
              </a:spcBef>
              <a:buFont typeface="Wingdings" panose="05000000000000000000" pitchFamily="2" charset="2"/>
              <a:buChar char="ü"/>
            </a:pPr>
            <a:r>
              <a:rPr lang="zh-CN" altLang="en-US" sz="1000" dirty="0"/>
              <a:t>可提供安静乘坐模式，音乐，导航声音全程关闭，全程不司机</a:t>
            </a:r>
            <a:r>
              <a:rPr lang="en-US" altLang="zh-CN" sz="1000" dirty="0"/>
              <a:t>agent</a:t>
            </a:r>
            <a:r>
              <a:rPr lang="zh-CN" altLang="en-US" sz="1000" dirty="0"/>
              <a:t>不主动沟通，关闭主动服务</a:t>
            </a:r>
            <a:endParaRPr lang="en-US" altLang="zh-CN" sz="1000" dirty="0"/>
          </a:p>
          <a:p>
            <a:pPr marL="285750" indent="-285750">
              <a:spcBef>
                <a:spcPts val="600"/>
              </a:spcBef>
              <a:buFont typeface="Wingdings" panose="05000000000000000000" pitchFamily="2" charset="2"/>
              <a:buChar char="ü"/>
            </a:pPr>
            <a:r>
              <a:rPr lang="zh-CN" altLang="en-US" sz="1000" dirty="0"/>
              <a:t>行车降噪模式，降低胎噪与风燥</a:t>
            </a:r>
            <a:endParaRPr lang="en-US" altLang="zh-CN" sz="1000" dirty="0"/>
          </a:p>
        </p:txBody>
      </p:sp>
      <p:sp>
        <p:nvSpPr>
          <p:cNvPr id="61" name="文本框 60">
            <a:extLst>
              <a:ext uri="{FF2B5EF4-FFF2-40B4-BE49-F238E27FC236}">
                <a16:creationId xmlns:a16="http://schemas.microsoft.com/office/drawing/2014/main" id="{CEA04978-1577-0616-EF77-9FD5026A7FF7}"/>
              </a:ext>
            </a:extLst>
          </p:cNvPr>
          <p:cNvSpPr txBox="1"/>
          <p:nvPr/>
        </p:nvSpPr>
        <p:spPr>
          <a:xfrm>
            <a:off x="5430064" y="2168683"/>
            <a:ext cx="1928368" cy="295722"/>
          </a:xfrm>
          <a:prstGeom prst="rect">
            <a:avLst/>
          </a:prstGeom>
          <a:noFill/>
        </p:spPr>
        <p:txBody>
          <a:bodyPr wrap="square">
            <a:spAutoFit/>
          </a:bodyPr>
          <a:lstStyle/>
          <a:p>
            <a:pPr marL="285750" indent="-285750">
              <a:lnSpc>
                <a:spcPct val="150000"/>
              </a:lnSpc>
              <a:buFont typeface="+mj-lt"/>
              <a:buAutoNum type="arabicPeriod"/>
            </a:pPr>
            <a:r>
              <a:rPr lang="zh-CN" altLang="en-US" sz="1000" dirty="0"/>
              <a:t>乘车人太吵影响驾驶安全</a:t>
            </a:r>
          </a:p>
        </p:txBody>
      </p:sp>
      <p:sp>
        <p:nvSpPr>
          <p:cNvPr id="62" name="文本框 61">
            <a:extLst>
              <a:ext uri="{FF2B5EF4-FFF2-40B4-BE49-F238E27FC236}">
                <a16:creationId xmlns:a16="http://schemas.microsoft.com/office/drawing/2014/main" id="{704DF2F8-EC31-8215-297B-C2F822874F3E}"/>
              </a:ext>
            </a:extLst>
          </p:cNvPr>
          <p:cNvSpPr txBox="1"/>
          <p:nvPr/>
        </p:nvSpPr>
        <p:spPr>
          <a:xfrm>
            <a:off x="5420324" y="2705322"/>
            <a:ext cx="1628458" cy="295722"/>
          </a:xfrm>
          <a:prstGeom prst="rect">
            <a:avLst/>
          </a:prstGeom>
          <a:noFill/>
        </p:spPr>
        <p:txBody>
          <a:bodyPr wrap="square">
            <a:spAutoFit/>
          </a:bodyPr>
          <a:lstStyle/>
          <a:p>
            <a:pPr marL="285750" indent="-285750">
              <a:lnSpc>
                <a:spcPct val="150000"/>
              </a:lnSpc>
              <a:buFont typeface="+mj-lt"/>
              <a:buAutoNum type="arabicPeriod"/>
            </a:pPr>
            <a:r>
              <a:rPr lang="zh-CN" altLang="en-US" sz="1000" dirty="0"/>
              <a:t>个别乘客想听音乐</a:t>
            </a:r>
          </a:p>
        </p:txBody>
      </p:sp>
      <p:cxnSp>
        <p:nvCxnSpPr>
          <p:cNvPr id="3" name="直接连接符 2">
            <a:extLst>
              <a:ext uri="{FF2B5EF4-FFF2-40B4-BE49-F238E27FC236}">
                <a16:creationId xmlns:a16="http://schemas.microsoft.com/office/drawing/2014/main" id="{C47D702D-6C72-7CC2-BD84-D332664ACDA1}"/>
              </a:ext>
            </a:extLst>
          </p:cNvPr>
          <p:cNvCxnSpPr>
            <a:cxnSpLocks/>
          </p:cNvCxnSpPr>
          <p:nvPr/>
        </p:nvCxnSpPr>
        <p:spPr>
          <a:xfrm>
            <a:off x="483782" y="3766807"/>
            <a:ext cx="11144005" cy="34091"/>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600D1DC1-7AD4-224B-9C5A-59952E19E404}"/>
              </a:ext>
            </a:extLst>
          </p:cNvPr>
          <p:cNvSpPr txBox="1"/>
          <p:nvPr/>
        </p:nvSpPr>
        <p:spPr>
          <a:xfrm>
            <a:off x="483782" y="4875267"/>
            <a:ext cx="6607834" cy="276999"/>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温度调整</a:t>
            </a:r>
            <a:endParaRPr lang="en-US" altLang="zh-CN" sz="1200" b="1" dirty="0">
              <a:solidFill>
                <a:srgbClr val="000000"/>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C7135EB4-85F8-B7EA-0B5D-1C27FFBD38B5}"/>
              </a:ext>
            </a:extLst>
          </p:cNvPr>
          <p:cNvSpPr txBox="1"/>
          <p:nvPr/>
        </p:nvSpPr>
        <p:spPr>
          <a:xfrm>
            <a:off x="1436691" y="4341365"/>
            <a:ext cx="1643399" cy="969496"/>
          </a:xfrm>
          <a:prstGeom prst="rect">
            <a:avLst/>
          </a:prstGeom>
          <a:noFill/>
        </p:spPr>
        <p:txBody>
          <a:bodyPr wrap="none" rtlCol="0">
            <a:spAutoFit/>
          </a:bodyPr>
          <a:lstStyle/>
          <a:p>
            <a:r>
              <a:rPr lang="zh-CN" altLang="en-US" sz="1050" dirty="0"/>
              <a:t>温度调整存在矛盾</a:t>
            </a:r>
            <a:endParaRPr lang="en-US" altLang="zh-CN" sz="1050" dirty="0"/>
          </a:p>
          <a:p>
            <a:pPr>
              <a:spcBef>
                <a:spcPts val="600"/>
              </a:spcBef>
            </a:pPr>
            <a:r>
              <a:rPr lang="en-US" altLang="zh-CN" sz="1050" dirty="0"/>
              <a:t>1.</a:t>
            </a:r>
            <a:r>
              <a:rPr lang="zh-CN" altLang="en-US" sz="1050" dirty="0"/>
              <a:t>乘客与司机诉求不一致</a:t>
            </a:r>
            <a:endParaRPr lang="en-US" altLang="zh-CN" sz="1050" dirty="0"/>
          </a:p>
          <a:p>
            <a:pPr>
              <a:spcBef>
                <a:spcPts val="600"/>
              </a:spcBef>
            </a:pPr>
            <a:r>
              <a:rPr lang="en-US" altLang="zh-CN" sz="1050" dirty="0"/>
              <a:t>2.</a:t>
            </a:r>
            <a:r>
              <a:rPr lang="zh-CN" altLang="en-US" sz="1050" dirty="0"/>
              <a:t>不同乘客的需求不同</a:t>
            </a:r>
            <a:endParaRPr lang="en-US" altLang="zh-CN" sz="1050" dirty="0"/>
          </a:p>
          <a:p>
            <a:pPr>
              <a:spcBef>
                <a:spcPts val="600"/>
              </a:spcBef>
            </a:pPr>
            <a:r>
              <a:rPr lang="en-US" altLang="zh-CN" sz="1050" dirty="0"/>
              <a:t>3.</a:t>
            </a:r>
            <a:r>
              <a:rPr lang="zh-CN" altLang="en-US" sz="1050" dirty="0"/>
              <a:t>需求更多控制权</a:t>
            </a:r>
          </a:p>
        </p:txBody>
      </p:sp>
      <p:sp>
        <p:nvSpPr>
          <p:cNvPr id="14" name="文本框 13">
            <a:extLst>
              <a:ext uri="{FF2B5EF4-FFF2-40B4-BE49-F238E27FC236}">
                <a16:creationId xmlns:a16="http://schemas.microsoft.com/office/drawing/2014/main" id="{328BF1F8-9589-69AC-6D00-6176724ABD05}"/>
              </a:ext>
            </a:extLst>
          </p:cNvPr>
          <p:cNvSpPr txBox="1"/>
          <p:nvPr/>
        </p:nvSpPr>
        <p:spPr>
          <a:xfrm>
            <a:off x="3046504" y="4114059"/>
            <a:ext cx="1643399" cy="526554"/>
          </a:xfrm>
          <a:prstGeom prst="rect">
            <a:avLst/>
          </a:prstGeom>
          <a:noFill/>
        </p:spPr>
        <p:txBody>
          <a:bodyPr wrap="square">
            <a:spAutoFit/>
          </a:bodyPr>
          <a:lstStyle/>
          <a:p>
            <a:pPr marL="285750" indent="-285750">
              <a:lnSpc>
                <a:spcPct val="150000"/>
              </a:lnSpc>
              <a:buFont typeface="+mj-lt"/>
              <a:buAutoNum type="arabicPeriod"/>
            </a:pPr>
            <a:r>
              <a:rPr lang="zh-CN" altLang="en-US" sz="1000" dirty="0"/>
              <a:t>老年乘客要求高温</a:t>
            </a:r>
            <a:endParaRPr lang="en-US" altLang="zh-CN" sz="1000" dirty="0"/>
          </a:p>
          <a:p>
            <a:pPr marL="285750" indent="-285750">
              <a:lnSpc>
                <a:spcPct val="150000"/>
              </a:lnSpc>
              <a:buFont typeface="+mj-lt"/>
              <a:buAutoNum type="arabicPeriod"/>
            </a:pPr>
            <a:r>
              <a:rPr lang="zh-CN" altLang="en-US" sz="1000" dirty="0"/>
              <a:t>年轻人偏好低温</a:t>
            </a:r>
          </a:p>
        </p:txBody>
      </p:sp>
      <p:sp>
        <p:nvSpPr>
          <p:cNvPr id="17" name="文本框 16">
            <a:extLst>
              <a:ext uri="{FF2B5EF4-FFF2-40B4-BE49-F238E27FC236}">
                <a16:creationId xmlns:a16="http://schemas.microsoft.com/office/drawing/2014/main" id="{62EF37BC-0497-78F5-CF20-3435C1F7F7FB}"/>
              </a:ext>
            </a:extLst>
          </p:cNvPr>
          <p:cNvSpPr txBox="1"/>
          <p:nvPr/>
        </p:nvSpPr>
        <p:spPr>
          <a:xfrm>
            <a:off x="3052085" y="3930587"/>
            <a:ext cx="1063112"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特征化差异</a:t>
            </a:r>
          </a:p>
        </p:txBody>
      </p:sp>
      <p:sp>
        <p:nvSpPr>
          <p:cNvPr id="19" name="文本框 18">
            <a:extLst>
              <a:ext uri="{FF2B5EF4-FFF2-40B4-BE49-F238E27FC236}">
                <a16:creationId xmlns:a16="http://schemas.microsoft.com/office/drawing/2014/main" id="{5A47D9F8-9228-A06F-EC35-AB342FEE1212}"/>
              </a:ext>
            </a:extLst>
          </p:cNvPr>
          <p:cNvSpPr txBox="1"/>
          <p:nvPr/>
        </p:nvSpPr>
        <p:spPr>
          <a:xfrm>
            <a:off x="3029716" y="4602989"/>
            <a:ext cx="1204176"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司乘需求差异</a:t>
            </a:r>
          </a:p>
        </p:txBody>
      </p:sp>
      <p:sp>
        <p:nvSpPr>
          <p:cNvPr id="20" name="文本框 19">
            <a:extLst>
              <a:ext uri="{FF2B5EF4-FFF2-40B4-BE49-F238E27FC236}">
                <a16:creationId xmlns:a16="http://schemas.microsoft.com/office/drawing/2014/main" id="{6F964F7B-5AF9-9949-A2D5-DB6DD1395FCE}"/>
              </a:ext>
            </a:extLst>
          </p:cNvPr>
          <p:cNvSpPr txBox="1"/>
          <p:nvPr/>
        </p:nvSpPr>
        <p:spPr>
          <a:xfrm>
            <a:off x="3043307" y="4819317"/>
            <a:ext cx="1987869" cy="756297"/>
          </a:xfrm>
          <a:prstGeom prst="rect">
            <a:avLst/>
          </a:prstGeom>
          <a:noFill/>
        </p:spPr>
        <p:txBody>
          <a:bodyPr wrap="square">
            <a:spAutoFit/>
          </a:bodyPr>
          <a:lstStyle/>
          <a:p>
            <a:pPr marL="285750" indent="-285750">
              <a:lnSpc>
                <a:spcPct val="150000"/>
              </a:lnSpc>
              <a:buFont typeface="+mj-lt"/>
              <a:buAutoNum type="arabicPeriod"/>
            </a:pPr>
            <a:r>
              <a:rPr lang="zh-CN" altLang="en-US" sz="1000" dirty="0"/>
              <a:t>快车司机想省钱</a:t>
            </a:r>
            <a:endParaRPr lang="en-US" altLang="zh-CN" sz="1000" dirty="0"/>
          </a:p>
          <a:p>
            <a:pPr marL="285750" indent="-285750">
              <a:lnSpc>
                <a:spcPct val="150000"/>
              </a:lnSpc>
              <a:buFont typeface="+mj-lt"/>
              <a:buAutoNum type="arabicPeriod"/>
            </a:pPr>
            <a:r>
              <a:rPr lang="zh-CN" altLang="en-US" sz="1000" dirty="0"/>
              <a:t>乘客想获得最佳温度</a:t>
            </a:r>
            <a:endParaRPr lang="en-US" altLang="zh-CN" sz="1000" dirty="0"/>
          </a:p>
          <a:p>
            <a:pPr marL="285750" indent="-285750">
              <a:lnSpc>
                <a:spcPct val="150000"/>
              </a:lnSpc>
              <a:buFont typeface="+mj-lt"/>
              <a:buAutoNum type="arabicPeriod"/>
            </a:pPr>
            <a:endParaRPr lang="zh-CN" altLang="en-US" sz="1000" dirty="0"/>
          </a:p>
        </p:txBody>
      </p:sp>
      <p:sp>
        <p:nvSpPr>
          <p:cNvPr id="21" name="文本框 20">
            <a:extLst>
              <a:ext uri="{FF2B5EF4-FFF2-40B4-BE49-F238E27FC236}">
                <a16:creationId xmlns:a16="http://schemas.microsoft.com/office/drawing/2014/main" id="{44FE0B46-8D57-8A5E-8DB6-5CDDEFD1BD7A}"/>
              </a:ext>
            </a:extLst>
          </p:cNvPr>
          <p:cNvSpPr txBox="1"/>
          <p:nvPr/>
        </p:nvSpPr>
        <p:spPr>
          <a:xfrm>
            <a:off x="3029716" y="5302903"/>
            <a:ext cx="1204176"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司乘频次差异</a:t>
            </a:r>
          </a:p>
        </p:txBody>
      </p:sp>
      <p:sp>
        <p:nvSpPr>
          <p:cNvPr id="22" name="文本框 21">
            <a:extLst>
              <a:ext uri="{FF2B5EF4-FFF2-40B4-BE49-F238E27FC236}">
                <a16:creationId xmlns:a16="http://schemas.microsoft.com/office/drawing/2014/main" id="{F6861EDD-B917-5C1F-5118-25915CE9F747}"/>
              </a:ext>
            </a:extLst>
          </p:cNvPr>
          <p:cNvSpPr txBox="1"/>
          <p:nvPr/>
        </p:nvSpPr>
        <p:spPr>
          <a:xfrm>
            <a:off x="3080090" y="5539326"/>
            <a:ext cx="2124664" cy="630942"/>
          </a:xfrm>
          <a:prstGeom prst="rect">
            <a:avLst/>
          </a:prstGeom>
          <a:noFill/>
        </p:spPr>
        <p:txBody>
          <a:bodyPr wrap="square">
            <a:spAutoFit/>
          </a:bodyPr>
          <a:lstStyle/>
          <a:p>
            <a:pPr marL="285750" indent="-285750">
              <a:spcBef>
                <a:spcPts val="600"/>
              </a:spcBef>
              <a:buFont typeface="+mj-lt"/>
              <a:buAutoNum type="arabicPeriod"/>
            </a:pPr>
            <a:r>
              <a:rPr lang="zh-CN" altLang="en-US" sz="1000" dirty="0"/>
              <a:t>司机觉得麻烦</a:t>
            </a:r>
            <a:endParaRPr lang="en-US" altLang="zh-CN" sz="1000" dirty="0"/>
          </a:p>
          <a:p>
            <a:pPr marL="285750" indent="-285750">
              <a:spcBef>
                <a:spcPts val="600"/>
              </a:spcBef>
              <a:buFont typeface="+mj-lt"/>
              <a:buAutoNum type="arabicPeriod"/>
            </a:pPr>
            <a:r>
              <a:rPr lang="zh-CN" altLang="en-US" sz="1000" dirty="0"/>
              <a:t>司机调整不合适，乘客频繁调整温度</a:t>
            </a:r>
          </a:p>
        </p:txBody>
      </p:sp>
      <p:sp>
        <p:nvSpPr>
          <p:cNvPr id="24" name="文本框 23">
            <a:extLst>
              <a:ext uri="{FF2B5EF4-FFF2-40B4-BE49-F238E27FC236}">
                <a16:creationId xmlns:a16="http://schemas.microsoft.com/office/drawing/2014/main" id="{FBD028D2-D56E-951C-4E4E-BA4376AC6EBB}"/>
              </a:ext>
            </a:extLst>
          </p:cNvPr>
          <p:cNvSpPr txBox="1"/>
          <p:nvPr/>
        </p:nvSpPr>
        <p:spPr>
          <a:xfrm>
            <a:off x="7884818" y="4436581"/>
            <a:ext cx="3899639" cy="1454244"/>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50" dirty="0"/>
              <a:t>根据乘车人特征的上车后缺省空调温度智能设置，老年人要温度高一些，年轻人温蒂低一些</a:t>
            </a:r>
            <a:endParaRPr lang="en-US" altLang="zh-CN" sz="1050" dirty="0"/>
          </a:p>
          <a:p>
            <a:pPr marL="171450" indent="-171450">
              <a:spcBef>
                <a:spcPts val="600"/>
              </a:spcBef>
              <a:buFont typeface="Wingdings" panose="05000000000000000000" pitchFamily="2" charset="2"/>
              <a:buChar char="ü"/>
            </a:pPr>
            <a:r>
              <a:rPr lang="zh-CN" altLang="en-US" sz="1050" dirty="0"/>
              <a:t>根据外部气候环境智能设置缺省温度，天气冷就温度就高一些，天气热就低一些</a:t>
            </a:r>
            <a:endParaRPr lang="en-US" altLang="zh-CN" sz="1050" dirty="0"/>
          </a:p>
          <a:p>
            <a:pPr marL="171450" indent="-171450">
              <a:spcBef>
                <a:spcPts val="600"/>
              </a:spcBef>
              <a:buFont typeface="Wingdings" panose="05000000000000000000" pitchFamily="2" charset="2"/>
              <a:buChar char="ü"/>
            </a:pPr>
            <a:r>
              <a:rPr lang="zh-CN" altLang="en-US" sz="1050" dirty="0"/>
              <a:t>根据手机端司机</a:t>
            </a:r>
            <a:r>
              <a:rPr lang="en-US" altLang="zh-CN" sz="1050" dirty="0"/>
              <a:t>agent</a:t>
            </a:r>
            <a:r>
              <a:rPr lang="zh-CN" altLang="en-US" sz="1050" dirty="0"/>
              <a:t>判断，乘客即将上车，提前将空调与座椅问题调好，更加乘客习惯调好，上车后不受冻，也受热</a:t>
            </a:r>
            <a:endParaRPr lang="en-US" altLang="zh-CN" sz="1050" dirty="0"/>
          </a:p>
          <a:p>
            <a:pPr marL="171450" indent="-171450">
              <a:spcBef>
                <a:spcPts val="600"/>
              </a:spcBef>
              <a:buFont typeface="Wingdings" panose="05000000000000000000" pitchFamily="2" charset="2"/>
              <a:buChar char="ü"/>
            </a:pPr>
            <a:endParaRPr lang="en-US" altLang="zh-CN" sz="1050" dirty="0"/>
          </a:p>
        </p:txBody>
      </p:sp>
      <p:sp>
        <p:nvSpPr>
          <p:cNvPr id="27" name="文本框 26">
            <a:extLst>
              <a:ext uri="{FF2B5EF4-FFF2-40B4-BE49-F238E27FC236}">
                <a16:creationId xmlns:a16="http://schemas.microsoft.com/office/drawing/2014/main" id="{02509A35-CC3C-D46E-AE4D-22EE1736D0F8}"/>
              </a:ext>
            </a:extLst>
          </p:cNvPr>
          <p:cNvSpPr txBox="1"/>
          <p:nvPr/>
        </p:nvSpPr>
        <p:spPr>
          <a:xfrm>
            <a:off x="7329587" y="2608161"/>
            <a:ext cx="723275" cy="253916"/>
          </a:xfrm>
          <a:prstGeom prst="rect">
            <a:avLst/>
          </a:prstGeom>
          <a:noFill/>
        </p:spPr>
        <p:txBody>
          <a:bodyPr wrap="none" rtlCol="0">
            <a:spAutoFit/>
          </a:bodyPr>
          <a:lstStyle/>
          <a:p>
            <a:r>
              <a:rPr lang="zh-CN" altLang="en-US" sz="1050" b="1" dirty="0"/>
              <a:t>机会点：</a:t>
            </a:r>
          </a:p>
        </p:txBody>
      </p:sp>
      <p:sp>
        <p:nvSpPr>
          <p:cNvPr id="30" name="文本框 29">
            <a:extLst>
              <a:ext uri="{FF2B5EF4-FFF2-40B4-BE49-F238E27FC236}">
                <a16:creationId xmlns:a16="http://schemas.microsoft.com/office/drawing/2014/main" id="{9B7199B6-CF66-1D90-192B-5A520249F56A}"/>
              </a:ext>
            </a:extLst>
          </p:cNvPr>
          <p:cNvSpPr txBox="1"/>
          <p:nvPr/>
        </p:nvSpPr>
        <p:spPr>
          <a:xfrm>
            <a:off x="7347140" y="3432934"/>
            <a:ext cx="588623" cy="253916"/>
          </a:xfrm>
          <a:prstGeom prst="rect">
            <a:avLst/>
          </a:prstGeom>
          <a:noFill/>
        </p:spPr>
        <p:txBody>
          <a:bodyPr wrap="none" rtlCol="0">
            <a:spAutoFit/>
          </a:bodyPr>
          <a:lstStyle/>
          <a:p>
            <a:r>
              <a:rPr lang="zh-CN" altLang="en-US" sz="1050" b="1" dirty="0"/>
              <a:t>展望：</a:t>
            </a:r>
          </a:p>
        </p:txBody>
      </p:sp>
      <p:sp>
        <p:nvSpPr>
          <p:cNvPr id="31" name="文本框 30">
            <a:extLst>
              <a:ext uri="{FF2B5EF4-FFF2-40B4-BE49-F238E27FC236}">
                <a16:creationId xmlns:a16="http://schemas.microsoft.com/office/drawing/2014/main" id="{221D55C1-0B64-39FC-5DDB-52987C0EE5A9}"/>
              </a:ext>
            </a:extLst>
          </p:cNvPr>
          <p:cNvSpPr txBox="1"/>
          <p:nvPr/>
        </p:nvSpPr>
        <p:spPr>
          <a:xfrm>
            <a:off x="7265090" y="1812843"/>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35" name="文本框 34">
            <a:extLst>
              <a:ext uri="{FF2B5EF4-FFF2-40B4-BE49-F238E27FC236}">
                <a16:creationId xmlns:a16="http://schemas.microsoft.com/office/drawing/2014/main" id="{AB17FA06-681A-F51B-21C0-2A426A77F05D}"/>
              </a:ext>
            </a:extLst>
          </p:cNvPr>
          <p:cNvSpPr txBox="1"/>
          <p:nvPr/>
        </p:nvSpPr>
        <p:spPr>
          <a:xfrm>
            <a:off x="7875417" y="2013161"/>
            <a:ext cx="6607834" cy="707886"/>
          </a:xfrm>
          <a:prstGeom prst="rect">
            <a:avLst/>
          </a:prstGeom>
          <a:noFill/>
        </p:spPr>
        <p:txBody>
          <a:bodyPr wrap="square">
            <a:spAutoFit/>
          </a:bodyPr>
          <a:lstStyle/>
          <a:p>
            <a:pPr marL="285750" indent="-285750">
              <a:spcBef>
                <a:spcPts val="600"/>
              </a:spcBef>
              <a:buFont typeface="Wingdings" panose="05000000000000000000" pitchFamily="2" charset="2"/>
              <a:buChar char="ü"/>
            </a:pPr>
            <a:r>
              <a:rPr lang="zh-CN" altLang="en-US" sz="1000" dirty="0"/>
              <a:t>乘客可自由控制音量与音乐播放内容</a:t>
            </a:r>
            <a:endParaRPr lang="en-US" altLang="zh-CN" sz="1000" dirty="0"/>
          </a:p>
          <a:p>
            <a:pPr marL="285750" indent="-285750">
              <a:spcBef>
                <a:spcPts val="600"/>
              </a:spcBef>
              <a:buFont typeface="Wingdings" panose="05000000000000000000" pitchFamily="2" charset="2"/>
              <a:buChar char="ü"/>
            </a:pPr>
            <a:r>
              <a:rPr lang="zh-CN" altLang="en-US" sz="1000" dirty="0"/>
              <a:t>后排乘客主动降噪技术，听不到前排的导航声音</a:t>
            </a:r>
            <a:endParaRPr lang="en-US" altLang="zh-CN" sz="1000" dirty="0"/>
          </a:p>
          <a:p>
            <a:pPr marL="285750" indent="-285750">
              <a:spcBef>
                <a:spcPts val="600"/>
              </a:spcBef>
              <a:buFont typeface="Wingdings" panose="05000000000000000000" pitchFamily="2" charset="2"/>
              <a:buChar char="ü"/>
            </a:pPr>
            <a:r>
              <a:rPr lang="zh-CN" altLang="en-US" sz="1000" dirty="0"/>
              <a:t>音响私享模式</a:t>
            </a:r>
          </a:p>
        </p:txBody>
      </p:sp>
      <p:sp>
        <p:nvSpPr>
          <p:cNvPr id="37" name="文本框 36">
            <a:extLst>
              <a:ext uri="{FF2B5EF4-FFF2-40B4-BE49-F238E27FC236}">
                <a16:creationId xmlns:a16="http://schemas.microsoft.com/office/drawing/2014/main" id="{E138E9EA-686B-0DBF-F9DE-7B451E6B1F92}"/>
              </a:ext>
            </a:extLst>
          </p:cNvPr>
          <p:cNvSpPr txBox="1"/>
          <p:nvPr/>
        </p:nvSpPr>
        <p:spPr>
          <a:xfrm>
            <a:off x="7854488" y="3598071"/>
            <a:ext cx="3750925" cy="246221"/>
          </a:xfrm>
          <a:prstGeom prst="rect">
            <a:avLst/>
          </a:prstGeom>
          <a:noFill/>
        </p:spPr>
        <p:txBody>
          <a:bodyPr wrap="square">
            <a:spAutoFit/>
          </a:bodyPr>
          <a:lstStyle/>
          <a:p>
            <a:pPr marL="285750" indent="-285750">
              <a:spcBef>
                <a:spcPts val="600"/>
              </a:spcBef>
              <a:buFont typeface="Wingdings" panose="05000000000000000000" pitchFamily="2" charset="2"/>
              <a:buChar char="ü"/>
            </a:pPr>
            <a:r>
              <a:rPr lang="zh-CN" altLang="en-US" sz="1000" dirty="0"/>
              <a:t>将车内噪音降到</a:t>
            </a:r>
            <a:r>
              <a:rPr lang="en-US" altLang="zh-CN" sz="1000" dirty="0"/>
              <a:t>40</a:t>
            </a:r>
            <a:r>
              <a:rPr lang="zh-CN" altLang="en-US" sz="1000" dirty="0"/>
              <a:t>分贝一下</a:t>
            </a:r>
            <a:endParaRPr lang="en-US" altLang="zh-CN" sz="1000" dirty="0"/>
          </a:p>
        </p:txBody>
      </p:sp>
      <p:sp>
        <p:nvSpPr>
          <p:cNvPr id="52" name="文本框 51">
            <a:extLst>
              <a:ext uri="{FF2B5EF4-FFF2-40B4-BE49-F238E27FC236}">
                <a16:creationId xmlns:a16="http://schemas.microsoft.com/office/drawing/2014/main" id="{FCB07962-95CD-BFFC-15A7-CBF0BA0FB5A8}"/>
              </a:ext>
            </a:extLst>
          </p:cNvPr>
          <p:cNvSpPr txBox="1"/>
          <p:nvPr/>
        </p:nvSpPr>
        <p:spPr>
          <a:xfrm>
            <a:off x="7312434" y="4377336"/>
            <a:ext cx="723275" cy="253916"/>
          </a:xfrm>
          <a:prstGeom prst="rect">
            <a:avLst/>
          </a:prstGeom>
          <a:noFill/>
        </p:spPr>
        <p:txBody>
          <a:bodyPr wrap="none" rtlCol="0">
            <a:spAutoFit/>
          </a:bodyPr>
          <a:lstStyle/>
          <a:p>
            <a:r>
              <a:rPr lang="zh-CN" altLang="en-US" sz="1050" b="1" dirty="0"/>
              <a:t>机会点：</a:t>
            </a:r>
          </a:p>
        </p:txBody>
      </p:sp>
      <p:sp>
        <p:nvSpPr>
          <p:cNvPr id="54" name="文本框 53">
            <a:extLst>
              <a:ext uri="{FF2B5EF4-FFF2-40B4-BE49-F238E27FC236}">
                <a16:creationId xmlns:a16="http://schemas.microsoft.com/office/drawing/2014/main" id="{BBD52131-0AD7-B1AB-015C-8B81A4844519}"/>
              </a:ext>
            </a:extLst>
          </p:cNvPr>
          <p:cNvSpPr txBox="1"/>
          <p:nvPr/>
        </p:nvSpPr>
        <p:spPr>
          <a:xfrm>
            <a:off x="7347139" y="5564513"/>
            <a:ext cx="588623" cy="253916"/>
          </a:xfrm>
          <a:prstGeom prst="rect">
            <a:avLst/>
          </a:prstGeom>
          <a:noFill/>
        </p:spPr>
        <p:txBody>
          <a:bodyPr wrap="none" rtlCol="0">
            <a:spAutoFit/>
          </a:bodyPr>
          <a:lstStyle/>
          <a:p>
            <a:r>
              <a:rPr lang="zh-CN" altLang="en-US" sz="1050" b="1" dirty="0"/>
              <a:t>展望：</a:t>
            </a:r>
          </a:p>
        </p:txBody>
      </p:sp>
      <p:sp>
        <p:nvSpPr>
          <p:cNvPr id="57" name="文本框 56">
            <a:extLst>
              <a:ext uri="{FF2B5EF4-FFF2-40B4-BE49-F238E27FC236}">
                <a16:creationId xmlns:a16="http://schemas.microsoft.com/office/drawing/2014/main" id="{FF0DA4A3-AE8A-0D23-B59D-FBC7C8AD8530}"/>
              </a:ext>
            </a:extLst>
          </p:cNvPr>
          <p:cNvSpPr txBox="1"/>
          <p:nvPr/>
        </p:nvSpPr>
        <p:spPr>
          <a:xfrm>
            <a:off x="7261378" y="3832888"/>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65" name="文本框 64">
            <a:extLst>
              <a:ext uri="{FF2B5EF4-FFF2-40B4-BE49-F238E27FC236}">
                <a16:creationId xmlns:a16="http://schemas.microsoft.com/office/drawing/2014/main" id="{0F91FDB4-2924-7151-5F20-EFB99459D55A}"/>
              </a:ext>
            </a:extLst>
          </p:cNvPr>
          <p:cNvSpPr txBox="1"/>
          <p:nvPr/>
        </p:nvSpPr>
        <p:spPr>
          <a:xfrm>
            <a:off x="7935762" y="3862898"/>
            <a:ext cx="7746520" cy="492443"/>
          </a:xfrm>
          <a:prstGeom prst="rect">
            <a:avLst/>
          </a:prstGeom>
          <a:noFill/>
        </p:spPr>
        <p:txBody>
          <a:bodyPr wrap="square">
            <a:spAutoFit/>
          </a:bodyPr>
          <a:lstStyle/>
          <a:p>
            <a:pPr marL="171450" indent="-171450">
              <a:spcBef>
                <a:spcPts val="600"/>
              </a:spcBef>
              <a:buFont typeface="Wingdings" panose="05000000000000000000" pitchFamily="2" charset="2"/>
              <a:buChar char="ü"/>
            </a:pPr>
            <a:r>
              <a:rPr lang="zh-CN" altLang="en-US" sz="1050" dirty="0"/>
              <a:t>乘客可自由语音控制空调，座椅加热与通风</a:t>
            </a:r>
            <a:endParaRPr lang="en-US" altLang="zh-CN" sz="1050" dirty="0"/>
          </a:p>
          <a:p>
            <a:pPr marL="171450" indent="-171450">
              <a:spcBef>
                <a:spcPts val="600"/>
              </a:spcBef>
              <a:buFont typeface="Wingdings" panose="05000000000000000000" pitchFamily="2" charset="2"/>
              <a:buChar char="ü"/>
            </a:pPr>
            <a:r>
              <a:rPr lang="zh-CN" altLang="en-US" sz="1050" dirty="0"/>
              <a:t>根据车内环境，智能打开座舱加热与通风</a:t>
            </a:r>
            <a:endParaRPr lang="en-US" altLang="zh-CN" sz="1050" dirty="0"/>
          </a:p>
        </p:txBody>
      </p:sp>
      <p:sp>
        <p:nvSpPr>
          <p:cNvPr id="71" name="文本框 70">
            <a:extLst>
              <a:ext uri="{FF2B5EF4-FFF2-40B4-BE49-F238E27FC236}">
                <a16:creationId xmlns:a16="http://schemas.microsoft.com/office/drawing/2014/main" id="{1522CA78-2040-ED5C-A9DD-562A889E350B}"/>
              </a:ext>
            </a:extLst>
          </p:cNvPr>
          <p:cNvSpPr txBox="1"/>
          <p:nvPr/>
        </p:nvSpPr>
        <p:spPr>
          <a:xfrm>
            <a:off x="7815432" y="5819265"/>
            <a:ext cx="3294492" cy="261610"/>
          </a:xfrm>
          <a:prstGeom prst="rect">
            <a:avLst/>
          </a:prstGeom>
          <a:noFill/>
        </p:spPr>
        <p:txBody>
          <a:bodyPr wrap="none" rtlCol="0">
            <a:spAutoFit/>
          </a:bodyPr>
          <a:lstStyle/>
          <a:p>
            <a:pPr marL="285750" indent="-285750">
              <a:buFont typeface="Wingdings" panose="05000000000000000000" pitchFamily="2" charset="2"/>
              <a:buChar char="ü"/>
            </a:pPr>
            <a:r>
              <a:rPr lang="zh-CN" altLang="en-US" sz="1100" dirty="0"/>
              <a:t>保证车内体感温度舒适前提下，又能做到节能</a:t>
            </a:r>
          </a:p>
        </p:txBody>
      </p:sp>
    </p:spTree>
    <p:extLst>
      <p:ext uri="{BB962C8B-B14F-4D97-AF65-F5344CB8AC3E}">
        <p14:creationId xmlns:p14="http://schemas.microsoft.com/office/powerpoint/2010/main" val="4211011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DDA6E-0502-6C1B-C75F-96437B870E0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C32FA9B-EB81-9C3C-D962-A66B1C124B05}"/>
              </a:ext>
            </a:extLst>
          </p:cNvPr>
          <p:cNvSpPr>
            <a:spLocks noGrp="1"/>
          </p:cNvSpPr>
          <p:nvPr>
            <p:ph type="title" idx="4294967295"/>
          </p:nvPr>
        </p:nvSpPr>
        <p:spPr>
          <a:xfrm>
            <a:off x="669924" y="433637"/>
            <a:ext cx="10440000" cy="595063"/>
          </a:xfrm>
        </p:spPr>
        <p:txBody>
          <a:bodyPr/>
          <a:lstStyle/>
          <a:p>
            <a:r>
              <a:rPr lang="zh-CN" altLang="en-US" dirty="0"/>
              <a:t>行驶阶段</a:t>
            </a:r>
            <a:r>
              <a:rPr lang="en-US" altLang="zh-CN" dirty="0"/>
              <a:t>——</a:t>
            </a:r>
            <a:r>
              <a:rPr lang="zh-CN" altLang="en-US" dirty="0"/>
              <a:t>行程控制权</a:t>
            </a:r>
          </a:p>
        </p:txBody>
      </p:sp>
      <p:sp>
        <p:nvSpPr>
          <p:cNvPr id="16" name="文本占位符 4">
            <a:extLst>
              <a:ext uri="{FF2B5EF4-FFF2-40B4-BE49-F238E27FC236}">
                <a16:creationId xmlns:a16="http://schemas.microsoft.com/office/drawing/2014/main" id="{014AE220-E65B-DD05-6542-235A7913EE83}"/>
              </a:ext>
            </a:extLst>
          </p:cNvPr>
          <p:cNvSpPr txBox="1"/>
          <p:nvPr/>
        </p:nvSpPr>
        <p:spPr>
          <a:xfrm>
            <a:off x="4016931" y="1422180"/>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a:extLst>
              <a:ext uri="{FF2B5EF4-FFF2-40B4-BE49-F238E27FC236}">
                <a16:creationId xmlns:a16="http://schemas.microsoft.com/office/drawing/2014/main" id="{BCB14CE6-C57B-B08A-A352-E4246AD65391}"/>
              </a:ext>
            </a:extLst>
          </p:cNvPr>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a:extLst>
              <a:ext uri="{FF2B5EF4-FFF2-40B4-BE49-F238E27FC236}">
                <a16:creationId xmlns:a16="http://schemas.microsoft.com/office/drawing/2014/main" id="{A06FBECA-63B9-AE1A-A98F-60C69799B426}"/>
              </a:ext>
            </a:extLst>
          </p:cNvPr>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a:extLst>
              <a:ext uri="{FF2B5EF4-FFF2-40B4-BE49-F238E27FC236}">
                <a16:creationId xmlns:a16="http://schemas.microsoft.com/office/drawing/2014/main" id="{141135EB-06D4-03EF-2483-EB4005F6733B}"/>
              </a:ext>
            </a:extLst>
          </p:cNvPr>
          <p:cNvSpPr txBox="1"/>
          <p:nvPr/>
        </p:nvSpPr>
        <p:spPr>
          <a:xfrm>
            <a:off x="97877" y="2794788"/>
            <a:ext cx="366036" cy="1384995"/>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lang="zh-CN" altLang="en-US" sz="1400" dirty="0">
                <a:solidFill>
                  <a:srgbClr val="000000"/>
                </a:solidFill>
                <a:latin typeface="微软雅黑" panose="020B0503020204020204" pitchFamily="34" charset="-122"/>
                <a:ea typeface="微软雅黑" panose="020B0503020204020204" pitchFamily="34" charset="-122"/>
              </a:rPr>
              <a:t>行车</a:t>
            </a:r>
            <a:endParaRPr lang="en-US" altLang="zh-CN" sz="1400" dirty="0">
              <a:solidFill>
                <a:srgbClr val="000000"/>
              </a:solidFill>
              <a:latin typeface="微软雅黑" panose="020B0503020204020204" pitchFamily="34" charset="-122"/>
              <a:ea typeface="微软雅黑" panose="020B0503020204020204" pitchFamily="34" charset="-122"/>
            </a:endParaRPr>
          </a:p>
          <a:p>
            <a:pPr algn="ctr"/>
            <a:r>
              <a:rPr lang="zh-CN" altLang="en-US" sz="1400" dirty="0">
                <a:solidFill>
                  <a:srgbClr val="000000"/>
                </a:solidFill>
                <a:latin typeface="微软雅黑" panose="020B0503020204020204" pitchFamily="34" charset="-122"/>
                <a:ea typeface="微软雅黑" panose="020B0503020204020204" pitchFamily="34" charset="-122"/>
              </a:rPr>
              <a:t>控</a:t>
            </a:r>
            <a:endParaRPr lang="en-US" altLang="zh-CN" sz="1400" dirty="0">
              <a:solidFill>
                <a:srgbClr val="000000"/>
              </a:solidFill>
              <a:latin typeface="微软雅黑" panose="020B0503020204020204" pitchFamily="34" charset="-122"/>
              <a:ea typeface="微软雅黑" panose="020B0503020204020204" pitchFamily="34" charset="-122"/>
            </a:endParaRPr>
          </a:p>
          <a:p>
            <a:pPr algn="ctr"/>
            <a:r>
              <a:rPr lang="zh-CN" altLang="en-US" sz="1400" dirty="0">
                <a:solidFill>
                  <a:srgbClr val="000000"/>
                </a:solidFill>
                <a:latin typeface="微软雅黑" panose="020B0503020204020204" pitchFamily="34" charset="-122"/>
                <a:ea typeface="微软雅黑" panose="020B0503020204020204" pitchFamily="34" charset="-122"/>
              </a:rPr>
              <a:t>制权</a:t>
            </a:r>
            <a:endPar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 name="文本框 9">
            <a:extLst>
              <a:ext uri="{FF2B5EF4-FFF2-40B4-BE49-F238E27FC236}">
                <a16:creationId xmlns:a16="http://schemas.microsoft.com/office/drawing/2014/main" id="{08AC77D4-F6F7-A293-7380-00F9C8524EF9}"/>
              </a:ext>
            </a:extLst>
          </p:cNvPr>
          <p:cNvSpPr txBox="1"/>
          <p:nvPr/>
        </p:nvSpPr>
        <p:spPr>
          <a:xfrm>
            <a:off x="430628" y="2444533"/>
            <a:ext cx="1525188" cy="3939540"/>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路线控制</a:t>
            </a: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车辆控制</a:t>
            </a: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a:extLst>
              <a:ext uri="{FF2B5EF4-FFF2-40B4-BE49-F238E27FC236}">
                <a16:creationId xmlns:a16="http://schemas.microsoft.com/office/drawing/2014/main" id="{F867CFBD-3349-3562-2327-DAF7FDB02BCB}"/>
              </a:ext>
            </a:extLst>
          </p:cNvPr>
          <p:cNvSpPr txBox="1"/>
          <p:nvPr/>
        </p:nvSpPr>
        <p:spPr>
          <a:xfrm>
            <a:off x="1360934" y="1383248"/>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a:extLst>
              <a:ext uri="{FF2B5EF4-FFF2-40B4-BE49-F238E27FC236}">
                <a16:creationId xmlns:a16="http://schemas.microsoft.com/office/drawing/2014/main" id="{B8B56FB4-3B0C-437C-2CCE-003603577238}"/>
              </a:ext>
            </a:extLst>
          </p:cNvPr>
          <p:cNvSpPr txBox="1"/>
          <p:nvPr/>
        </p:nvSpPr>
        <p:spPr>
          <a:xfrm>
            <a:off x="8528875" y="1415135"/>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a:extLst>
              <a:ext uri="{FF2B5EF4-FFF2-40B4-BE49-F238E27FC236}">
                <a16:creationId xmlns:a16="http://schemas.microsoft.com/office/drawing/2014/main" id="{758FA3B6-BD22-25C4-3BC8-97ABE527046C}"/>
              </a:ext>
            </a:extLst>
          </p:cNvPr>
          <p:cNvCxnSpPr/>
          <p:nvPr/>
        </p:nvCxnSpPr>
        <p:spPr>
          <a:xfrm>
            <a:off x="2718924" y="1907062"/>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B3931C69-9B69-E510-23C3-44735EEBC24E}"/>
              </a:ext>
            </a:extLst>
          </p:cNvPr>
          <p:cNvCxnSpPr/>
          <p:nvPr/>
        </p:nvCxnSpPr>
        <p:spPr>
          <a:xfrm>
            <a:off x="7196957" y="185026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a:extLst>
              <a:ext uri="{FF2B5EF4-FFF2-40B4-BE49-F238E27FC236}">
                <a16:creationId xmlns:a16="http://schemas.microsoft.com/office/drawing/2014/main" id="{A027E863-E74D-001F-AC9B-45ACBD08E743}"/>
              </a:ext>
            </a:extLst>
          </p:cNvPr>
          <p:cNvSpPr txBox="1"/>
          <p:nvPr/>
        </p:nvSpPr>
        <p:spPr>
          <a:xfrm>
            <a:off x="97877" y="1382669"/>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高频场景</a:t>
            </a:r>
          </a:p>
        </p:txBody>
      </p:sp>
      <p:cxnSp>
        <p:nvCxnSpPr>
          <p:cNvPr id="34" name="直接连接符 33">
            <a:extLst>
              <a:ext uri="{FF2B5EF4-FFF2-40B4-BE49-F238E27FC236}">
                <a16:creationId xmlns:a16="http://schemas.microsoft.com/office/drawing/2014/main" id="{C18596F1-BA39-BAD0-BF49-4A149C6CAD63}"/>
              </a:ext>
            </a:extLst>
          </p:cNvPr>
          <p:cNvCxnSpPr/>
          <p:nvPr/>
        </p:nvCxnSpPr>
        <p:spPr>
          <a:xfrm>
            <a:off x="1456340" y="185026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a:extLst>
              <a:ext uri="{FF2B5EF4-FFF2-40B4-BE49-F238E27FC236}">
                <a16:creationId xmlns:a16="http://schemas.microsoft.com/office/drawing/2014/main" id="{07BAAB15-E30B-EFE8-1F43-988B4D9F73C5}"/>
              </a:ext>
            </a:extLst>
          </p:cNvPr>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5" name="文本框 14">
            <a:extLst>
              <a:ext uri="{FF2B5EF4-FFF2-40B4-BE49-F238E27FC236}">
                <a16:creationId xmlns:a16="http://schemas.microsoft.com/office/drawing/2014/main" id="{40EDD114-32CA-4D90-0F06-FF175C8132A5}"/>
              </a:ext>
            </a:extLst>
          </p:cNvPr>
          <p:cNvSpPr txBox="1"/>
          <p:nvPr/>
        </p:nvSpPr>
        <p:spPr>
          <a:xfrm>
            <a:off x="2812755" y="1938770"/>
            <a:ext cx="1667444" cy="261610"/>
          </a:xfrm>
          <a:prstGeom prst="rect">
            <a:avLst/>
          </a:prstGeom>
          <a:noFill/>
        </p:spPr>
        <p:txBody>
          <a:bodyPr wrap="none" rtlCol="0">
            <a:spAutoFit/>
          </a:bodyPr>
          <a:lstStyle/>
          <a:p>
            <a:pPr marL="171450" indent="-171450">
              <a:buFont typeface="Wingdings" panose="05000000000000000000" pitchFamily="2" charset="2"/>
              <a:buChar char="Ø"/>
            </a:pPr>
            <a:r>
              <a:rPr lang="en-US" altLang="zh-CN" sz="1100" b="1" dirty="0"/>
              <a:t>Robotaxi</a:t>
            </a:r>
            <a:r>
              <a:rPr lang="zh-CN" altLang="en-US" sz="1100" b="1" dirty="0"/>
              <a:t>路线不可控</a:t>
            </a:r>
          </a:p>
        </p:txBody>
      </p:sp>
      <p:cxnSp>
        <p:nvCxnSpPr>
          <p:cNvPr id="66" name="直接连接符 65">
            <a:extLst>
              <a:ext uri="{FF2B5EF4-FFF2-40B4-BE49-F238E27FC236}">
                <a16:creationId xmlns:a16="http://schemas.microsoft.com/office/drawing/2014/main" id="{D82238BD-A3F0-A8E6-DC57-2FAE150C4A90}"/>
              </a:ext>
            </a:extLst>
          </p:cNvPr>
          <p:cNvCxnSpPr>
            <a:cxnSpLocks/>
          </p:cNvCxnSpPr>
          <p:nvPr/>
        </p:nvCxnSpPr>
        <p:spPr>
          <a:xfrm>
            <a:off x="1456340" y="4067062"/>
            <a:ext cx="5606622"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B0860DAF-52BB-6A20-89D3-3FA24EFF1A08}"/>
              </a:ext>
            </a:extLst>
          </p:cNvPr>
          <p:cNvSpPr txBox="1"/>
          <p:nvPr/>
        </p:nvSpPr>
        <p:spPr>
          <a:xfrm>
            <a:off x="7477626" y="5378743"/>
            <a:ext cx="4510586" cy="892552"/>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50" dirty="0"/>
              <a:t>乘客对</a:t>
            </a:r>
            <a:r>
              <a:rPr lang="en-US" altLang="zh-CN" sz="1050" dirty="0"/>
              <a:t>Robotaxi Agent</a:t>
            </a:r>
            <a:r>
              <a:rPr lang="zh-CN" altLang="en-US" sz="1050" dirty="0"/>
              <a:t>具有全面的行程控制权，在安全合规下</a:t>
            </a:r>
            <a:endParaRPr lang="en-US" altLang="zh-CN" sz="1050" dirty="0"/>
          </a:p>
          <a:p>
            <a:pPr marL="171450" indent="-171450">
              <a:spcBef>
                <a:spcPts val="600"/>
              </a:spcBef>
              <a:buFont typeface="Wingdings" panose="05000000000000000000" pitchFamily="2" charset="2"/>
              <a:buChar char="ü"/>
            </a:pPr>
            <a:r>
              <a:rPr lang="en-US" altLang="zh-CN" sz="1050" dirty="0"/>
              <a:t>Robotaxi</a:t>
            </a:r>
            <a:r>
              <a:rPr lang="zh-CN" altLang="en-US" sz="1050" dirty="0"/>
              <a:t>乘车习惯与私家车乘车习惯能够打通，如乘车温度，音乐，座椅位置，座椅温度等。</a:t>
            </a:r>
            <a:endParaRPr lang="en-US" altLang="zh-CN" sz="1050" dirty="0"/>
          </a:p>
          <a:p>
            <a:pPr marL="171450" indent="-171450">
              <a:spcBef>
                <a:spcPts val="600"/>
              </a:spcBef>
              <a:buFont typeface="Wingdings" panose="05000000000000000000" pitchFamily="2" charset="2"/>
              <a:buChar char="ü"/>
            </a:pPr>
            <a:endParaRPr lang="en-US" altLang="zh-CN" sz="1050" dirty="0"/>
          </a:p>
        </p:txBody>
      </p:sp>
      <p:sp>
        <p:nvSpPr>
          <p:cNvPr id="33" name="文本框 32">
            <a:extLst>
              <a:ext uri="{FF2B5EF4-FFF2-40B4-BE49-F238E27FC236}">
                <a16:creationId xmlns:a16="http://schemas.microsoft.com/office/drawing/2014/main" id="{AC74099A-21CA-1AA3-9EF3-6488803DF209}"/>
              </a:ext>
            </a:extLst>
          </p:cNvPr>
          <p:cNvSpPr txBox="1"/>
          <p:nvPr/>
        </p:nvSpPr>
        <p:spPr>
          <a:xfrm>
            <a:off x="2852821" y="2236319"/>
            <a:ext cx="1999259" cy="1217962"/>
          </a:xfrm>
          <a:prstGeom prst="rect">
            <a:avLst/>
          </a:prstGeom>
          <a:noFill/>
        </p:spPr>
        <p:txBody>
          <a:bodyPr wrap="square">
            <a:spAutoFit/>
          </a:bodyPr>
          <a:lstStyle/>
          <a:p>
            <a:pPr marL="171450" indent="-171450">
              <a:lnSpc>
                <a:spcPct val="150000"/>
              </a:lnSpc>
              <a:buFont typeface="Arial" panose="020B0604020202020204" pitchFamily="34" charset="0"/>
              <a:buChar char="•"/>
            </a:pPr>
            <a:r>
              <a:rPr lang="zh-CN" altLang="en-US" sz="1000" dirty="0"/>
              <a:t>不能切换高速与不同道路</a:t>
            </a:r>
            <a:endParaRPr lang="en-US" altLang="zh-CN" sz="1000" dirty="0"/>
          </a:p>
          <a:p>
            <a:pPr marL="171450" indent="-171450">
              <a:lnSpc>
                <a:spcPct val="150000"/>
              </a:lnSpc>
              <a:buFont typeface="Arial" panose="020B0604020202020204" pitchFamily="34" charset="0"/>
              <a:buChar char="•"/>
            </a:pPr>
            <a:r>
              <a:rPr lang="zh-CN" altLang="en-US" sz="1000" dirty="0"/>
              <a:t>无法绕开拥堵路段</a:t>
            </a:r>
            <a:endParaRPr lang="en-US" altLang="zh-CN" sz="1000" dirty="0"/>
          </a:p>
          <a:p>
            <a:pPr marL="171450" indent="-171450">
              <a:lnSpc>
                <a:spcPct val="150000"/>
              </a:lnSpc>
              <a:buFont typeface="Arial" panose="020B0604020202020204" pitchFamily="34" charset="0"/>
              <a:buChar char="•"/>
            </a:pPr>
            <a:r>
              <a:rPr lang="zh-CN" altLang="en-US" sz="1000" dirty="0"/>
              <a:t>无法选择路线偏好（最短距离、最少红绿灯灯）</a:t>
            </a:r>
            <a:endParaRPr lang="en-US" altLang="zh-CN" sz="1000" dirty="0"/>
          </a:p>
          <a:p>
            <a:pPr marL="171450" indent="-171450">
              <a:lnSpc>
                <a:spcPct val="150000"/>
              </a:lnSpc>
              <a:buFont typeface="Arial" panose="020B0604020202020204" pitchFamily="34" charset="0"/>
              <a:buChar char="•"/>
            </a:pPr>
            <a:r>
              <a:rPr lang="zh-CN" altLang="en-US" sz="1000" dirty="0"/>
              <a:t>无法显示路况</a:t>
            </a:r>
            <a:endParaRPr lang="en-US" altLang="zh-CN" sz="1000" dirty="0"/>
          </a:p>
        </p:txBody>
      </p:sp>
      <p:sp>
        <p:nvSpPr>
          <p:cNvPr id="52" name="文本框 51">
            <a:extLst>
              <a:ext uri="{FF2B5EF4-FFF2-40B4-BE49-F238E27FC236}">
                <a16:creationId xmlns:a16="http://schemas.microsoft.com/office/drawing/2014/main" id="{84E8C785-07E0-ACC2-E64A-1A377E8F1270}"/>
              </a:ext>
            </a:extLst>
          </p:cNvPr>
          <p:cNvSpPr txBox="1"/>
          <p:nvPr/>
        </p:nvSpPr>
        <p:spPr>
          <a:xfrm>
            <a:off x="4637426" y="1920595"/>
            <a:ext cx="2090637" cy="261610"/>
          </a:xfrm>
          <a:prstGeom prst="rect">
            <a:avLst/>
          </a:prstGeom>
          <a:noFill/>
        </p:spPr>
        <p:txBody>
          <a:bodyPr wrap="none" rtlCol="0">
            <a:spAutoFit/>
          </a:bodyPr>
          <a:lstStyle/>
          <a:p>
            <a:pPr marL="171450" indent="-171450">
              <a:buFont typeface="Wingdings" panose="05000000000000000000" pitchFamily="2" charset="2"/>
              <a:buChar char="Ø"/>
            </a:pPr>
            <a:r>
              <a:rPr lang="en-US" altLang="zh-CN" sz="1100" b="1" dirty="0"/>
              <a:t>Robotaxi</a:t>
            </a:r>
            <a:r>
              <a:rPr lang="zh-CN" altLang="en-US" sz="1100" b="1" dirty="0"/>
              <a:t>无法应对突发状况</a:t>
            </a:r>
          </a:p>
        </p:txBody>
      </p:sp>
      <p:sp>
        <p:nvSpPr>
          <p:cNvPr id="54" name="文本框 53">
            <a:extLst>
              <a:ext uri="{FF2B5EF4-FFF2-40B4-BE49-F238E27FC236}">
                <a16:creationId xmlns:a16="http://schemas.microsoft.com/office/drawing/2014/main" id="{3C06A805-EA08-AD33-AE75-FDBA099206E3}"/>
              </a:ext>
            </a:extLst>
          </p:cNvPr>
          <p:cNvSpPr txBox="1"/>
          <p:nvPr/>
        </p:nvSpPr>
        <p:spPr>
          <a:xfrm>
            <a:off x="4995042" y="2226129"/>
            <a:ext cx="2201915" cy="789512"/>
          </a:xfrm>
          <a:prstGeom prst="rect">
            <a:avLst/>
          </a:prstGeom>
          <a:noFill/>
        </p:spPr>
        <p:txBody>
          <a:bodyPr wrap="square">
            <a:spAutoFit/>
          </a:bodyPr>
          <a:lstStyle/>
          <a:p>
            <a:pPr marL="171450" indent="-171450">
              <a:lnSpc>
                <a:spcPct val="150000"/>
              </a:lnSpc>
              <a:buFont typeface="Arial" panose="020B0604020202020204" pitchFamily="34" charset="0"/>
              <a:buChar char="•"/>
            </a:pPr>
            <a:r>
              <a:rPr lang="zh-CN" altLang="en-US" sz="1050" dirty="0"/>
              <a:t>遇到碰瓷灯，系统无法主动告知用户或提供替代方案</a:t>
            </a:r>
            <a:endParaRPr lang="en-US" altLang="zh-CN" sz="1050" dirty="0"/>
          </a:p>
          <a:p>
            <a:pPr marL="171450" indent="-171450">
              <a:lnSpc>
                <a:spcPct val="150000"/>
              </a:lnSpc>
              <a:buFont typeface="Arial" panose="020B0604020202020204" pitchFamily="34" charset="0"/>
              <a:buChar char="•"/>
            </a:pPr>
            <a:r>
              <a:rPr lang="zh-CN" altLang="en-US" sz="1050" dirty="0"/>
              <a:t>用户很茫然，不知道如何处理</a:t>
            </a:r>
            <a:endParaRPr lang="en-US" altLang="zh-CN" sz="1050" dirty="0"/>
          </a:p>
        </p:txBody>
      </p:sp>
      <p:sp>
        <p:nvSpPr>
          <p:cNvPr id="3" name="文本框 2">
            <a:extLst>
              <a:ext uri="{FF2B5EF4-FFF2-40B4-BE49-F238E27FC236}">
                <a16:creationId xmlns:a16="http://schemas.microsoft.com/office/drawing/2014/main" id="{3D47A95F-B593-3923-0C5B-61D16429A311}"/>
              </a:ext>
            </a:extLst>
          </p:cNvPr>
          <p:cNvSpPr txBox="1"/>
          <p:nvPr/>
        </p:nvSpPr>
        <p:spPr>
          <a:xfrm>
            <a:off x="7207200" y="2875122"/>
            <a:ext cx="723275" cy="253916"/>
          </a:xfrm>
          <a:prstGeom prst="rect">
            <a:avLst/>
          </a:prstGeom>
          <a:noFill/>
        </p:spPr>
        <p:txBody>
          <a:bodyPr wrap="none" rtlCol="0">
            <a:spAutoFit/>
          </a:bodyPr>
          <a:lstStyle/>
          <a:p>
            <a:r>
              <a:rPr lang="zh-CN" altLang="en-US" sz="1050" b="1" dirty="0"/>
              <a:t>机会点：</a:t>
            </a:r>
          </a:p>
        </p:txBody>
      </p:sp>
      <p:sp>
        <p:nvSpPr>
          <p:cNvPr id="4" name="文本框 3">
            <a:extLst>
              <a:ext uri="{FF2B5EF4-FFF2-40B4-BE49-F238E27FC236}">
                <a16:creationId xmlns:a16="http://schemas.microsoft.com/office/drawing/2014/main" id="{74E02BBF-89E1-8373-B6AA-78C066CEE09F}"/>
              </a:ext>
            </a:extLst>
          </p:cNvPr>
          <p:cNvSpPr txBox="1"/>
          <p:nvPr/>
        </p:nvSpPr>
        <p:spPr>
          <a:xfrm>
            <a:off x="7230019" y="5047106"/>
            <a:ext cx="588623" cy="253916"/>
          </a:xfrm>
          <a:prstGeom prst="rect">
            <a:avLst/>
          </a:prstGeom>
          <a:noFill/>
        </p:spPr>
        <p:txBody>
          <a:bodyPr wrap="none" rtlCol="0">
            <a:spAutoFit/>
          </a:bodyPr>
          <a:lstStyle/>
          <a:p>
            <a:r>
              <a:rPr lang="zh-CN" altLang="en-US" sz="1050" b="1" dirty="0"/>
              <a:t>展望：</a:t>
            </a:r>
          </a:p>
        </p:txBody>
      </p:sp>
      <p:sp>
        <p:nvSpPr>
          <p:cNvPr id="5" name="文本框 4">
            <a:extLst>
              <a:ext uri="{FF2B5EF4-FFF2-40B4-BE49-F238E27FC236}">
                <a16:creationId xmlns:a16="http://schemas.microsoft.com/office/drawing/2014/main" id="{766D87D3-DFAC-6E20-AD80-DDF3A0F64734}"/>
              </a:ext>
            </a:extLst>
          </p:cNvPr>
          <p:cNvSpPr txBox="1"/>
          <p:nvPr/>
        </p:nvSpPr>
        <p:spPr>
          <a:xfrm>
            <a:off x="7230019" y="1850268"/>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11" name="文本框 10">
            <a:extLst>
              <a:ext uri="{FF2B5EF4-FFF2-40B4-BE49-F238E27FC236}">
                <a16:creationId xmlns:a16="http://schemas.microsoft.com/office/drawing/2014/main" id="{AE174F26-7EC4-D9D1-2810-14A8FA200587}"/>
              </a:ext>
            </a:extLst>
          </p:cNvPr>
          <p:cNvSpPr txBox="1"/>
          <p:nvPr/>
        </p:nvSpPr>
        <p:spPr>
          <a:xfrm>
            <a:off x="1527783" y="2702488"/>
            <a:ext cx="1119699" cy="738664"/>
          </a:xfrm>
          <a:prstGeom prst="rect">
            <a:avLst/>
          </a:prstGeom>
          <a:noFill/>
        </p:spPr>
        <p:txBody>
          <a:bodyPr wrap="square" rtlCol="0">
            <a:spAutoFit/>
          </a:bodyPr>
          <a:lstStyle/>
          <a:p>
            <a:r>
              <a:rPr lang="en-US" altLang="zh-CN" sz="1050" dirty="0"/>
              <a:t>Robotaxi</a:t>
            </a:r>
            <a:r>
              <a:rPr lang="zh-CN" altLang="en-US" sz="1050" dirty="0"/>
              <a:t>用户无法参与行程调整，只能固定路线，不够灵活</a:t>
            </a:r>
          </a:p>
        </p:txBody>
      </p:sp>
      <p:sp>
        <p:nvSpPr>
          <p:cNvPr id="17" name="文本框 16">
            <a:extLst>
              <a:ext uri="{FF2B5EF4-FFF2-40B4-BE49-F238E27FC236}">
                <a16:creationId xmlns:a16="http://schemas.microsoft.com/office/drawing/2014/main" id="{1BC9B7B7-C05C-1534-9B98-26D6A99DDCEE}"/>
              </a:ext>
            </a:extLst>
          </p:cNvPr>
          <p:cNvSpPr txBox="1"/>
          <p:nvPr/>
        </p:nvSpPr>
        <p:spPr>
          <a:xfrm>
            <a:off x="1502518" y="4597944"/>
            <a:ext cx="1060904" cy="577081"/>
          </a:xfrm>
          <a:prstGeom prst="rect">
            <a:avLst/>
          </a:prstGeom>
          <a:noFill/>
        </p:spPr>
        <p:txBody>
          <a:bodyPr wrap="square">
            <a:spAutoFit/>
          </a:bodyPr>
          <a:lstStyle/>
          <a:p>
            <a:r>
              <a:rPr lang="en-US" altLang="zh-CN" sz="1050" dirty="0"/>
              <a:t>Robotaxi</a:t>
            </a:r>
            <a:r>
              <a:rPr lang="zh-CN" altLang="en-US" sz="1050" dirty="0"/>
              <a:t>车内环境控制不够个性化</a:t>
            </a:r>
          </a:p>
        </p:txBody>
      </p:sp>
      <p:sp>
        <p:nvSpPr>
          <p:cNvPr id="19" name="文本框 18">
            <a:extLst>
              <a:ext uri="{FF2B5EF4-FFF2-40B4-BE49-F238E27FC236}">
                <a16:creationId xmlns:a16="http://schemas.microsoft.com/office/drawing/2014/main" id="{2B714F58-6DF0-BA24-AE12-F12BA9EC5A77}"/>
              </a:ext>
            </a:extLst>
          </p:cNvPr>
          <p:cNvSpPr txBox="1"/>
          <p:nvPr/>
        </p:nvSpPr>
        <p:spPr>
          <a:xfrm>
            <a:off x="2812755" y="4229575"/>
            <a:ext cx="1204176"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习惯不能记忆</a:t>
            </a:r>
          </a:p>
        </p:txBody>
      </p:sp>
      <p:sp>
        <p:nvSpPr>
          <p:cNvPr id="20" name="文本框 19">
            <a:extLst>
              <a:ext uri="{FF2B5EF4-FFF2-40B4-BE49-F238E27FC236}">
                <a16:creationId xmlns:a16="http://schemas.microsoft.com/office/drawing/2014/main" id="{CEEBB9B5-16DD-EE1C-F0AA-66FFF283D24C}"/>
              </a:ext>
            </a:extLst>
          </p:cNvPr>
          <p:cNvSpPr txBox="1"/>
          <p:nvPr/>
        </p:nvSpPr>
        <p:spPr>
          <a:xfrm>
            <a:off x="4581537" y="4229575"/>
            <a:ext cx="1204176"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不能一键完成</a:t>
            </a:r>
          </a:p>
        </p:txBody>
      </p:sp>
      <p:sp>
        <p:nvSpPr>
          <p:cNvPr id="21" name="文本框 20">
            <a:extLst>
              <a:ext uri="{FF2B5EF4-FFF2-40B4-BE49-F238E27FC236}">
                <a16:creationId xmlns:a16="http://schemas.microsoft.com/office/drawing/2014/main" id="{AB62140F-6D25-241B-3561-4A026575D7AE}"/>
              </a:ext>
            </a:extLst>
          </p:cNvPr>
          <p:cNvSpPr txBox="1"/>
          <p:nvPr/>
        </p:nvSpPr>
        <p:spPr>
          <a:xfrm>
            <a:off x="2783551" y="4597944"/>
            <a:ext cx="1999259" cy="526554"/>
          </a:xfrm>
          <a:prstGeom prst="rect">
            <a:avLst/>
          </a:prstGeom>
          <a:noFill/>
        </p:spPr>
        <p:txBody>
          <a:bodyPr wrap="square">
            <a:spAutoFit/>
          </a:bodyPr>
          <a:lstStyle/>
          <a:p>
            <a:pPr marL="171450" indent="-171450">
              <a:lnSpc>
                <a:spcPct val="150000"/>
              </a:lnSpc>
              <a:buFont typeface="Arial" panose="020B0604020202020204" pitchFamily="34" charset="0"/>
              <a:buChar char="•"/>
            </a:pPr>
            <a:r>
              <a:rPr lang="zh-CN" altLang="en-US" sz="1000" dirty="0"/>
              <a:t>喜欢温度，座椅位置，播放音乐都不能记忆</a:t>
            </a:r>
            <a:endParaRPr lang="en-US" altLang="zh-CN" sz="1000" dirty="0"/>
          </a:p>
        </p:txBody>
      </p:sp>
      <p:sp>
        <p:nvSpPr>
          <p:cNvPr id="23" name="文本框 22">
            <a:extLst>
              <a:ext uri="{FF2B5EF4-FFF2-40B4-BE49-F238E27FC236}">
                <a16:creationId xmlns:a16="http://schemas.microsoft.com/office/drawing/2014/main" id="{683B4742-5F34-6FC0-8123-DC364729D280}"/>
              </a:ext>
            </a:extLst>
          </p:cNvPr>
          <p:cNvSpPr txBox="1"/>
          <p:nvPr/>
        </p:nvSpPr>
        <p:spPr>
          <a:xfrm>
            <a:off x="4884882" y="4591930"/>
            <a:ext cx="1999259" cy="526554"/>
          </a:xfrm>
          <a:prstGeom prst="rect">
            <a:avLst/>
          </a:prstGeom>
          <a:noFill/>
        </p:spPr>
        <p:txBody>
          <a:bodyPr wrap="square">
            <a:spAutoFit/>
          </a:bodyPr>
          <a:lstStyle/>
          <a:p>
            <a:pPr marL="171450" indent="-171450">
              <a:lnSpc>
                <a:spcPct val="150000"/>
              </a:lnSpc>
              <a:buFont typeface="Arial" panose="020B0604020202020204" pitchFamily="34" charset="0"/>
              <a:buChar char="•"/>
            </a:pPr>
            <a:r>
              <a:rPr lang="zh-CN" altLang="en-US" sz="1000" dirty="0"/>
              <a:t>希望一键到达，自己想要最佳环境</a:t>
            </a:r>
            <a:endParaRPr lang="en-US" altLang="zh-CN" sz="1000" dirty="0"/>
          </a:p>
        </p:txBody>
      </p:sp>
      <p:sp>
        <p:nvSpPr>
          <p:cNvPr id="39" name="文本框 38">
            <a:extLst>
              <a:ext uri="{FF2B5EF4-FFF2-40B4-BE49-F238E27FC236}">
                <a16:creationId xmlns:a16="http://schemas.microsoft.com/office/drawing/2014/main" id="{721919D2-D86D-4B1D-5A25-34C20213358B}"/>
              </a:ext>
            </a:extLst>
          </p:cNvPr>
          <p:cNvSpPr txBox="1"/>
          <p:nvPr/>
        </p:nvSpPr>
        <p:spPr>
          <a:xfrm>
            <a:off x="7449766" y="2142145"/>
            <a:ext cx="4510586" cy="846386"/>
          </a:xfrm>
          <a:prstGeom prst="rect">
            <a:avLst/>
          </a:prstGeom>
          <a:noFill/>
        </p:spPr>
        <p:txBody>
          <a:bodyPr wrap="square" rtlCol="0">
            <a:spAutoFit/>
          </a:bodyPr>
          <a:lstStyle/>
          <a:p>
            <a:pPr marL="285750" indent="-285750">
              <a:spcBef>
                <a:spcPts val="600"/>
              </a:spcBef>
              <a:buFont typeface="Wingdings" panose="05000000000000000000" pitchFamily="2" charset="2"/>
              <a:buChar char="ü"/>
            </a:pPr>
            <a:r>
              <a:rPr lang="en-US" altLang="zh-CN" sz="1050" dirty="0"/>
              <a:t>Robotaxi</a:t>
            </a:r>
            <a:r>
              <a:rPr lang="zh-CN" altLang="en-US" sz="1050" dirty="0"/>
              <a:t>能够语音指令进行车控，控制温度，座椅位置，播放音乐，但是无法记忆用户习惯，每次上车都需要重新设置</a:t>
            </a:r>
            <a:endParaRPr lang="en-US" altLang="zh-CN" sz="1050" dirty="0"/>
          </a:p>
          <a:p>
            <a:pPr marL="285750" indent="-285750">
              <a:spcBef>
                <a:spcPts val="600"/>
              </a:spcBef>
              <a:buFont typeface="Wingdings" panose="05000000000000000000" pitchFamily="2" charset="2"/>
              <a:buChar char="ü"/>
            </a:pPr>
            <a:r>
              <a:rPr lang="zh-CN" altLang="en-US" sz="1050" dirty="0"/>
              <a:t>智能座舱支持一句话的创建场景任务（理想等）</a:t>
            </a:r>
            <a:endParaRPr lang="en-US" altLang="zh-CN" sz="1050" dirty="0"/>
          </a:p>
          <a:p>
            <a:pPr marL="285750" indent="-285750">
              <a:buFont typeface="Wingdings" panose="05000000000000000000" pitchFamily="2" charset="2"/>
              <a:buChar char="ü"/>
            </a:pPr>
            <a:endParaRPr lang="zh-CN" altLang="en-US" sz="1050" dirty="0"/>
          </a:p>
        </p:txBody>
      </p:sp>
      <p:sp>
        <p:nvSpPr>
          <p:cNvPr id="40" name="文本框 39">
            <a:extLst>
              <a:ext uri="{FF2B5EF4-FFF2-40B4-BE49-F238E27FC236}">
                <a16:creationId xmlns:a16="http://schemas.microsoft.com/office/drawing/2014/main" id="{73AF245F-7FA3-6E0B-4729-1296B43B6CA4}"/>
              </a:ext>
            </a:extLst>
          </p:cNvPr>
          <p:cNvSpPr txBox="1"/>
          <p:nvPr/>
        </p:nvSpPr>
        <p:spPr>
          <a:xfrm>
            <a:off x="7449766" y="3146671"/>
            <a:ext cx="4510586" cy="1777410"/>
          </a:xfrm>
          <a:prstGeom prst="rect">
            <a:avLst/>
          </a:prstGeom>
          <a:noFill/>
        </p:spPr>
        <p:txBody>
          <a:bodyPr wrap="square" rtlCol="0">
            <a:spAutoFit/>
          </a:bodyPr>
          <a:lstStyle/>
          <a:p>
            <a:pPr marL="285750" indent="-285750">
              <a:spcBef>
                <a:spcPts val="600"/>
              </a:spcBef>
              <a:buFont typeface="Wingdings" panose="05000000000000000000" pitchFamily="2" charset="2"/>
              <a:buChar char="ü"/>
            </a:pPr>
            <a:r>
              <a:rPr lang="en-US" altLang="zh-CN" sz="1050" dirty="0"/>
              <a:t>Robotaxi </a:t>
            </a:r>
            <a:r>
              <a:rPr lang="zh-CN" altLang="en-US" sz="1050" dirty="0"/>
              <a:t>司机</a:t>
            </a:r>
            <a:r>
              <a:rPr lang="en-US" altLang="zh-CN" sz="1050" dirty="0"/>
              <a:t>agent</a:t>
            </a:r>
            <a:r>
              <a:rPr lang="zh-CN" altLang="en-US" sz="1050" dirty="0"/>
              <a:t>能够显示实施路况，通过语音或者触控对路线的调整，如走高速，避开拥堵，最快路径。并实时在屏幕提醒另外更快路线选择，可根据变更后路线行驶</a:t>
            </a:r>
            <a:endParaRPr lang="en-US" altLang="zh-CN" sz="1050" dirty="0"/>
          </a:p>
          <a:p>
            <a:pPr marL="285750" indent="-285750">
              <a:spcBef>
                <a:spcPts val="600"/>
              </a:spcBef>
              <a:buFont typeface="Wingdings" panose="05000000000000000000" pitchFamily="2" charset="2"/>
              <a:buChar char="ü"/>
            </a:pPr>
            <a:r>
              <a:rPr lang="en-US" altLang="zh-CN" sz="1050" dirty="0"/>
              <a:t>Robotaxi</a:t>
            </a:r>
            <a:r>
              <a:rPr lang="zh-CN" altLang="en-US" sz="1050" dirty="0"/>
              <a:t>司机</a:t>
            </a:r>
            <a:r>
              <a:rPr lang="en-US" altLang="zh-CN" sz="1050" dirty="0"/>
              <a:t>agent</a:t>
            </a:r>
            <a:r>
              <a:rPr lang="zh-CN" altLang="en-US" sz="1050" dirty="0"/>
              <a:t>对于碰瓷，碰撞等突发状况，能够有清晰应对措施，告知乘客，客服主动介入，避免乘客焦虑</a:t>
            </a:r>
          </a:p>
          <a:p>
            <a:pPr marL="285750" indent="-285750">
              <a:spcBef>
                <a:spcPts val="600"/>
              </a:spcBef>
              <a:buFont typeface="Wingdings" panose="05000000000000000000" pitchFamily="2" charset="2"/>
              <a:buChar char="ü"/>
            </a:pPr>
            <a:r>
              <a:rPr lang="en-US" altLang="zh-CN" sz="1050" dirty="0"/>
              <a:t>Robotaxi </a:t>
            </a:r>
            <a:r>
              <a:rPr lang="zh-CN" altLang="en-US" sz="1050" dirty="0"/>
              <a:t>司机</a:t>
            </a:r>
            <a:r>
              <a:rPr lang="en-US" altLang="zh-CN" sz="1050" dirty="0"/>
              <a:t>agent</a:t>
            </a:r>
            <a:r>
              <a:rPr lang="zh-CN" altLang="en-US" sz="1050" dirty="0"/>
              <a:t>提供记忆用户车控的习惯，或者保存习惯，或者能够调出最后一次使用的习惯</a:t>
            </a:r>
            <a:endParaRPr lang="en-US" altLang="zh-CN" sz="1050" dirty="0"/>
          </a:p>
          <a:p>
            <a:pPr marL="285750" indent="-285750">
              <a:spcBef>
                <a:spcPts val="600"/>
              </a:spcBef>
              <a:buFont typeface="Wingdings" panose="05000000000000000000" pitchFamily="2" charset="2"/>
              <a:buChar char="ü"/>
            </a:pPr>
            <a:r>
              <a:rPr lang="en-US" altLang="zh-CN" sz="1050" dirty="0"/>
              <a:t>Robotaxi </a:t>
            </a:r>
            <a:r>
              <a:rPr lang="zh-CN" altLang="en-US" sz="1050" dirty="0"/>
              <a:t>司机</a:t>
            </a:r>
            <a:r>
              <a:rPr lang="en-US" altLang="zh-CN" sz="1050" dirty="0"/>
              <a:t>agent</a:t>
            </a:r>
            <a:r>
              <a:rPr lang="zh-CN" altLang="en-US" sz="1050" dirty="0"/>
              <a:t>可支持一键舒适等常用操作的集合，或者一句化场景设置，并能通过语音二次调出</a:t>
            </a:r>
            <a:endParaRPr lang="en-US" altLang="zh-CN" sz="1050" dirty="0"/>
          </a:p>
        </p:txBody>
      </p:sp>
    </p:spTree>
    <p:extLst>
      <p:ext uri="{BB962C8B-B14F-4D97-AF65-F5344CB8AC3E}">
        <p14:creationId xmlns:p14="http://schemas.microsoft.com/office/powerpoint/2010/main" val="31647282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F1DF2-692E-3376-36DA-9C4F7F2F9F1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F6FF884-BFF5-6E7B-2835-E5A0EA791104}"/>
              </a:ext>
            </a:extLst>
          </p:cNvPr>
          <p:cNvSpPr>
            <a:spLocks noGrp="1"/>
          </p:cNvSpPr>
          <p:nvPr>
            <p:ph type="title" idx="4294967295"/>
          </p:nvPr>
        </p:nvSpPr>
        <p:spPr>
          <a:xfrm>
            <a:off x="669924" y="433637"/>
            <a:ext cx="10440000" cy="595063"/>
          </a:xfrm>
        </p:spPr>
        <p:txBody>
          <a:bodyPr/>
          <a:lstStyle/>
          <a:p>
            <a:r>
              <a:rPr lang="zh-CN" altLang="en-US" dirty="0"/>
              <a:t>行驶阶段</a:t>
            </a:r>
            <a:r>
              <a:rPr lang="en-US" altLang="zh-CN" dirty="0"/>
              <a:t>——</a:t>
            </a:r>
            <a:r>
              <a:rPr lang="zh-CN" altLang="en-US" dirty="0"/>
              <a:t>行程娱乐（</a:t>
            </a:r>
            <a:r>
              <a:rPr lang="en-US" altLang="zh-CN" dirty="0"/>
              <a:t>Robotaxi</a:t>
            </a:r>
            <a:r>
              <a:rPr lang="zh-CN" altLang="en-US" dirty="0"/>
              <a:t>）</a:t>
            </a:r>
          </a:p>
        </p:txBody>
      </p:sp>
      <p:sp>
        <p:nvSpPr>
          <p:cNvPr id="16" name="文本占位符 4">
            <a:extLst>
              <a:ext uri="{FF2B5EF4-FFF2-40B4-BE49-F238E27FC236}">
                <a16:creationId xmlns:a16="http://schemas.microsoft.com/office/drawing/2014/main" id="{CA0C5F14-35DE-1FE6-B53C-3924C9871117}"/>
              </a:ext>
            </a:extLst>
          </p:cNvPr>
          <p:cNvSpPr txBox="1"/>
          <p:nvPr/>
        </p:nvSpPr>
        <p:spPr>
          <a:xfrm>
            <a:off x="4016931" y="1422180"/>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a:extLst>
              <a:ext uri="{FF2B5EF4-FFF2-40B4-BE49-F238E27FC236}">
                <a16:creationId xmlns:a16="http://schemas.microsoft.com/office/drawing/2014/main" id="{D9F1B31A-6F4C-BA6B-2D3B-6E2B9CEF7AB1}"/>
              </a:ext>
            </a:extLst>
          </p:cNvPr>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a:extLst>
              <a:ext uri="{FF2B5EF4-FFF2-40B4-BE49-F238E27FC236}">
                <a16:creationId xmlns:a16="http://schemas.microsoft.com/office/drawing/2014/main" id="{10503B78-73DE-D53F-1D15-346FC3FBDF73}"/>
              </a:ext>
            </a:extLst>
          </p:cNvPr>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a:extLst>
              <a:ext uri="{FF2B5EF4-FFF2-40B4-BE49-F238E27FC236}">
                <a16:creationId xmlns:a16="http://schemas.microsoft.com/office/drawing/2014/main" id="{73BBD960-619F-E5DB-EA80-6A1F512F2192}"/>
              </a:ext>
            </a:extLst>
          </p:cNvPr>
          <p:cNvSpPr txBox="1"/>
          <p:nvPr/>
        </p:nvSpPr>
        <p:spPr>
          <a:xfrm>
            <a:off x="97877" y="2794788"/>
            <a:ext cx="366036" cy="1169551"/>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lang="zh-CN" altLang="en-US" sz="1400" dirty="0">
                <a:solidFill>
                  <a:srgbClr val="000000"/>
                </a:solidFill>
                <a:latin typeface="微软雅黑" panose="020B0503020204020204" pitchFamily="34" charset="-122"/>
                <a:ea typeface="微软雅黑" panose="020B0503020204020204" pitchFamily="34" charset="-122"/>
              </a:rPr>
              <a:t>行车</a:t>
            </a:r>
            <a:endParaRPr lang="en-US" altLang="zh-CN" sz="1400" dirty="0">
              <a:solidFill>
                <a:srgbClr val="000000"/>
              </a:solidFill>
              <a:latin typeface="微软雅黑" panose="020B0503020204020204" pitchFamily="34" charset="-122"/>
              <a:ea typeface="微软雅黑" panose="020B0503020204020204" pitchFamily="34" charset="-122"/>
            </a:endParaRPr>
          </a:p>
          <a:p>
            <a:pPr algn="ctr"/>
            <a:r>
              <a:rPr lang="zh-CN" altLang="en-US" sz="1400" dirty="0">
                <a:solidFill>
                  <a:srgbClr val="000000"/>
                </a:solidFill>
                <a:latin typeface="微软雅黑" panose="020B0503020204020204" pitchFamily="34" charset="-122"/>
                <a:ea typeface="微软雅黑" panose="020B0503020204020204" pitchFamily="34" charset="-122"/>
              </a:rPr>
              <a:t>娱乐</a:t>
            </a:r>
            <a:endPar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 name="文本框 9">
            <a:extLst>
              <a:ext uri="{FF2B5EF4-FFF2-40B4-BE49-F238E27FC236}">
                <a16:creationId xmlns:a16="http://schemas.microsoft.com/office/drawing/2014/main" id="{3CD48C08-47C2-3CBB-30A6-B42A039D465E}"/>
              </a:ext>
            </a:extLst>
          </p:cNvPr>
          <p:cNvSpPr txBox="1"/>
          <p:nvPr/>
        </p:nvSpPr>
        <p:spPr>
          <a:xfrm>
            <a:off x="430628" y="2444533"/>
            <a:ext cx="1525188" cy="3677930"/>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行车</a:t>
            </a:r>
            <a:r>
              <a:rPr lang="en-US" altLang="zh-CN" sz="1200" b="1" dirty="0">
                <a:solidFill>
                  <a:srgbClr val="000000"/>
                </a:solidFill>
                <a:latin typeface="微软雅黑" panose="020B0503020204020204" pitchFamily="34" charset="-122"/>
                <a:ea typeface="微软雅黑" panose="020B0503020204020204" pitchFamily="34" charset="-122"/>
              </a:rPr>
              <a:t>K</a:t>
            </a:r>
            <a:r>
              <a:rPr lang="zh-CN" altLang="en-US" sz="1200" b="1" dirty="0">
                <a:solidFill>
                  <a:srgbClr val="000000"/>
                </a:solidFill>
                <a:latin typeface="微软雅黑" panose="020B0503020204020204" pitchFamily="34" charset="-122"/>
                <a:ea typeface="微软雅黑" panose="020B0503020204020204" pitchFamily="34" charset="-122"/>
              </a:rPr>
              <a:t>个</a:t>
            </a: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行车打游戏</a:t>
            </a: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a:extLst>
              <a:ext uri="{FF2B5EF4-FFF2-40B4-BE49-F238E27FC236}">
                <a16:creationId xmlns:a16="http://schemas.microsoft.com/office/drawing/2014/main" id="{8640FC6F-0304-9AF3-B593-5CBCDEB09F64}"/>
              </a:ext>
            </a:extLst>
          </p:cNvPr>
          <p:cNvSpPr txBox="1"/>
          <p:nvPr/>
        </p:nvSpPr>
        <p:spPr>
          <a:xfrm>
            <a:off x="1360934" y="1383248"/>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a:extLst>
              <a:ext uri="{FF2B5EF4-FFF2-40B4-BE49-F238E27FC236}">
                <a16:creationId xmlns:a16="http://schemas.microsoft.com/office/drawing/2014/main" id="{E70046E8-DEF9-F7AA-90C0-48760B0FCDBF}"/>
              </a:ext>
            </a:extLst>
          </p:cNvPr>
          <p:cNvSpPr txBox="1"/>
          <p:nvPr/>
        </p:nvSpPr>
        <p:spPr>
          <a:xfrm>
            <a:off x="8528875" y="1415135"/>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a:extLst>
              <a:ext uri="{FF2B5EF4-FFF2-40B4-BE49-F238E27FC236}">
                <a16:creationId xmlns:a16="http://schemas.microsoft.com/office/drawing/2014/main" id="{9120C032-2091-41DF-B9F3-B58DC0789FD4}"/>
              </a:ext>
            </a:extLst>
          </p:cNvPr>
          <p:cNvCxnSpPr/>
          <p:nvPr/>
        </p:nvCxnSpPr>
        <p:spPr>
          <a:xfrm>
            <a:off x="2718924" y="1907062"/>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55C01CF5-753A-1491-01CF-DD0037089EA1}"/>
              </a:ext>
            </a:extLst>
          </p:cNvPr>
          <p:cNvCxnSpPr/>
          <p:nvPr/>
        </p:nvCxnSpPr>
        <p:spPr>
          <a:xfrm>
            <a:off x="6953117" y="1802463"/>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a:extLst>
              <a:ext uri="{FF2B5EF4-FFF2-40B4-BE49-F238E27FC236}">
                <a16:creationId xmlns:a16="http://schemas.microsoft.com/office/drawing/2014/main" id="{17CE8281-8C08-FFAA-CE53-60B038C1F7D1}"/>
              </a:ext>
            </a:extLst>
          </p:cNvPr>
          <p:cNvSpPr txBox="1"/>
          <p:nvPr/>
        </p:nvSpPr>
        <p:spPr>
          <a:xfrm>
            <a:off x="97877" y="1382669"/>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高频场景</a:t>
            </a:r>
          </a:p>
        </p:txBody>
      </p:sp>
      <p:cxnSp>
        <p:nvCxnSpPr>
          <p:cNvPr id="34" name="直接连接符 33">
            <a:extLst>
              <a:ext uri="{FF2B5EF4-FFF2-40B4-BE49-F238E27FC236}">
                <a16:creationId xmlns:a16="http://schemas.microsoft.com/office/drawing/2014/main" id="{5EEC88B4-FAA7-A81D-D090-D4A7CA7D7F00}"/>
              </a:ext>
            </a:extLst>
          </p:cNvPr>
          <p:cNvCxnSpPr/>
          <p:nvPr/>
        </p:nvCxnSpPr>
        <p:spPr>
          <a:xfrm>
            <a:off x="1456340" y="185026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a:extLst>
              <a:ext uri="{FF2B5EF4-FFF2-40B4-BE49-F238E27FC236}">
                <a16:creationId xmlns:a16="http://schemas.microsoft.com/office/drawing/2014/main" id="{B36057CD-3C39-FB51-43B0-DC2A8741093C}"/>
              </a:ext>
            </a:extLst>
          </p:cNvPr>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66" name="直接连接符 65">
            <a:extLst>
              <a:ext uri="{FF2B5EF4-FFF2-40B4-BE49-F238E27FC236}">
                <a16:creationId xmlns:a16="http://schemas.microsoft.com/office/drawing/2014/main" id="{6F52FF0B-E047-99D2-8876-09D4BC021E95}"/>
              </a:ext>
            </a:extLst>
          </p:cNvPr>
          <p:cNvCxnSpPr>
            <a:cxnSpLocks/>
          </p:cNvCxnSpPr>
          <p:nvPr/>
        </p:nvCxnSpPr>
        <p:spPr>
          <a:xfrm>
            <a:off x="1456340" y="4067062"/>
            <a:ext cx="5606622"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DA026CF2-53B3-EAF2-C9D7-D221C5812DC2}"/>
              </a:ext>
            </a:extLst>
          </p:cNvPr>
          <p:cNvSpPr txBox="1"/>
          <p:nvPr/>
        </p:nvSpPr>
        <p:spPr>
          <a:xfrm>
            <a:off x="2852821" y="2236319"/>
            <a:ext cx="1999259" cy="1680717"/>
          </a:xfrm>
          <a:prstGeom prst="rect">
            <a:avLst/>
          </a:prstGeom>
          <a:noFill/>
        </p:spPr>
        <p:txBody>
          <a:bodyPr wrap="square">
            <a:spAutoFit/>
          </a:bodyPr>
          <a:lstStyle/>
          <a:p>
            <a:pPr marL="171450" indent="-171450">
              <a:lnSpc>
                <a:spcPct val="150000"/>
              </a:lnSpc>
              <a:buFont typeface="Arial" panose="020B0604020202020204" pitchFamily="34" charset="0"/>
              <a:buChar char="•"/>
            </a:pPr>
            <a:r>
              <a:rPr lang="zh-CN" altLang="en-US" sz="1000" dirty="0"/>
              <a:t>有运营活动比较好，可以获得优惠卷</a:t>
            </a:r>
            <a:endParaRPr lang="en-US" altLang="zh-CN" sz="1000" dirty="0"/>
          </a:p>
          <a:p>
            <a:pPr marL="171450" indent="-171450">
              <a:lnSpc>
                <a:spcPct val="150000"/>
              </a:lnSpc>
              <a:buFont typeface="Arial" panose="020B0604020202020204" pitchFamily="34" charset="0"/>
              <a:buChar char="•"/>
            </a:pPr>
            <a:r>
              <a:rPr lang="zh-CN" altLang="en-US" sz="1000" dirty="0"/>
              <a:t>可分享到小红书等</a:t>
            </a:r>
            <a:endParaRPr lang="en-US" altLang="zh-CN" sz="1000" dirty="0"/>
          </a:p>
          <a:p>
            <a:pPr marL="171450" indent="-171450">
              <a:lnSpc>
                <a:spcPct val="150000"/>
              </a:lnSpc>
              <a:buFont typeface="Arial" panose="020B0604020202020204" pitchFamily="34" charset="0"/>
              <a:buChar char="•"/>
            </a:pPr>
            <a:r>
              <a:rPr lang="zh-CN" altLang="en-US" sz="1000" dirty="0"/>
              <a:t>如果能扫描提供麦克风，冰箱里有冷饮更受年轻人喜欢，如果能够营造出</a:t>
            </a:r>
            <a:r>
              <a:rPr lang="en-US" altLang="zh-CN" sz="1000" dirty="0"/>
              <a:t>k</a:t>
            </a:r>
            <a:r>
              <a:rPr lang="zh-CN" altLang="en-US" sz="1000" dirty="0"/>
              <a:t>歌氛围，愿意付费</a:t>
            </a:r>
            <a:endParaRPr lang="en-US" altLang="zh-CN" sz="1000" dirty="0"/>
          </a:p>
        </p:txBody>
      </p:sp>
      <p:sp>
        <p:nvSpPr>
          <p:cNvPr id="3" name="文本框 2">
            <a:extLst>
              <a:ext uri="{FF2B5EF4-FFF2-40B4-BE49-F238E27FC236}">
                <a16:creationId xmlns:a16="http://schemas.microsoft.com/office/drawing/2014/main" id="{A615B6F5-CED2-9CC9-F2E0-05A2F019942B}"/>
              </a:ext>
            </a:extLst>
          </p:cNvPr>
          <p:cNvSpPr txBox="1"/>
          <p:nvPr/>
        </p:nvSpPr>
        <p:spPr>
          <a:xfrm>
            <a:off x="6989986" y="3497453"/>
            <a:ext cx="723275" cy="253916"/>
          </a:xfrm>
          <a:prstGeom prst="rect">
            <a:avLst/>
          </a:prstGeom>
          <a:noFill/>
        </p:spPr>
        <p:txBody>
          <a:bodyPr wrap="none" rtlCol="0">
            <a:spAutoFit/>
          </a:bodyPr>
          <a:lstStyle/>
          <a:p>
            <a:r>
              <a:rPr lang="zh-CN" altLang="en-US" sz="1050" b="1" dirty="0"/>
              <a:t>机会点：</a:t>
            </a:r>
          </a:p>
        </p:txBody>
      </p:sp>
      <p:sp>
        <p:nvSpPr>
          <p:cNvPr id="4" name="文本框 3">
            <a:extLst>
              <a:ext uri="{FF2B5EF4-FFF2-40B4-BE49-F238E27FC236}">
                <a16:creationId xmlns:a16="http://schemas.microsoft.com/office/drawing/2014/main" id="{54EF3E83-77F9-5181-DB47-80AC79CA331F}"/>
              </a:ext>
            </a:extLst>
          </p:cNvPr>
          <p:cNvSpPr txBox="1"/>
          <p:nvPr/>
        </p:nvSpPr>
        <p:spPr>
          <a:xfrm>
            <a:off x="6953117" y="5004225"/>
            <a:ext cx="588623" cy="253916"/>
          </a:xfrm>
          <a:prstGeom prst="rect">
            <a:avLst/>
          </a:prstGeom>
          <a:noFill/>
        </p:spPr>
        <p:txBody>
          <a:bodyPr wrap="none" rtlCol="0">
            <a:spAutoFit/>
          </a:bodyPr>
          <a:lstStyle/>
          <a:p>
            <a:r>
              <a:rPr lang="zh-CN" altLang="en-US" sz="1050" b="1" dirty="0"/>
              <a:t>展望：</a:t>
            </a:r>
          </a:p>
        </p:txBody>
      </p:sp>
      <p:sp>
        <p:nvSpPr>
          <p:cNvPr id="5" name="文本框 4">
            <a:extLst>
              <a:ext uri="{FF2B5EF4-FFF2-40B4-BE49-F238E27FC236}">
                <a16:creationId xmlns:a16="http://schemas.microsoft.com/office/drawing/2014/main" id="{124650C5-FC7E-4AB3-9EC8-FBA21A741598}"/>
              </a:ext>
            </a:extLst>
          </p:cNvPr>
          <p:cNvSpPr txBox="1"/>
          <p:nvPr/>
        </p:nvSpPr>
        <p:spPr>
          <a:xfrm>
            <a:off x="6953117" y="1824607"/>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11" name="文本框 10">
            <a:extLst>
              <a:ext uri="{FF2B5EF4-FFF2-40B4-BE49-F238E27FC236}">
                <a16:creationId xmlns:a16="http://schemas.microsoft.com/office/drawing/2014/main" id="{CA5C655B-2E78-82F9-3617-6CBBCC28EEEB}"/>
              </a:ext>
            </a:extLst>
          </p:cNvPr>
          <p:cNvSpPr txBox="1"/>
          <p:nvPr/>
        </p:nvSpPr>
        <p:spPr>
          <a:xfrm>
            <a:off x="1527783" y="2702488"/>
            <a:ext cx="1119699" cy="738664"/>
          </a:xfrm>
          <a:prstGeom prst="rect">
            <a:avLst/>
          </a:prstGeom>
          <a:noFill/>
        </p:spPr>
        <p:txBody>
          <a:bodyPr wrap="square" rtlCol="0">
            <a:spAutoFit/>
          </a:bodyPr>
          <a:lstStyle/>
          <a:p>
            <a:r>
              <a:rPr lang="en-US" altLang="zh-CN" sz="1050" dirty="0"/>
              <a:t>Robotaxi</a:t>
            </a:r>
            <a:r>
              <a:rPr lang="zh-CN" altLang="en-US" sz="1050" dirty="0"/>
              <a:t>用户更好私密性与自由感，作为娱乐空间使用</a:t>
            </a:r>
          </a:p>
        </p:txBody>
      </p:sp>
      <p:sp>
        <p:nvSpPr>
          <p:cNvPr id="17" name="文本框 16">
            <a:extLst>
              <a:ext uri="{FF2B5EF4-FFF2-40B4-BE49-F238E27FC236}">
                <a16:creationId xmlns:a16="http://schemas.microsoft.com/office/drawing/2014/main" id="{3BAA35F4-F91D-017C-93FC-345C07C580E5}"/>
              </a:ext>
            </a:extLst>
          </p:cNvPr>
          <p:cNvSpPr txBox="1"/>
          <p:nvPr/>
        </p:nvSpPr>
        <p:spPr>
          <a:xfrm>
            <a:off x="1502517" y="4597944"/>
            <a:ext cx="1178961" cy="577081"/>
          </a:xfrm>
          <a:prstGeom prst="rect">
            <a:avLst/>
          </a:prstGeom>
          <a:noFill/>
        </p:spPr>
        <p:txBody>
          <a:bodyPr wrap="square">
            <a:spAutoFit/>
          </a:bodyPr>
          <a:lstStyle/>
          <a:p>
            <a:r>
              <a:rPr lang="en-US" altLang="zh-CN" sz="1050" dirty="0"/>
              <a:t>Robotaxi</a:t>
            </a:r>
            <a:r>
              <a:rPr lang="zh-CN" altLang="en-US" sz="1050" dirty="0"/>
              <a:t>用户希望用后排屏进行投屏打游戏</a:t>
            </a:r>
          </a:p>
        </p:txBody>
      </p:sp>
      <p:sp>
        <p:nvSpPr>
          <p:cNvPr id="19" name="文本框 18">
            <a:extLst>
              <a:ext uri="{FF2B5EF4-FFF2-40B4-BE49-F238E27FC236}">
                <a16:creationId xmlns:a16="http://schemas.microsoft.com/office/drawing/2014/main" id="{DEDEE0C9-A324-A280-AB15-B1D940FF86ED}"/>
              </a:ext>
            </a:extLst>
          </p:cNvPr>
          <p:cNvSpPr txBox="1"/>
          <p:nvPr/>
        </p:nvSpPr>
        <p:spPr>
          <a:xfrm>
            <a:off x="2812755" y="4229575"/>
            <a:ext cx="2614818"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可以像家里一样当做娱乐空间的使用</a:t>
            </a:r>
          </a:p>
        </p:txBody>
      </p:sp>
      <p:sp>
        <p:nvSpPr>
          <p:cNvPr id="21" name="文本框 20">
            <a:extLst>
              <a:ext uri="{FF2B5EF4-FFF2-40B4-BE49-F238E27FC236}">
                <a16:creationId xmlns:a16="http://schemas.microsoft.com/office/drawing/2014/main" id="{54B64112-3F30-9F38-501F-621E665B2DB9}"/>
              </a:ext>
            </a:extLst>
          </p:cNvPr>
          <p:cNvSpPr txBox="1"/>
          <p:nvPr/>
        </p:nvSpPr>
        <p:spPr>
          <a:xfrm>
            <a:off x="2783551" y="4597944"/>
            <a:ext cx="3150822" cy="526554"/>
          </a:xfrm>
          <a:prstGeom prst="rect">
            <a:avLst/>
          </a:prstGeom>
          <a:noFill/>
        </p:spPr>
        <p:txBody>
          <a:bodyPr wrap="square">
            <a:spAutoFit/>
          </a:bodyPr>
          <a:lstStyle/>
          <a:p>
            <a:pPr marL="171450" indent="-171450">
              <a:lnSpc>
                <a:spcPct val="150000"/>
              </a:lnSpc>
              <a:buFont typeface="Arial" panose="020B0604020202020204" pitchFamily="34" charset="0"/>
              <a:buChar char="•"/>
            </a:pPr>
            <a:r>
              <a:rPr lang="zh-CN" altLang="en-US" sz="1000" dirty="0"/>
              <a:t>在家里经常投屏打游戏，更有沉浸感</a:t>
            </a:r>
            <a:endParaRPr lang="en-US" altLang="zh-CN" sz="1000" dirty="0"/>
          </a:p>
          <a:p>
            <a:pPr marL="171450" indent="-171450">
              <a:lnSpc>
                <a:spcPct val="150000"/>
              </a:lnSpc>
              <a:buFont typeface="Arial" panose="020B0604020202020204" pitchFamily="34" charset="0"/>
              <a:buChar char="•"/>
            </a:pPr>
            <a:r>
              <a:rPr lang="en-US" altLang="zh-CN" sz="1000" dirty="0"/>
              <a:t>Robotaxi</a:t>
            </a:r>
            <a:r>
              <a:rPr lang="zh-CN" altLang="en-US" sz="1000" dirty="0"/>
              <a:t>的屏幕希望也可以投屏打游戏</a:t>
            </a:r>
            <a:endParaRPr lang="en-US" altLang="zh-CN" sz="1000" dirty="0"/>
          </a:p>
        </p:txBody>
      </p:sp>
      <p:sp>
        <p:nvSpPr>
          <p:cNvPr id="39" name="文本框 38">
            <a:extLst>
              <a:ext uri="{FF2B5EF4-FFF2-40B4-BE49-F238E27FC236}">
                <a16:creationId xmlns:a16="http://schemas.microsoft.com/office/drawing/2014/main" id="{D6C02CC5-F6D1-83E6-65D5-4E5B44738AA1}"/>
              </a:ext>
            </a:extLst>
          </p:cNvPr>
          <p:cNvSpPr txBox="1"/>
          <p:nvPr/>
        </p:nvSpPr>
        <p:spPr>
          <a:xfrm>
            <a:off x="7452592" y="2045418"/>
            <a:ext cx="4510586" cy="1531188"/>
          </a:xfrm>
          <a:prstGeom prst="rect">
            <a:avLst/>
          </a:prstGeom>
          <a:noFill/>
        </p:spPr>
        <p:txBody>
          <a:bodyPr wrap="square" rtlCol="0">
            <a:spAutoFit/>
          </a:bodyPr>
          <a:lstStyle/>
          <a:p>
            <a:pPr marL="285750" indent="-285750">
              <a:spcBef>
                <a:spcPts val="600"/>
              </a:spcBef>
              <a:buFont typeface="Wingdings" panose="05000000000000000000" pitchFamily="2" charset="2"/>
              <a:buChar char="ü"/>
            </a:pPr>
            <a:r>
              <a:rPr lang="zh-CN" altLang="en-US" sz="1050" dirty="0"/>
              <a:t>智能座舱全民</a:t>
            </a:r>
            <a:r>
              <a:rPr lang="en-US" altLang="zh-CN" sz="1050" dirty="0"/>
              <a:t>k</a:t>
            </a:r>
            <a:r>
              <a:rPr lang="zh-CN" altLang="en-US" sz="1050" dirty="0"/>
              <a:t>歌支持无麦</a:t>
            </a:r>
            <a:r>
              <a:rPr lang="en-US" altLang="zh-CN" sz="1050" dirty="0"/>
              <a:t>k</a:t>
            </a:r>
            <a:r>
              <a:rPr lang="zh-CN" altLang="en-US" sz="1050" dirty="0"/>
              <a:t>歌，录制分享等</a:t>
            </a:r>
            <a:r>
              <a:rPr lang="en-US" altLang="zh-CN" sz="1050" dirty="0"/>
              <a:t>k</a:t>
            </a:r>
            <a:r>
              <a:rPr lang="zh-CN" altLang="en-US" sz="1050" dirty="0"/>
              <a:t>歌空间的体验，音质较好</a:t>
            </a:r>
            <a:endParaRPr lang="en-US" altLang="zh-CN" sz="1050" dirty="0"/>
          </a:p>
          <a:p>
            <a:pPr marL="285750" indent="-285750">
              <a:spcBef>
                <a:spcPts val="600"/>
              </a:spcBef>
              <a:buFont typeface="Wingdings" panose="05000000000000000000" pitchFamily="2" charset="2"/>
              <a:buChar char="ü"/>
            </a:pPr>
            <a:r>
              <a:rPr lang="zh-CN" altLang="en-US" sz="1050" dirty="0"/>
              <a:t>普遍都提供车载麦克风的商城配件</a:t>
            </a:r>
            <a:endParaRPr lang="en-US" altLang="zh-CN" sz="1050" dirty="0"/>
          </a:p>
          <a:p>
            <a:pPr marL="285750" indent="-285750">
              <a:spcBef>
                <a:spcPts val="600"/>
              </a:spcBef>
              <a:buFont typeface="Wingdings" panose="05000000000000000000" pitchFamily="2" charset="2"/>
              <a:buChar char="ü"/>
            </a:pPr>
            <a:r>
              <a:rPr lang="zh-CN" altLang="en-US" sz="1050" dirty="0"/>
              <a:t>智能座舱支持投屏或镜像等操作，</a:t>
            </a:r>
            <a:r>
              <a:rPr lang="en-US" altLang="zh-CN" sz="1050" dirty="0"/>
              <a:t>Robotaxi</a:t>
            </a:r>
            <a:r>
              <a:rPr lang="zh-CN" altLang="en-US" sz="1050" dirty="0"/>
              <a:t>不支持</a:t>
            </a:r>
            <a:endParaRPr lang="en-US" altLang="zh-CN" sz="1050" dirty="0"/>
          </a:p>
          <a:p>
            <a:pPr marL="285750" indent="-285750">
              <a:spcBef>
                <a:spcPts val="600"/>
              </a:spcBef>
              <a:buFont typeface="Wingdings" panose="05000000000000000000" pitchFamily="2" charset="2"/>
              <a:buChar char="ü"/>
            </a:pPr>
            <a:r>
              <a:rPr lang="zh-CN" altLang="en-US" sz="1050" dirty="0"/>
              <a:t>智能座舱也支持车载游戏，但车机专属的可玩性不足，丰富性也不够，</a:t>
            </a:r>
            <a:r>
              <a:rPr lang="en-US" altLang="zh-CN" sz="1050" dirty="0"/>
              <a:t>Robotaxi</a:t>
            </a:r>
            <a:r>
              <a:rPr lang="zh-CN" altLang="en-US" sz="1050" dirty="0"/>
              <a:t>未提供游戏</a:t>
            </a:r>
            <a:endParaRPr lang="en-US" altLang="zh-CN" sz="1050" dirty="0"/>
          </a:p>
          <a:p>
            <a:pPr marL="285750" indent="-285750">
              <a:spcBef>
                <a:spcPts val="600"/>
              </a:spcBef>
              <a:buFont typeface="Wingdings" panose="05000000000000000000" pitchFamily="2" charset="2"/>
              <a:buChar char="ü"/>
            </a:pPr>
            <a:r>
              <a:rPr lang="zh-CN" altLang="en-US" sz="1050" dirty="0"/>
              <a:t>车载冰箱很多车搭载</a:t>
            </a:r>
          </a:p>
        </p:txBody>
      </p:sp>
      <p:sp>
        <p:nvSpPr>
          <p:cNvPr id="6" name="文本框 5">
            <a:extLst>
              <a:ext uri="{FF2B5EF4-FFF2-40B4-BE49-F238E27FC236}">
                <a16:creationId xmlns:a16="http://schemas.microsoft.com/office/drawing/2014/main" id="{3F41EB6E-768E-D0BB-2111-EA659C09C45A}"/>
              </a:ext>
            </a:extLst>
          </p:cNvPr>
          <p:cNvSpPr txBox="1"/>
          <p:nvPr/>
        </p:nvSpPr>
        <p:spPr>
          <a:xfrm>
            <a:off x="2904405" y="1925925"/>
            <a:ext cx="1729961"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对于萝卜</a:t>
            </a:r>
            <a:r>
              <a:rPr lang="en-US" altLang="zh-CN" sz="1100" b="1" dirty="0"/>
              <a:t>K</a:t>
            </a:r>
            <a:r>
              <a:rPr lang="zh-CN" altLang="en-US" sz="1100" b="1" dirty="0"/>
              <a:t>歌满意度高</a:t>
            </a:r>
          </a:p>
        </p:txBody>
      </p:sp>
      <p:sp>
        <p:nvSpPr>
          <p:cNvPr id="8" name="文本框 7">
            <a:extLst>
              <a:ext uri="{FF2B5EF4-FFF2-40B4-BE49-F238E27FC236}">
                <a16:creationId xmlns:a16="http://schemas.microsoft.com/office/drawing/2014/main" id="{74A450FA-6961-9970-10B3-F5E33E92C9B2}"/>
              </a:ext>
            </a:extLst>
          </p:cNvPr>
          <p:cNvSpPr txBox="1"/>
          <p:nvPr/>
        </p:nvSpPr>
        <p:spPr>
          <a:xfrm>
            <a:off x="7452592" y="3765085"/>
            <a:ext cx="4510586" cy="1215717"/>
          </a:xfrm>
          <a:prstGeom prst="rect">
            <a:avLst/>
          </a:prstGeom>
          <a:noFill/>
        </p:spPr>
        <p:txBody>
          <a:bodyPr wrap="square" rtlCol="0">
            <a:spAutoFit/>
          </a:bodyPr>
          <a:lstStyle/>
          <a:p>
            <a:pPr marL="285750" indent="-285750">
              <a:spcBef>
                <a:spcPts val="600"/>
              </a:spcBef>
              <a:buFont typeface="Wingdings" panose="05000000000000000000" pitchFamily="2" charset="2"/>
              <a:buChar char="ü"/>
            </a:pPr>
            <a:r>
              <a:rPr lang="zh-CN" altLang="en-US" sz="1050" dirty="0"/>
              <a:t>将智能座舱的已有更多娱乐功能，迁移到</a:t>
            </a:r>
            <a:r>
              <a:rPr lang="en-US" altLang="zh-CN" sz="1050" dirty="0"/>
              <a:t>Robotaxi</a:t>
            </a:r>
            <a:r>
              <a:rPr lang="zh-CN" altLang="en-US" sz="1050" dirty="0"/>
              <a:t>的后排屏上，将基于后排屏为中心，打造成车载娱乐空间</a:t>
            </a:r>
            <a:endParaRPr lang="en-US" altLang="zh-CN" sz="1050" dirty="0"/>
          </a:p>
          <a:p>
            <a:pPr marL="285750" indent="-285750">
              <a:spcBef>
                <a:spcPts val="600"/>
              </a:spcBef>
              <a:buFont typeface="Wingdings" panose="05000000000000000000" pitchFamily="2" charset="2"/>
              <a:buChar char="ü"/>
            </a:pPr>
            <a:r>
              <a:rPr lang="zh-CN" altLang="en-US" sz="1050" dirty="0"/>
              <a:t>对于</a:t>
            </a:r>
            <a:r>
              <a:rPr lang="en-US" altLang="zh-CN" sz="1050" dirty="0"/>
              <a:t>Robotaxi</a:t>
            </a:r>
            <a:r>
              <a:rPr lang="zh-CN" altLang="en-US" sz="1050" dirty="0"/>
              <a:t>的专车等级，可提供沉浸式</a:t>
            </a:r>
            <a:r>
              <a:rPr lang="en-US" altLang="zh-CN" sz="1050" dirty="0"/>
              <a:t>k</a:t>
            </a:r>
            <a:r>
              <a:rPr lang="zh-CN" altLang="en-US" sz="1050" dirty="0"/>
              <a:t>歌场景，可扫描提供车载麦克风，车载冰箱中的冷饮，支持付费扫码支付开启，</a:t>
            </a:r>
            <a:endParaRPr lang="en-US" altLang="zh-CN" sz="1050" dirty="0"/>
          </a:p>
          <a:p>
            <a:pPr marL="285750" indent="-285750">
              <a:spcBef>
                <a:spcPts val="600"/>
              </a:spcBef>
              <a:buFont typeface="Wingdings" panose="05000000000000000000" pitchFamily="2" charset="2"/>
              <a:buChar char="ü"/>
            </a:pPr>
            <a:r>
              <a:rPr lang="en-US" altLang="zh-CN" sz="1050" dirty="0"/>
              <a:t>Robotaxi</a:t>
            </a:r>
            <a:r>
              <a:rPr lang="zh-CN" altLang="en-US" sz="1050" dirty="0"/>
              <a:t>的后排屏支持投屏及使用车内音响，提供更沉浸服务，用户可以打游戏投屏，看片投屏</a:t>
            </a:r>
          </a:p>
        </p:txBody>
      </p:sp>
      <p:sp>
        <p:nvSpPr>
          <p:cNvPr id="9" name="文本框 8">
            <a:extLst>
              <a:ext uri="{FF2B5EF4-FFF2-40B4-BE49-F238E27FC236}">
                <a16:creationId xmlns:a16="http://schemas.microsoft.com/office/drawing/2014/main" id="{FF4B62B1-3C47-CF6B-E046-5360B9054975}"/>
              </a:ext>
            </a:extLst>
          </p:cNvPr>
          <p:cNvSpPr txBox="1"/>
          <p:nvPr/>
        </p:nvSpPr>
        <p:spPr>
          <a:xfrm>
            <a:off x="7351623" y="5324817"/>
            <a:ext cx="4510586" cy="730969"/>
          </a:xfrm>
          <a:prstGeom prst="rect">
            <a:avLst/>
          </a:prstGeom>
          <a:noFill/>
        </p:spPr>
        <p:txBody>
          <a:bodyPr wrap="square" rtlCol="0">
            <a:spAutoFit/>
          </a:bodyPr>
          <a:lstStyle/>
          <a:p>
            <a:pPr marL="285750" indent="-285750">
              <a:spcBef>
                <a:spcPts val="600"/>
              </a:spcBef>
              <a:buFont typeface="Wingdings" panose="05000000000000000000" pitchFamily="2" charset="2"/>
              <a:buChar char="ü"/>
            </a:pPr>
            <a:r>
              <a:rPr lang="en-US" altLang="zh-CN" sz="1050" dirty="0"/>
              <a:t>Robotaxi</a:t>
            </a:r>
            <a:r>
              <a:rPr lang="zh-CN" altLang="en-US" sz="1050" dirty="0"/>
              <a:t>成为真正的放松及娱乐的移动空间，让出行不在枯燥</a:t>
            </a:r>
            <a:endParaRPr lang="en-US" altLang="zh-CN" sz="1050" dirty="0"/>
          </a:p>
          <a:p>
            <a:pPr marL="285750" indent="-285750">
              <a:spcBef>
                <a:spcPts val="600"/>
              </a:spcBef>
              <a:buFont typeface="Wingdings" panose="05000000000000000000" pitchFamily="2" charset="2"/>
              <a:buChar char="ü"/>
            </a:pPr>
            <a:r>
              <a:rPr lang="en-US" altLang="zh-CN" sz="1050" dirty="0"/>
              <a:t>Robotaxi</a:t>
            </a:r>
            <a:r>
              <a:rPr lang="zh-CN" altLang="en-US" sz="1050" dirty="0"/>
              <a:t>分别</a:t>
            </a:r>
            <a:r>
              <a:rPr lang="en-US" altLang="zh-CN" sz="1050" dirty="0"/>
              <a:t>K</a:t>
            </a:r>
            <a:r>
              <a:rPr lang="zh-CN" altLang="en-US" sz="1050" dirty="0"/>
              <a:t>歌版，观影版，游戏版等车型，提供额外专属体验</a:t>
            </a:r>
            <a:endParaRPr lang="en-US" altLang="zh-CN" sz="1050" dirty="0"/>
          </a:p>
          <a:p>
            <a:pPr marL="285750" indent="-285750">
              <a:spcBef>
                <a:spcPts val="600"/>
              </a:spcBef>
              <a:buFont typeface="Wingdings" panose="05000000000000000000" pitchFamily="2" charset="2"/>
              <a:buChar char="ü"/>
            </a:pPr>
            <a:r>
              <a:rPr lang="zh-CN" altLang="en-US" sz="1050" dirty="0"/>
              <a:t>不同爱好的乘客，匹配不同娱乐属性的</a:t>
            </a:r>
            <a:r>
              <a:rPr lang="en-US" altLang="zh-CN" sz="1050" dirty="0"/>
              <a:t>Robotaxi</a:t>
            </a:r>
            <a:endParaRPr lang="zh-CN" altLang="en-US" sz="1050" dirty="0"/>
          </a:p>
        </p:txBody>
      </p:sp>
    </p:spTree>
    <p:extLst>
      <p:ext uri="{BB962C8B-B14F-4D97-AF65-F5344CB8AC3E}">
        <p14:creationId xmlns:p14="http://schemas.microsoft.com/office/powerpoint/2010/main" val="374963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E8280-85A2-AA18-4B33-A591E264734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165C0B1-5A51-A833-72F7-D66BF4984A6D}"/>
              </a:ext>
            </a:extLst>
          </p:cNvPr>
          <p:cNvSpPr>
            <a:spLocks noGrp="1"/>
          </p:cNvSpPr>
          <p:nvPr>
            <p:ph type="title" idx="4294967295"/>
          </p:nvPr>
        </p:nvSpPr>
        <p:spPr>
          <a:xfrm>
            <a:off x="669924" y="433637"/>
            <a:ext cx="10440000" cy="595063"/>
          </a:xfrm>
        </p:spPr>
        <p:txBody>
          <a:bodyPr/>
          <a:lstStyle/>
          <a:p>
            <a:r>
              <a:rPr lang="zh-CN" altLang="en-US" dirty="0"/>
              <a:t>行驶阶段</a:t>
            </a:r>
            <a:r>
              <a:rPr lang="en-US" altLang="zh-CN" dirty="0"/>
              <a:t>——</a:t>
            </a:r>
            <a:r>
              <a:rPr lang="zh-CN" altLang="en-US" dirty="0"/>
              <a:t>临时停车需求</a:t>
            </a:r>
          </a:p>
        </p:txBody>
      </p:sp>
      <p:sp>
        <p:nvSpPr>
          <p:cNvPr id="16" name="文本占位符 4">
            <a:extLst>
              <a:ext uri="{FF2B5EF4-FFF2-40B4-BE49-F238E27FC236}">
                <a16:creationId xmlns:a16="http://schemas.microsoft.com/office/drawing/2014/main" id="{1794FF22-E543-083B-41CC-A9B4271D1108}"/>
              </a:ext>
            </a:extLst>
          </p:cNvPr>
          <p:cNvSpPr txBox="1"/>
          <p:nvPr/>
        </p:nvSpPr>
        <p:spPr>
          <a:xfrm>
            <a:off x="5183625" y="1395662"/>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a:extLst>
              <a:ext uri="{FF2B5EF4-FFF2-40B4-BE49-F238E27FC236}">
                <a16:creationId xmlns:a16="http://schemas.microsoft.com/office/drawing/2014/main" id="{9A8095F6-C19F-53E3-8A2A-758F64F2AB54}"/>
              </a:ext>
            </a:extLst>
          </p:cNvPr>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a:extLst>
              <a:ext uri="{FF2B5EF4-FFF2-40B4-BE49-F238E27FC236}">
                <a16:creationId xmlns:a16="http://schemas.microsoft.com/office/drawing/2014/main" id="{E205E3D5-28BE-6790-18E9-AFBE7D3A6F64}"/>
              </a:ext>
            </a:extLst>
          </p:cNvPr>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a:extLst>
              <a:ext uri="{FF2B5EF4-FFF2-40B4-BE49-F238E27FC236}">
                <a16:creationId xmlns:a16="http://schemas.microsoft.com/office/drawing/2014/main" id="{BE8FCAF9-4A21-09DD-C181-B38F2177B160}"/>
              </a:ext>
            </a:extLst>
          </p:cNvPr>
          <p:cNvSpPr txBox="1"/>
          <p:nvPr/>
        </p:nvSpPr>
        <p:spPr>
          <a:xfrm>
            <a:off x="97877" y="2794788"/>
            <a:ext cx="366036" cy="1600438"/>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临时停车需求</a:t>
            </a:r>
          </a:p>
        </p:txBody>
      </p:sp>
      <p:sp>
        <p:nvSpPr>
          <p:cNvPr id="10" name="文本框 9">
            <a:extLst>
              <a:ext uri="{FF2B5EF4-FFF2-40B4-BE49-F238E27FC236}">
                <a16:creationId xmlns:a16="http://schemas.microsoft.com/office/drawing/2014/main" id="{0F0941CC-33B0-7EFF-246D-C2DC654AEB64}"/>
              </a:ext>
            </a:extLst>
          </p:cNvPr>
          <p:cNvSpPr txBox="1"/>
          <p:nvPr/>
        </p:nvSpPr>
        <p:spPr>
          <a:xfrm>
            <a:off x="424655" y="2348986"/>
            <a:ext cx="1525188" cy="4124206"/>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服务相关停靠，如身体不适</a:t>
            </a: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购买停靠</a:t>
            </a: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a:extLst>
              <a:ext uri="{FF2B5EF4-FFF2-40B4-BE49-F238E27FC236}">
                <a16:creationId xmlns:a16="http://schemas.microsoft.com/office/drawing/2014/main" id="{E9D94FE5-0860-8750-7778-3CB98189129C}"/>
              </a:ext>
            </a:extLst>
          </p:cNvPr>
          <p:cNvSpPr txBox="1"/>
          <p:nvPr/>
        </p:nvSpPr>
        <p:spPr>
          <a:xfrm>
            <a:off x="2143529" y="1384066"/>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a:extLst>
              <a:ext uri="{FF2B5EF4-FFF2-40B4-BE49-F238E27FC236}">
                <a16:creationId xmlns:a16="http://schemas.microsoft.com/office/drawing/2014/main" id="{1F581F79-AD84-AA95-EA25-D1356C09C5E7}"/>
              </a:ext>
            </a:extLst>
          </p:cNvPr>
          <p:cNvSpPr txBox="1"/>
          <p:nvPr/>
        </p:nvSpPr>
        <p:spPr>
          <a:xfrm>
            <a:off x="9262073" y="1398077"/>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a:extLst>
              <a:ext uri="{FF2B5EF4-FFF2-40B4-BE49-F238E27FC236}">
                <a16:creationId xmlns:a16="http://schemas.microsoft.com/office/drawing/2014/main" id="{B1C94534-F0FB-853E-42D3-D18F003D69C2}"/>
              </a:ext>
            </a:extLst>
          </p:cNvPr>
          <p:cNvCxnSpPr/>
          <p:nvPr/>
        </p:nvCxnSpPr>
        <p:spPr>
          <a:xfrm>
            <a:off x="3410903" y="1913552"/>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99440944-195A-5926-C103-BD0774585473}"/>
              </a:ext>
            </a:extLst>
          </p:cNvPr>
          <p:cNvCxnSpPr/>
          <p:nvPr/>
        </p:nvCxnSpPr>
        <p:spPr>
          <a:xfrm>
            <a:off x="8175070" y="1782747"/>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a:extLst>
              <a:ext uri="{FF2B5EF4-FFF2-40B4-BE49-F238E27FC236}">
                <a16:creationId xmlns:a16="http://schemas.microsoft.com/office/drawing/2014/main" id="{4F18677B-F48E-9BB7-0A86-FB4A9E8569A5}"/>
              </a:ext>
            </a:extLst>
          </p:cNvPr>
          <p:cNvSpPr txBox="1"/>
          <p:nvPr/>
        </p:nvSpPr>
        <p:spPr>
          <a:xfrm>
            <a:off x="483782" y="1390273"/>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高频场景</a:t>
            </a:r>
          </a:p>
        </p:txBody>
      </p:sp>
      <p:cxnSp>
        <p:nvCxnSpPr>
          <p:cNvPr id="34" name="直接连接符 33">
            <a:extLst>
              <a:ext uri="{FF2B5EF4-FFF2-40B4-BE49-F238E27FC236}">
                <a16:creationId xmlns:a16="http://schemas.microsoft.com/office/drawing/2014/main" id="{99B5CAE2-8E32-CECC-A2F7-58BFEC801867}"/>
              </a:ext>
            </a:extLst>
          </p:cNvPr>
          <p:cNvCxnSpPr/>
          <p:nvPr/>
        </p:nvCxnSpPr>
        <p:spPr>
          <a:xfrm>
            <a:off x="1769378" y="1810163"/>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a:extLst>
              <a:ext uri="{FF2B5EF4-FFF2-40B4-BE49-F238E27FC236}">
                <a16:creationId xmlns:a16="http://schemas.microsoft.com/office/drawing/2014/main" id="{B6144F2F-B2D5-B49C-D4A6-D2431194F124}"/>
              </a:ext>
            </a:extLst>
          </p:cNvPr>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6" name="文本框 5">
            <a:extLst>
              <a:ext uri="{FF2B5EF4-FFF2-40B4-BE49-F238E27FC236}">
                <a16:creationId xmlns:a16="http://schemas.microsoft.com/office/drawing/2014/main" id="{4059D907-9116-D5A0-56AB-688F2E1E6A63}"/>
              </a:ext>
            </a:extLst>
          </p:cNvPr>
          <p:cNvSpPr txBox="1"/>
          <p:nvPr/>
        </p:nvSpPr>
        <p:spPr>
          <a:xfrm>
            <a:off x="4722601" y="1938770"/>
            <a:ext cx="922047"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临时接人</a:t>
            </a:r>
          </a:p>
        </p:txBody>
      </p:sp>
      <p:sp>
        <p:nvSpPr>
          <p:cNvPr id="15" name="文本框 14">
            <a:extLst>
              <a:ext uri="{FF2B5EF4-FFF2-40B4-BE49-F238E27FC236}">
                <a16:creationId xmlns:a16="http://schemas.microsoft.com/office/drawing/2014/main" id="{A0A1F245-68A5-BF66-B545-1D121E317533}"/>
              </a:ext>
            </a:extLst>
          </p:cNvPr>
          <p:cNvSpPr txBox="1"/>
          <p:nvPr/>
        </p:nvSpPr>
        <p:spPr>
          <a:xfrm>
            <a:off x="3368834" y="1944369"/>
            <a:ext cx="922047"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身体不适</a:t>
            </a:r>
          </a:p>
        </p:txBody>
      </p:sp>
      <p:sp>
        <p:nvSpPr>
          <p:cNvPr id="32" name="文本框 31">
            <a:extLst>
              <a:ext uri="{FF2B5EF4-FFF2-40B4-BE49-F238E27FC236}">
                <a16:creationId xmlns:a16="http://schemas.microsoft.com/office/drawing/2014/main" id="{2DBB6F63-777A-C651-7AB9-60E60E61F469}"/>
              </a:ext>
            </a:extLst>
          </p:cNvPr>
          <p:cNvSpPr txBox="1"/>
          <p:nvPr/>
        </p:nvSpPr>
        <p:spPr>
          <a:xfrm>
            <a:off x="8642623" y="3263283"/>
            <a:ext cx="3416635" cy="2339102"/>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50" dirty="0"/>
              <a:t>根据乘客状态，如醉酒晕车，不适，可语音指令找到路边停车，智驾判断哪里可安全停车，预计需要多久告知乘客</a:t>
            </a:r>
            <a:endParaRPr lang="en-US" altLang="zh-CN" sz="1050" dirty="0"/>
          </a:p>
          <a:p>
            <a:pPr marL="171450" indent="-171450">
              <a:spcBef>
                <a:spcPts val="600"/>
              </a:spcBef>
              <a:buFont typeface="Wingdings" panose="05000000000000000000" pitchFamily="2" charset="2"/>
              <a:buChar char="ü"/>
            </a:pPr>
            <a:r>
              <a:rPr lang="zh-CN" altLang="en-US" sz="1050" dirty="0"/>
              <a:t>智能监测判断乘客身体状态，乘客身体需要急救，系统立即拨打</a:t>
            </a:r>
            <a:r>
              <a:rPr lang="en-US" altLang="zh-CN" sz="1050" dirty="0"/>
              <a:t>120</a:t>
            </a:r>
            <a:r>
              <a:rPr lang="zh-CN" altLang="en-US" sz="1050" dirty="0"/>
              <a:t>，并靠边停车，并能跟</a:t>
            </a:r>
            <a:r>
              <a:rPr lang="en-US" altLang="zh-CN" sz="1050" dirty="0"/>
              <a:t>120</a:t>
            </a:r>
            <a:r>
              <a:rPr lang="zh-CN" altLang="en-US" sz="1050" dirty="0"/>
              <a:t>对话，告知位置与车牌号等信息</a:t>
            </a:r>
            <a:endParaRPr lang="en-US" altLang="zh-CN" sz="1050" dirty="0"/>
          </a:p>
          <a:p>
            <a:pPr marL="171450" indent="-171450">
              <a:spcBef>
                <a:spcPts val="600"/>
              </a:spcBef>
              <a:buFont typeface="Wingdings" panose="05000000000000000000" pitchFamily="2" charset="2"/>
              <a:buChar char="ü"/>
            </a:pPr>
            <a:r>
              <a:rPr lang="zh-CN" altLang="en-US" sz="1050" dirty="0"/>
              <a:t>对于沿途买东西场景，可以直接一句话语音就能支持，如沿途最方便的地方我要去买个烟，推荐最短路径方便下车的最佳</a:t>
            </a:r>
            <a:r>
              <a:rPr lang="en-US" altLang="zh-CN" sz="1050" dirty="0"/>
              <a:t>POI</a:t>
            </a:r>
            <a:r>
              <a:rPr lang="zh-CN" altLang="en-US" sz="1050" dirty="0"/>
              <a:t>点，确认同意后，会自动增加途经点，下车锁车支持临停模式</a:t>
            </a:r>
            <a:endParaRPr lang="en-US" altLang="zh-CN" sz="1050" dirty="0"/>
          </a:p>
          <a:p>
            <a:pPr marL="171450" indent="-171450">
              <a:spcBef>
                <a:spcPts val="600"/>
              </a:spcBef>
              <a:buFont typeface="Wingdings" panose="05000000000000000000" pitchFamily="2" charset="2"/>
              <a:buChar char="ü"/>
            </a:pPr>
            <a:endParaRPr lang="en-US" altLang="zh-CN" sz="1050" dirty="0"/>
          </a:p>
          <a:p>
            <a:pPr marL="171450" indent="-171450">
              <a:spcBef>
                <a:spcPts val="600"/>
              </a:spcBef>
              <a:buFont typeface="Wingdings" panose="05000000000000000000" pitchFamily="2" charset="2"/>
              <a:buChar char="ü"/>
            </a:pPr>
            <a:endParaRPr lang="en-US" altLang="zh-CN" sz="1050" dirty="0"/>
          </a:p>
        </p:txBody>
      </p:sp>
      <p:sp>
        <p:nvSpPr>
          <p:cNvPr id="48" name="文本框 47">
            <a:extLst>
              <a:ext uri="{FF2B5EF4-FFF2-40B4-BE49-F238E27FC236}">
                <a16:creationId xmlns:a16="http://schemas.microsoft.com/office/drawing/2014/main" id="{D5837F2B-1604-4F7D-C72F-894315213847}"/>
              </a:ext>
            </a:extLst>
          </p:cNvPr>
          <p:cNvSpPr txBox="1"/>
          <p:nvPr/>
        </p:nvSpPr>
        <p:spPr>
          <a:xfrm>
            <a:off x="1765556" y="4437690"/>
            <a:ext cx="1685392" cy="1531188"/>
          </a:xfrm>
          <a:prstGeom prst="rect">
            <a:avLst/>
          </a:prstGeom>
          <a:noFill/>
        </p:spPr>
        <p:txBody>
          <a:bodyPr wrap="square" rtlCol="0">
            <a:spAutoFit/>
          </a:bodyPr>
          <a:lstStyle/>
          <a:p>
            <a:pPr marL="228600" indent="-228600">
              <a:spcBef>
                <a:spcPts val="600"/>
              </a:spcBef>
              <a:buFont typeface="Arial" panose="020B0604020202020204" pitchFamily="34" charset="0"/>
              <a:buChar char="•"/>
            </a:pPr>
            <a:r>
              <a:rPr lang="zh-CN" altLang="en-US" sz="1050" dirty="0"/>
              <a:t>路边便利店买烟，买口罩</a:t>
            </a:r>
            <a:endParaRPr lang="en-US" altLang="zh-CN" sz="1050" dirty="0"/>
          </a:p>
          <a:p>
            <a:pPr marL="228600" indent="-228600">
              <a:spcBef>
                <a:spcPts val="600"/>
              </a:spcBef>
              <a:buFont typeface="Arial" panose="020B0604020202020204" pitchFamily="34" charset="0"/>
              <a:buChar char="•"/>
            </a:pPr>
            <a:r>
              <a:rPr lang="zh-CN" altLang="en-US" sz="1050" dirty="0"/>
              <a:t>购买特产</a:t>
            </a:r>
            <a:endParaRPr lang="en-US" altLang="zh-CN" sz="1050" dirty="0"/>
          </a:p>
          <a:p>
            <a:pPr marL="228600" indent="-228600">
              <a:spcBef>
                <a:spcPts val="600"/>
              </a:spcBef>
              <a:buFont typeface="Arial" panose="020B0604020202020204" pitchFamily="34" charset="0"/>
              <a:buChar char="•"/>
            </a:pPr>
            <a:r>
              <a:rPr lang="zh-CN" altLang="en-US" sz="1050" dirty="0"/>
              <a:t>客户提出特殊购物需求</a:t>
            </a:r>
            <a:endParaRPr lang="en-US" altLang="zh-CN" sz="1050" dirty="0"/>
          </a:p>
          <a:p>
            <a:pPr marL="228600" indent="-228600">
              <a:spcBef>
                <a:spcPts val="600"/>
              </a:spcBef>
              <a:buFont typeface="Arial" panose="020B0604020202020204" pitchFamily="34" charset="0"/>
              <a:buChar char="•"/>
            </a:pPr>
            <a:endParaRPr lang="en-US" altLang="zh-CN" sz="1050" dirty="0"/>
          </a:p>
          <a:p>
            <a:pPr marL="228600" indent="-228600">
              <a:spcBef>
                <a:spcPts val="600"/>
              </a:spcBef>
              <a:buFont typeface="Arial" panose="020B0604020202020204" pitchFamily="34" charset="0"/>
              <a:buChar char="•"/>
            </a:pPr>
            <a:endParaRPr lang="zh-CN" altLang="en-US" sz="1050" dirty="0"/>
          </a:p>
        </p:txBody>
      </p:sp>
      <p:sp>
        <p:nvSpPr>
          <p:cNvPr id="50" name="文本框 49">
            <a:extLst>
              <a:ext uri="{FF2B5EF4-FFF2-40B4-BE49-F238E27FC236}">
                <a16:creationId xmlns:a16="http://schemas.microsoft.com/office/drawing/2014/main" id="{D6440729-7BCD-D4BA-DB0D-652762107567}"/>
              </a:ext>
            </a:extLst>
          </p:cNvPr>
          <p:cNvSpPr txBox="1"/>
          <p:nvPr/>
        </p:nvSpPr>
        <p:spPr>
          <a:xfrm>
            <a:off x="3368834" y="3819291"/>
            <a:ext cx="2614818"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平台目前对临时买东西情形没有规范</a:t>
            </a:r>
          </a:p>
        </p:txBody>
      </p:sp>
      <p:cxnSp>
        <p:nvCxnSpPr>
          <p:cNvPr id="66" name="直接连接符 65">
            <a:extLst>
              <a:ext uri="{FF2B5EF4-FFF2-40B4-BE49-F238E27FC236}">
                <a16:creationId xmlns:a16="http://schemas.microsoft.com/office/drawing/2014/main" id="{7BA861F7-76CB-38D4-B5C1-0F81D9A6BE5A}"/>
              </a:ext>
            </a:extLst>
          </p:cNvPr>
          <p:cNvCxnSpPr>
            <a:cxnSpLocks/>
          </p:cNvCxnSpPr>
          <p:nvPr/>
        </p:nvCxnSpPr>
        <p:spPr>
          <a:xfrm>
            <a:off x="-1792709" y="3617263"/>
            <a:ext cx="9967779"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9B4115CC-786E-8B85-05E8-C077B29D46FF}"/>
              </a:ext>
            </a:extLst>
          </p:cNvPr>
          <p:cNvSpPr txBox="1"/>
          <p:nvPr/>
        </p:nvSpPr>
        <p:spPr>
          <a:xfrm>
            <a:off x="3504043" y="4204544"/>
            <a:ext cx="2419278" cy="79066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050" dirty="0"/>
              <a:t>司机灵活掌握，路边看到就停，或者熟悉路线知道哪里有停</a:t>
            </a:r>
            <a:endParaRPr lang="en-US" altLang="zh-CN" sz="1050" dirty="0"/>
          </a:p>
          <a:p>
            <a:pPr marL="285750" indent="-285750">
              <a:lnSpc>
                <a:spcPct val="150000"/>
              </a:lnSpc>
              <a:buFont typeface="Arial" panose="020B0604020202020204" pitchFamily="34" charset="0"/>
              <a:buChar char="•"/>
            </a:pPr>
            <a:r>
              <a:rPr lang="zh-CN" altLang="en-US" sz="1050" dirty="0"/>
              <a:t>或者司机自己也有需求也会停</a:t>
            </a:r>
            <a:endParaRPr lang="en-US" altLang="zh-CN" sz="1050" dirty="0"/>
          </a:p>
        </p:txBody>
      </p:sp>
      <p:sp>
        <p:nvSpPr>
          <p:cNvPr id="24" name="文本框 23">
            <a:extLst>
              <a:ext uri="{FF2B5EF4-FFF2-40B4-BE49-F238E27FC236}">
                <a16:creationId xmlns:a16="http://schemas.microsoft.com/office/drawing/2014/main" id="{2F337D7B-795C-DD7C-1207-7602AAE3C06E}"/>
              </a:ext>
            </a:extLst>
          </p:cNvPr>
          <p:cNvSpPr txBox="1"/>
          <p:nvPr/>
        </p:nvSpPr>
        <p:spPr>
          <a:xfrm>
            <a:off x="8783369" y="5550045"/>
            <a:ext cx="2890987" cy="730969"/>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en-US" altLang="zh-CN" sz="1050" dirty="0"/>
              <a:t>Robotaxi </a:t>
            </a:r>
            <a:r>
              <a:rPr lang="zh-CN" altLang="en-US" sz="1050" dirty="0"/>
              <a:t>可提供选择性停靠服务</a:t>
            </a:r>
            <a:endParaRPr lang="en-US" altLang="zh-CN" sz="1050" dirty="0"/>
          </a:p>
          <a:p>
            <a:pPr marL="171450" indent="-171450">
              <a:spcBef>
                <a:spcPts val="600"/>
              </a:spcBef>
              <a:buFont typeface="Wingdings" panose="05000000000000000000" pitchFamily="2" charset="2"/>
              <a:buChar char="ü"/>
            </a:pPr>
            <a:r>
              <a:rPr lang="en-US" altLang="zh-CN" sz="1050" dirty="0"/>
              <a:t>Robotaxi </a:t>
            </a:r>
            <a:r>
              <a:rPr lang="zh-CN" altLang="en-US" sz="1050" dirty="0"/>
              <a:t>对于时间较长的临停需求可收费</a:t>
            </a:r>
            <a:endParaRPr lang="en-US" altLang="zh-CN" sz="1050" dirty="0"/>
          </a:p>
          <a:p>
            <a:pPr marL="171450" indent="-171450">
              <a:spcBef>
                <a:spcPts val="600"/>
              </a:spcBef>
              <a:buFont typeface="Wingdings" panose="05000000000000000000" pitchFamily="2" charset="2"/>
              <a:buChar char="ü"/>
            </a:pPr>
            <a:endParaRPr lang="en-US" altLang="zh-CN" sz="1050" dirty="0"/>
          </a:p>
        </p:txBody>
      </p:sp>
      <p:sp>
        <p:nvSpPr>
          <p:cNvPr id="25" name="文本框 24">
            <a:extLst>
              <a:ext uri="{FF2B5EF4-FFF2-40B4-BE49-F238E27FC236}">
                <a16:creationId xmlns:a16="http://schemas.microsoft.com/office/drawing/2014/main" id="{8121A674-4188-19AC-6481-DEE28C62428F}"/>
              </a:ext>
            </a:extLst>
          </p:cNvPr>
          <p:cNvSpPr txBox="1"/>
          <p:nvPr/>
        </p:nvSpPr>
        <p:spPr>
          <a:xfrm>
            <a:off x="1765557" y="2238442"/>
            <a:ext cx="1645346" cy="1223412"/>
          </a:xfrm>
          <a:prstGeom prst="rect">
            <a:avLst/>
          </a:prstGeom>
          <a:noFill/>
        </p:spPr>
        <p:txBody>
          <a:bodyPr wrap="square" rtlCol="0">
            <a:spAutoFit/>
          </a:bodyPr>
          <a:lstStyle/>
          <a:p>
            <a:pPr marL="171450" indent="-171450">
              <a:buFont typeface="Arial" panose="020B0604020202020204" pitchFamily="34" charset="0"/>
              <a:buChar char="•"/>
            </a:pPr>
            <a:r>
              <a:rPr lang="zh-CN" altLang="en-US" sz="1050" dirty="0"/>
              <a:t>司机希望乘客在车外呕吐</a:t>
            </a:r>
            <a:endParaRPr lang="en-US" altLang="zh-CN" sz="1050" dirty="0"/>
          </a:p>
          <a:p>
            <a:pPr marL="171450" indent="-171450">
              <a:buFont typeface="Arial" panose="020B0604020202020204" pitchFamily="34" charset="0"/>
              <a:buChar char="•"/>
            </a:pPr>
            <a:r>
              <a:rPr lang="zh-CN" altLang="en-US" sz="1050" dirty="0"/>
              <a:t>（即使车内有呕吐带）</a:t>
            </a:r>
            <a:endParaRPr lang="en-US" altLang="zh-CN" sz="1050" dirty="0"/>
          </a:p>
          <a:p>
            <a:pPr marL="171450" indent="-171450">
              <a:buFont typeface="Arial" panose="020B0604020202020204" pitchFamily="34" charset="0"/>
              <a:buChar char="•"/>
            </a:pPr>
            <a:endParaRPr lang="en-US" altLang="zh-CN" sz="1050" dirty="0"/>
          </a:p>
          <a:p>
            <a:pPr marL="171450" indent="-171450">
              <a:buFont typeface="Arial" panose="020B0604020202020204" pitchFamily="34" charset="0"/>
              <a:buChar char="•"/>
            </a:pPr>
            <a:r>
              <a:rPr lang="zh-CN" altLang="en-US" sz="1050" dirty="0"/>
              <a:t>临时接人</a:t>
            </a:r>
            <a:endParaRPr lang="en-US" altLang="zh-CN" sz="1050" dirty="0"/>
          </a:p>
          <a:p>
            <a:pPr marL="171450" indent="-171450">
              <a:buFont typeface="Arial" panose="020B0604020202020204" pitchFamily="34" charset="0"/>
              <a:buChar char="•"/>
            </a:pPr>
            <a:endParaRPr lang="en-US" altLang="zh-CN" sz="1050" dirty="0"/>
          </a:p>
          <a:p>
            <a:pPr marL="171450" indent="-171450">
              <a:buFont typeface="Arial" panose="020B0604020202020204" pitchFamily="34" charset="0"/>
              <a:buChar char="•"/>
            </a:pPr>
            <a:r>
              <a:rPr lang="zh-CN" altLang="en-US" sz="1050" dirty="0"/>
              <a:t>急救场景</a:t>
            </a:r>
          </a:p>
        </p:txBody>
      </p:sp>
      <p:sp>
        <p:nvSpPr>
          <p:cNvPr id="27" name="文本框 26">
            <a:extLst>
              <a:ext uri="{FF2B5EF4-FFF2-40B4-BE49-F238E27FC236}">
                <a16:creationId xmlns:a16="http://schemas.microsoft.com/office/drawing/2014/main" id="{12C5E3E5-E088-3C4B-AAC8-4D41ACF987CA}"/>
              </a:ext>
            </a:extLst>
          </p:cNvPr>
          <p:cNvSpPr txBox="1"/>
          <p:nvPr/>
        </p:nvSpPr>
        <p:spPr>
          <a:xfrm>
            <a:off x="5921507" y="4167394"/>
            <a:ext cx="2419279" cy="1769715"/>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zh-CN" altLang="en-US" sz="1050" dirty="0"/>
              <a:t>司机也不希望太长时间，影响自己下一单</a:t>
            </a:r>
            <a:endParaRPr lang="en-US" altLang="zh-CN" sz="1050" dirty="0"/>
          </a:p>
          <a:p>
            <a:pPr marL="285750" indent="-285750">
              <a:spcBef>
                <a:spcPts val="600"/>
              </a:spcBef>
              <a:buFont typeface="Arial" panose="020B0604020202020204" pitchFamily="34" charset="0"/>
              <a:buChar char="•"/>
            </a:pPr>
            <a:r>
              <a:rPr lang="zh-CN" altLang="en-US" sz="1050" dirty="0"/>
              <a:t>但大多数司机都是希望拒绝的</a:t>
            </a:r>
            <a:endParaRPr lang="en-US" altLang="zh-CN" sz="1050" dirty="0"/>
          </a:p>
          <a:p>
            <a:pPr marL="285750" indent="-285750">
              <a:spcBef>
                <a:spcPts val="600"/>
              </a:spcBef>
              <a:buFont typeface="Arial" panose="020B0604020202020204" pitchFamily="34" charset="0"/>
              <a:buChar char="•"/>
            </a:pPr>
            <a:r>
              <a:rPr lang="zh-CN" altLang="en-US" sz="1050" dirty="0"/>
              <a:t>停靠按一般等待计时计价</a:t>
            </a:r>
          </a:p>
          <a:p>
            <a:pPr marL="285750" indent="-285750">
              <a:spcBef>
                <a:spcPts val="600"/>
              </a:spcBef>
              <a:buFont typeface="Arial" panose="020B0604020202020204" pitchFamily="34" charset="0"/>
              <a:buChar char="•"/>
            </a:pPr>
            <a:endParaRPr lang="zh-CN" altLang="en-US" sz="1050" dirty="0"/>
          </a:p>
          <a:p>
            <a:pPr marL="285750" indent="-285750">
              <a:spcBef>
                <a:spcPts val="600"/>
              </a:spcBef>
              <a:buFont typeface="Arial" panose="020B0604020202020204" pitchFamily="34" charset="0"/>
              <a:buChar char="•"/>
            </a:pPr>
            <a:endParaRPr lang="en-US" altLang="zh-CN" sz="1050" dirty="0"/>
          </a:p>
          <a:p>
            <a:pPr marL="285750" indent="-285750">
              <a:spcBef>
                <a:spcPts val="600"/>
              </a:spcBef>
              <a:buFont typeface="Arial" panose="020B0604020202020204" pitchFamily="34" charset="0"/>
              <a:buChar char="•"/>
            </a:pPr>
            <a:endParaRPr lang="en-US" altLang="zh-CN" sz="1050" dirty="0"/>
          </a:p>
          <a:p>
            <a:pPr marL="285750" indent="-285750">
              <a:buFont typeface="Arial" panose="020B0604020202020204" pitchFamily="34" charset="0"/>
              <a:buChar char="•"/>
            </a:pPr>
            <a:endParaRPr lang="zh-CN" altLang="en-US" sz="1050" dirty="0"/>
          </a:p>
        </p:txBody>
      </p:sp>
      <p:sp>
        <p:nvSpPr>
          <p:cNvPr id="33" name="文本框 32">
            <a:extLst>
              <a:ext uri="{FF2B5EF4-FFF2-40B4-BE49-F238E27FC236}">
                <a16:creationId xmlns:a16="http://schemas.microsoft.com/office/drawing/2014/main" id="{2A7A5074-0372-1DC2-7F36-1E096E9A7F18}"/>
              </a:ext>
            </a:extLst>
          </p:cNvPr>
          <p:cNvSpPr txBox="1"/>
          <p:nvPr/>
        </p:nvSpPr>
        <p:spPr>
          <a:xfrm>
            <a:off x="3436293" y="2232649"/>
            <a:ext cx="1477622" cy="790666"/>
          </a:xfrm>
          <a:prstGeom prst="rect">
            <a:avLst/>
          </a:prstGeom>
          <a:noFill/>
        </p:spPr>
        <p:txBody>
          <a:bodyPr wrap="square">
            <a:spAutoFit/>
          </a:bodyPr>
          <a:lstStyle/>
          <a:p>
            <a:pPr marL="171450" indent="-171450">
              <a:lnSpc>
                <a:spcPct val="150000"/>
              </a:lnSpc>
              <a:buFont typeface="Arial" panose="020B0604020202020204" pitchFamily="34" charset="0"/>
              <a:buChar char="•"/>
            </a:pPr>
            <a:r>
              <a:rPr lang="zh-CN" altLang="en-US" sz="1050" dirty="0"/>
              <a:t>醉酒呕吐</a:t>
            </a:r>
            <a:endParaRPr lang="en-US" altLang="zh-CN" sz="1050" dirty="0"/>
          </a:p>
          <a:p>
            <a:pPr marL="171450" indent="-171450">
              <a:lnSpc>
                <a:spcPct val="150000"/>
              </a:lnSpc>
              <a:buFont typeface="Arial" panose="020B0604020202020204" pitchFamily="34" charset="0"/>
              <a:buChar char="•"/>
            </a:pPr>
            <a:r>
              <a:rPr lang="zh-CN" altLang="en-US" sz="1050" dirty="0"/>
              <a:t>晕车呕吐</a:t>
            </a:r>
            <a:endParaRPr lang="en-US" altLang="zh-CN" sz="1050" dirty="0"/>
          </a:p>
          <a:p>
            <a:pPr marL="171450" indent="-171450">
              <a:lnSpc>
                <a:spcPct val="150000"/>
              </a:lnSpc>
              <a:buFont typeface="Arial" panose="020B0604020202020204" pitchFamily="34" charset="0"/>
              <a:buChar char="•"/>
            </a:pPr>
            <a:r>
              <a:rPr lang="zh-CN" altLang="en-US" sz="1050" dirty="0"/>
              <a:t>身体不适车外休息</a:t>
            </a:r>
            <a:endParaRPr lang="en-US" altLang="zh-CN" sz="1050" dirty="0"/>
          </a:p>
        </p:txBody>
      </p:sp>
      <p:sp>
        <p:nvSpPr>
          <p:cNvPr id="35" name="文本框 34">
            <a:extLst>
              <a:ext uri="{FF2B5EF4-FFF2-40B4-BE49-F238E27FC236}">
                <a16:creationId xmlns:a16="http://schemas.microsoft.com/office/drawing/2014/main" id="{EF2AEDB2-0451-888E-A0C6-C3A093B470E1}"/>
              </a:ext>
            </a:extLst>
          </p:cNvPr>
          <p:cNvSpPr txBox="1"/>
          <p:nvPr/>
        </p:nvSpPr>
        <p:spPr>
          <a:xfrm>
            <a:off x="5889924" y="3811942"/>
            <a:ext cx="2191626"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没有额外收费，司机是拒绝的</a:t>
            </a:r>
          </a:p>
        </p:txBody>
      </p:sp>
      <p:sp>
        <p:nvSpPr>
          <p:cNvPr id="37" name="文本框 36">
            <a:extLst>
              <a:ext uri="{FF2B5EF4-FFF2-40B4-BE49-F238E27FC236}">
                <a16:creationId xmlns:a16="http://schemas.microsoft.com/office/drawing/2014/main" id="{7BCAC1AC-9E7C-4B7C-A105-649C60F06821}"/>
              </a:ext>
            </a:extLst>
          </p:cNvPr>
          <p:cNvSpPr txBox="1"/>
          <p:nvPr/>
        </p:nvSpPr>
        <p:spPr>
          <a:xfrm>
            <a:off x="4914943" y="2286509"/>
            <a:ext cx="1477622" cy="316049"/>
          </a:xfrm>
          <a:prstGeom prst="rect">
            <a:avLst/>
          </a:prstGeom>
          <a:noFill/>
        </p:spPr>
        <p:txBody>
          <a:bodyPr wrap="square">
            <a:spAutoFit/>
          </a:bodyPr>
          <a:lstStyle/>
          <a:p>
            <a:pPr marL="171450" indent="-171450">
              <a:lnSpc>
                <a:spcPct val="150000"/>
              </a:lnSpc>
              <a:buFont typeface="Arial" panose="020B0604020202020204" pitchFamily="34" charset="0"/>
              <a:buChar char="•"/>
            </a:pPr>
            <a:r>
              <a:rPr lang="zh-CN" altLang="en-US" sz="1050" dirty="0"/>
              <a:t>上车人在路测等待</a:t>
            </a:r>
            <a:endParaRPr lang="en-US" altLang="zh-CN" sz="1050" dirty="0"/>
          </a:p>
        </p:txBody>
      </p:sp>
      <p:sp>
        <p:nvSpPr>
          <p:cNvPr id="52" name="文本框 51">
            <a:extLst>
              <a:ext uri="{FF2B5EF4-FFF2-40B4-BE49-F238E27FC236}">
                <a16:creationId xmlns:a16="http://schemas.microsoft.com/office/drawing/2014/main" id="{BFA404BE-F2B7-83B8-4202-6F8ACED71ABE}"/>
              </a:ext>
            </a:extLst>
          </p:cNvPr>
          <p:cNvSpPr txBox="1"/>
          <p:nvPr/>
        </p:nvSpPr>
        <p:spPr>
          <a:xfrm>
            <a:off x="6211940" y="1938770"/>
            <a:ext cx="922047"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急救场景</a:t>
            </a:r>
          </a:p>
        </p:txBody>
      </p:sp>
      <p:sp>
        <p:nvSpPr>
          <p:cNvPr id="54" name="文本框 53">
            <a:extLst>
              <a:ext uri="{FF2B5EF4-FFF2-40B4-BE49-F238E27FC236}">
                <a16:creationId xmlns:a16="http://schemas.microsoft.com/office/drawing/2014/main" id="{7D502E45-F683-1C9B-F132-1989FE198392}"/>
              </a:ext>
            </a:extLst>
          </p:cNvPr>
          <p:cNvSpPr txBox="1"/>
          <p:nvPr/>
        </p:nvSpPr>
        <p:spPr>
          <a:xfrm>
            <a:off x="6373358" y="2232649"/>
            <a:ext cx="1477622" cy="569964"/>
          </a:xfrm>
          <a:prstGeom prst="rect">
            <a:avLst/>
          </a:prstGeom>
          <a:noFill/>
        </p:spPr>
        <p:txBody>
          <a:bodyPr wrap="square">
            <a:spAutoFit/>
          </a:bodyPr>
          <a:lstStyle/>
          <a:p>
            <a:pPr marL="171450" indent="-171450">
              <a:lnSpc>
                <a:spcPct val="150000"/>
              </a:lnSpc>
              <a:buFont typeface="Arial" panose="020B0604020202020204" pitchFamily="34" charset="0"/>
              <a:buChar char="•"/>
            </a:pPr>
            <a:r>
              <a:rPr lang="zh-CN" altLang="en-US" sz="1050" dirty="0"/>
              <a:t>司机掌握急救知识，拨打</a:t>
            </a:r>
            <a:r>
              <a:rPr lang="en-US" altLang="zh-CN" sz="1050" dirty="0"/>
              <a:t>120</a:t>
            </a:r>
          </a:p>
        </p:txBody>
      </p:sp>
      <p:sp>
        <p:nvSpPr>
          <p:cNvPr id="63" name="文本框 62">
            <a:extLst>
              <a:ext uri="{FF2B5EF4-FFF2-40B4-BE49-F238E27FC236}">
                <a16:creationId xmlns:a16="http://schemas.microsoft.com/office/drawing/2014/main" id="{B9C96554-C9A8-0BE1-AB53-BF213C52DA80}"/>
              </a:ext>
            </a:extLst>
          </p:cNvPr>
          <p:cNvSpPr txBox="1"/>
          <p:nvPr/>
        </p:nvSpPr>
        <p:spPr>
          <a:xfrm>
            <a:off x="4845092" y="2721908"/>
            <a:ext cx="1204176"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050" b="1" dirty="0"/>
              <a:t>安全地点临停</a:t>
            </a:r>
          </a:p>
        </p:txBody>
      </p:sp>
      <p:sp>
        <p:nvSpPr>
          <p:cNvPr id="3" name="文本框 2">
            <a:extLst>
              <a:ext uri="{FF2B5EF4-FFF2-40B4-BE49-F238E27FC236}">
                <a16:creationId xmlns:a16="http://schemas.microsoft.com/office/drawing/2014/main" id="{8866AC4F-DE91-34B7-E082-563D98A70E0D}"/>
              </a:ext>
            </a:extLst>
          </p:cNvPr>
          <p:cNvSpPr txBox="1"/>
          <p:nvPr/>
        </p:nvSpPr>
        <p:spPr>
          <a:xfrm>
            <a:off x="8246513" y="2941846"/>
            <a:ext cx="723275" cy="253916"/>
          </a:xfrm>
          <a:prstGeom prst="rect">
            <a:avLst/>
          </a:prstGeom>
          <a:noFill/>
        </p:spPr>
        <p:txBody>
          <a:bodyPr wrap="none" rtlCol="0">
            <a:spAutoFit/>
          </a:bodyPr>
          <a:lstStyle/>
          <a:p>
            <a:r>
              <a:rPr lang="zh-CN" altLang="en-US" sz="1050" b="1" dirty="0"/>
              <a:t>机会点：</a:t>
            </a:r>
          </a:p>
        </p:txBody>
      </p:sp>
      <p:sp>
        <p:nvSpPr>
          <p:cNvPr id="4" name="文本框 3">
            <a:extLst>
              <a:ext uri="{FF2B5EF4-FFF2-40B4-BE49-F238E27FC236}">
                <a16:creationId xmlns:a16="http://schemas.microsoft.com/office/drawing/2014/main" id="{AE24CED5-BB14-3C90-A65D-F9F3D75F16DA}"/>
              </a:ext>
            </a:extLst>
          </p:cNvPr>
          <p:cNvSpPr txBox="1"/>
          <p:nvPr/>
        </p:nvSpPr>
        <p:spPr>
          <a:xfrm>
            <a:off x="8246513" y="5257449"/>
            <a:ext cx="588623" cy="253916"/>
          </a:xfrm>
          <a:prstGeom prst="rect">
            <a:avLst/>
          </a:prstGeom>
          <a:noFill/>
        </p:spPr>
        <p:txBody>
          <a:bodyPr wrap="none" rtlCol="0">
            <a:spAutoFit/>
          </a:bodyPr>
          <a:lstStyle/>
          <a:p>
            <a:r>
              <a:rPr lang="zh-CN" altLang="en-US" sz="1050" b="1" dirty="0"/>
              <a:t>展望：</a:t>
            </a:r>
          </a:p>
        </p:txBody>
      </p:sp>
      <p:sp>
        <p:nvSpPr>
          <p:cNvPr id="5" name="文本框 4">
            <a:extLst>
              <a:ext uri="{FF2B5EF4-FFF2-40B4-BE49-F238E27FC236}">
                <a16:creationId xmlns:a16="http://schemas.microsoft.com/office/drawing/2014/main" id="{3F6C3AD6-E819-CEED-BBB7-553907E51E15}"/>
              </a:ext>
            </a:extLst>
          </p:cNvPr>
          <p:cNvSpPr txBox="1"/>
          <p:nvPr/>
        </p:nvSpPr>
        <p:spPr>
          <a:xfrm>
            <a:off x="8201975" y="1863935"/>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9" name="文本框 8">
            <a:extLst>
              <a:ext uri="{FF2B5EF4-FFF2-40B4-BE49-F238E27FC236}">
                <a16:creationId xmlns:a16="http://schemas.microsoft.com/office/drawing/2014/main" id="{7C70DB66-F470-91A6-F2B9-C3BFF0749066}"/>
              </a:ext>
            </a:extLst>
          </p:cNvPr>
          <p:cNvSpPr txBox="1"/>
          <p:nvPr/>
        </p:nvSpPr>
        <p:spPr>
          <a:xfrm>
            <a:off x="8677375" y="2117851"/>
            <a:ext cx="3294167" cy="1061829"/>
          </a:xfrm>
          <a:prstGeom prst="rect">
            <a:avLst/>
          </a:prstGeom>
          <a:noFill/>
        </p:spPr>
        <p:txBody>
          <a:bodyPr wrap="square" rtlCol="0">
            <a:spAutoFit/>
          </a:bodyPr>
          <a:lstStyle/>
          <a:p>
            <a:pPr marL="285750" indent="-285750">
              <a:buFont typeface="Wingdings" panose="05000000000000000000" pitchFamily="2" charset="2"/>
              <a:buChar char="ü"/>
            </a:pPr>
            <a:r>
              <a:rPr lang="zh-CN" altLang="en-US" sz="1050" dirty="0"/>
              <a:t>语音指令智驾靠边停车（理想），但是对于地点安全性没有考虑</a:t>
            </a:r>
            <a:endParaRPr lang="en-US" altLang="zh-CN" sz="1050" dirty="0"/>
          </a:p>
          <a:p>
            <a:pPr marL="285750" indent="-285750">
              <a:buFont typeface="Wingdings" panose="05000000000000000000" pitchFamily="2" charset="2"/>
              <a:buChar char="ü"/>
            </a:pPr>
            <a:r>
              <a:rPr lang="zh-CN" altLang="en-US" sz="1050" dirty="0"/>
              <a:t>语音指令支持添加途径点，但是没有跟临停模式结合，没有考虑到</a:t>
            </a:r>
            <a:endParaRPr lang="en-US" altLang="zh-CN" sz="1050" dirty="0"/>
          </a:p>
          <a:p>
            <a:pPr marL="285750" indent="-285750">
              <a:buFont typeface="Wingdings" panose="05000000000000000000" pitchFamily="2" charset="2"/>
              <a:buChar char="ü"/>
            </a:pPr>
            <a:r>
              <a:rPr lang="zh-CN" altLang="en-US" sz="1050" dirty="0"/>
              <a:t>语音指令支持沿途</a:t>
            </a:r>
            <a:r>
              <a:rPr lang="en-US" altLang="zh-CN" sz="1050" dirty="0"/>
              <a:t>POI</a:t>
            </a:r>
            <a:r>
              <a:rPr lang="zh-CN" altLang="en-US" sz="1050" dirty="0"/>
              <a:t>的推荐，但是不是很准</a:t>
            </a:r>
            <a:endParaRPr lang="en-US" altLang="zh-CN" sz="1050" dirty="0"/>
          </a:p>
          <a:p>
            <a:endParaRPr lang="zh-CN" altLang="en-US" sz="1050" dirty="0"/>
          </a:p>
        </p:txBody>
      </p:sp>
    </p:spTree>
    <p:extLst>
      <p:ext uri="{BB962C8B-B14F-4D97-AF65-F5344CB8AC3E}">
        <p14:creationId xmlns:p14="http://schemas.microsoft.com/office/powerpoint/2010/main" val="39282267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2129E-D2F1-5586-ABEF-4C61E6C3942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4EE5422-06CC-DB65-17B3-6AA9F0E2C686}"/>
              </a:ext>
            </a:extLst>
          </p:cNvPr>
          <p:cNvSpPr>
            <a:spLocks noGrp="1"/>
          </p:cNvSpPr>
          <p:nvPr>
            <p:ph type="title" idx="4294967295"/>
          </p:nvPr>
        </p:nvSpPr>
        <p:spPr>
          <a:xfrm>
            <a:off x="669924" y="433637"/>
            <a:ext cx="10440000" cy="595063"/>
          </a:xfrm>
        </p:spPr>
        <p:txBody>
          <a:bodyPr/>
          <a:lstStyle/>
          <a:p>
            <a:r>
              <a:rPr lang="zh-CN" altLang="en-US" dirty="0"/>
              <a:t>到达阶段</a:t>
            </a:r>
            <a:r>
              <a:rPr lang="en-US" altLang="zh-CN" dirty="0"/>
              <a:t>——</a:t>
            </a:r>
            <a:r>
              <a:rPr lang="zh-CN" altLang="en-US" dirty="0"/>
              <a:t>停车位置沟通</a:t>
            </a:r>
          </a:p>
        </p:txBody>
      </p:sp>
      <p:sp>
        <p:nvSpPr>
          <p:cNvPr id="16" name="文本占位符 4">
            <a:extLst>
              <a:ext uri="{FF2B5EF4-FFF2-40B4-BE49-F238E27FC236}">
                <a16:creationId xmlns:a16="http://schemas.microsoft.com/office/drawing/2014/main" id="{7E221240-3FDC-3FF1-6061-1D2EC205F7B8}"/>
              </a:ext>
            </a:extLst>
          </p:cNvPr>
          <p:cNvSpPr txBox="1"/>
          <p:nvPr/>
        </p:nvSpPr>
        <p:spPr>
          <a:xfrm>
            <a:off x="5183625" y="1395662"/>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a:extLst>
              <a:ext uri="{FF2B5EF4-FFF2-40B4-BE49-F238E27FC236}">
                <a16:creationId xmlns:a16="http://schemas.microsoft.com/office/drawing/2014/main" id="{31ABAF6D-E7EA-D996-FB1A-20E84ABBE547}"/>
              </a:ext>
            </a:extLst>
          </p:cNvPr>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a:extLst>
              <a:ext uri="{FF2B5EF4-FFF2-40B4-BE49-F238E27FC236}">
                <a16:creationId xmlns:a16="http://schemas.microsoft.com/office/drawing/2014/main" id="{310133D5-C76A-7B4B-E201-372C038ADD7E}"/>
              </a:ext>
            </a:extLst>
          </p:cNvPr>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a:extLst>
              <a:ext uri="{FF2B5EF4-FFF2-40B4-BE49-F238E27FC236}">
                <a16:creationId xmlns:a16="http://schemas.microsoft.com/office/drawing/2014/main" id="{9C3F57AE-A011-1B1E-E144-134CDA7BD52F}"/>
              </a:ext>
            </a:extLst>
          </p:cNvPr>
          <p:cNvSpPr txBox="1"/>
          <p:nvPr/>
        </p:nvSpPr>
        <p:spPr>
          <a:xfrm>
            <a:off x="97877" y="2794788"/>
            <a:ext cx="366036" cy="1600438"/>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停车位置沟通</a:t>
            </a:r>
          </a:p>
        </p:txBody>
      </p:sp>
      <p:sp>
        <p:nvSpPr>
          <p:cNvPr id="10" name="文本框 9">
            <a:extLst>
              <a:ext uri="{FF2B5EF4-FFF2-40B4-BE49-F238E27FC236}">
                <a16:creationId xmlns:a16="http://schemas.microsoft.com/office/drawing/2014/main" id="{DA94740B-6F9F-D6AC-DED6-0DFF49BF9205}"/>
              </a:ext>
            </a:extLst>
          </p:cNvPr>
          <p:cNvSpPr txBox="1"/>
          <p:nvPr/>
        </p:nvSpPr>
        <p:spPr>
          <a:xfrm>
            <a:off x="425035" y="2186095"/>
            <a:ext cx="1177193" cy="2816156"/>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定位偏差修正与确认</a:t>
            </a: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a:extLst>
              <a:ext uri="{FF2B5EF4-FFF2-40B4-BE49-F238E27FC236}">
                <a16:creationId xmlns:a16="http://schemas.microsoft.com/office/drawing/2014/main" id="{B66153A8-DEBD-C5E1-FB15-E5916B79C100}"/>
              </a:ext>
            </a:extLst>
          </p:cNvPr>
          <p:cNvSpPr txBox="1"/>
          <p:nvPr/>
        </p:nvSpPr>
        <p:spPr>
          <a:xfrm>
            <a:off x="2143529" y="1384066"/>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a:extLst>
              <a:ext uri="{FF2B5EF4-FFF2-40B4-BE49-F238E27FC236}">
                <a16:creationId xmlns:a16="http://schemas.microsoft.com/office/drawing/2014/main" id="{167A2CB5-683A-CB92-924D-852FD337222C}"/>
              </a:ext>
            </a:extLst>
          </p:cNvPr>
          <p:cNvSpPr txBox="1"/>
          <p:nvPr/>
        </p:nvSpPr>
        <p:spPr>
          <a:xfrm>
            <a:off x="8693736" y="1407097"/>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a:extLst>
              <a:ext uri="{FF2B5EF4-FFF2-40B4-BE49-F238E27FC236}">
                <a16:creationId xmlns:a16="http://schemas.microsoft.com/office/drawing/2014/main" id="{89CE452D-0F4B-F021-DB15-1A6E676532F9}"/>
              </a:ext>
            </a:extLst>
          </p:cNvPr>
          <p:cNvCxnSpPr/>
          <p:nvPr/>
        </p:nvCxnSpPr>
        <p:spPr>
          <a:xfrm>
            <a:off x="2810773" y="1746372"/>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60BECE78-A164-4201-4B08-A0F82B0B4240}"/>
              </a:ext>
            </a:extLst>
          </p:cNvPr>
          <p:cNvCxnSpPr>
            <a:cxnSpLocks/>
          </p:cNvCxnSpPr>
          <p:nvPr/>
        </p:nvCxnSpPr>
        <p:spPr>
          <a:xfrm>
            <a:off x="7404500" y="1325298"/>
            <a:ext cx="69839" cy="484497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a:extLst>
              <a:ext uri="{FF2B5EF4-FFF2-40B4-BE49-F238E27FC236}">
                <a16:creationId xmlns:a16="http://schemas.microsoft.com/office/drawing/2014/main" id="{6D710BCF-DC54-9DA0-696D-DD2BCEA36577}"/>
              </a:ext>
            </a:extLst>
          </p:cNvPr>
          <p:cNvSpPr txBox="1"/>
          <p:nvPr/>
        </p:nvSpPr>
        <p:spPr>
          <a:xfrm>
            <a:off x="483782" y="1390273"/>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高频场景</a:t>
            </a:r>
          </a:p>
        </p:txBody>
      </p:sp>
      <p:cxnSp>
        <p:nvCxnSpPr>
          <p:cNvPr id="34" name="直接连接符 33">
            <a:extLst>
              <a:ext uri="{FF2B5EF4-FFF2-40B4-BE49-F238E27FC236}">
                <a16:creationId xmlns:a16="http://schemas.microsoft.com/office/drawing/2014/main" id="{1A4CAA1E-BE3F-4827-D932-84DFBECF4936}"/>
              </a:ext>
            </a:extLst>
          </p:cNvPr>
          <p:cNvCxnSpPr/>
          <p:nvPr/>
        </p:nvCxnSpPr>
        <p:spPr>
          <a:xfrm>
            <a:off x="1602228" y="1734216"/>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a:extLst>
              <a:ext uri="{FF2B5EF4-FFF2-40B4-BE49-F238E27FC236}">
                <a16:creationId xmlns:a16="http://schemas.microsoft.com/office/drawing/2014/main" id="{3E860F42-9D0F-D346-DC4F-19D550615651}"/>
              </a:ext>
            </a:extLst>
          </p:cNvPr>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6" name="文本框 5">
            <a:extLst>
              <a:ext uri="{FF2B5EF4-FFF2-40B4-BE49-F238E27FC236}">
                <a16:creationId xmlns:a16="http://schemas.microsoft.com/office/drawing/2014/main" id="{F9381A04-EB8D-7203-A4E8-9A347F399B8A}"/>
              </a:ext>
            </a:extLst>
          </p:cNvPr>
          <p:cNvSpPr txBox="1"/>
          <p:nvPr/>
        </p:nvSpPr>
        <p:spPr>
          <a:xfrm>
            <a:off x="4784552" y="1966353"/>
            <a:ext cx="1204176"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修正沟通方式</a:t>
            </a:r>
          </a:p>
        </p:txBody>
      </p:sp>
      <p:sp>
        <p:nvSpPr>
          <p:cNvPr id="15" name="文本框 14">
            <a:extLst>
              <a:ext uri="{FF2B5EF4-FFF2-40B4-BE49-F238E27FC236}">
                <a16:creationId xmlns:a16="http://schemas.microsoft.com/office/drawing/2014/main" id="{DD6E28B2-D696-50C2-529C-EE847F09AB1F}"/>
              </a:ext>
            </a:extLst>
          </p:cNvPr>
          <p:cNvSpPr txBox="1"/>
          <p:nvPr/>
        </p:nvSpPr>
        <p:spPr>
          <a:xfrm>
            <a:off x="2800155" y="1952583"/>
            <a:ext cx="2050561"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最终停车位置小幅修正场景</a:t>
            </a:r>
          </a:p>
        </p:txBody>
      </p:sp>
      <p:sp>
        <p:nvSpPr>
          <p:cNvPr id="32" name="文本框 31">
            <a:extLst>
              <a:ext uri="{FF2B5EF4-FFF2-40B4-BE49-F238E27FC236}">
                <a16:creationId xmlns:a16="http://schemas.microsoft.com/office/drawing/2014/main" id="{346665B2-CD5C-2B8E-D25E-692A6673EAA5}"/>
              </a:ext>
            </a:extLst>
          </p:cNvPr>
          <p:cNvSpPr txBox="1"/>
          <p:nvPr/>
        </p:nvSpPr>
        <p:spPr>
          <a:xfrm>
            <a:off x="7944120" y="2917997"/>
            <a:ext cx="3765569" cy="2339102"/>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50" dirty="0"/>
              <a:t>能够接收客户语音指令集合路面特征进行微调最终停泊位置，如车辆往前一点，前面那个路口停一下，前面的牌子下面</a:t>
            </a:r>
            <a:endParaRPr lang="en-US" altLang="zh-CN" sz="1050" dirty="0"/>
          </a:p>
          <a:p>
            <a:pPr marL="171450" indent="-171450">
              <a:spcBef>
                <a:spcPts val="600"/>
              </a:spcBef>
              <a:buFont typeface="Wingdings" panose="05000000000000000000" pitchFamily="2" charset="2"/>
              <a:buChar char="ü"/>
            </a:pPr>
            <a:r>
              <a:rPr lang="zh-CN" altLang="en-US" sz="1050" dirty="0"/>
              <a:t>对于场站支持语音设置修正详细地址，如出发层第</a:t>
            </a:r>
            <a:r>
              <a:rPr lang="en-US" altLang="zh-CN" sz="1050" dirty="0"/>
              <a:t>8</a:t>
            </a:r>
            <a:r>
              <a:rPr lang="zh-CN" altLang="en-US" sz="1050" dirty="0"/>
              <a:t>个口，智驾按精准地址全程智驾过去</a:t>
            </a:r>
            <a:endParaRPr lang="en-US" altLang="zh-CN" sz="1050" dirty="0"/>
          </a:p>
          <a:p>
            <a:pPr marL="171450" indent="-171450">
              <a:spcBef>
                <a:spcPts val="600"/>
              </a:spcBef>
              <a:buFont typeface="Wingdings" panose="05000000000000000000" pitchFamily="2" charset="2"/>
              <a:buChar char="ü"/>
            </a:pPr>
            <a:r>
              <a:rPr lang="zh-CN" altLang="en-US" sz="1050" dirty="0"/>
              <a:t>最终停车地点可避开禁停标志区域，对于不能停的区域，根据乘客语音指令，智能寻找附件最近最方便的停车点</a:t>
            </a:r>
            <a:endParaRPr lang="en-US" altLang="zh-CN" sz="1050" dirty="0"/>
          </a:p>
          <a:p>
            <a:pPr marL="171450" indent="-171450">
              <a:spcBef>
                <a:spcPts val="600"/>
              </a:spcBef>
              <a:buFont typeface="Wingdings" panose="05000000000000000000" pitchFamily="2" charset="2"/>
              <a:buChar char="ü"/>
            </a:pPr>
            <a:r>
              <a:rPr lang="zh-CN" altLang="en-US" sz="1050" dirty="0"/>
              <a:t>去写字楼，酒店等地方，可在停在大厅门口，放下乘客后，，然后语音指令自己找车位等</a:t>
            </a:r>
            <a:endParaRPr lang="en-US" altLang="zh-CN" sz="1050" dirty="0"/>
          </a:p>
          <a:p>
            <a:pPr marL="171450" indent="-171450">
              <a:spcBef>
                <a:spcPts val="600"/>
              </a:spcBef>
              <a:buFont typeface="Wingdings" panose="05000000000000000000" pitchFamily="2" charset="2"/>
              <a:buChar char="ü"/>
            </a:pPr>
            <a:r>
              <a:rPr lang="zh-CN" altLang="en-US" sz="1050" dirty="0"/>
              <a:t>下车时支持“</a:t>
            </a:r>
            <a:r>
              <a:rPr lang="en-US" altLang="zh-CN" sz="1050" dirty="0"/>
              <a:t>2</a:t>
            </a:r>
            <a:r>
              <a:rPr lang="zh-CN" altLang="en-US" sz="1050" dirty="0"/>
              <a:t>个小时后，还在这里接我”这样的语音指令，司机</a:t>
            </a:r>
            <a:r>
              <a:rPr lang="en-US" altLang="zh-CN" sz="1050" dirty="0"/>
              <a:t>agent</a:t>
            </a:r>
            <a:r>
              <a:rPr lang="zh-CN" altLang="en-US" sz="1050" dirty="0"/>
              <a:t>能自己找地方停车，然后</a:t>
            </a:r>
            <a:r>
              <a:rPr lang="en-US" altLang="zh-CN" sz="1050" dirty="0"/>
              <a:t>2</a:t>
            </a:r>
            <a:r>
              <a:rPr lang="zh-CN" altLang="en-US" sz="1050" dirty="0"/>
              <a:t>个小时后来原地来接乘客</a:t>
            </a:r>
            <a:endParaRPr lang="en-US" altLang="zh-CN" sz="1050" dirty="0"/>
          </a:p>
        </p:txBody>
      </p:sp>
      <p:sp>
        <p:nvSpPr>
          <p:cNvPr id="50" name="文本框 49">
            <a:extLst>
              <a:ext uri="{FF2B5EF4-FFF2-40B4-BE49-F238E27FC236}">
                <a16:creationId xmlns:a16="http://schemas.microsoft.com/office/drawing/2014/main" id="{67EA0553-C74A-8882-ABB7-DCBB772EB04B}"/>
              </a:ext>
            </a:extLst>
          </p:cNvPr>
          <p:cNvSpPr txBox="1"/>
          <p:nvPr/>
        </p:nvSpPr>
        <p:spPr>
          <a:xfrm>
            <a:off x="2807249" y="4066179"/>
            <a:ext cx="2050561"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终点定位地点无法停车场景</a:t>
            </a:r>
          </a:p>
        </p:txBody>
      </p:sp>
      <p:cxnSp>
        <p:nvCxnSpPr>
          <p:cNvPr id="66" name="直接连接符 65">
            <a:extLst>
              <a:ext uri="{FF2B5EF4-FFF2-40B4-BE49-F238E27FC236}">
                <a16:creationId xmlns:a16="http://schemas.microsoft.com/office/drawing/2014/main" id="{F595EFF4-0603-8C24-A07C-1F4F731FD9CE}"/>
              </a:ext>
            </a:extLst>
          </p:cNvPr>
          <p:cNvCxnSpPr>
            <a:cxnSpLocks/>
          </p:cNvCxnSpPr>
          <p:nvPr/>
        </p:nvCxnSpPr>
        <p:spPr>
          <a:xfrm flipV="1">
            <a:off x="684434" y="4057056"/>
            <a:ext cx="6760300" cy="29698"/>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97760C04-CD0A-CA48-EF70-19935D733421}"/>
              </a:ext>
            </a:extLst>
          </p:cNvPr>
          <p:cNvSpPr txBox="1"/>
          <p:nvPr/>
        </p:nvSpPr>
        <p:spPr>
          <a:xfrm>
            <a:off x="1699198" y="2457994"/>
            <a:ext cx="1224930" cy="1274260"/>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050" dirty="0"/>
              <a:t>停车位置经常会小幅修正</a:t>
            </a:r>
            <a:endParaRPr lang="en-US" altLang="zh-CN" sz="1050" dirty="0"/>
          </a:p>
          <a:p>
            <a:pPr marL="171450" indent="-171450">
              <a:lnSpc>
                <a:spcPct val="150000"/>
              </a:lnSpc>
              <a:buFont typeface="Arial" panose="020B0604020202020204" pitchFamily="34" charset="0"/>
              <a:buChar char="•"/>
            </a:pPr>
            <a:r>
              <a:rPr lang="zh-CN" altLang="en-US" sz="1050" dirty="0">
                <a:solidFill>
                  <a:srgbClr val="000000"/>
                </a:solidFill>
                <a:latin typeface="微软雅黑" panose="020B0503020204020204" pitchFamily="34" charset="-122"/>
                <a:ea typeface="微软雅黑" panose="020B0503020204020204" pitchFamily="34" charset="-122"/>
              </a:rPr>
              <a:t>场站结构复杂提前沟通</a:t>
            </a:r>
            <a:endParaRPr lang="en-US" altLang="zh-CN" sz="1050" dirty="0">
              <a:solidFill>
                <a:srgbClr val="000000"/>
              </a:solidFill>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endParaRPr lang="zh-CN" altLang="en-US" sz="1050" dirty="0"/>
          </a:p>
        </p:txBody>
      </p:sp>
      <p:sp>
        <p:nvSpPr>
          <p:cNvPr id="35" name="文本框 34">
            <a:extLst>
              <a:ext uri="{FF2B5EF4-FFF2-40B4-BE49-F238E27FC236}">
                <a16:creationId xmlns:a16="http://schemas.microsoft.com/office/drawing/2014/main" id="{482D0037-424D-D9C3-4A09-517E7C56C890}"/>
              </a:ext>
            </a:extLst>
          </p:cNvPr>
          <p:cNvSpPr txBox="1"/>
          <p:nvPr/>
        </p:nvSpPr>
        <p:spPr>
          <a:xfrm>
            <a:off x="5159735" y="4057056"/>
            <a:ext cx="2050561"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沟通微调可停靠的停车地点</a:t>
            </a:r>
          </a:p>
        </p:txBody>
      </p:sp>
      <p:sp>
        <p:nvSpPr>
          <p:cNvPr id="37" name="文本框 36">
            <a:extLst>
              <a:ext uri="{FF2B5EF4-FFF2-40B4-BE49-F238E27FC236}">
                <a16:creationId xmlns:a16="http://schemas.microsoft.com/office/drawing/2014/main" id="{6E929972-93CF-7282-2835-70DAC65F20B1}"/>
              </a:ext>
            </a:extLst>
          </p:cNvPr>
          <p:cNvSpPr txBox="1"/>
          <p:nvPr/>
        </p:nvSpPr>
        <p:spPr>
          <a:xfrm>
            <a:off x="4848333" y="2295029"/>
            <a:ext cx="1477622" cy="568810"/>
          </a:xfrm>
          <a:prstGeom prst="rect">
            <a:avLst/>
          </a:prstGeom>
          <a:noFill/>
        </p:spPr>
        <p:txBody>
          <a:bodyPr wrap="square">
            <a:spAutoFit/>
          </a:bodyPr>
          <a:lstStyle/>
          <a:p>
            <a:pPr marL="171450" indent="-171450">
              <a:lnSpc>
                <a:spcPct val="150000"/>
              </a:lnSpc>
              <a:buFont typeface="Arial" panose="020B0604020202020204" pitchFamily="34" charset="0"/>
              <a:buChar char="•"/>
            </a:pPr>
            <a:r>
              <a:rPr lang="zh-CN" altLang="en-US" sz="1050" dirty="0"/>
              <a:t>更多语音沟通</a:t>
            </a:r>
            <a:endParaRPr lang="en-US" altLang="zh-CN" sz="1050" dirty="0"/>
          </a:p>
          <a:p>
            <a:pPr marL="171450" indent="-171450">
              <a:lnSpc>
                <a:spcPct val="150000"/>
              </a:lnSpc>
              <a:buFont typeface="Arial" panose="020B0604020202020204" pitchFamily="34" charset="0"/>
              <a:buChar char="•"/>
            </a:pPr>
            <a:r>
              <a:rPr lang="zh-CN" altLang="en-US" sz="1050" dirty="0"/>
              <a:t>少量用手指的</a:t>
            </a:r>
            <a:endParaRPr lang="en-US" altLang="zh-CN" sz="1050" dirty="0"/>
          </a:p>
        </p:txBody>
      </p:sp>
      <p:sp>
        <p:nvSpPr>
          <p:cNvPr id="4" name="文本框 3">
            <a:extLst>
              <a:ext uri="{FF2B5EF4-FFF2-40B4-BE49-F238E27FC236}">
                <a16:creationId xmlns:a16="http://schemas.microsoft.com/office/drawing/2014/main" id="{6A6AB64A-92B5-EFA3-AD53-3B063D783D06}"/>
              </a:ext>
            </a:extLst>
          </p:cNvPr>
          <p:cNvSpPr txBox="1"/>
          <p:nvPr/>
        </p:nvSpPr>
        <p:spPr>
          <a:xfrm>
            <a:off x="3063395" y="2265043"/>
            <a:ext cx="1281120" cy="1031886"/>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sz="1050" dirty="0"/>
              <a:t>往前一点</a:t>
            </a:r>
            <a:endParaRPr lang="en-US" altLang="zh-CN" sz="1050" dirty="0"/>
          </a:p>
          <a:p>
            <a:pPr marL="285750" indent="-285750">
              <a:lnSpc>
                <a:spcPct val="150000"/>
              </a:lnSpc>
              <a:buFont typeface="Arial" panose="020B0604020202020204" pitchFamily="34" charset="0"/>
              <a:buChar char="•"/>
            </a:pPr>
            <a:r>
              <a:rPr lang="zh-CN" altLang="en-US" sz="1050" dirty="0"/>
              <a:t>前面那个路口</a:t>
            </a:r>
            <a:endParaRPr lang="en-US" altLang="zh-CN" sz="1050" dirty="0"/>
          </a:p>
          <a:p>
            <a:pPr marL="285750" indent="-285750">
              <a:lnSpc>
                <a:spcPct val="150000"/>
              </a:lnSpc>
              <a:buFont typeface="Arial" panose="020B0604020202020204" pitchFamily="34" charset="0"/>
              <a:buChar char="•"/>
            </a:pPr>
            <a:r>
              <a:rPr lang="zh-CN" altLang="en-US" sz="1050" dirty="0"/>
              <a:t>那个牌子下面</a:t>
            </a:r>
            <a:endParaRPr lang="en-US" altLang="zh-CN" sz="1050" dirty="0"/>
          </a:p>
          <a:p>
            <a:pPr>
              <a:lnSpc>
                <a:spcPct val="150000"/>
              </a:lnSpc>
            </a:pPr>
            <a:endParaRPr lang="zh-CN" altLang="en-US" sz="1050" dirty="0"/>
          </a:p>
        </p:txBody>
      </p:sp>
      <p:sp>
        <p:nvSpPr>
          <p:cNvPr id="5" name="文本框 4">
            <a:extLst>
              <a:ext uri="{FF2B5EF4-FFF2-40B4-BE49-F238E27FC236}">
                <a16:creationId xmlns:a16="http://schemas.microsoft.com/office/drawing/2014/main" id="{4B51752D-6103-2D09-6866-55C762443C5F}"/>
              </a:ext>
            </a:extLst>
          </p:cNvPr>
          <p:cNvSpPr txBox="1"/>
          <p:nvPr/>
        </p:nvSpPr>
        <p:spPr>
          <a:xfrm>
            <a:off x="3196282" y="4326397"/>
            <a:ext cx="1281120" cy="789512"/>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sz="1050" dirty="0"/>
              <a:t>黄线区域</a:t>
            </a:r>
            <a:endParaRPr lang="en-US" altLang="zh-CN" sz="1050" dirty="0"/>
          </a:p>
          <a:p>
            <a:pPr marL="285750" indent="-285750">
              <a:lnSpc>
                <a:spcPct val="150000"/>
              </a:lnSpc>
              <a:buFont typeface="Arial" panose="020B0604020202020204" pitchFamily="34" charset="0"/>
              <a:buChar char="•"/>
            </a:pPr>
            <a:r>
              <a:rPr lang="zh-CN" altLang="en-US" sz="1050" dirty="0"/>
              <a:t>禁停标志区域</a:t>
            </a:r>
            <a:endParaRPr lang="en-US" altLang="zh-CN" sz="1050" dirty="0"/>
          </a:p>
          <a:p>
            <a:pPr marL="285750" indent="-285750">
              <a:lnSpc>
                <a:spcPct val="150000"/>
              </a:lnSpc>
              <a:buFont typeface="Arial" panose="020B0604020202020204" pitchFamily="34" charset="0"/>
              <a:buChar char="•"/>
            </a:pPr>
            <a:endParaRPr lang="zh-CN" altLang="en-US" sz="1050" dirty="0"/>
          </a:p>
        </p:txBody>
      </p:sp>
      <p:sp>
        <p:nvSpPr>
          <p:cNvPr id="7" name="文本框 6">
            <a:extLst>
              <a:ext uri="{FF2B5EF4-FFF2-40B4-BE49-F238E27FC236}">
                <a16:creationId xmlns:a16="http://schemas.microsoft.com/office/drawing/2014/main" id="{8DAB508B-5512-74A1-9305-4C4E3DE9B828}"/>
              </a:ext>
            </a:extLst>
          </p:cNvPr>
          <p:cNvSpPr txBox="1"/>
          <p:nvPr/>
        </p:nvSpPr>
        <p:spPr>
          <a:xfrm>
            <a:off x="5562196" y="4336701"/>
            <a:ext cx="1601721" cy="568810"/>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sz="1050" dirty="0"/>
              <a:t>让乘客更方便下车</a:t>
            </a:r>
            <a:endParaRPr lang="en-US" altLang="zh-CN" sz="1050" dirty="0"/>
          </a:p>
          <a:p>
            <a:pPr marL="285750" indent="-285750">
              <a:lnSpc>
                <a:spcPct val="150000"/>
              </a:lnSpc>
              <a:buFont typeface="Arial" panose="020B0604020202020204" pitchFamily="34" charset="0"/>
              <a:buChar char="•"/>
            </a:pPr>
            <a:r>
              <a:rPr lang="zh-CN" altLang="en-US" sz="1050" dirty="0"/>
              <a:t>让乘客少走路</a:t>
            </a:r>
          </a:p>
        </p:txBody>
      </p:sp>
      <p:sp>
        <p:nvSpPr>
          <p:cNvPr id="9" name="文本框 8">
            <a:extLst>
              <a:ext uri="{FF2B5EF4-FFF2-40B4-BE49-F238E27FC236}">
                <a16:creationId xmlns:a16="http://schemas.microsoft.com/office/drawing/2014/main" id="{28A253D8-B916-2A6C-FFB9-B3BFE970BB75}"/>
              </a:ext>
            </a:extLst>
          </p:cNvPr>
          <p:cNvSpPr txBox="1"/>
          <p:nvPr/>
        </p:nvSpPr>
        <p:spPr>
          <a:xfrm>
            <a:off x="1631941" y="4889452"/>
            <a:ext cx="1055184" cy="577081"/>
          </a:xfrm>
          <a:prstGeom prst="rect">
            <a:avLst/>
          </a:prstGeom>
          <a:noFill/>
        </p:spPr>
        <p:txBody>
          <a:bodyPr wrap="square" rtlCol="0">
            <a:spAutoFit/>
          </a:bodyPr>
          <a:lstStyle/>
          <a:p>
            <a:pPr marL="171450" indent="-171450">
              <a:buFont typeface="Arial" panose="020B0604020202020204" pitchFamily="34" charset="0"/>
              <a:buChar char="•"/>
            </a:pPr>
            <a:r>
              <a:rPr lang="zh-CN" altLang="en-US" sz="1050" dirty="0"/>
              <a:t>容易与客户发生争执，产生投诉</a:t>
            </a:r>
          </a:p>
        </p:txBody>
      </p:sp>
      <p:sp>
        <p:nvSpPr>
          <p:cNvPr id="12" name="文本框 11">
            <a:extLst>
              <a:ext uri="{FF2B5EF4-FFF2-40B4-BE49-F238E27FC236}">
                <a16:creationId xmlns:a16="http://schemas.microsoft.com/office/drawing/2014/main" id="{0835E7C4-3476-ADA7-9099-4F1871074016}"/>
              </a:ext>
            </a:extLst>
          </p:cNvPr>
          <p:cNvSpPr txBox="1"/>
          <p:nvPr/>
        </p:nvSpPr>
        <p:spPr>
          <a:xfrm>
            <a:off x="6059260" y="1988215"/>
            <a:ext cx="1345240"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场站停车点场景</a:t>
            </a:r>
          </a:p>
        </p:txBody>
      </p:sp>
      <p:sp>
        <p:nvSpPr>
          <p:cNvPr id="13" name="文本框 12">
            <a:extLst>
              <a:ext uri="{FF2B5EF4-FFF2-40B4-BE49-F238E27FC236}">
                <a16:creationId xmlns:a16="http://schemas.microsoft.com/office/drawing/2014/main" id="{60370A3B-512F-2E55-56FE-4E8B40D9600A}"/>
              </a:ext>
            </a:extLst>
          </p:cNvPr>
          <p:cNvSpPr txBox="1"/>
          <p:nvPr/>
        </p:nvSpPr>
        <p:spPr>
          <a:xfrm>
            <a:off x="6130442" y="2349368"/>
            <a:ext cx="1202192" cy="738664"/>
          </a:xfrm>
          <a:prstGeom prst="rect">
            <a:avLst/>
          </a:prstGeom>
          <a:noFill/>
        </p:spPr>
        <p:txBody>
          <a:bodyPr wrap="square" rtlCol="0">
            <a:spAutoFit/>
          </a:bodyPr>
          <a:lstStyle/>
          <a:p>
            <a:pPr marL="171450" indent="-171450">
              <a:buFont typeface="Arial" panose="020B0604020202020204" pitchFamily="34" charset="0"/>
              <a:buChar char="•"/>
            </a:pPr>
            <a:r>
              <a:rPr lang="zh-CN" altLang="en-US" sz="1050" dirty="0"/>
              <a:t>哪个广场</a:t>
            </a:r>
            <a:endParaRPr lang="en-US" altLang="zh-CN" sz="1050" dirty="0"/>
          </a:p>
          <a:p>
            <a:pPr marL="171450" indent="-171450">
              <a:buFont typeface="Arial" panose="020B0604020202020204" pitchFamily="34" charset="0"/>
              <a:buChar char="•"/>
            </a:pPr>
            <a:r>
              <a:rPr lang="zh-CN" altLang="en-US" sz="1050" dirty="0"/>
              <a:t>哪个层（达到、出发）</a:t>
            </a:r>
            <a:endParaRPr lang="en-US" altLang="zh-CN" sz="1050" dirty="0"/>
          </a:p>
          <a:p>
            <a:pPr marL="171450" indent="-171450">
              <a:buFont typeface="Arial" panose="020B0604020202020204" pitchFamily="34" charset="0"/>
              <a:buChar char="•"/>
            </a:pPr>
            <a:r>
              <a:rPr lang="zh-CN" altLang="en-US" sz="1050" dirty="0"/>
              <a:t>哪个口（几号）</a:t>
            </a:r>
          </a:p>
        </p:txBody>
      </p:sp>
      <p:sp>
        <p:nvSpPr>
          <p:cNvPr id="11" name="文本框 10">
            <a:extLst>
              <a:ext uri="{FF2B5EF4-FFF2-40B4-BE49-F238E27FC236}">
                <a16:creationId xmlns:a16="http://schemas.microsoft.com/office/drawing/2014/main" id="{A2DB459D-5E24-FFC5-22B3-58DFDFD09692}"/>
              </a:ext>
            </a:extLst>
          </p:cNvPr>
          <p:cNvSpPr txBox="1"/>
          <p:nvPr/>
        </p:nvSpPr>
        <p:spPr>
          <a:xfrm>
            <a:off x="366373" y="4880702"/>
            <a:ext cx="1402958" cy="646331"/>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禁停或者不方便区域调整停车地点</a:t>
            </a:r>
            <a:endParaRPr lang="en-US" altLang="zh-CN" sz="1200" b="1" dirty="0">
              <a:solidFill>
                <a:srgbClr val="000000"/>
              </a:solidFill>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F77A07E6-BB94-DD9E-4EFC-CFD27E828027}"/>
              </a:ext>
            </a:extLst>
          </p:cNvPr>
          <p:cNvSpPr txBox="1"/>
          <p:nvPr/>
        </p:nvSpPr>
        <p:spPr>
          <a:xfrm>
            <a:off x="7423267" y="2679694"/>
            <a:ext cx="723275" cy="253916"/>
          </a:xfrm>
          <a:prstGeom prst="rect">
            <a:avLst/>
          </a:prstGeom>
          <a:noFill/>
        </p:spPr>
        <p:txBody>
          <a:bodyPr wrap="none" rtlCol="0">
            <a:spAutoFit/>
          </a:bodyPr>
          <a:lstStyle/>
          <a:p>
            <a:r>
              <a:rPr lang="zh-CN" altLang="en-US" sz="1050" b="1" dirty="0"/>
              <a:t>机会点：</a:t>
            </a:r>
          </a:p>
        </p:txBody>
      </p:sp>
      <p:sp>
        <p:nvSpPr>
          <p:cNvPr id="27" name="文本框 26">
            <a:extLst>
              <a:ext uri="{FF2B5EF4-FFF2-40B4-BE49-F238E27FC236}">
                <a16:creationId xmlns:a16="http://schemas.microsoft.com/office/drawing/2014/main" id="{6D6730D5-AA10-671D-BFA0-773C3A4F2B2C}"/>
              </a:ext>
            </a:extLst>
          </p:cNvPr>
          <p:cNvSpPr txBox="1"/>
          <p:nvPr/>
        </p:nvSpPr>
        <p:spPr>
          <a:xfrm>
            <a:off x="7445045" y="5391426"/>
            <a:ext cx="588623" cy="253916"/>
          </a:xfrm>
          <a:prstGeom prst="rect">
            <a:avLst/>
          </a:prstGeom>
          <a:noFill/>
        </p:spPr>
        <p:txBody>
          <a:bodyPr wrap="none" rtlCol="0">
            <a:spAutoFit/>
          </a:bodyPr>
          <a:lstStyle/>
          <a:p>
            <a:r>
              <a:rPr lang="zh-CN" altLang="en-US" sz="1050" b="1" dirty="0"/>
              <a:t>展望：</a:t>
            </a:r>
          </a:p>
        </p:txBody>
      </p:sp>
      <p:sp>
        <p:nvSpPr>
          <p:cNvPr id="31" name="文本框 30">
            <a:extLst>
              <a:ext uri="{FF2B5EF4-FFF2-40B4-BE49-F238E27FC236}">
                <a16:creationId xmlns:a16="http://schemas.microsoft.com/office/drawing/2014/main" id="{1AFDF6A7-F7C2-F9FE-56A0-54E3D6E9FF7D}"/>
              </a:ext>
            </a:extLst>
          </p:cNvPr>
          <p:cNvSpPr txBox="1"/>
          <p:nvPr/>
        </p:nvSpPr>
        <p:spPr>
          <a:xfrm>
            <a:off x="7386398" y="1891553"/>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39" name="文本框 38">
            <a:extLst>
              <a:ext uri="{FF2B5EF4-FFF2-40B4-BE49-F238E27FC236}">
                <a16:creationId xmlns:a16="http://schemas.microsoft.com/office/drawing/2014/main" id="{D3EDF4F8-5D43-7040-B4CB-A01BF9515434}"/>
              </a:ext>
            </a:extLst>
          </p:cNvPr>
          <p:cNvSpPr txBox="1"/>
          <p:nvPr/>
        </p:nvSpPr>
        <p:spPr>
          <a:xfrm>
            <a:off x="7944120" y="2141008"/>
            <a:ext cx="3765569" cy="892552"/>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50" dirty="0"/>
              <a:t>可以定位到场站的出发口，但是会快进入场站是时候智驾会退出，让接管。</a:t>
            </a:r>
            <a:endParaRPr lang="en-US" altLang="zh-CN" sz="1050" dirty="0"/>
          </a:p>
          <a:p>
            <a:pPr marL="171450" indent="-171450">
              <a:spcBef>
                <a:spcPts val="600"/>
              </a:spcBef>
              <a:buFont typeface="Wingdings" panose="05000000000000000000" pitchFamily="2" charset="2"/>
              <a:buChar char="ü"/>
            </a:pPr>
            <a:r>
              <a:rPr lang="zh-CN" altLang="en-US" sz="1050" dirty="0"/>
              <a:t>相对封闭的有限停车场，支持</a:t>
            </a:r>
            <a:r>
              <a:rPr lang="en-US" altLang="zh-CN" sz="1050" dirty="0"/>
              <a:t>AVP</a:t>
            </a:r>
          </a:p>
          <a:p>
            <a:pPr marL="171450" indent="-171450">
              <a:spcBef>
                <a:spcPts val="600"/>
              </a:spcBef>
              <a:buFont typeface="Wingdings" panose="05000000000000000000" pitchFamily="2" charset="2"/>
              <a:buChar char="ü"/>
            </a:pPr>
            <a:endParaRPr lang="en-US" altLang="zh-CN" sz="1050" dirty="0"/>
          </a:p>
        </p:txBody>
      </p:sp>
      <p:sp>
        <p:nvSpPr>
          <p:cNvPr id="40" name="文本框 39">
            <a:extLst>
              <a:ext uri="{FF2B5EF4-FFF2-40B4-BE49-F238E27FC236}">
                <a16:creationId xmlns:a16="http://schemas.microsoft.com/office/drawing/2014/main" id="{CAB7D634-824B-2E58-190B-AC86A88EED5F}"/>
              </a:ext>
            </a:extLst>
          </p:cNvPr>
          <p:cNvSpPr txBox="1"/>
          <p:nvPr/>
        </p:nvSpPr>
        <p:spPr>
          <a:xfrm>
            <a:off x="2799437" y="4918289"/>
            <a:ext cx="1204176"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私人司机场景</a:t>
            </a:r>
          </a:p>
        </p:txBody>
      </p:sp>
      <p:sp>
        <p:nvSpPr>
          <p:cNvPr id="42" name="文本框 41">
            <a:extLst>
              <a:ext uri="{FF2B5EF4-FFF2-40B4-BE49-F238E27FC236}">
                <a16:creationId xmlns:a16="http://schemas.microsoft.com/office/drawing/2014/main" id="{13616785-F555-5DDC-DF28-34D1093F588A}"/>
              </a:ext>
            </a:extLst>
          </p:cNvPr>
          <p:cNvSpPr txBox="1"/>
          <p:nvPr/>
        </p:nvSpPr>
        <p:spPr>
          <a:xfrm>
            <a:off x="3266941" y="5205103"/>
            <a:ext cx="3300904" cy="305918"/>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sz="1050" dirty="0"/>
              <a:t>在不好停的地方，会约定在哪里下就在在哪里上</a:t>
            </a:r>
          </a:p>
        </p:txBody>
      </p:sp>
      <p:sp>
        <p:nvSpPr>
          <p:cNvPr id="43" name="文本框 42">
            <a:extLst>
              <a:ext uri="{FF2B5EF4-FFF2-40B4-BE49-F238E27FC236}">
                <a16:creationId xmlns:a16="http://schemas.microsoft.com/office/drawing/2014/main" id="{AA85F526-04DE-1F35-E18F-54D493F3E62A}"/>
              </a:ext>
            </a:extLst>
          </p:cNvPr>
          <p:cNvSpPr txBox="1"/>
          <p:nvPr/>
        </p:nvSpPr>
        <p:spPr>
          <a:xfrm>
            <a:off x="8033668" y="5792606"/>
            <a:ext cx="3320140" cy="253916"/>
          </a:xfrm>
          <a:prstGeom prst="rect">
            <a:avLst/>
          </a:prstGeom>
          <a:noFill/>
        </p:spPr>
        <p:txBody>
          <a:bodyPr wrap="none" rtlCol="0">
            <a:spAutoFit/>
          </a:bodyPr>
          <a:lstStyle/>
          <a:p>
            <a:pPr marL="171450" indent="-171450">
              <a:buFont typeface="Wingdings" panose="05000000000000000000" pitchFamily="2" charset="2"/>
              <a:buChar char="ü"/>
            </a:pPr>
            <a:r>
              <a:rPr lang="zh-CN" altLang="en-US" sz="1050" dirty="0"/>
              <a:t>支持多模交互，结合乘客语音与手势确定停车地点</a:t>
            </a:r>
          </a:p>
        </p:txBody>
      </p:sp>
    </p:spTree>
    <p:extLst>
      <p:ext uri="{BB962C8B-B14F-4D97-AF65-F5344CB8AC3E}">
        <p14:creationId xmlns:p14="http://schemas.microsoft.com/office/powerpoint/2010/main" val="35246752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D1346-15E6-9243-B7C6-E8DBEF4DB56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3768353-3AE2-DF95-F93D-31719B6C44DC}"/>
              </a:ext>
            </a:extLst>
          </p:cNvPr>
          <p:cNvSpPr>
            <a:spLocks noGrp="1"/>
          </p:cNvSpPr>
          <p:nvPr>
            <p:ph type="title" idx="4294967295"/>
          </p:nvPr>
        </p:nvSpPr>
        <p:spPr>
          <a:xfrm>
            <a:off x="669924" y="433637"/>
            <a:ext cx="10440000" cy="595063"/>
          </a:xfrm>
        </p:spPr>
        <p:txBody>
          <a:bodyPr/>
          <a:lstStyle/>
          <a:p>
            <a:r>
              <a:rPr lang="zh-CN" altLang="en-US" dirty="0"/>
              <a:t>到达阶段</a:t>
            </a:r>
            <a:r>
              <a:rPr lang="en-US" altLang="zh-CN" dirty="0"/>
              <a:t>——</a:t>
            </a:r>
            <a:r>
              <a:rPr lang="zh-CN" altLang="en-US" dirty="0"/>
              <a:t>停车位置沟通</a:t>
            </a:r>
          </a:p>
        </p:txBody>
      </p:sp>
      <p:sp>
        <p:nvSpPr>
          <p:cNvPr id="16" name="文本占位符 4">
            <a:extLst>
              <a:ext uri="{FF2B5EF4-FFF2-40B4-BE49-F238E27FC236}">
                <a16:creationId xmlns:a16="http://schemas.microsoft.com/office/drawing/2014/main" id="{46CD8942-A72F-F923-79BD-7698512C6CDB}"/>
              </a:ext>
            </a:extLst>
          </p:cNvPr>
          <p:cNvSpPr txBox="1"/>
          <p:nvPr/>
        </p:nvSpPr>
        <p:spPr>
          <a:xfrm>
            <a:off x="4280205" y="1384066"/>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a:extLst>
              <a:ext uri="{FF2B5EF4-FFF2-40B4-BE49-F238E27FC236}">
                <a16:creationId xmlns:a16="http://schemas.microsoft.com/office/drawing/2014/main" id="{FEDDE477-9DB3-A4A9-BD47-66C965D8472B}"/>
              </a:ext>
            </a:extLst>
          </p:cNvPr>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a:extLst>
              <a:ext uri="{FF2B5EF4-FFF2-40B4-BE49-F238E27FC236}">
                <a16:creationId xmlns:a16="http://schemas.microsoft.com/office/drawing/2014/main" id="{8F95CB90-56C5-9107-44DB-4B428C603FAC}"/>
              </a:ext>
            </a:extLst>
          </p:cNvPr>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a:extLst>
              <a:ext uri="{FF2B5EF4-FFF2-40B4-BE49-F238E27FC236}">
                <a16:creationId xmlns:a16="http://schemas.microsoft.com/office/drawing/2014/main" id="{259BC600-806B-919B-30D3-7BE3011BE841}"/>
              </a:ext>
            </a:extLst>
          </p:cNvPr>
          <p:cNvSpPr txBox="1"/>
          <p:nvPr/>
        </p:nvSpPr>
        <p:spPr>
          <a:xfrm>
            <a:off x="97877" y="2794788"/>
            <a:ext cx="366036" cy="1600438"/>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停车位置沟通</a:t>
            </a:r>
          </a:p>
        </p:txBody>
      </p:sp>
      <p:sp>
        <p:nvSpPr>
          <p:cNvPr id="10" name="文本框 9">
            <a:extLst>
              <a:ext uri="{FF2B5EF4-FFF2-40B4-BE49-F238E27FC236}">
                <a16:creationId xmlns:a16="http://schemas.microsoft.com/office/drawing/2014/main" id="{1CB2A347-C899-4900-D528-705E560331A8}"/>
              </a:ext>
            </a:extLst>
          </p:cNvPr>
          <p:cNvSpPr txBox="1"/>
          <p:nvPr/>
        </p:nvSpPr>
        <p:spPr>
          <a:xfrm>
            <a:off x="506726" y="700491"/>
            <a:ext cx="1525188" cy="2554545"/>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小区门口或者进小区</a:t>
            </a:r>
            <a:endParaRPr lang="en-US" altLang="zh-CN" sz="12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a:extLst>
              <a:ext uri="{FF2B5EF4-FFF2-40B4-BE49-F238E27FC236}">
                <a16:creationId xmlns:a16="http://schemas.microsoft.com/office/drawing/2014/main" id="{5B3D2ED3-C68E-2CA2-B54C-9DB48CF5FCBF}"/>
              </a:ext>
            </a:extLst>
          </p:cNvPr>
          <p:cNvSpPr txBox="1"/>
          <p:nvPr/>
        </p:nvSpPr>
        <p:spPr>
          <a:xfrm>
            <a:off x="2143529" y="1384066"/>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a:extLst>
              <a:ext uri="{FF2B5EF4-FFF2-40B4-BE49-F238E27FC236}">
                <a16:creationId xmlns:a16="http://schemas.microsoft.com/office/drawing/2014/main" id="{ADB97B59-6BE1-501B-A509-FFB63E996DBF}"/>
              </a:ext>
            </a:extLst>
          </p:cNvPr>
          <p:cNvSpPr txBox="1"/>
          <p:nvPr/>
        </p:nvSpPr>
        <p:spPr>
          <a:xfrm>
            <a:off x="8166518" y="1441633"/>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a:extLst>
              <a:ext uri="{FF2B5EF4-FFF2-40B4-BE49-F238E27FC236}">
                <a16:creationId xmlns:a16="http://schemas.microsoft.com/office/drawing/2014/main" id="{80F8693C-FDBB-2827-AA8F-E4DF0EAA49A3}"/>
              </a:ext>
            </a:extLst>
          </p:cNvPr>
          <p:cNvCxnSpPr/>
          <p:nvPr/>
        </p:nvCxnSpPr>
        <p:spPr>
          <a:xfrm>
            <a:off x="3733800" y="1834362"/>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B1F5429C-359D-C5EE-E665-5310144FDFA4}"/>
              </a:ext>
            </a:extLst>
          </p:cNvPr>
          <p:cNvCxnSpPr/>
          <p:nvPr/>
        </p:nvCxnSpPr>
        <p:spPr>
          <a:xfrm>
            <a:off x="6855230" y="185026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a:extLst>
              <a:ext uri="{FF2B5EF4-FFF2-40B4-BE49-F238E27FC236}">
                <a16:creationId xmlns:a16="http://schemas.microsoft.com/office/drawing/2014/main" id="{A7C1B29A-0B8B-EC84-D612-0207DD2353B5}"/>
              </a:ext>
            </a:extLst>
          </p:cNvPr>
          <p:cNvSpPr txBox="1"/>
          <p:nvPr/>
        </p:nvSpPr>
        <p:spPr>
          <a:xfrm>
            <a:off x="483782" y="1390273"/>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高频场景</a:t>
            </a:r>
          </a:p>
        </p:txBody>
      </p:sp>
      <p:cxnSp>
        <p:nvCxnSpPr>
          <p:cNvPr id="34" name="直接连接符 33">
            <a:extLst>
              <a:ext uri="{FF2B5EF4-FFF2-40B4-BE49-F238E27FC236}">
                <a16:creationId xmlns:a16="http://schemas.microsoft.com/office/drawing/2014/main" id="{93D01638-C8FF-3B02-9F34-96A1274D79C0}"/>
              </a:ext>
            </a:extLst>
          </p:cNvPr>
          <p:cNvCxnSpPr/>
          <p:nvPr/>
        </p:nvCxnSpPr>
        <p:spPr>
          <a:xfrm>
            <a:off x="1933280" y="1810163"/>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a:extLst>
              <a:ext uri="{FF2B5EF4-FFF2-40B4-BE49-F238E27FC236}">
                <a16:creationId xmlns:a16="http://schemas.microsoft.com/office/drawing/2014/main" id="{039956EE-3A8A-B4DC-6EA6-B6FBED754CBC}"/>
              </a:ext>
            </a:extLst>
          </p:cNvPr>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4" name="文本框 13">
            <a:extLst>
              <a:ext uri="{FF2B5EF4-FFF2-40B4-BE49-F238E27FC236}">
                <a16:creationId xmlns:a16="http://schemas.microsoft.com/office/drawing/2014/main" id="{F737EA1E-CFF8-CF19-2087-5F68DA0D4895}"/>
              </a:ext>
            </a:extLst>
          </p:cNvPr>
          <p:cNvSpPr txBox="1"/>
          <p:nvPr/>
        </p:nvSpPr>
        <p:spPr>
          <a:xfrm>
            <a:off x="2045479" y="2399455"/>
            <a:ext cx="1718579" cy="790666"/>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050" dirty="0"/>
              <a:t>专车可按客户需求进入小区</a:t>
            </a:r>
            <a:endParaRPr lang="en-US" altLang="zh-CN" sz="1050" dirty="0"/>
          </a:p>
          <a:p>
            <a:pPr marL="171450" indent="-171450">
              <a:lnSpc>
                <a:spcPct val="150000"/>
              </a:lnSpc>
              <a:buFont typeface="Arial" panose="020B0604020202020204" pitchFamily="34" charset="0"/>
              <a:buChar char="•"/>
            </a:pPr>
            <a:r>
              <a:rPr lang="zh-CN" altLang="en-US" sz="1050" dirty="0"/>
              <a:t>快车大多到小区门口</a:t>
            </a:r>
          </a:p>
        </p:txBody>
      </p:sp>
      <p:sp>
        <p:nvSpPr>
          <p:cNvPr id="19" name="文本框 18">
            <a:extLst>
              <a:ext uri="{FF2B5EF4-FFF2-40B4-BE49-F238E27FC236}">
                <a16:creationId xmlns:a16="http://schemas.microsoft.com/office/drawing/2014/main" id="{B9AFA83D-3C11-D756-8CA3-F0784EB779E7}"/>
              </a:ext>
            </a:extLst>
          </p:cNvPr>
          <p:cNvSpPr txBox="1"/>
          <p:nvPr/>
        </p:nvSpPr>
        <p:spPr>
          <a:xfrm>
            <a:off x="3957032" y="1977764"/>
            <a:ext cx="2358338"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行车不便小区，司机都不爱去</a:t>
            </a:r>
          </a:p>
        </p:txBody>
      </p:sp>
      <p:sp>
        <p:nvSpPr>
          <p:cNvPr id="20" name="文本框 19">
            <a:extLst>
              <a:ext uri="{FF2B5EF4-FFF2-40B4-BE49-F238E27FC236}">
                <a16:creationId xmlns:a16="http://schemas.microsoft.com/office/drawing/2014/main" id="{195FA85B-6F1F-9F4D-17C6-508233309F4C}"/>
              </a:ext>
            </a:extLst>
          </p:cNvPr>
          <p:cNvSpPr txBox="1"/>
          <p:nvPr/>
        </p:nvSpPr>
        <p:spPr>
          <a:xfrm>
            <a:off x="4009108" y="2294868"/>
            <a:ext cx="2620236" cy="56996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100" dirty="0"/>
              <a:t>老小区，可能需要倒出来，耽误时间</a:t>
            </a:r>
            <a:endParaRPr lang="en-US" altLang="zh-CN" sz="1100" dirty="0"/>
          </a:p>
          <a:p>
            <a:pPr marL="171450" indent="-171450">
              <a:lnSpc>
                <a:spcPct val="150000"/>
              </a:lnSpc>
              <a:buFont typeface="Arial" panose="020B0604020202020204" pitchFamily="34" charset="0"/>
              <a:buChar char="•"/>
            </a:pPr>
            <a:r>
              <a:rPr lang="zh-CN" altLang="en-US" sz="1100" dirty="0"/>
              <a:t>快车司机没这项服务</a:t>
            </a:r>
          </a:p>
        </p:txBody>
      </p:sp>
      <p:sp>
        <p:nvSpPr>
          <p:cNvPr id="21" name="文本框 20">
            <a:extLst>
              <a:ext uri="{FF2B5EF4-FFF2-40B4-BE49-F238E27FC236}">
                <a16:creationId xmlns:a16="http://schemas.microsoft.com/office/drawing/2014/main" id="{318AA783-4F7F-E634-EB78-CDDDA350E8B5}"/>
              </a:ext>
            </a:extLst>
          </p:cNvPr>
          <p:cNvSpPr txBox="1"/>
          <p:nvPr/>
        </p:nvSpPr>
        <p:spPr>
          <a:xfrm>
            <a:off x="3860541" y="3008653"/>
            <a:ext cx="973343"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高端小区</a:t>
            </a:r>
          </a:p>
        </p:txBody>
      </p:sp>
      <p:sp>
        <p:nvSpPr>
          <p:cNvPr id="23" name="文本框 22">
            <a:extLst>
              <a:ext uri="{FF2B5EF4-FFF2-40B4-BE49-F238E27FC236}">
                <a16:creationId xmlns:a16="http://schemas.microsoft.com/office/drawing/2014/main" id="{2A48CABE-1F9B-EEA5-09A6-ED3E47246754}"/>
              </a:ext>
            </a:extLst>
          </p:cNvPr>
          <p:cNvSpPr txBox="1"/>
          <p:nvPr/>
        </p:nvSpPr>
        <p:spPr>
          <a:xfrm>
            <a:off x="4026653" y="3323544"/>
            <a:ext cx="2620236" cy="31489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100" dirty="0"/>
              <a:t>还需要保安协调放行</a:t>
            </a:r>
          </a:p>
        </p:txBody>
      </p:sp>
      <p:sp>
        <p:nvSpPr>
          <p:cNvPr id="30" name="文本框 29">
            <a:extLst>
              <a:ext uri="{FF2B5EF4-FFF2-40B4-BE49-F238E27FC236}">
                <a16:creationId xmlns:a16="http://schemas.microsoft.com/office/drawing/2014/main" id="{54041605-8A22-0BD3-D65C-AA67ABC719F1}"/>
              </a:ext>
            </a:extLst>
          </p:cNvPr>
          <p:cNvSpPr txBox="1"/>
          <p:nvPr/>
        </p:nvSpPr>
        <p:spPr>
          <a:xfrm>
            <a:off x="7154063" y="3040951"/>
            <a:ext cx="4864942" cy="2331407"/>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50" dirty="0"/>
              <a:t>目的是小区门口，可提前跟乘客语音提示，是否需要送到小区具体几号楼的楼下</a:t>
            </a:r>
            <a:endParaRPr lang="en-US" altLang="zh-CN" sz="1050" dirty="0"/>
          </a:p>
          <a:p>
            <a:pPr marL="171450" indent="-171450">
              <a:spcBef>
                <a:spcPts val="600"/>
              </a:spcBef>
              <a:buFont typeface="Wingdings" panose="05000000000000000000" pitchFamily="2" charset="2"/>
              <a:buChar char="ü"/>
            </a:pPr>
            <a:r>
              <a:rPr lang="zh-CN" altLang="en-US" sz="1050" dirty="0"/>
              <a:t>如果目的地就是小区楼号，可支持智驾导航到地面楼门口</a:t>
            </a:r>
            <a:endParaRPr lang="en-US" altLang="zh-CN" sz="1050" dirty="0"/>
          </a:p>
          <a:p>
            <a:pPr marL="171450" indent="-171450">
              <a:spcBef>
                <a:spcPts val="600"/>
              </a:spcBef>
              <a:buFont typeface="Wingdings" panose="05000000000000000000" pitchFamily="2" charset="2"/>
              <a:buChar char="ü"/>
            </a:pPr>
            <a:r>
              <a:rPr lang="zh-CN" altLang="en-US" sz="1050" dirty="0"/>
              <a:t>如果目的地是写字楼与或者高档酒店，智驾可语音提示是否需要停在专属下客区还是停车场</a:t>
            </a:r>
            <a:r>
              <a:rPr lang="en-US" altLang="zh-CN" sz="1050" dirty="0"/>
              <a:t>or</a:t>
            </a:r>
            <a:r>
              <a:rPr lang="zh-CN" altLang="en-US" sz="1050" dirty="0"/>
              <a:t> 门口下车</a:t>
            </a:r>
            <a:r>
              <a:rPr lang="en-US" altLang="zh-CN" sz="1050" dirty="0"/>
              <a:t>(</a:t>
            </a:r>
            <a:r>
              <a:rPr lang="zh-CN" altLang="en-US" sz="1050" dirty="0"/>
              <a:t>前提是</a:t>
            </a:r>
            <a:r>
              <a:rPr lang="en-US" altLang="zh-CN" sz="1050" dirty="0"/>
              <a:t>NOA</a:t>
            </a:r>
            <a:r>
              <a:rPr lang="zh-CN" altLang="en-US" sz="1050" dirty="0"/>
              <a:t>支持）（距离目的地是</a:t>
            </a:r>
            <a:r>
              <a:rPr lang="en-US" altLang="zh-CN" sz="1050" dirty="0"/>
              <a:t>50-100</a:t>
            </a:r>
            <a:r>
              <a:rPr lang="zh-CN" altLang="en-US" sz="1050" dirty="0"/>
              <a:t>米时提示）</a:t>
            </a:r>
            <a:endParaRPr lang="en-US" altLang="zh-CN" sz="1050" dirty="0"/>
          </a:p>
          <a:p>
            <a:pPr marL="171450" indent="-171450">
              <a:spcBef>
                <a:spcPts val="600"/>
              </a:spcBef>
              <a:buFont typeface="Wingdings" panose="05000000000000000000" pitchFamily="2" charset="2"/>
              <a:buChar char="ü"/>
            </a:pPr>
            <a:r>
              <a:rPr lang="zh-CN" altLang="en-US" sz="1050" dirty="0"/>
              <a:t>对于收费停车场可绑定车牌号授权支持自动缴费（如支付宝小程序）</a:t>
            </a:r>
            <a:endParaRPr lang="en-US" altLang="zh-CN" sz="1050" dirty="0"/>
          </a:p>
          <a:p>
            <a:pPr marL="171450" indent="-171450">
              <a:spcBef>
                <a:spcPts val="600"/>
              </a:spcBef>
              <a:buFont typeface="Wingdings" panose="05000000000000000000" pitchFamily="2" charset="2"/>
              <a:buChar char="ü"/>
            </a:pPr>
            <a:r>
              <a:rPr lang="zh-CN" altLang="en-US" sz="1050" dirty="0"/>
              <a:t>智驾能够识别简单的小区保安，酒店接待人员手势，停一下或者继续行驶</a:t>
            </a:r>
            <a:endParaRPr lang="en-US" altLang="zh-CN" sz="1050" dirty="0"/>
          </a:p>
          <a:p>
            <a:pPr marL="171450" indent="-171450">
              <a:spcBef>
                <a:spcPts val="600"/>
              </a:spcBef>
              <a:buFont typeface="Wingdings" panose="05000000000000000000" pitchFamily="2" charset="2"/>
              <a:buChar char="ü"/>
            </a:pPr>
            <a:r>
              <a:rPr lang="zh-CN" altLang="en-US" sz="1050" dirty="0"/>
              <a:t>对于目的地是老小区不好停车的，提前提醒乘客，目的地不好停车，是否提前下车或泊车</a:t>
            </a:r>
            <a:endParaRPr lang="en-US" altLang="zh-CN" sz="1050" dirty="0"/>
          </a:p>
          <a:p>
            <a:pPr>
              <a:spcBef>
                <a:spcPts val="600"/>
              </a:spcBef>
            </a:pPr>
            <a:endParaRPr lang="en-US" altLang="zh-CN" sz="1050" dirty="0"/>
          </a:p>
        </p:txBody>
      </p:sp>
      <p:sp>
        <p:nvSpPr>
          <p:cNvPr id="8" name="文本框 7">
            <a:extLst>
              <a:ext uri="{FF2B5EF4-FFF2-40B4-BE49-F238E27FC236}">
                <a16:creationId xmlns:a16="http://schemas.microsoft.com/office/drawing/2014/main" id="{9ADD35AE-D876-E258-118F-65C9E7AE5479}"/>
              </a:ext>
            </a:extLst>
          </p:cNvPr>
          <p:cNvSpPr txBox="1"/>
          <p:nvPr/>
        </p:nvSpPr>
        <p:spPr>
          <a:xfrm>
            <a:off x="388246" y="5022894"/>
            <a:ext cx="1718578" cy="276999"/>
          </a:xfrm>
          <a:prstGeom prst="rect">
            <a:avLst/>
          </a:prstGeom>
          <a:noFill/>
        </p:spPr>
        <p:txBody>
          <a:bodyPr wrap="square" rtlCol="0">
            <a:spAutoFit/>
          </a:bodyPr>
          <a:lstStyle/>
          <a:p>
            <a:pPr marL="285750" indent="-285750">
              <a:buFont typeface="Wingdings" panose="05000000000000000000" pitchFamily="2" charset="2"/>
              <a:buChar char="p"/>
            </a:pPr>
            <a:r>
              <a:rPr lang="zh-CN" altLang="en-US" sz="1200" b="1" dirty="0"/>
              <a:t>商务接待区下车</a:t>
            </a:r>
          </a:p>
        </p:txBody>
      </p:sp>
      <p:cxnSp>
        <p:nvCxnSpPr>
          <p:cNvPr id="11" name="直接连接符 10">
            <a:extLst>
              <a:ext uri="{FF2B5EF4-FFF2-40B4-BE49-F238E27FC236}">
                <a16:creationId xmlns:a16="http://schemas.microsoft.com/office/drawing/2014/main" id="{AE15DEBD-C300-7360-00C0-9AA01D43F46D}"/>
              </a:ext>
            </a:extLst>
          </p:cNvPr>
          <p:cNvCxnSpPr>
            <a:cxnSpLocks/>
          </p:cNvCxnSpPr>
          <p:nvPr/>
        </p:nvCxnSpPr>
        <p:spPr>
          <a:xfrm>
            <a:off x="684434" y="4086754"/>
            <a:ext cx="6242577"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DDCEEC42-ABFE-F0ED-5956-E7D0A8A605DF}"/>
              </a:ext>
            </a:extLst>
          </p:cNvPr>
          <p:cNvSpPr txBox="1"/>
          <p:nvPr/>
        </p:nvSpPr>
        <p:spPr>
          <a:xfrm>
            <a:off x="2015221" y="4549082"/>
            <a:ext cx="1718579" cy="548292"/>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050" dirty="0"/>
              <a:t>商务接待区下车，直接进大厅，节省时间</a:t>
            </a:r>
          </a:p>
        </p:txBody>
      </p:sp>
      <p:sp>
        <p:nvSpPr>
          <p:cNvPr id="31" name="文本框 30">
            <a:extLst>
              <a:ext uri="{FF2B5EF4-FFF2-40B4-BE49-F238E27FC236}">
                <a16:creationId xmlns:a16="http://schemas.microsoft.com/office/drawing/2014/main" id="{75E350E6-91E3-F143-9C88-954625FA4F62}"/>
              </a:ext>
            </a:extLst>
          </p:cNvPr>
          <p:cNvSpPr txBox="1"/>
          <p:nvPr/>
        </p:nvSpPr>
        <p:spPr>
          <a:xfrm>
            <a:off x="3860541" y="4316841"/>
            <a:ext cx="1323080" cy="276999"/>
          </a:xfrm>
          <a:prstGeom prst="rect">
            <a:avLst/>
          </a:prstGeom>
          <a:noFill/>
        </p:spPr>
        <p:txBody>
          <a:bodyPr wrap="square">
            <a:spAutoFit/>
          </a:bodyPr>
          <a:lstStyle/>
          <a:p>
            <a:pPr marL="171450" indent="-171450">
              <a:buFont typeface="Wingdings" panose="05000000000000000000" pitchFamily="2" charset="2"/>
              <a:buChar char="Ø"/>
            </a:pPr>
            <a:r>
              <a:rPr lang="zh-CN" altLang="en-US" sz="1200" b="1" dirty="0"/>
              <a:t>商务接待区</a:t>
            </a:r>
          </a:p>
        </p:txBody>
      </p:sp>
      <p:sp>
        <p:nvSpPr>
          <p:cNvPr id="33" name="文本框 32">
            <a:extLst>
              <a:ext uri="{FF2B5EF4-FFF2-40B4-BE49-F238E27FC236}">
                <a16:creationId xmlns:a16="http://schemas.microsoft.com/office/drawing/2014/main" id="{A141063C-851C-23CF-118E-E3F199588E56}"/>
              </a:ext>
            </a:extLst>
          </p:cNvPr>
          <p:cNvSpPr txBox="1"/>
          <p:nvPr/>
        </p:nvSpPr>
        <p:spPr>
          <a:xfrm>
            <a:off x="4009108" y="4639612"/>
            <a:ext cx="1178528" cy="822726"/>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sz="1100" dirty="0"/>
              <a:t>商务写字楼</a:t>
            </a:r>
            <a:endParaRPr lang="en-US" altLang="zh-CN" sz="1100" dirty="0"/>
          </a:p>
          <a:p>
            <a:pPr marL="285750" indent="-285750">
              <a:lnSpc>
                <a:spcPct val="150000"/>
              </a:lnSpc>
              <a:buFont typeface="Arial" panose="020B0604020202020204" pitchFamily="34" charset="0"/>
              <a:buChar char="•"/>
            </a:pPr>
            <a:r>
              <a:rPr lang="zh-CN" altLang="en-US" sz="1100" dirty="0"/>
              <a:t>高端酒店</a:t>
            </a:r>
            <a:endParaRPr lang="en-US" altLang="zh-CN" sz="1100" dirty="0"/>
          </a:p>
          <a:p>
            <a:pPr marL="285750" indent="-285750">
              <a:lnSpc>
                <a:spcPct val="150000"/>
              </a:lnSpc>
              <a:buFont typeface="Arial" panose="020B0604020202020204" pitchFamily="34" charset="0"/>
              <a:buChar char="•"/>
            </a:pPr>
            <a:r>
              <a:rPr lang="zh-CN" altLang="en-US" sz="1100" dirty="0"/>
              <a:t>高端饭店</a:t>
            </a:r>
          </a:p>
        </p:txBody>
      </p:sp>
      <p:sp>
        <p:nvSpPr>
          <p:cNvPr id="39" name="文本框 38">
            <a:extLst>
              <a:ext uri="{FF2B5EF4-FFF2-40B4-BE49-F238E27FC236}">
                <a16:creationId xmlns:a16="http://schemas.microsoft.com/office/drawing/2014/main" id="{EE85CB2B-01C3-97EA-1AFA-9CA8AEFC162E}"/>
              </a:ext>
            </a:extLst>
          </p:cNvPr>
          <p:cNvSpPr txBox="1"/>
          <p:nvPr/>
        </p:nvSpPr>
        <p:spPr>
          <a:xfrm>
            <a:off x="6792426" y="2764136"/>
            <a:ext cx="723275" cy="253916"/>
          </a:xfrm>
          <a:prstGeom prst="rect">
            <a:avLst/>
          </a:prstGeom>
          <a:noFill/>
        </p:spPr>
        <p:txBody>
          <a:bodyPr wrap="none" rtlCol="0">
            <a:spAutoFit/>
          </a:bodyPr>
          <a:lstStyle/>
          <a:p>
            <a:r>
              <a:rPr lang="zh-CN" altLang="en-US" sz="1050" b="1" dirty="0"/>
              <a:t>机会点：</a:t>
            </a:r>
          </a:p>
        </p:txBody>
      </p:sp>
      <p:sp>
        <p:nvSpPr>
          <p:cNvPr id="40" name="文本框 39">
            <a:extLst>
              <a:ext uri="{FF2B5EF4-FFF2-40B4-BE49-F238E27FC236}">
                <a16:creationId xmlns:a16="http://schemas.microsoft.com/office/drawing/2014/main" id="{81E1CEC7-E31E-8432-1229-3A85FC9C6C10}"/>
              </a:ext>
            </a:extLst>
          </p:cNvPr>
          <p:cNvSpPr txBox="1"/>
          <p:nvPr/>
        </p:nvSpPr>
        <p:spPr>
          <a:xfrm>
            <a:off x="6841246" y="5118443"/>
            <a:ext cx="588623" cy="253916"/>
          </a:xfrm>
          <a:prstGeom prst="rect">
            <a:avLst/>
          </a:prstGeom>
          <a:noFill/>
        </p:spPr>
        <p:txBody>
          <a:bodyPr wrap="none" rtlCol="0">
            <a:spAutoFit/>
          </a:bodyPr>
          <a:lstStyle/>
          <a:p>
            <a:r>
              <a:rPr lang="zh-CN" altLang="en-US" sz="1050" b="1" dirty="0"/>
              <a:t>展望：</a:t>
            </a:r>
          </a:p>
        </p:txBody>
      </p:sp>
      <p:sp>
        <p:nvSpPr>
          <p:cNvPr id="41" name="文本框 40">
            <a:extLst>
              <a:ext uri="{FF2B5EF4-FFF2-40B4-BE49-F238E27FC236}">
                <a16:creationId xmlns:a16="http://schemas.microsoft.com/office/drawing/2014/main" id="{D9373034-E1C6-F82C-458E-90B67BD20A26}"/>
              </a:ext>
            </a:extLst>
          </p:cNvPr>
          <p:cNvSpPr txBox="1"/>
          <p:nvPr/>
        </p:nvSpPr>
        <p:spPr>
          <a:xfrm>
            <a:off x="6790662" y="1828478"/>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43" name="文本框 42">
            <a:extLst>
              <a:ext uri="{FF2B5EF4-FFF2-40B4-BE49-F238E27FC236}">
                <a16:creationId xmlns:a16="http://schemas.microsoft.com/office/drawing/2014/main" id="{64A4549C-5405-8527-A1EB-C6E82C5B397F}"/>
              </a:ext>
            </a:extLst>
          </p:cNvPr>
          <p:cNvSpPr txBox="1"/>
          <p:nvPr/>
        </p:nvSpPr>
        <p:spPr>
          <a:xfrm>
            <a:off x="7154064" y="2039650"/>
            <a:ext cx="4970272" cy="790666"/>
          </a:xfrm>
          <a:prstGeom prst="rect">
            <a:avLst/>
          </a:prstGeom>
          <a:noFill/>
        </p:spPr>
        <p:txBody>
          <a:bodyPr wrap="square" rtlCol="0">
            <a:spAutoFit/>
          </a:bodyPr>
          <a:lstStyle/>
          <a:p>
            <a:pPr marL="285750" indent="-285750">
              <a:lnSpc>
                <a:spcPct val="150000"/>
              </a:lnSpc>
              <a:buFont typeface="Wingdings" panose="05000000000000000000" pitchFamily="2" charset="2"/>
              <a:buChar char="ü"/>
            </a:pPr>
            <a:r>
              <a:rPr lang="zh-CN" altLang="en-US" sz="1050" dirty="0"/>
              <a:t>通过提前学习泊车，部分场景支持</a:t>
            </a:r>
            <a:r>
              <a:rPr lang="en-US" altLang="zh-CN" sz="1050" dirty="0"/>
              <a:t>D2D</a:t>
            </a:r>
            <a:r>
              <a:rPr lang="zh-CN" altLang="en-US" sz="1050" dirty="0"/>
              <a:t>场景，但是对于陌生地点不支持</a:t>
            </a:r>
            <a:endParaRPr lang="en-US" altLang="zh-CN" sz="1050" dirty="0"/>
          </a:p>
          <a:p>
            <a:pPr marL="285750" indent="-285750">
              <a:lnSpc>
                <a:spcPct val="150000"/>
              </a:lnSpc>
              <a:buFont typeface="Wingdings" panose="05000000000000000000" pitchFamily="2" charset="2"/>
              <a:buChar char="ü"/>
            </a:pPr>
            <a:r>
              <a:rPr lang="zh-CN" altLang="en-US" sz="1050" dirty="0"/>
              <a:t>智驾可提前记忆车位，但不支持记忆临停位置，不支持陌生小区或者园区内行驶，到闸机口智驾就退出了</a:t>
            </a:r>
          </a:p>
        </p:txBody>
      </p:sp>
      <p:sp>
        <p:nvSpPr>
          <p:cNvPr id="4" name="文本框 3">
            <a:extLst>
              <a:ext uri="{FF2B5EF4-FFF2-40B4-BE49-F238E27FC236}">
                <a16:creationId xmlns:a16="http://schemas.microsoft.com/office/drawing/2014/main" id="{82B57D0F-257D-65EE-2F50-4CBC7A58F954}"/>
              </a:ext>
            </a:extLst>
          </p:cNvPr>
          <p:cNvSpPr txBox="1"/>
          <p:nvPr/>
        </p:nvSpPr>
        <p:spPr>
          <a:xfrm>
            <a:off x="7104652" y="5416367"/>
            <a:ext cx="4833202" cy="892552"/>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50" dirty="0"/>
              <a:t>支持</a:t>
            </a:r>
            <a:r>
              <a:rPr lang="en-US" altLang="zh-CN" sz="1050" dirty="0"/>
              <a:t>L4</a:t>
            </a:r>
            <a:r>
              <a:rPr lang="zh-CN" altLang="en-US" sz="1050" dirty="0"/>
              <a:t>全场景，解决所有最后</a:t>
            </a:r>
            <a:r>
              <a:rPr lang="en-US" altLang="zh-CN" sz="1050" dirty="0"/>
              <a:t>100</a:t>
            </a:r>
            <a:r>
              <a:rPr lang="zh-CN" altLang="en-US" sz="1050" dirty="0"/>
              <a:t>米的场景，园区内，小区，地上地下停车场，做到真正的车位到车位（</a:t>
            </a:r>
            <a:r>
              <a:rPr lang="en-US" altLang="zh-CN" sz="1050" dirty="0"/>
              <a:t>D2D</a:t>
            </a:r>
            <a:r>
              <a:rPr lang="zh-CN" altLang="en-US" sz="1050" dirty="0"/>
              <a:t>）</a:t>
            </a:r>
            <a:endParaRPr lang="en-US" altLang="zh-CN" sz="1050" dirty="0"/>
          </a:p>
          <a:p>
            <a:pPr marL="171450" indent="-171450">
              <a:spcBef>
                <a:spcPts val="600"/>
              </a:spcBef>
              <a:buFont typeface="Wingdings" panose="05000000000000000000" pitchFamily="2" charset="2"/>
              <a:buChar char="ü"/>
            </a:pPr>
            <a:r>
              <a:rPr lang="zh-CN" altLang="en-US" sz="1050" dirty="0"/>
              <a:t>能够车外语音交互控制智驾，支持小区保安或管理人员指导停车</a:t>
            </a:r>
            <a:endParaRPr lang="en-US" altLang="zh-CN" sz="1050" dirty="0"/>
          </a:p>
          <a:p>
            <a:pPr marL="171450" indent="-171450">
              <a:spcBef>
                <a:spcPts val="600"/>
              </a:spcBef>
              <a:buFont typeface="Wingdings" panose="05000000000000000000" pitchFamily="2" charset="2"/>
              <a:buChar char="ü"/>
            </a:pPr>
            <a:endParaRPr lang="zh-CN" altLang="en-US" sz="1050" dirty="0"/>
          </a:p>
        </p:txBody>
      </p:sp>
    </p:spTree>
    <p:extLst>
      <p:ext uri="{BB962C8B-B14F-4D97-AF65-F5344CB8AC3E}">
        <p14:creationId xmlns:p14="http://schemas.microsoft.com/office/powerpoint/2010/main" val="3719361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62F1D-BB39-2C8F-0D5B-4230D88776A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40BA979-97B3-6AEE-C99E-5A1080F1D9AF}"/>
              </a:ext>
            </a:extLst>
          </p:cNvPr>
          <p:cNvSpPr>
            <a:spLocks noGrp="1"/>
          </p:cNvSpPr>
          <p:nvPr>
            <p:ph type="title" idx="4294967295"/>
          </p:nvPr>
        </p:nvSpPr>
        <p:spPr>
          <a:xfrm>
            <a:off x="669924" y="433637"/>
            <a:ext cx="10440000" cy="595063"/>
          </a:xfrm>
        </p:spPr>
        <p:txBody>
          <a:bodyPr/>
          <a:lstStyle/>
          <a:p>
            <a:r>
              <a:rPr lang="zh-CN" altLang="en-US" dirty="0"/>
              <a:t>到达阶段</a:t>
            </a:r>
            <a:r>
              <a:rPr lang="en-US" altLang="zh-CN" dirty="0"/>
              <a:t>——</a:t>
            </a:r>
            <a:r>
              <a:rPr lang="zh-CN" altLang="en-US" dirty="0"/>
              <a:t>安全提醒</a:t>
            </a:r>
          </a:p>
        </p:txBody>
      </p:sp>
      <p:sp>
        <p:nvSpPr>
          <p:cNvPr id="16" name="文本占位符 4">
            <a:extLst>
              <a:ext uri="{FF2B5EF4-FFF2-40B4-BE49-F238E27FC236}">
                <a16:creationId xmlns:a16="http://schemas.microsoft.com/office/drawing/2014/main" id="{48629EE7-111E-7DE8-AA61-01E5FBBD0A22}"/>
              </a:ext>
            </a:extLst>
          </p:cNvPr>
          <p:cNvSpPr txBox="1"/>
          <p:nvPr/>
        </p:nvSpPr>
        <p:spPr>
          <a:xfrm>
            <a:off x="5183625" y="1395662"/>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a:extLst>
              <a:ext uri="{FF2B5EF4-FFF2-40B4-BE49-F238E27FC236}">
                <a16:creationId xmlns:a16="http://schemas.microsoft.com/office/drawing/2014/main" id="{40FED661-1BFE-00D6-660B-E9EA31F3FE9C}"/>
              </a:ext>
            </a:extLst>
          </p:cNvPr>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a:extLst>
              <a:ext uri="{FF2B5EF4-FFF2-40B4-BE49-F238E27FC236}">
                <a16:creationId xmlns:a16="http://schemas.microsoft.com/office/drawing/2014/main" id="{A4BC52DE-6E6D-EDE1-A9C1-2E70F55614BF}"/>
              </a:ext>
            </a:extLst>
          </p:cNvPr>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a:extLst>
              <a:ext uri="{FF2B5EF4-FFF2-40B4-BE49-F238E27FC236}">
                <a16:creationId xmlns:a16="http://schemas.microsoft.com/office/drawing/2014/main" id="{3A5A7BCF-62F1-752E-31DA-B6A477F00C92}"/>
              </a:ext>
            </a:extLst>
          </p:cNvPr>
          <p:cNvSpPr txBox="1"/>
          <p:nvPr/>
        </p:nvSpPr>
        <p:spPr>
          <a:xfrm>
            <a:off x="97877" y="2794788"/>
            <a:ext cx="366036" cy="1169551"/>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安全提醒</a:t>
            </a:r>
          </a:p>
        </p:txBody>
      </p:sp>
      <p:sp>
        <p:nvSpPr>
          <p:cNvPr id="10" name="文本框 9">
            <a:extLst>
              <a:ext uri="{FF2B5EF4-FFF2-40B4-BE49-F238E27FC236}">
                <a16:creationId xmlns:a16="http://schemas.microsoft.com/office/drawing/2014/main" id="{4C20BABA-E74E-9A14-AE9F-B6010BD92CBE}"/>
              </a:ext>
            </a:extLst>
          </p:cNvPr>
          <p:cNvSpPr txBox="1"/>
          <p:nvPr/>
        </p:nvSpPr>
        <p:spPr>
          <a:xfrm>
            <a:off x="425035" y="2186095"/>
            <a:ext cx="1169602" cy="3708708"/>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开门刹等安全提醒</a:t>
            </a: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遗留物品与行李提醒</a:t>
            </a: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r>
              <a:rPr lang="zh-CN" altLang="en-US" sz="1200" b="1" dirty="0">
                <a:solidFill>
                  <a:srgbClr val="000000"/>
                </a:solidFill>
                <a:latin typeface="微软雅黑" panose="020B0503020204020204" pitchFamily="34" charset="-122"/>
                <a:ea typeface="微软雅黑" panose="020B0503020204020204" pitchFamily="34" charset="-122"/>
              </a:rPr>
              <a:t>特殊乘客安全提醒</a:t>
            </a:r>
            <a:endParaRPr lang="en-US" altLang="zh-CN" sz="12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a:extLst>
              <a:ext uri="{FF2B5EF4-FFF2-40B4-BE49-F238E27FC236}">
                <a16:creationId xmlns:a16="http://schemas.microsoft.com/office/drawing/2014/main" id="{11D99126-7D5C-B24A-B173-2C1495D866DB}"/>
              </a:ext>
            </a:extLst>
          </p:cNvPr>
          <p:cNvSpPr txBox="1"/>
          <p:nvPr/>
        </p:nvSpPr>
        <p:spPr>
          <a:xfrm>
            <a:off x="2143529" y="1384066"/>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a:extLst>
              <a:ext uri="{FF2B5EF4-FFF2-40B4-BE49-F238E27FC236}">
                <a16:creationId xmlns:a16="http://schemas.microsoft.com/office/drawing/2014/main" id="{297C0E61-56BD-5318-7BA1-89E9E3E031BF}"/>
              </a:ext>
            </a:extLst>
          </p:cNvPr>
          <p:cNvSpPr txBox="1"/>
          <p:nvPr/>
        </p:nvSpPr>
        <p:spPr>
          <a:xfrm>
            <a:off x="9262073" y="1398077"/>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a:extLst>
              <a:ext uri="{FF2B5EF4-FFF2-40B4-BE49-F238E27FC236}">
                <a16:creationId xmlns:a16="http://schemas.microsoft.com/office/drawing/2014/main" id="{06E84148-2363-1C0F-17DB-87B0F4DC33D5}"/>
              </a:ext>
            </a:extLst>
          </p:cNvPr>
          <p:cNvCxnSpPr/>
          <p:nvPr/>
        </p:nvCxnSpPr>
        <p:spPr>
          <a:xfrm>
            <a:off x="2599084" y="185026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9878F902-E41C-4697-E6F0-C9009780D456}"/>
              </a:ext>
            </a:extLst>
          </p:cNvPr>
          <p:cNvCxnSpPr/>
          <p:nvPr/>
        </p:nvCxnSpPr>
        <p:spPr>
          <a:xfrm>
            <a:off x="6493824" y="1804339"/>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a:extLst>
              <a:ext uri="{FF2B5EF4-FFF2-40B4-BE49-F238E27FC236}">
                <a16:creationId xmlns:a16="http://schemas.microsoft.com/office/drawing/2014/main" id="{A9945258-0FEB-AD1C-DFC6-4056DCC6FEA2}"/>
              </a:ext>
            </a:extLst>
          </p:cNvPr>
          <p:cNvSpPr txBox="1"/>
          <p:nvPr/>
        </p:nvSpPr>
        <p:spPr>
          <a:xfrm>
            <a:off x="483782" y="1390273"/>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高频场景</a:t>
            </a:r>
          </a:p>
        </p:txBody>
      </p:sp>
      <p:cxnSp>
        <p:nvCxnSpPr>
          <p:cNvPr id="34" name="直接连接符 33">
            <a:extLst>
              <a:ext uri="{FF2B5EF4-FFF2-40B4-BE49-F238E27FC236}">
                <a16:creationId xmlns:a16="http://schemas.microsoft.com/office/drawing/2014/main" id="{7B0E34B3-D968-4D9F-A48C-6588F870B4CD}"/>
              </a:ext>
            </a:extLst>
          </p:cNvPr>
          <p:cNvCxnSpPr/>
          <p:nvPr/>
        </p:nvCxnSpPr>
        <p:spPr>
          <a:xfrm>
            <a:off x="1575549" y="1804339"/>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a:extLst>
              <a:ext uri="{FF2B5EF4-FFF2-40B4-BE49-F238E27FC236}">
                <a16:creationId xmlns:a16="http://schemas.microsoft.com/office/drawing/2014/main" id="{0D56E540-E60D-2C47-60DC-BBABFA571695}"/>
              </a:ext>
            </a:extLst>
          </p:cNvPr>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6" name="文本框 5">
            <a:extLst>
              <a:ext uri="{FF2B5EF4-FFF2-40B4-BE49-F238E27FC236}">
                <a16:creationId xmlns:a16="http://schemas.microsoft.com/office/drawing/2014/main" id="{0E8E70A6-B845-D47D-1CEB-8F8349A5C671}"/>
              </a:ext>
            </a:extLst>
          </p:cNvPr>
          <p:cNvSpPr txBox="1"/>
          <p:nvPr/>
        </p:nvSpPr>
        <p:spPr>
          <a:xfrm>
            <a:off x="4396220" y="1951222"/>
            <a:ext cx="1486304"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恶劣天气下车提醒</a:t>
            </a:r>
          </a:p>
        </p:txBody>
      </p:sp>
      <p:sp>
        <p:nvSpPr>
          <p:cNvPr id="15" name="文本框 14">
            <a:extLst>
              <a:ext uri="{FF2B5EF4-FFF2-40B4-BE49-F238E27FC236}">
                <a16:creationId xmlns:a16="http://schemas.microsoft.com/office/drawing/2014/main" id="{0354347B-E656-A01A-2A97-91ADB1ACA474}"/>
              </a:ext>
            </a:extLst>
          </p:cNvPr>
          <p:cNvSpPr txBox="1"/>
          <p:nvPr/>
        </p:nvSpPr>
        <p:spPr>
          <a:xfrm>
            <a:off x="2680111" y="1944369"/>
            <a:ext cx="1486304"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特殊路段提醒场景</a:t>
            </a:r>
          </a:p>
        </p:txBody>
      </p:sp>
      <p:sp>
        <p:nvSpPr>
          <p:cNvPr id="50" name="文本框 49">
            <a:extLst>
              <a:ext uri="{FF2B5EF4-FFF2-40B4-BE49-F238E27FC236}">
                <a16:creationId xmlns:a16="http://schemas.microsoft.com/office/drawing/2014/main" id="{DF8585DD-495F-BD62-F50F-5FCC79578FB2}"/>
              </a:ext>
            </a:extLst>
          </p:cNvPr>
          <p:cNvSpPr txBox="1"/>
          <p:nvPr/>
        </p:nvSpPr>
        <p:spPr>
          <a:xfrm>
            <a:off x="2642644" y="3534666"/>
            <a:ext cx="922047"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车内物品</a:t>
            </a:r>
          </a:p>
        </p:txBody>
      </p:sp>
      <p:cxnSp>
        <p:nvCxnSpPr>
          <p:cNvPr id="66" name="直接连接符 65">
            <a:extLst>
              <a:ext uri="{FF2B5EF4-FFF2-40B4-BE49-F238E27FC236}">
                <a16:creationId xmlns:a16="http://schemas.microsoft.com/office/drawing/2014/main" id="{55A3A21C-0FE0-4B62-31EE-CF4F4AAEDC32}"/>
              </a:ext>
            </a:extLst>
          </p:cNvPr>
          <p:cNvCxnSpPr>
            <a:cxnSpLocks/>
          </p:cNvCxnSpPr>
          <p:nvPr/>
        </p:nvCxnSpPr>
        <p:spPr>
          <a:xfrm>
            <a:off x="748037" y="3237031"/>
            <a:ext cx="5745787"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5210E1AD-EA22-B85D-1FB6-E79409DD5B8D}"/>
              </a:ext>
            </a:extLst>
          </p:cNvPr>
          <p:cNvSpPr txBox="1"/>
          <p:nvPr/>
        </p:nvSpPr>
        <p:spPr>
          <a:xfrm>
            <a:off x="1560677" y="2145921"/>
            <a:ext cx="807000" cy="789512"/>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050" dirty="0"/>
              <a:t>后方来车提醒</a:t>
            </a:r>
            <a:endParaRPr lang="en-US" altLang="zh-CN" sz="1050" dirty="0"/>
          </a:p>
          <a:p>
            <a:pPr marL="171450" indent="-171450">
              <a:lnSpc>
                <a:spcPct val="150000"/>
              </a:lnSpc>
              <a:buFont typeface="Arial" panose="020B0604020202020204" pitchFamily="34" charset="0"/>
              <a:buChar char="•"/>
            </a:pPr>
            <a:endParaRPr lang="zh-CN" altLang="en-US" sz="1050" dirty="0"/>
          </a:p>
        </p:txBody>
      </p:sp>
      <p:sp>
        <p:nvSpPr>
          <p:cNvPr id="35" name="文本框 34">
            <a:extLst>
              <a:ext uri="{FF2B5EF4-FFF2-40B4-BE49-F238E27FC236}">
                <a16:creationId xmlns:a16="http://schemas.microsoft.com/office/drawing/2014/main" id="{DB64B4BA-1273-DD82-52F1-AB47F0981979}"/>
              </a:ext>
            </a:extLst>
          </p:cNvPr>
          <p:cNvSpPr txBox="1"/>
          <p:nvPr/>
        </p:nvSpPr>
        <p:spPr>
          <a:xfrm>
            <a:off x="4446307" y="3492797"/>
            <a:ext cx="1345240"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后备箱行李提醒</a:t>
            </a:r>
          </a:p>
        </p:txBody>
      </p:sp>
      <p:cxnSp>
        <p:nvCxnSpPr>
          <p:cNvPr id="3" name="直接连接符 2">
            <a:extLst>
              <a:ext uri="{FF2B5EF4-FFF2-40B4-BE49-F238E27FC236}">
                <a16:creationId xmlns:a16="http://schemas.microsoft.com/office/drawing/2014/main" id="{471460A9-FEBC-CE77-977E-FD2B1C3071EA}"/>
              </a:ext>
            </a:extLst>
          </p:cNvPr>
          <p:cNvCxnSpPr>
            <a:cxnSpLocks/>
          </p:cNvCxnSpPr>
          <p:nvPr/>
        </p:nvCxnSpPr>
        <p:spPr>
          <a:xfrm>
            <a:off x="551709" y="4618626"/>
            <a:ext cx="5942115"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B24F8D27-D4C5-1C23-D641-00D7D211C9B2}"/>
              </a:ext>
            </a:extLst>
          </p:cNvPr>
          <p:cNvSpPr txBox="1"/>
          <p:nvPr/>
        </p:nvSpPr>
        <p:spPr>
          <a:xfrm>
            <a:off x="1583950" y="3397621"/>
            <a:ext cx="1137635" cy="1033040"/>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050" dirty="0"/>
              <a:t>车内物品遗落提醒</a:t>
            </a:r>
            <a:endParaRPr lang="en-US" altLang="zh-CN" sz="1050" dirty="0"/>
          </a:p>
          <a:p>
            <a:pPr marL="171450" indent="-171450">
              <a:lnSpc>
                <a:spcPct val="150000"/>
              </a:lnSpc>
              <a:buFont typeface="Arial" panose="020B0604020202020204" pitchFamily="34" charset="0"/>
              <a:buChar char="•"/>
            </a:pPr>
            <a:r>
              <a:rPr lang="zh-CN" altLang="en-US" sz="1050" dirty="0"/>
              <a:t>后备箱行李提醒</a:t>
            </a:r>
          </a:p>
        </p:txBody>
      </p:sp>
      <p:sp>
        <p:nvSpPr>
          <p:cNvPr id="12" name="文本框 11">
            <a:extLst>
              <a:ext uri="{FF2B5EF4-FFF2-40B4-BE49-F238E27FC236}">
                <a16:creationId xmlns:a16="http://schemas.microsoft.com/office/drawing/2014/main" id="{6D7B1071-E06E-1454-88CB-1F7B397B86CE}"/>
              </a:ext>
            </a:extLst>
          </p:cNvPr>
          <p:cNvSpPr txBox="1"/>
          <p:nvPr/>
        </p:nvSpPr>
        <p:spPr>
          <a:xfrm>
            <a:off x="2697435" y="4822616"/>
            <a:ext cx="1486304"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特殊群体下车提醒</a:t>
            </a:r>
          </a:p>
        </p:txBody>
      </p:sp>
      <p:sp>
        <p:nvSpPr>
          <p:cNvPr id="8" name="文本框 7">
            <a:extLst>
              <a:ext uri="{FF2B5EF4-FFF2-40B4-BE49-F238E27FC236}">
                <a16:creationId xmlns:a16="http://schemas.microsoft.com/office/drawing/2014/main" id="{353456F1-CC7E-5BA4-6690-18A60D6FDEE9}"/>
              </a:ext>
            </a:extLst>
          </p:cNvPr>
          <p:cNvSpPr txBox="1"/>
          <p:nvPr/>
        </p:nvSpPr>
        <p:spPr>
          <a:xfrm>
            <a:off x="2766098" y="2307596"/>
            <a:ext cx="1011815" cy="577081"/>
          </a:xfrm>
          <a:prstGeom prst="rect">
            <a:avLst/>
          </a:prstGeom>
          <a:noFill/>
        </p:spPr>
        <p:txBody>
          <a:bodyPr wrap="none" rtlCol="0">
            <a:spAutoFit/>
          </a:bodyPr>
          <a:lstStyle/>
          <a:p>
            <a:pPr marL="285750" indent="-285750">
              <a:buFont typeface="Arial" panose="020B0604020202020204" pitchFamily="34" charset="0"/>
              <a:buChar char="•"/>
            </a:pPr>
            <a:r>
              <a:rPr lang="zh-CN" altLang="en-US" sz="1050" dirty="0"/>
              <a:t>繁忙路段</a:t>
            </a:r>
            <a:endParaRPr lang="en-US" altLang="zh-CN" sz="1050" dirty="0"/>
          </a:p>
          <a:p>
            <a:pPr marL="285750" indent="-285750">
              <a:buFont typeface="Arial" panose="020B0604020202020204" pitchFamily="34" charset="0"/>
              <a:buChar char="•"/>
            </a:pPr>
            <a:r>
              <a:rPr lang="zh-CN" altLang="en-US" sz="1050" dirty="0"/>
              <a:t>夜间</a:t>
            </a:r>
            <a:endParaRPr lang="en-US" altLang="zh-CN" sz="1050" dirty="0"/>
          </a:p>
          <a:p>
            <a:pPr marL="285750" indent="-285750">
              <a:buFont typeface="Arial" panose="020B0604020202020204" pitchFamily="34" charset="0"/>
              <a:buChar char="•"/>
            </a:pPr>
            <a:r>
              <a:rPr lang="zh-CN" altLang="en-US" sz="1050" dirty="0"/>
              <a:t>电动车等</a:t>
            </a:r>
            <a:endParaRPr lang="en-US" altLang="zh-CN" sz="1050" dirty="0"/>
          </a:p>
        </p:txBody>
      </p:sp>
      <p:sp>
        <p:nvSpPr>
          <p:cNvPr id="11" name="文本框 10">
            <a:extLst>
              <a:ext uri="{FF2B5EF4-FFF2-40B4-BE49-F238E27FC236}">
                <a16:creationId xmlns:a16="http://schemas.microsoft.com/office/drawing/2014/main" id="{17D6C704-DABF-B8A7-73F4-E1F3B3048510}"/>
              </a:ext>
            </a:extLst>
          </p:cNvPr>
          <p:cNvSpPr txBox="1"/>
          <p:nvPr/>
        </p:nvSpPr>
        <p:spPr>
          <a:xfrm>
            <a:off x="4892103" y="2323966"/>
            <a:ext cx="1601721" cy="430887"/>
          </a:xfrm>
          <a:prstGeom prst="rect">
            <a:avLst/>
          </a:prstGeom>
          <a:noFill/>
        </p:spPr>
        <p:txBody>
          <a:bodyPr wrap="none" rtlCol="0">
            <a:spAutoFit/>
          </a:bodyPr>
          <a:lstStyle/>
          <a:p>
            <a:pPr marL="285750" indent="-285750">
              <a:buFont typeface="Arial" panose="020B0604020202020204" pitchFamily="34" charset="0"/>
              <a:buChar char="•"/>
            </a:pPr>
            <a:r>
              <a:rPr lang="zh-CN" altLang="en-US" sz="1050" dirty="0"/>
              <a:t>雨雪天，注意路滑</a:t>
            </a:r>
            <a:endParaRPr lang="en-US" altLang="zh-CN" sz="1050" dirty="0"/>
          </a:p>
          <a:p>
            <a:pPr marL="285750" indent="-285750">
              <a:buFont typeface="Arial" panose="020B0604020202020204" pitchFamily="34" charset="0"/>
              <a:buChar char="•"/>
            </a:pPr>
            <a:r>
              <a:rPr lang="zh-CN" altLang="en-US" sz="1050" dirty="0"/>
              <a:t>冰雪路面</a:t>
            </a:r>
            <a:endParaRPr lang="en-US" altLang="zh-CN" sz="1050" dirty="0"/>
          </a:p>
        </p:txBody>
      </p:sp>
      <p:sp>
        <p:nvSpPr>
          <p:cNvPr id="17" name="文本框 16">
            <a:extLst>
              <a:ext uri="{FF2B5EF4-FFF2-40B4-BE49-F238E27FC236}">
                <a16:creationId xmlns:a16="http://schemas.microsoft.com/office/drawing/2014/main" id="{71861D33-2CD8-096C-BCF3-563FF8FF0201}"/>
              </a:ext>
            </a:extLst>
          </p:cNvPr>
          <p:cNvSpPr txBox="1"/>
          <p:nvPr/>
        </p:nvSpPr>
        <p:spPr>
          <a:xfrm>
            <a:off x="2977404" y="5180162"/>
            <a:ext cx="1550424" cy="790666"/>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sz="1050" dirty="0"/>
              <a:t>醉酒，不下车报警</a:t>
            </a:r>
            <a:endParaRPr lang="en-US" altLang="zh-CN" sz="1050" dirty="0"/>
          </a:p>
          <a:p>
            <a:pPr marL="285750" indent="-285750">
              <a:lnSpc>
                <a:spcPct val="150000"/>
              </a:lnSpc>
              <a:buFont typeface="Arial" panose="020B0604020202020204" pitchFamily="34" charset="0"/>
              <a:buChar char="•"/>
            </a:pPr>
            <a:r>
              <a:rPr lang="zh-CN" altLang="en-US" sz="1050" dirty="0"/>
              <a:t>小孩</a:t>
            </a:r>
            <a:endParaRPr lang="en-US" altLang="zh-CN" sz="1050" dirty="0"/>
          </a:p>
          <a:p>
            <a:pPr marL="285750" indent="-285750">
              <a:lnSpc>
                <a:spcPct val="150000"/>
              </a:lnSpc>
              <a:buFont typeface="Arial" panose="020B0604020202020204" pitchFamily="34" charset="0"/>
              <a:buChar char="•"/>
            </a:pPr>
            <a:r>
              <a:rPr lang="zh-CN" altLang="en-US" sz="1050" dirty="0"/>
              <a:t>宠物等</a:t>
            </a:r>
            <a:endParaRPr lang="en-US" altLang="zh-CN" sz="1050" dirty="0"/>
          </a:p>
        </p:txBody>
      </p:sp>
      <p:sp>
        <p:nvSpPr>
          <p:cNvPr id="22" name="文本框 21">
            <a:extLst>
              <a:ext uri="{FF2B5EF4-FFF2-40B4-BE49-F238E27FC236}">
                <a16:creationId xmlns:a16="http://schemas.microsoft.com/office/drawing/2014/main" id="{65EDD50F-401B-A861-58F3-279CF6BDCB82}"/>
              </a:ext>
            </a:extLst>
          </p:cNvPr>
          <p:cNvSpPr txBox="1"/>
          <p:nvPr/>
        </p:nvSpPr>
        <p:spPr>
          <a:xfrm>
            <a:off x="2642644" y="3868897"/>
            <a:ext cx="2179993" cy="677108"/>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zh-CN" altLang="en-US" sz="1050" dirty="0"/>
              <a:t>司机不愿意无偿服务，认为遗落物品时乘客的责任</a:t>
            </a:r>
            <a:endParaRPr lang="en-US" altLang="zh-CN" sz="1050" dirty="0"/>
          </a:p>
          <a:p>
            <a:pPr marL="285750" indent="-285750">
              <a:spcBef>
                <a:spcPts val="600"/>
              </a:spcBef>
              <a:buFont typeface="Arial" panose="020B0604020202020204" pitchFamily="34" charset="0"/>
              <a:buChar char="•"/>
            </a:pPr>
            <a:r>
              <a:rPr lang="zh-CN" altLang="en-US" sz="1050" dirty="0"/>
              <a:t>贵重物品提醒</a:t>
            </a:r>
            <a:endParaRPr lang="en-US" altLang="zh-CN" sz="1050" dirty="0"/>
          </a:p>
        </p:txBody>
      </p:sp>
      <p:sp>
        <p:nvSpPr>
          <p:cNvPr id="27" name="文本框 26">
            <a:extLst>
              <a:ext uri="{FF2B5EF4-FFF2-40B4-BE49-F238E27FC236}">
                <a16:creationId xmlns:a16="http://schemas.microsoft.com/office/drawing/2014/main" id="{AB46C8E4-914D-44DC-F01D-8C97D65DD785}"/>
              </a:ext>
            </a:extLst>
          </p:cNvPr>
          <p:cNvSpPr txBox="1"/>
          <p:nvPr/>
        </p:nvSpPr>
        <p:spPr>
          <a:xfrm>
            <a:off x="4888882" y="3864573"/>
            <a:ext cx="2179993" cy="754053"/>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zh-CN" altLang="en-US" sz="1050" dirty="0"/>
              <a:t>提醒拿行李</a:t>
            </a:r>
            <a:endParaRPr lang="en-US" altLang="zh-CN" sz="1050" dirty="0"/>
          </a:p>
          <a:p>
            <a:pPr marL="285750" indent="-285750">
              <a:spcBef>
                <a:spcPts val="600"/>
              </a:spcBef>
              <a:buFont typeface="Arial" panose="020B0604020202020204" pitchFamily="34" charset="0"/>
              <a:buChar char="•"/>
            </a:pPr>
            <a:r>
              <a:rPr lang="zh-CN" altLang="en-US" sz="1050" dirty="0"/>
              <a:t>帮助拿行李</a:t>
            </a:r>
            <a:endParaRPr lang="en-US" altLang="zh-CN" sz="1050" dirty="0"/>
          </a:p>
          <a:p>
            <a:pPr marL="285750" indent="-285750">
              <a:spcBef>
                <a:spcPts val="600"/>
              </a:spcBef>
              <a:buFont typeface="Arial" panose="020B0604020202020204" pitchFamily="34" charset="0"/>
              <a:buChar char="•"/>
            </a:pPr>
            <a:endParaRPr lang="en-US" altLang="zh-CN" sz="1050" dirty="0"/>
          </a:p>
        </p:txBody>
      </p:sp>
      <p:sp>
        <p:nvSpPr>
          <p:cNvPr id="31" name="文本框 30">
            <a:extLst>
              <a:ext uri="{FF2B5EF4-FFF2-40B4-BE49-F238E27FC236}">
                <a16:creationId xmlns:a16="http://schemas.microsoft.com/office/drawing/2014/main" id="{14BCD6AD-17A0-EC25-FE0D-877D20DD9AFE}"/>
              </a:ext>
            </a:extLst>
          </p:cNvPr>
          <p:cNvSpPr txBox="1"/>
          <p:nvPr/>
        </p:nvSpPr>
        <p:spPr>
          <a:xfrm>
            <a:off x="6989092" y="3037592"/>
            <a:ext cx="4978493" cy="2546851"/>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50" dirty="0"/>
              <a:t>下车根据特殊路段与天气场景进行针对性提醒，避免开门刹，如繁忙路段，夜间，电动车穿行等场景进行分别针对性语音提醒，针对雨雪天气及雨雪路面（传感器识别）进行语音提醒</a:t>
            </a:r>
            <a:endParaRPr lang="en-US" altLang="zh-CN" sz="1050" dirty="0"/>
          </a:p>
          <a:p>
            <a:pPr marL="171450" indent="-171450">
              <a:spcBef>
                <a:spcPts val="600"/>
              </a:spcBef>
              <a:buFont typeface="Wingdings" panose="05000000000000000000" pitchFamily="2" charset="2"/>
              <a:buChar char="ü"/>
            </a:pPr>
            <a:r>
              <a:rPr lang="zh-CN" altLang="en-US" sz="1050" dirty="0"/>
              <a:t>下车时语音提醒拿好车内物品与行李箱，能够车内精准识别哪些用户拿了车内物品与行李箱，对于没有车内物品或者没有行李箱的乘客不提醒</a:t>
            </a:r>
            <a:endParaRPr lang="en-US" altLang="zh-CN" sz="1050" dirty="0"/>
          </a:p>
          <a:p>
            <a:pPr marL="171450" indent="-171450">
              <a:spcBef>
                <a:spcPts val="600"/>
              </a:spcBef>
              <a:buFont typeface="Wingdings" panose="05000000000000000000" pitchFamily="2" charset="2"/>
              <a:buChar char="ü"/>
            </a:pPr>
            <a:r>
              <a:rPr lang="zh-CN" altLang="en-US" sz="1050" dirty="0"/>
              <a:t>下车时，针对特殊人群准备相应安全话术，进行提醒，如</a:t>
            </a:r>
            <a:endParaRPr lang="en-US" altLang="zh-CN" sz="1050" dirty="0"/>
          </a:p>
          <a:p>
            <a:pPr marL="171450" indent="-171450">
              <a:spcBef>
                <a:spcPts val="600"/>
              </a:spcBef>
              <a:buFont typeface="Arial" panose="020B0604020202020204" pitchFamily="34" charset="0"/>
              <a:buChar char="•"/>
            </a:pPr>
            <a:r>
              <a:rPr lang="en-US" altLang="zh-CN" sz="1000" dirty="0"/>
              <a:t>Robotaxi</a:t>
            </a:r>
            <a:r>
              <a:rPr lang="zh-CN" altLang="en-US" sz="1000" dirty="0"/>
              <a:t>对于醉酒人员要特殊提醒</a:t>
            </a:r>
            <a:endParaRPr lang="en-US" altLang="zh-CN" sz="1000" dirty="0"/>
          </a:p>
          <a:p>
            <a:pPr marL="171450" indent="-171450">
              <a:spcBef>
                <a:spcPts val="600"/>
              </a:spcBef>
              <a:buFont typeface="Arial" panose="020B0604020202020204" pitchFamily="34" charset="0"/>
              <a:buChar char="•"/>
            </a:pPr>
            <a:r>
              <a:rPr lang="en-US" altLang="zh-CN" sz="1000" dirty="0"/>
              <a:t>Robotaxi</a:t>
            </a:r>
            <a:r>
              <a:rPr lang="zh-CN" altLang="en-US" sz="1000" dirty="0"/>
              <a:t>对于有小孩的提醒下车时照看好小孩</a:t>
            </a:r>
            <a:endParaRPr lang="en-US" altLang="zh-CN" sz="1000" dirty="0"/>
          </a:p>
          <a:p>
            <a:pPr marL="171450" indent="-171450">
              <a:spcBef>
                <a:spcPts val="600"/>
              </a:spcBef>
              <a:buFont typeface="Arial" panose="020B0604020202020204" pitchFamily="34" charset="0"/>
              <a:buChar char="•"/>
            </a:pPr>
            <a:r>
              <a:rPr lang="en-US" altLang="zh-CN" sz="1000" dirty="0"/>
              <a:t>Robotaxi</a:t>
            </a:r>
            <a:r>
              <a:rPr lang="zh-CN" altLang="en-US" sz="1000" dirty="0"/>
              <a:t>对于有宠物的提醒下车时避免宠物乱跑</a:t>
            </a:r>
            <a:endParaRPr lang="en-US" altLang="zh-CN" sz="1000" dirty="0"/>
          </a:p>
          <a:p>
            <a:pPr marL="171450" indent="-171450">
              <a:spcBef>
                <a:spcPts val="600"/>
              </a:spcBef>
              <a:buFont typeface="Wingdings" panose="05000000000000000000" pitchFamily="2" charset="2"/>
              <a:buChar char="ü"/>
            </a:pPr>
            <a:r>
              <a:rPr lang="en-US" altLang="zh-CN" sz="1050" dirty="0"/>
              <a:t>Robotaxi</a:t>
            </a:r>
            <a:r>
              <a:rPr lang="zh-CN" altLang="en-US" sz="1050" dirty="0"/>
              <a:t>情况，还是遗忘物品的乘客，能够车内与后背箱拍照，并即使通知运营人员，进行处理</a:t>
            </a:r>
            <a:endParaRPr lang="en-US" altLang="zh-CN" sz="1050" dirty="0"/>
          </a:p>
          <a:p>
            <a:pPr marL="171450" indent="-171450">
              <a:spcBef>
                <a:spcPts val="600"/>
              </a:spcBef>
              <a:buFont typeface="Wingdings" panose="05000000000000000000" pitchFamily="2" charset="2"/>
              <a:buChar char="ü"/>
            </a:pPr>
            <a:endParaRPr lang="en-US" altLang="zh-CN" sz="1050" dirty="0"/>
          </a:p>
        </p:txBody>
      </p:sp>
      <p:sp>
        <p:nvSpPr>
          <p:cNvPr id="38" name="文本框 37">
            <a:extLst>
              <a:ext uri="{FF2B5EF4-FFF2-40B4-BE49-F238E27FC236}">
                <a16:creationId xmlns:a16="http://schemas.microsoft.com/office/drawing/2014/main" id="{097F90A8-D763-3FBA-3059-02D4A2FC2889}"/>
              </a:ext>
            </a:extLst>
          </p:cNvPr>
          <p:cNvSpPr txBox="1"/>
          <p:nvPr/>
        </p:nvSpPr>
        <p:spPr>
          <a:xfrm>
            <a:off x="1537402" y="5075823"/>
            <a:ext cx="1156698" cy="56996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100" dirty="0"/>
              <a:t>特殊乘客提醒免责</a:t>
            </a:r>
            <a:endParaRPr lang="en-US" altLang="zh-CN" sz="1100" dirty="0"/>
          </a:p>
        </p:txBody>
      </p:sp>
      <p:sp>
        <p:nvSpPr>
          <p:cNvPr id="7" name="文本框 6">
            <a:extLst>
              <a:ext uri="{FF2B5EF4-FFF2-40B4-BE49-F238E27FC236}">
                <a16:creationId xmlns:a16="http://schemas.microsoft.com/office/drawing/2014/main" id="{D0505D3C-F521-4A40-CD98-0004A43A2091}"/>
              </a:ext>
            </a:extLst>
          </p:cNvPr>
          <p:cNvSpPr txBox="1"/>
          <p:nvPr/>
        </p:nvSpPr>
        <p:spPr>
          <a:xfrm>
            <a:off x="6452634" y="2658194"/>
            <a:ext cx="723275" cy="253916"/>
          </a:xfrm>
          <a:prstGeom prst="rect">
            <a:avLst/>
          </a:prstGeom>
          <a:noFill/>
        </p:spPr>
        <p:txBody>
          <a:bodyPr wrap="none" rtlCol="0">
            <a:spAutoFit/>
          </a:bodyPr>
          <a:lstStyle/>
          <a:p>
            <a:r>
              <a:rPr lang="zh-CN" altLang="en-US" sz="1050" b="1" dirty="0"/>
              <a:t>机会点：</a:t>
            </a:r>
          </a:p>
        </p:txBody>
      </p:sp>
      <p:sp>
        <p:nvSpPr>
          <p:cNvPr id="13" name="文本框 12">
            <a:extLst>
              <a:ext uri="{FF2B5EF4-FFF2-40B4-BE49-F238E27FC236}">
                <a16:creationId xmlns:a16="http://schemas.microsoft.com/office/drawing/2014/main" id="{14482E29-B158-51F6-800F-4E54F42DFEEC}"/>
              </a:ext>
            </a:extLst>
          </p:cNvPr>
          <p:cNvSpPr txBox="1"/>
          <p:nvPr/>
        </p:nvSpPr>
        <p:spPr>
          <a:xfrm>
            <a:off x="6522356" y="5250513"/>
            <a:ext cx="588623" cy="253916"/>
          </a:xfrm>
          <a:prstGeom prst="rect">
            <a:avLst/>
          </a:prstGeom>
          <a:noFill/>
        </p:spPr>
        <p:txBody>
          <a:bodyPr wrap="none" rtlCol="0">
            <a:spAutoFit/>
          </a:bodyPr>
          <a:lstStyle/>
          <a:p>
            <a:r>
              <a:rPr lang="zh-CN" altLang="en-US" sz="1050" b="1" dirty="0"/>
              <a:t>展望：</a:t>
            </a:r>
          </a:p>
        </p:txBody>
      </p:sp>
      <p:sp>
        <p:nvSpPr>
          <p:cNvPr id="14" name="文本框 13">
            <a:extLst>
              <a:ext uri="{FF2B5EF4-FFF2-40B4-BE49-F238E27FC236}">
                <a16:creationId xmlns:a16="http://schemas.microsoft.com/office/drawing/2014/main" id="{22F7AD17-0FFF-72D8-D504-304CDC3381EB}"/>
              </a:ext>
            </a:extLst>
          </p:cNvPr>
          <p:cNvSpPr txBox="1"/>
          <p:nvPr/>
        </p:nvSpPr>
        <p:spPr>
          <a:xfrm>
            <a:off x="6430582" y="1878168"/>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19" name="文本框 18">
            <a:extLst>
              <a:ext uri="{FF2B5EF4-FFF2-40B4-BE49-F238E27FC236}">
                <a16:creationId xmlns:a16="http://schemas.microsoft.com/office/drawing/2014/main" id="{80022452-42D5-AF9C-06FE-932D56E9C506}"/>
              </a:ext>
            </a:extLst>
          </p:cNvPr>
          <p:cNvSpPr txBox="1"/>
          <p:nvPr/>
        </p:nvSpPr>
        <p:spPr>
          <a:xfrm>
            <a:off x="6989092" y="2165249"/>
            <a:ext cx="4423006" cy="569964"/>
          </a:xfrm>
          <a:prstGeom prst="rect">
            <a:avLst/>
          </a:prstGeom>
          <a:noFill/>
        </p:spPr>
        <p:txBody>
          <a:bodyPr wrap="none" rtlCol="0">
            <a:spAutoFit/>
          </a:bodyPr>
          <a:lstStyle/>
          <a:p>
            <a:pPr marL="285750" indent="-285750">
              <a:lnSpc>
                <a:spcPct val="150000"/>
              </a:lnSpc>
              <a:buFont typeface="Wingdings" panose="05000000000000000000" pitchFamily="2" charset="2"/>
              <a:buChar char="ü"/>
            </a:pPr>
            <a:r>
              <a:rPr lang="zh-CN" altLang="en-US" sz="1100" dirty="0"/>
              <a:t>智能座舱能够做到日程提醒，手机遗忘提醒（放在无线充电板）</a:t>
            </a:r>
            <a:endParaRPr lang="en-US" altLang="zh-CN" sz="1100" dirty="0"/>
          </a:p>
          <a:p>
            <a:pPr marL="285750" indent="-285750">
              <a:lnSpc>
                <a:spcPct val="150000"/>
              </a:lnSpc>
              <a:buFont typeface="Wingdings" panose="05000000000000000000" pitchFamily="2" charset="2"/>
              <a:buChar char="ü"/>
            </a:pPr>
            <a:r>
              <a:rPr lang="zh-CN" altLang="en-US" sz="1100" dirty="0"/>
              <a:t>声音开门预警</a:t>
            </a:r>
            <a:r>
              <a:rPr lang="en-US" altLang="zh-CN" sz="1100" dirty="0"/>
              <a:t>+</a:t>
            </a:r>
            <a:r>
              <a:rPr lang="zh-CN" altLang="en-US" sz="1100" dirty="0"/>
              <a:t>后视镜盲区预警</a:t>
            </a:r>
          </a:p>
        </p:txBody>
      </p:sp>
      <p:sp>
        <p:nvSpPr>
          <p:cNvPr id="20" name="文本框 19">
            <a:extLst>
              <a:ext uri="{FF2B5EF4-FFF2-40B4-BE49-F238E27FC236}">
                <a16:creationId xmlns:a16="http://schemas.microsoft.com/office/drawing/2014/main" id="{2AF1A087-03A2-DBA7-1D69-FAC8CD2106F6}"/>
              </a:ext>
            </a:extLst>
          </p:cNvPr>
          <p:cNvSpPr txBox="1"/>
          <p:nvPr/>
        </p:nvSpPr>
        <p:spPr>
          <a:xfrm>
            <a:off x="6989092" y="5516550"/>
            <a:ext cx="4108817" cy="548292"/>
          </a:xfrm>
          <a:prstGeom prst="rect">
            <a:avLst/>
          </a:prstGeom>
          <a:noFill/>
        </p:spPr>
        <p:txBody>
          <a:bodyPr wrap="none" rtlCol="0">
            <a:spAutoFit/>
          </a:bodyPr>
          <a:lstStyle/>
          <a:p>
            <a:pPr marL="285750" indent="-285750">
              <a:lnSpc>
                <a:spcPct val="150000"/>
              </a:lnSpc>
              <a:buFont typeface="Wingdings" panose="05000000000000000000" pitchFamily="2" charset="2"/>
              <a:buChar char="ü"/>
            </a:pPr>
            <a:r>
              <a:rPr lang="zh-CN" altLang="en-US" sz="1050" dirty="0"/>
              <a:t>机器人能够帮助拿行李，照看小孩与宠物，搀扶醉酒人员下车</a:t>
            </a:r>
            <a:endParaRPr lang="en-US" altLang="zh-CN" sz="1050" dirty="0"/>
          </a:p>
          <a:p>
            <a:pPr marL="285750" indent="-285750">
              <a:lnSpc>
                <a:spcPct val="150000"/>
              </a:lnSpc>
              <a:buFont typeface="Wingdings" panose="05000000000000000000" pitchFamily="2" charset="2"/>
              <a:buChar char="ü"/>
            </a:pPr>
            <a:r>
              <a:rPr lang="zh-CN" altLang="en-US" sz="1050" dirty="0"/>
              <a:t>机器人对车内遗漏物品进行二次检查</a:t>
            </a:r>
          </a:p>
        </p:txBody>
      </p:sp>
      <p:sp>
        <p:nvSpPr>
          <p:cNvPr id="21" name="文本框 20">
            <a:extLst>
              <a:ext uri="{FF2B5EF4-FFF2-40B4-BE49-F238E27FC236}">
                <a16:creationId xmlns:a16="http://schemas.microsoft.com/office/drawing/2014/main" id="{465383C9-4A08-C87C-43DE-C151D1896045}"/>
              </a:ext>
            </a:extLst>
          </p:cNvPr>
          <p:cNvSpPr txBox="1"/>
          <p:nvPr/>
        </p:nvSpPr>
        <p:spPr>
          <a:xfrm>
            <a:off x="4650475" y="4803764"/>
            <a:ext cx="922047"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隐私保护</a:t>
            </a:r>
          </a:p>
        </p:txBody>
      </p:sp>
      <p:sp>
        <p:nvSpPr>
          <p:cNvPr id="23" name="文本框 22">
            <a:extLst>
              <a:ext uri="{FF2B5EF4-FFF2-40B4-BE49-F238E27FC236}">
                <a16:creationId xmlns:a16="http://schemas.microsoft.com/office/drawing/2014/main" id="{E4216E67-EF51-DA35-E0BB-B0FD7EF66B92}"/>
              </a:ext>
            </a:extLst>
          </p:cNvPr>
          <p:cNvSpPr txBox="1"/>
          <p:nvPr/>
        </p:nvSpPr>
        <p:spPr>
          <a:xfrm>
            <a:off x="4591070" y="5143106"/>
            <a:ext cx="1607946" cy="103304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050" dirty="0"/>
              <a:t>未系安全带或者虚系安全带会有电话主打打来，感觉被窥视</a:t>
            </a:r>
            <a:endParaRPr lang="en-US" altLang="zh-CN" sz="1050" dirty="0"/>
          </a:p>
        </p:txBody>
      </p:sp>
    </p:spTree>
    <p:extLst>
      <p:ext uri="{BB962C8B-B14F-4D97-AF65-F5344CB8AC3E}">
        <p14:creationId xmlns:p14="http://schemas.microsoft.com/office/powerpoint/2010/main" val="27205477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79136-E789-2BD1-8C24-E9FE9FD637B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BE9C55E-FAC8-BFD4-2E53-5E638B41FC61}"/>
              </a:ext>
            </a:extLst>
          </p:cNvPr>
          <p:cNvSpPr>
            <a:spLocks noGrp="1"/>
          </p:cNvSpPr>
          <p:nvPr>
            <p:ph type="title" idx="4294967295"/>
          </p:nvPr>
        </p:nvSpPr>
        <p:spPr>
          <a:xfrm>
            <a:off x="669924" y="433637"/>
            <a:ext cx="10440000" cy="595063"/>
          </a:xfrm>
        </p:spPr>
        <p:txBody>
          <a:bodyPr/>
          <a:lstStyle/>
          <a:p>
            <a:r>
              <a:rPr lang="zh-CN" altLang="en-US" dirty="0"/>
              <a:t>到达阶段</a:t>
            </a:r>
            <a:r>
              <a:rPr lang="en-US" altLang="zh-CN" dirty="0"/>
              <a:t>——</a:t>
            </a:r>
            <a:r>
              <a:rPr lang="zh-CN" altLang="en-US" dirty="0"/>
              <a:t>服务评价</a:t>
            </a:r>
          </a:p>
        </p:txBody>
      </p:sp>
      <p:sp>
        <p:nvSpPr>
          <p:cNvPr id="16" name="文本占位符 4">
            <a:extLst>
              <a:ext uri="{FF2B5EF4-FFF2-40B4-BE49-F238E27FC236}">
                <a16:creationId xmlns:a16="http://schemas.microsoft.com/office/drawing/2014/main" id="{352B4154-B52A-58FF-D9CB-7E3A14D8425F}"/>
              </a:ext>
            </a:extLst>
          </p:cNvPr>
          <p:cNvSpPr txBox="1"/>
          <p:nvPr/>
        </p:nvSpPr>
        <p:spPr>
          <a:xfrm>
            <a:off x="5183625" y="1395662"/>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a:extLst>
              <a:ext uri="{FF2B5EF4-FFF2-40B4-BE49-F238E27FC236}">
                <a16:creationId xmlns:a16="http://schemas.microsoft.com/office/drawing/2014/main" id="{5467F322-13FD-8B15-C805-97A634B9570C}"/>
              </a:ext>
            </a:extLst>
          </p:cNvPr>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a:extLst>
              <a:ext uri="{FF2B5EF4-FFF2-40B4-BE49-F238E27FC236}">
                <a16:creationId xmlns:a16="http://schemas.microsoft.com/office/drawing/2014/main" id="{7B474B0F-0193-DF30-B1BC-CFDB0823D67C}"/>
              </a:ext>
            </a:extLst>
          </p:cNvPr>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a:extLst>
              <a:ext uri="{FF2B5EF4-FFF2-40B4-BE49-F238E27FC236}">
                <a16:creationId xmlns:a16="http://schemas.microsoft.com/office/drawing/2014/main" id="{57FE888B-9699-57F2-F7DB-798C57DE4782}"/>
              </a:ext>
            </a:extLst>
          </p:cNvPr>
          <p:cNvSpPr txBox="1"/>
          <p:nvPr/>
        </p:nvSpPr>
        <p:spPr>
          <a:xfrm>
            <a:off x="97877" y="2794788"/>
            <a:ext cx="366036" cy="1169551"/>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服务评价</a:t>
            </a:r>
          </a:p>
        </p:txBody>
      </p:sp>
      <p:sp>
        <p:nvSpPr>
          <p:cNvPr id="10" name="文本框 9">
            <a:extLst>
              <a:ext uri="{FF2B5EF4-FFF2-40B4-BE49-F238E27FC236}">
                <a16:creationId xmlns:a16="http://schemas.microsoft.com/office/drawing/2014/main" id="{9B8F8794-1ED9-4E4D-E413-1685CBEAF69E}"/>
              </a:ext>
            </a:extLst>
          </p:cNvPr>
          <p:cNvSpPr txBox="1"/>
          <p:nvPr/>
        </p:nvSpPr>
        <p:spPr>
          <a:xfrm>
            <a:off x="425035" y="2186095"/>
            <a:ext cx="1124287" cy="3477875"/>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司机主动索要好评</a:t>
            </a: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100" b="1" dirty="0">
                <a:solidFill>
                  <a:srgbClr val="000000"/>
                </a:solidFill>
                <a:latin typeface="微软雅黑" panose="020B0503020204020204" pitchFamily="34" charset="-122"/>
                <a:ea typeface="微软雅黑" panose="020B0503020204020204" pitchFamily="34" charset="-122"/>
              </a:rPr>
              <a:t>客户服务后红包</a:t>
            </a: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1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r>
              <a:rPr lang="zh-CN" altLang="en-US" sz="1100" b="1" dirty="0">
                <a:solidFill>
                  <a:srgbClr val="000000"/>
                </a:solidFill>
                <a:latin typeface="微软雅黑" panose="020B0503020204020204" pitchFamily="34" charset="-122"/>
                <a:ea typeface="微软雅黑" panose="020B0503020204020204" pitchFamily="34" charset="-122"/>
              </a:rPr>
              <a:t>有客户打车看评分</a:t>
            </a:r>
            <a:endParaRPr lang="en-US" altLang="zh-CN" sz="11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a:extLst>
              <a:ext uri="{FF2B5EF4-FFF2-40B4-BE49-F238E27FC236}">
                <a16:creationId xmlns:a16="http://schemas.microsoft.com/office/drawing/2014/main" id="{7281299D-1563-5777-7EB4-BB200925B93E}"/>
              </a:ext>
            </a:extLst>
          </p:cNvPr>
          <p:cNvSpPr txBox="1"/>
          <p:nvPr/>
        </p:nvSpPr>
        <p:spPr>
          <a:xfrm>
            <a:off x="2143529" y="1384066"/>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a:extLst>
              <a:ext uri="{FF2B5EF4-FFF2-40B4-BE49-F238E27FC236}">
                <a16:creationId xmlns:a16="http://schemas.microsoft.com/office/drawing/2014/main" id="{611F8C17-4135-5F54-C6A2-AED7295B7FD1}"/>
              </a:ext>
            </a:extLst>
          </p:cNvPr>
          <p:cNvSpPr txBox="1"/>
          <p:nvPr/>
        </p:nvSpPr>
        <p:spPr>
          <a:xfrm>
            <a:off x="9262073" y="1398077"/>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a:extLst>
              <a:ext uri="{FF2B5EF4-FFF2-40B4-BE49-F238E27FC236}">
                <a16:creationId xmlns:a16="http://schemas.microsoft.com/office/drawing/2014/main" id="{FDBFF9FD-615B-A4B1-19D6-E6A00E54B101}"/>
              </a:ext>
            </a:extLst>
          </p:cNvPr>
          <p:cNvCxnSpPr/>
          <p:nvPr/>
        </p:nvCxnSpPr>
        <p:spPr>
          <a:xfrm>
            <a:off x="3330146" y="1810163"/>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5547DDFD-0D80-9E3E-4462-2FE2BFFA431A}"/>
              </a:ext>
            </a:extLst>
          </p:cNvPr>
          <p:cNvCxnSpPr/>
          <p:nvPr/>
        </p:nvCxnSpPr>
        <p:spPr>
          <a:xfrm>
            <a:off x="7308776" y="185026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a:extLst>
              <a:ext uri="{FF2B5EF4-FFF2-40B4-BE49-F238E27FC236}">
                <a16:creationId xmlns:a16="http://schemas.microsoft.com/office/drawing/2014/main" id="{8B24E77C-D415-0EA4-85D9-58F660D7039C}"/>
              </a:ext>
            </a:extLst>
          </p:cNvPr>
          <p:cNvSpPr txBox="1"/>
          <p:nvPr/>
        </p:nvSpPr>
        <p:spPr>
          <a:xfrm>
            <a:off x="483782" y="1390273"/>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高频场景</a:t>
            </a:r>
          </a:p>
        </p:txBody>
      </p:sp>
      <p:cxnSp>
        <p:nvCxnSpPr>
          <p:cNvPr id="34" name="直接连接符 33">
            <a:extLst>
              <a:ext uri="{FF2B5EF4-FFF2-40B4-BE49-F238E27FC236}">
                <a16:creationId xmlns:a16="http://schemas.microsoft.com/office/drawing/2014/main" id="{B7236DB1-7D1F-1B73-8DEE-E7D7F5362380}"/>
              </a:ext>
            </a:extLst>
          </p:cNvPr>
          <p:cNvCxnSpPr/>
          <p:nvPr/>
        </p:nvCxnSpPr>
        <p:spPr>
          <a:xfrm>
            <a:off x="1455486" y="1834362"/>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a:extLst>
              <a:ext uri="{FF2B5EF4-FFF2-40B4-BE49-F238E27FC236}">
                <a16:creationId xmlns:a16="http://schemas.microsoft.com/office/drawing/2014/main" id="{833EFB8F-15E7-3ED5-0C40-F62BAC6379C5}"/>
              </a:ext>
            </a:extLst>
          </p:cNvPr>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5" name="文本框 14">
            <a:extLst>
              <a:ext uri="{FF2B5EF4-FFF2-40B4-BE49-F238E27FC236}">
                <a16:creationId xmlns:a16="http://schemas.microsoft.com/office/drawing/2014/main" id="{8CCF9704-B12C-3F5C-91DB-00494637CD94}"/>
              </a:ext>
            </a:extLst>
          </p:cNvPr>
          <p:cNvSpPr txBox="1"/>
          <p:nvPr/>
        </p:nvSpPr>
        <p:spPr>
          <a:xfrm>
            <a:off x="3330146" y="1902724"/>
            <a:ext cx="1627369"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无特殊服务索要好评</a:t>
            </a:r>
          </a:p>
        </p:txBody>
      </p:sp>
      <p:sp>
        <p:nvSpPr>
          <p:cNvPr id="50" name="文本框 49">
            <a:extLst>
              <a:ext uri="{FF2B5EF4-FFF2-40B4-BE49-F238E27FC236}">
                <a16:creationId xmlns:a16="http://schemas.microsoft.com/office/drawing/2014/main" id="{5B83689A-1685-6B34-3ED8-ADD1DC958ABD}"/>
              </a:ext>
            </a:extLst>
          </p:cNvPr>
          <p:cNvSpPr txBox="1"/>
          <p:nvPr/>
        </p:nvSpPr>
        <p:spPr>
          <a:xfrm>
            <a:off x="3415176" y="3453820"/>
            <a:ext cx="1486304"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专车司机素质更高</a:t>
            </a:r>
          </a:p>
        </p:txBody>
      </p:sp>
      <p:cxnSp>
        <p:nvCxnSpPr>
          <p:cNvPr id="66" name="直接连接符 65">
            <a:extLst>
              <a:ext uri="{FF2B5EF4-FFF2-40B4-BE49-F238E27FC236}">
                <a16:creationId xmlns:a16="http://schemas.microsoft.com/office/drawing/2014/main" id="{A9A8F48E-8544-8FE4-5773-F735168A35FB}"/>
              </a:ext>
            </a:extLst>
          </p:cNvPr>
          <p:cNvCxnSpPr>
            <a:cxnSpLocks/>
          </p:cNvCxnSpPr>
          <p:nvPr/>
        </p:nvCxnSpPr>
        <p:spPr>
          <a:xfrm>
            <a:off x="748037" y="3237031"/>
            <a:ext cx="6560739" cy="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266B7648-C0DD-423B-593F-15E0344EE4C0}"/>
              </a:ext>
            </a:extLst>
          </p:cNvPr>
          <p:cNvSpPr txBox="1"/>
          <p:nvPr/>
        </p:nvSpPr>
        <p:spPr>
          <a:xfrm>
            <a:off x="1532000" y="2184569"/>
            <a:ext cx="1704313" cy="305918"/>
          </a:xfrm>
          <a:prstGeom prst="rect">
            <a:avLst/>
          </a:prstGeom>
          <a:noFill/>
        </p:spPr>
        <p:txBody>
          <a:bodyPr wrap="none" rtlCol="0">
            <a:spAutoFit/>
          </a:bodyPr>
          <a:lstStyle/>
          <a:p>
            <a:pPr marL="171450" indent="-171450">
              <a:lnSpc>
                <a:spcPct val="150000"/>
              </a:lnSpc>
              <a:buFont typeface="Arial" panose="020B0604020202020204" pitchFamily="34" charset="0"/>
              <a:buChar char="•"/>
            </a:pPr>
            <a:r>
              <a:rPr lang="zh-CN" altLang="en-US" sz="1050" dirty="0"/>
              <a:t>乘客普遍反感索要好评</a:t>
            </a:r>
          </a:p>
        </p:txBody>
      </p:sp>
      <p:sp>
        <p:nvSpPr>
          <p:cNvPr id="35" name="文本框 34">
            <a:extLst>
              <a:ext uri="{FF2B5EF4-FFF2-40B4-BE49-F238E27FC236}">
                <a16:creationId xmlns:a16="http://schemas.microsoft.com/office/drawing/2014/main" id="{D9679D41-FA15-CA60-55E4-0C1A70CE1419}"/>
              </a:ext>
            </a:extLst>
          </p:cNvPr>
          <p:cNvSpPr txBox="1"/>
          <p:nvPr/>
        </p:nvSpPr>
        <p:spPr>
          <a:xfrm>
            <a:off x="5028629" y="3469292"/>
            <a:ext cx="1345240"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专车好评率更高</a:t>
            </a:r>
          </a:p>
        </p:txBody>
      </p:sp>
      <p:cxnSp>
        <p:nvCxnSpPr>
          <p:cNvPr id="3" name="直接连接符 2">
            <a:extLst>
              <a:ext uri="{FF2B5EF4-FFF2-40B4-BE49-F238E27FC236}">
                <a16:creationId xmlns:a16="http://schemas.microsoft.com/office/drawing/2014/main" id="{48CFC6D0-C995-12C3-7338-9AE701DA425A}"/>
              </a:ext>
            </a:extLst>
          </p:cNvPr>
          <p:cNvCxnSpPr>
            <a:cxnSpLocks/>
          </p:cNvCxnSpPr>
          <p:nvPr/>
        </p:nvCxnSpPr>
        <p:spPr>
          <a:xfrm flipV="1">
            <a:off x="551709" y="4565419"/>
            <a:ext cx="6757067" cy="53207"/>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3326610F-DC69-59A9-3BA0-6825818B5161}"/>
              </a:ext>
            </a:extLst>
          </p:cNvPr>
          <p:cNvSpPr txBox="1"/>
          <p:nvPr/>
        </p:nvSpPr>
        <p:spPr>
          <a:xfrm>
            <a:off x="1529226" y="3325113"/>
            <a:ext cx="1718579" cy="127541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050" dirty="0"/>
              <a:t>专车司机服务水平更高，人群素质更高，好评率更高</a:t>
            </a:r>
            <a:endParaRPr lang="en-US" altLang="zh-CN" sz="1050" dirty="0"/>
          </a:p>
          <a:p>
            <a:pPr marL="171450" indent="-171450">
              <a:lnSpc>
                <a:spcPct val="150000"/>
              </a:lnSpc>
              <a:buFont typeface="Arial" panose="020B0604020202020204" pitchFamily="34" charset="0"/>
              <a:buChar char="•"/>
            </a:pPr>
            <a:r>
              <a:rPr lang="zh-CN" altLang="en-US" sz="1050" dirty="0"/>
              <a:t>司机非常在意客户红包，觉得是对自己认可</a:t>
            </a:r>
            <a:endParaRPr lang="en-US" altLang="zh-CN" sz="1050" dirty="0"/>
          </a:p>
        </p:txBody>
      </p:sp>
      <p:sp>
        <p:nvSpPr>
          <p:cNvPr id="12" name="文本框 11">
            <a:extLst>
              <a:ext uri="{FF2B5EF4-FFF2-40B4-BE49-F238E27FC236}">
                <a16:creationId xmlns:a16="http://schemas.microsoft.com/office/drawing/2014/main" id="{183C6A84-2B75-1D2E-3D57-424397FB69CA}"/>
              </a:ext>
            </a:extLst>
          </p:cNvPr>
          <p:cNvSpPr txBox="1"/>
          <p:nvPr/>
        </p:nvSpPr>
        <p:spPr>
          <a:xfrm>
            <a:off x="3387659" y="4779556"/>
            <a:ext cx="1627369" cy="261610"/>
          </a:xfrm>
          <a:prstGeom prst="rect">
            <a:avLst/>
          </a:prstGeom>
          <a:noFill/>
        </p:spPr>
        <p:txBody>
          <a:bodyPr wrap="none" rtlCol="0">
            <a:spAutoFit/>
          </a:bodyPr>
          <a:lstStyle/>
          <a:p>
            <a:pPr marL="171450" indent="-171450">
              <a:buFont typeface="Wingdings" panose="05000000000000000000" pitchFamily="2" charset="2"/>
              <a:buChar char="Ø"/>
            </a:pPr>
            <a:r>
              <a:rPr lang="zh-CN" altLang="en-US" sz="1100" b="1" dirty="0"/>
              <a:t>打车后主动查看评分</a:t>
            </a:r>
          </a:p>
        </p:txBody>
      </p:sp>
      <p:sp>
        <p:nvSpPr>
          <p:cNvPr id="30" name="文本框 29">
            <a:extLst>
              <a:ext uri="{FF2B5EF4-FFF2-40B4-BE49-F238E27FC236}">
                <a16:creationId xmlns:a16="http://schemas.microsoft.com/office/drawing/2014/main" id="{C9DE4E19-EBEC-4B02-7551-36A2B15DDBE1}"/>
              </a:ext>
            </a:extLst>
          </p:cNvPr>
          <p:cNvSpPr txBox="1"/>
          <p:nvPr/>
        </p:nvSpPr>
        <p:spPr>
          <a:xfrm>
            <a:off x="7727702" y="4669602"/>
            <a:ext cx="3976742" cy="415498"/>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en-US" altLang="zh-CN" sz="1050" dirty="0"/>
              <a:t>Robotaxi</a:t>
            </a:r>
            <a:r>
              <a:rPr lang="zh-CN" altLang="en-US" sz="1050" dirty="0"/>
              <a:t>，建立服务勋章制度，人格化的</a:t>
            </a:r>
            <a:r>
              <a:rPr lang="en-US" altLang="zh-CN" sz="1050" dirty="0"/>
              <a:t>Agent</a:t>
            </a:r>
            <a:r>
              <a:rPr lang="zh-CN" altLang="en-US" sz="1050" dirty="0"/>
              <a:t>，每辆车都有独立人格的</a:t>
            </a:r>
            <a:r>
              <a:rPr lang="en-US" altLang="zh-CN" sz="1050" dirty="0"/>
              <a:t>agent</a:t>
            </a:r>
            <a:r>
              <a:rPr lang="zh-CN" altLang="en-US" sz="1050" dirty="0"/>
              <a:t>， 他是被他所服务的群体塑造</a:t>
            </a:r>
            <a:endParaRPr lang="en-US" altLang="zh-CN" sz="1050" dirty="0"/>
          </a:p>
        </p:txBody>
      </p:sp>
      <p:sp>
        <p:nvSpPr>
          <p:cNvPr id="8" name="文本框 7">
            <a:extLst>
              <a:ext uri="{FF2B5EF4-FFF2-40B4-BE49-F238E27FC236}">
                <a16:creationId xmlns:a16="http://schemas.microsoft.com/office/drawing/2014/main" id="{42034F7A-3D02-7577-1839-AF6BF4E7B751}"/>
              </a:ext>
            </a:extLst>
          </p:cNvPr>
          <p:cNvSpPr txBox="1"/>
          <p:nvPr/>
        </p:nvSpPr>
        <p:spPr>
          <a:xfrm>
            <a:off x="3518441" y="2299265"/>
            <a:ext cx="1178528" cy="261610"/>
          </a:xfrm>
          <a:prstGeom prst="rect">
            <a:avLst/>
          </a:prstGeom>
          <a:noFill/>
        </p:spPr>
        <p:txBody>
          <a:bodyPr wrap="none" rtlCol="0">
            <a:spAutoFit/>
          </a:bodyPr>
          <a:lstStyle/>
          <a:p>
            <a:pPr marL="285750" indent="-285750">
              <a:buFont typeface="Arial" panose="020B0604020202020204" pitchFamily="34" charset="0"/>
              <a:buChar char="•"/>
            </a:pPr>
            <a:r>
              <a:rPr lang="zh-CN" altLang="en-US" sz="1050" dirty="0"/>
              <a:t>下车时索要</a:t>
            </a:r>
            <a:endParaRPr lang="en-US" altLang="zh-CN" sz="1050" dirty="0"/>
          </a:p>
        </p:txBody>
      </p:sp>
      <p:sp>
        <p:nvSpPr>
          <p:cNvPr id="17" name="文本框 16">
            <a:extLst>
              <a:ext uri="{FF2B5EF4-FFF2-40B4-BE49-F238E27FC236}">
                <a16:creationId xmlns:a16="http://schemas.microsoft.com/office/drawing/2014/main" id="{C02072F9-C2B9-51D8-E740-49531F776B69}"/>
              </a:ext>
            </a:extLst>
          </p:cNvPr>
          <p:cNvSpPr txBox="1"/>
          <p:nvPr/>
        </p:nvSpPr>
        <p:spPr>
          <a:xfrm>
            <a:off x="3685137" y="5131981"/>
            <a:ext cx="2448106" cy="568810"/>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sz="1050" dirty="0"/>
              <a:t>特殊群体打车，如女性单独打车</a:t>
            </a:r>
            <a:endParaRPr lang="en-US" altLang="zh-CN" sz="1050" dirty="0"/>
          </a:p>
          <a:p>
            <a:pPr marL="285750" indent="-285750">
              <a:lnSpc>
                <a:spcPct val="150000"/>
              </a:lnSpc>
              <a:buFont typeface="Arial" panose="020B0604020202020204" pitchFamily="34" charset="0"/>
              <a:buChar char="•"/>
            </a:pPr>
            <a:endParaRPr lang="en-US" altLang="zh-CN" sz="1050" dirty="0"/>
          </a:p>
        </p:txBody>
      </p:sp>
      <p:sp>
        <p:nvSpPr>
          <p:cNvPr id="22" name="文本框 21">
            <a:extLst>
              <a:ext uri="{FF2B5EF4-FFF2-40B4-BE49-F238E27FC236}">
                <a16:creationId xmlns:a16="http://schemas.microsoft.com/office/drawing/2014/main" id="{00DC5337-99BF-C94F-6BBC-7844DE9C27E9}"/>
              </a:ext>
            </a:extLst>
          </p:cNvPr>
          <p:cNvSpPr txBox="1"/>
          <p:nvPr/>
        </p:nvSpPr>
        <p:spPr>
          <a:xfrm>
            <a:off x="3359123" y="3811366"/>
            <a:ext cx="2179993" cy="754053"/>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zh-CN" altLang="en-US" sz="1050" dirty="0"/>
              <a:t>同理心强</a:t>
            </a:r>
            <a:endParaRPr lang="en-US" altLang="zh-CN" sz="1050" dirty="0"/>
          </a:p>
          <a:p>
            <a:pPr marL="285750" indent="-285750">
              <a:spcBef>
                <a:spcPts val="600"/>
              </a:spcBef>
              <a:buFont typeface="Arial" panose="020B0604020202020204" pitchFamily="34" charset="0"/>
              <a:buChar char="•"/>
            </a:pPr>
            <a:r>
              <a:rPr lang="zh-CN" altLang="en-US" sz="1050" dirty="0"/>
              <a:t>从业人员过去背景更好</a:t>
            </a:r>
            <a:endParaRPr lang="en-US" altLang="zh-CN" sz="1050" dirty="0"/>
          </a:p>
          <a:p>
            <a:pPr marL="285750" indent="-285750">
              <a:spcBef>
                <a:spcPts val="600"/>
              </a:spcBef>
              <a:buFont typeface="Arial" panose="020B0604020202020204" pitchFamily="34" charset="0"/>
              <a:buChar char="•"/>
            </a:pPr>
            <a:endParaRPr lang="en-US" altLang="zh-CN" sz="1050" dirty="0"/>
          </a:p>
        </p:txBody>
      </p:sp>
      <p:sp>
        <p:nvSpPr>
          <p:cNvPr id="27" name="文本框 26">
            <a:extLst>
              <a:ext uri="{FF2B5EF4-FFF2-40B4-BE49-F238E27FC236}">
                <a16:creationId xmlns:a16="http://schemas.microsoft.com/office/drawing/2014/main" id="{054BB503-0131-C4FA-3D57-6F2DE17E74EB}"/>
              </a:ext>
            </a:extLst>
          </p:cNvPr>
          <p:cNvSpPr txBox="1"/>
          <p:nvPr/>
        </p:nvSpPr>
        <p:spPr>
          <a:xfrm>
            <a:off x="5135374" y="3821554"/>
            <a:ext cx="2463401" cy="507831"/>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zh-CN" altLang="en-US" sz="1050" dirty="0"/>
              <a:t>平台规定的专业相关服务要求</a:t>
            </a:r>
            <a:endParaRPr lang="en-US" altLang="zh-CN" sz="1050" dirty="0"/>
          </a:p>
          <a:p>
            <a:pPr marL="285750" indent="-285750">
              <a:spcBef>
                <a:spcPts val="600"/>
              </a:spcBef>
              <a:buFont typeface="Arial" panose="020B0604020202020204" pitchFamily="34" charset="0"/>
              <a:buChar char="•"/>
            </a:pPr>
            <a:r>
              <a:rPr lang="zh-CN" altLang="en-US" sz="1050" dirty="0"/>
              <a:t>乘客素质更高</a:t>
            </a:r>
            <a:endParaRPr lang="en-US" altLang="zh-CN" sz="1050" dirty="0"/>
          </a:p>
        </p:txBody>
      </p:sp>
      <p:sp>
        <p:nvSpPr>
          <p:cNvPr id="38" name="文本框 37">
            <a:extLst>
              <a:ext uri="{FF2B5EF4-FFF2-40B4-BE49-F238E27FC236}">
                <a16:creationId xmlns:a16="http://schemas.microsoft.com/office/drawing/2014/main" id="{C37A6179-2E57-B13E-DB25-AD157DCB8783}"/>
              </a:ext>
            </a:extLst>
          </p:cNvPr>
          <p:cNvSpPr txBox="1"/>
          <p:nvPr/>
        </p:nvSpPr>
        <p:spPr>
          <a:xfrm>
            <a:off x="1470278" y="5021823"/>
            <a:ext cx="1738198" cy="56996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100" dirty="0"/>
              <a:t>打车后主动查看司机评分</a:t>
            </a:r>
            <a:endParaRPr lang="en-US" altLang="zh-CN" sz="1100" dirty="0"/>
          </a:p>
        </p:txBody>
      </p:sp>
      <p:sp>
        <p:nvSpPr>
          <p:cNvPr id="5" name="文本框 4">
            <a:extLst>
              <a:ext uri="{FF2B5EF4-FFF2-40B4-BE49-F238E27FC236}">
                <a16:creationId xmlns:a16="http://schemas.microsoft.com/office/drawing/2014/main" id="{38EF768D-3983-9F13-3CA9-2727771C09B9}"/>
              </a:ext>
            </a:extLst>
          </p:cNvPr>
          <p:cNvSpPr txBox="1"/>
          <p:nvPr/>
        </p:nvSpPr>
        <p:spPr>
          <a:xfrm>
            <a:off x="7843752" y="2220820"/>
            <a:ext cx="2469370" cy="492443"/>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50" dirty="0"/>
              <a:t>已建立网约车司机评价服务体系</a:t>
            </a:r>
            <a:endParaRPr lang="en-US" altLang="zh-CN" sz="1050" dirty="0"/>
          </a:p>
          <a:p>
            <a:pPr marL="171450" indent="-171450">
              <a:spcBef>
                <a:spcPts val="600"/>
              </a:spcBef>
              <a:buFont typeface="Wingdings" panose="05000000000000000000" pitchFamily="2" charset="2"/>
              <a:buChar char="ü"/>
            </a:pPr>
            <a:r>
              <a:rPr lang="en-US" altLang="zh-CN" sz="1050" dirty="0"/>
              <a:t>Robotaxi</a:t>
            </a:r>
            <a:r>
              <a:rPr lang="zh-CN" altLang="en-US" sz="1050" dirty="0"/>
              <a:t>的评价服务体系</a:t>
            </a:r>
            <a:endParaRPr lang="en-US" altLang="zh-CN" sz="1050" dirty="0"/>
          </a:p>
        </p:txBody>
      </p:sp>
      <p:sp>
        <p:nvSpPr>
          <p:cNvPr id="7" name="文本框 6">
            <a:extLst>
              <a:ext uri="{FF2B5EF4-FFF2-40B4-BE49-F238E27FC236}">
                <a16:creationId xmlns:a16="http://schemas.microsoft.com/office/drawing/2014/main" id="{EDB63842-7A49-59CD-98F1-5F3FEA6171A0}"/>
              </a:ext>
            </a:extLst>
          </p:cNvPr>
          <p:cNvSpPr txBox="1"/>
          <p:nvPr/>
        </p:nvSpPr>
        <p:spPr>
          <a:xfrm>
            <a:off x="7323352" y="2727885"/>
            <a:ext cx="723275" cy="253916"/>
          </a:xfrm>
          <a:prstGeom prst="rect">
            <a:avLst/>
          </a:prstGeom>
          <a:noFill/>
        </p:spPr>
        <p:txBody>
          <a:bodyPr wrap="none" rtlCol="0">
            <a:spAutoFit/>
          </a:bodyPr>
          <a:lstStyle/>
          <a:p>
            <a:r>
              <a:rPr lang="zh-CN" altLang="en-US" sz="1050" b="1" dirty="0"/>
              <a:t>机会点：</a:t>
            </a:r>
          </a:p>
        </p:txBody>
      </p:sp>
      <p:sp>
        <p:nvSpPr>
          <p:cNvPr id="11" name="文本框 10">
            <a:extLst>
              <a:ext uri="{FF2B5EF4-FFF2-40B4-BE49-F238E27FC236}">
                <a16:creationId xmlns:a16="http://schemas.microsoft.com/office/drawing/2014/main" id="{478B8673-3419-6C9A-CFAF-71887347D6E4}"/>
              </a:ext>
            </a:extLst>
          </p:cNvPr>
          <p:cNvSpPr txBox="1"/>
          <p:nvPr/>
        </p:nvSpPr>
        <p:spPr>
          <a:xfrm>
            <a:off x="7352171" y="4363993"/>
            <a:ext cx="588623" cy="253916"/>
          </a:xfrm>
          <a:prstGeom prst="rect">
            <a:avLst/>
          </a:prstGeom>
          <a:noFill/>
        </p:spPr>
        <p:txBody>
          <a:bodyPr wrap="none" rtlCol="0">
            <a:spAutoFit/>
          </a:bodyPr>
          <a:lstStyle/>
          <a:p>
            <a:r>
              <a:rPr lang="zh-CN" altLang="en-US" sz="1050" b="1" dirty="0"/>
              <a:t>展望：</a:t>
            </a:r>
          </a:p>
        </p:txBody>
      </p:sp>
      <p:sp>
        <p:nvSpPr>
          <p:cNvPr id="14" name="文本框 13">
            <a:extLst>
              <a:ext uri="{FF2B5EF4-FFF2-40B4-BE49-F238E27FC236}">
                <a16:creationId xmlns:a16="http://schemas.microsoft.com/office/drawing/2014/main" id="{82724FC1-B283-2DFE-197E-8B91488C7D05}"/>
              </a:ext>
            </a:extLst>
          </p:cNvPr>
          <p:cNvSpPr txBox="1"/>
          <p:nvPr/>
        </p:nvSpPr>
        <p:spPr>
          <a:xfrm>
            <a:off x="7301300" y="1947859"/>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21" name="文本框 20">
            <a:extLst>
              <a:ext uri="{FF2B5EF4-FFF2-40B4-BE49-F238E27FC236}">
                <a16:creationId xmlns:a16="http://schemas.microsoft.com/office/drawing/2014/main" id="{BA5F2DE8-F80A-B63C-ECAB-3208EB321BC0}"/>
              </a:ext>
            </a:extLst>
          </p:cNvPr>
          <p:cNvSpPr txBox="1"/>
          <p:nvPr/>
        </p:nvSpPr>
        <p:spPr>
          <a:xfrm>
            <a:off x="7715653" y="3154593"/>
            <a:ext cx="4051311" cy="1292662"/>
          </a:xfrm>
          <a:prstGeom prst="rect">
            <a:avLst/>
          </a:prstGeom>
          <a:noFill/>
        </p:spPr>
        <p:txBody>
          <a:bodyPr wrap="square">
            <a:spAutoFit/>
          </a:bodyPr>
          <a:lstStyle/>
          <a:p>
            <a:pPr marL="171450" indent="-171450">
              <a:spcBef>
                <a:spcPts val="600"/>
              </a:spcBef>
              <a:buFont typeface="Wingdings" panose="05000000000000000000" pitchFamily="2" charset="2"/>
              <a:buChar char="ü"/>
            </a:pPr>
            <a:r>
              <a:rPr lang="en-US" altLang="zh-CN" sz="1050" dirty="0"/>
              <a:t>Robotaxi</a:t>
            </a:r>
            <a:r>
              <a:rPr lang="zh-CN" altLang="en-US" sz="1050" dirty="0"/>
              <a:t>未来也会分等级，不同</a:t>
            </a:r>
            <a:r>
              <a:rPr lang="en-US" altLang="zh-CN" sz="1050" dirty="0"/>
              <a:t>Robotaxi</a:t>
            </a:r>
            <a:r>
              <a:rPr lang="zh-CN" altLang="en-US" sz="1050" dirty="0"/>
              <a:t>，</a:t>
            </a:r>
            <a:r>
              <a:rPr lang="en-US" altLang="zh-CN" sz="1050" dirty="0"/>
              <a:t>Agent</a:t>
            </a:r>
            <a:r>
              <a:rPr lang="zh-CN" altLang="en-US" sz="1050" dirty="0"/>
              <a:t>建立不同服务评价机制</a:t>
            </a:r>
            <a:endParaRPr lang="en-US" altLang="zh-CN" sz="1050" dirty="0"/>
          </a:p>
          <a:p>
            <a:pPr marL="171450" indent="-171450">
              <a:spcBef>
                <a:spcPts val="600"/>
              </a:spcBef>
              <a:buFont typeface="Wingdings" panose="05000000000000000000" pitchFamily="2" charset="2"/>
              <a:buChar char="ü"/>
            </a:pPr>
            <a:r>
              <a:rPr lang="en-US" altLang="zh-CN" sz="1050" dirty="0"/>
              <a:t>Robotaxi,</a:t>
            </a:r>
            <a:r>
              <a:rPr lang="zh-CN" altLang="en-US" sz="1050" dirty="0"/>
              <a:t>对于差评建立审核机制，服务过程通过</a:t>
            </a:r>
            <a:r>
              <a:rPr lang="en-US" altLang="zh-CN" sz="1050" dirty="0"/>
              <a:t>AI</a:t>
            </a:r>
            <a:r>
              <a:rPr lang="zh-CN" altLang="en-US" sz="1050" dirty="0"/>
              <a:t>自动</a:t>
            </a:r>
            <a:r>
              <a:rPr lang="en-US" altLang="zh-CN" sz="1050" dirty="0"/>
              <a:t>review</a:t>
            </a:r>
          </a:p>
          <a:p>
            <a:pPr marL="171450" indent="-171450">
              <a:spcBef>
                <a:spcPts val="600"/>
              </a:spcBef>
              <a:buFont typeface="Wingdings" panose="05000000000000000000" pitchFamily="2" charset="2"/>
              <a:buChar char="ü"/>
            </a:pPr>
            <a:r>
              <a:rPr lang="en-US" altLang="zh-CN" sz="1050" dirty="0"/>
              <a:t>Robotaxi</a:t>
            </a:r>
            <a:r>
              <a:rPr lang="zh-CN" altLang="en-US" sz="1050" dirty="0"/>
              <a:t>利用</a:t>
            </a:r>
            <a:r>
              <a:rPr lang="en-US" altLang="zh-CN" sz="1050" dirty="0"/>
              <a:t>AI</a:t>
            </a:r>
            <a:r>
              <a:rPr lang="zh-CN" altLang="en-US" sz="1050" dirty="0"/>
              <a:t>自动学习能力，进行司机</a:t>
            </a:r>
            <a:r>
              <a:rPr lang="en-US" altLang="zh-CN" sz="1050" dirty="0"/>
              <a:t>Agent</a:t>
            </a:r>
            <a:r>
              <a:rPr lang="zh-CN" altLang="en-US" sz="1050" dirty="0"/>
              <a:t>服务自我进化机制</a:t>
            </a:r>
            <a:endParaRPr lang="en-US" altLang="zh-CN" sz="1050" dirty="0"/>
          </a:p>
          <a:p>
            <a:pPr marL="171450" indent="-171450">
              <a:spcBef>
                <a:spcPts val="600"/>
              </a:spcBef>
              <a:buFont typeface="Wingdings" panose="05000000000000000000" pitchFamily="2" charset="2"/>
              <a:buChar char="ü"/>
            </a:pPr>
            <a:endParaRPr lang="en-US" altLang="zh-CN" sz="1050" dirty="0"/>
          </a:p>
        </p:txBody>
      </p:sp>
    </p:spTree>
    <p:extLst>
      <p:ext uri="{BB962C8B-B14F-4D97-AF65-F5344CB8AC3E}">
        <p14:creationId xmlns:p14="http://schemas.microsoft.com/office/powerpoint/2010/main" val="27460555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DEC32-EDC5-283E-1103-772CCB3F858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545F456-60B1-0E2D-5880-332A10563332}"/>
              </a:ext>
            </a:extLst>
          </p:cNvPr>
          <p:cNvSpPr>
            <a:spLocks noGrp="1"/>
          </p:cNvSpPr>
          <p:nvPr>
            <p:ph type="title" idx="4294967295"/>
          </p:nvPr>
        </p:nvSpPr>
        <p:spPr>
          <a:xfrm>
            <a:off x="669924" y="433637"/>
            <a:ext cx="10440000" cy="595063"/>
          </a:xfrm>
        </p:spPr>
        <p:txBody>
          <a:bodyPr/>
          <a:lstStyle/>
          <a:p>
            <a:r>
              <a:rPr lang="zh-CN" altLang="en-US" dirty="0"/>
              <a:t>跨阶段</a:t>
            </a:r>
          </a:p>
        </p:txBody>
      </p:sp>
      <p:sp>
        <p:nvSpPr>
          <p:cNvPr id="16" name="文本占位符 4">
            <a:extLst>
              <a:ext uri="{FF2B5EF4-FFF2-40B4-BE49-F238E27FC236}">
                <a16:creationId xmlns:a16="http://schemas.microsoft.com/office/drawing/2014/main" id="{FC1E5F31-0419-811F-CA92-CA7847B080E9}"/>
              </a:ext>
            </a:extLst>
          </p:cNvPr>
          <p:cNvSpPr txBox="1"/>
          <p:nvPr/>
        </p:nvSpPr>
        <p:spPr>
          <a:xfrm>
            <a:off x="5183625" y="1395662"/>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a:extLst>
              <a:ext uri="{FF2B5EF4-FFF2-40B4-BE49-F238E27FC236}">
                <a16:creationId xmlns:a16="http://schemas.microsoft.com/office/drawing/2014/main" id="{D3DC4E8A-9CBF-1E62-7EB9-B7376F1A8EA3}"/>
              </a:ext>
            </a:extLst>
          </p:cNvPr>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a:extLst>
              <a:ext uri="{FF2B5EF4-FFF2-40B4-BE49-F238E27FC236}">
                <a16:creationId xmlns:a16="http://schemas.microsoft.com/office/drawing/2014/main" id="{DDF62207-FF16-162F-A23E-6AA8699F00E7}"/>
              </a:ext>
            </a:extLst>
          </p:cNvPr>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a:extLst>
              <a:ext uri="{FF2B5EF4-FFF2-40B4-BE49-F238E27FC236}">
                <a16:creationId xmlns:a16="http://schemas.microsoft.com/office/drawing/2014/main" id="{47794746-FEAB-14F4-2110-0E4051C3E988}"/>
              </a:ext>
            </a:extLst>
          </p:cNvPr>
          <p:cNvSpPr txBox="1"/>
          <p:nvPr/>
        </p:nvSpPr>
        <p:spPr>
          <a:xfrm>
            <a:off x="97877" y="2794788"/>
            <a:ext cx="366036" cy="954107"/>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跨阶段</a:t>
            </a:r>
          </a:p>
        </p:txBody>
      </p:sp>
      <p:sp>
        <p:nvSpPr>
          <p:cNvPr id="10" name="文本框 9">
            <a:extLst>
              <a:ext uri="{FF2B5EF4-FFF2-40B4-BE49-F238E27FC236}">
                <a16:creationId xmlns:a16="http://schemas.microsoft.com/office/drawing/2014/main" id="{61F8525C-CB95-EE35-9E8F-D345FA2E098D}"/>
              </a:ext>
            </a:extLst>
          </p:cNvPr>
          <p:cNvSpPr txBox="1"/>
          <p:nvPr/>
        </p:nvSpPr>
        <p:spPr>
          <a:xfrm>
            <a:off x="425035" y="2186095"/>
            <a:ext cx="1030897" cy="4124206"/>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司机驾驶风格</a:t>
            </a: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a:extLst>
              <a:ext uri="{FF2B5EF4-FFF2-40B4-BE49-F238E27FC236}">
                <a16:creationId xmlns:a16="http://schemas.microsoft.com/office/drawing/2014/main" id="{D6A18144-F456-C303-9334-4ED9130D3ECF}"/>
              </a:ext>
            </a:extLst>
          </p:cNvPr>
          <p:cNvSpPr txBox="1"/>
          <p:nvPr/>
        </p:nvSpPr>
        <p:spPr>
          <a:xfrm>
            <a:off x="2143529" y="1384066"/>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a:extLst>
              <a:ext uri="{FF2B5EF4-FFF2-40B4-BE49-F238E27FC236}">
                <a16:creationId xmlns:a16="http://schemas.microsoft.com/office/drawing/2014/main" id="{3AB2EF7F-800A-0074-E28E-505B81746B97}"/>
              </a:ext>
            </a:extLst>
          </p:cNvPr>
          <p:cNvSpPr txBox="1"/>
          <p:nvPr/>
        </p:nvSpPr>
        <p:spPr>
          <a:xfrm>
            <a:off x="9262073" y="1398077"/>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a:extLst>
              <a:ext uri="{FF2B5EF4-FFF2-40B4-BE49-F238E27FC236}">
                <a16:creationId xmlns:a16="http://schemas.microsoft.com/office/drawing/2014/main" id="{E5AC6A33-34A6-BADE-FC60-E45FD3C054DB}"/>
              </a:ext>
            </a:extLst>
          </p:cNvPr>
          <p:cNvCxnSpPr/>
          <p:nvPr/>
        </p:nvCxnSpPr>
        <p:spPr>
          <a:xfrm>
            <a:off x="3210844" y="1844907"/>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786ED03F-FF35-D565-AC57-73B6C21FA2E4}"/>
              </a:ext>
            </a:extLst>
          </p:cNvPr>
          <p:cNvCxnSpPr/>
          <p:nvPr/>
        </p:nvCxnSpPr>
        <p:spPr>
          <a:xfrm>
            <a:off x="6939367" y="1748971"/>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a:extLst>
              <a:ext uri="{FF2B5EF4-FFF2-40B4-BE49-F238E27FC236}">
                <a16:creationId xmlns:a16="http://schemas.microsoft.com/office/drawing/2014/main" id="{5B587E88-EFAC-9539-FA24-2267EA05C9EC}"/>
              </a:ext>
            </a:extLst>
          </p:cNvPr>
          <p:cNvSpPr txBox="1"/>
          <p:nvPr/>
        </p:nvSpPr>
        <p:spPr>
          <a:xfrm>
            <a:off x="483782" y="1390273"/>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高频场景</a:t>
            </a:r>
          </a:p>
        </p:txBody>
      </p:sp>
      <p:cxnSp>
        <p:nvCxnSpPr>
          <p:cNvPr id="34" name="直接连接符 33">
            <a:extLst>
              <a:ext uri="{FF2B5EF4-FFF2-40B4-BE49-F238E27FC236}">
                <a16:creationId xmlns:a16="http://schemas.microsoft.com/office/drawing/2014/main" id="{CC994361-F2F3-B60E-B69D-5A9F8C9E29DF}"/>
              </a:ext>
            </a:extLst>
          </p:cNvPr>
          <p:cNvCxnSpPr/>
          <p:nvPr/>
        </p:nvCxnSpPr>
        <p:spPr>
          <a:xfrm>
            <a:off x="1478034" y="1810163"/>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a:extLst>
              <a:ext uri="{FF2B5EF4-FFF2-40B4-BE49-F238E27FC236}">
                <a16:creationId xmlns:a16="http://schemas.microsoft.com/office/drawing/2014/main" id="{51E42992-3498-8A4F-A495-6B2A83900628}"/>
              </a:ext>
            </a:extLst>
          </p:cNvPr>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5" name="文本框 14">
            <a:extLst>
              <a:ext uri="{FF2B5EF4-FFF2-40B4-BE49-F238E27FC236}">
                <a16:creationId xmlns:a16="http://schemas.microsoft.com/office/drawing/2014/main" id="{93BAA872-992A-09D8-02D3-DF9493CE2882}"/>
              </a:ext>
            </a:extLst>
          </p:cNvPr>
          <p:cNvSpPr txBox="1"/>
          <p:nvPr/>
        </p:nvSpPr>
        <p:spPr>
          <a:xfrm>
            <a:off x="3385908" y="1859630"/>
            <a:ext cx="819455"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平稳型</a:t>
            </a:r>
          </a:p>
        </p:txBody>
      </p:sp>
      <p:sp>
        <p:nvSpPr>
          <p:cNvPr id="25" name="文本框 24">
            <a:extLst>
              <a:ext uri="{FF2B5EF4-FFF2-40B4-BE49-F238E27FC236}">
                <a16:creationId xmlns:a16="http://schemas.microsoft.com/office/drawing/2014/main" id="{74745EBC-947A-05B2-FE3C-B620924E4FA3}"/>
              </a:ext>
            </a:extLst>
          </p:cNvPr>
          <p:cNvSpPr txBox="1"/>
          <p:nvPr/>
        </p:nvSpPr>
        <p:spPr>
          <a:xfrm>
            <a:off x="1478034" y="2599097"/>
            <a:ext cx="1724248" cy="151663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050" dirty="0"/>
              <a:t>平稳型（更受欢迎）</a:t>
            </a:r>
            <a:endParaRPr lang="en-US" altLang="zh-CN" sz="1050" dirty="0"/>
          </a:p>
          <a:p>
            <a:pPr marL="171450" indent="-171450">
              <a:lnSpc>
                <a:spcPct val="150000"/>
              </a:lnSpc>
              <a:buFont typeface="Arial" panose="020B0604020202020204" pitchFamily="34" charset="0"/>
              <a:buChar char="•"/>
            </a:pPr>
            <a:r>
              <a:rPr lang="zh-CN" altLang="en-US" sz="1050" dirty="0"/>
              <a:t>激进型（不受欢迎）</a:t>
            </a:r>
            <a:endParaRPr lang="en-US" altLang="zh-CN" sz="1050" dirty="0"/>
          </a:p>
          <a:p>
            <a:pPr marL="171450" indent="-171450">
              <a:lnSpc>
                <a:spcPct val="150000"/>
              </a:lnSpc>
              <a:buFont typeface="Arial" panose="020B0604020202020204" pitchFamily="34" charset="0"/>
              <a:buChar char="•"/>
            </a:pPr>
            <a:r>
              <a:rPr lang="zh-CN" altLang="en-US" sz="1050" dirty="0"/>
              <a:t>合规安全型（都需要遵守，但不能延迟太多）</a:t>
            </a:r>
            <a:endParaRPr lang="en-US" altLang="zh-CN" sz="1050" dirty="0"/>
          </a:p>
          <a:p>
            <a:pPr marL="171450" indent="-171450">
              <a:lnSpc>
                <a:spcPct val="150000"/>
              </a:lnSpc>
              <a:buFont typeface="Arial" panose="020B0604020202020204" pitchFamily="34" charset="0"/>
              <a:buChar char="•"/>
            </a:pPr>
            <a:r>
              <a:rPr lang="zh-CN" altLang="en-US" sz="1050" dirty="0"/>
              <a:t>灵活型，能够灵活应变</a:t>
            </a:r>
            <a:r>
              <a:rPr lang="en-US" altLang="zh-CN" sz="1050" dirty="0"/>
              <a:t>(</a:t>
            </a:r>
            <a:r>
              <a:rPr lang="en-US" altLang="zh-CN" sz="1050" dirty="0" err="1"/>
              <a:t>Rototaxi</a:t>
            </a:r>
            <a:r>
              <a:rPr lang="zh-CN" altLang="en-US" sz="1050" dirty="0"/>
              <a:t>的常用者）</a:t>
            </a:r>
          </a:p>
        </p:txBody>
      </p:sp>
      <p:sp>
        <p:nvSpPr>
          <p:cNvPr id="5" name="文本框 4">
            <a:extLst>
              <a:ext uri="{FF2B5EF4-FFF2-40B4-BE49-F238E27FC236}">
                <a16:creationId xmlns:a16="http://schemas.microsoft.com/office/drawing/2014/main" id="{DC55E085-F5CA-6778-1B3A-5BC3307AE7B2}"/>
              </a:ext>
            </a:extLst>
          </p:cNvPr>
          <p:cNvSpPr txBox="1"/>
          <p:nvPr/>
        </p:nvSpPr>
        <p:spPr>
          <a:xfrm>
            <a:off x="7550912" y="2801648"/>
            <a:ext cx="4381846" cy="2893100"/>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endParaRPr lang="en-US" altLang="zh-CN" sz="1050" dirty="0"/>
          </a:p>
          <a:p>
            <a:pPr marL="171450" indent="-171450">
              <a:spcBef>
                <a:spcPts val="600"/>
              </a:spcBef>
              <a:buFont typeface="Wingdings" panose="05000000000000000000" pitchFamily="2" charset="2"/>
              <a:buChar char="ü"/>
            </a:pPr>
            <a:r>
              <a:rPr lang="zh-CN" altLang="en-US" sz="1050" dirty="0"/>
              <a:t>智驾缺省模式为平稳型</a:t>
            </a:r>
            <a:r>
              <a:rPr lang="en-US" altLang="zh-CN" sz="1050" dirty="0"/>
              <a:t>+</a:t>
            </a:r>
            <a:r>
              <a:rPr lang="zh-CN" altLang="en-US" sz="1050" dirty="0"/>
              <a:t>安全合规型，在安全平稳行驶过程中且路面车辆较少的时候，可通过语音切换，，切换为激进型</a:t>
            </a:r>
            <a:endParaRPr lang="en-US" altLang="zh-CN" sz="1050" dirty="0"/>
          </a:p>
          <a:p>
            <a:pPr marL="171450" indent="-171450">
              <a:spcBef>
                <a:spcPts val="600"/>
              </a:spcBef>
              <a:buFont typeface="Wingdings" panose="05000000000000000000" pitchFamily="2" charset="2"/>
              <a:buChar char="ü"/>
            </a:pPr>
            <a:r>
              <a:rPr lang="zh-CN" altLang="en-US" sz="1050" dirty="0"/>
              <a:t>对于</a:t>
            </a:r>
            <a:r>
              <a:rPr lang="en-US" altLang="zh-CN" sz="1050" dirty="0"/>
              <a:t>Robotaxi</a:t>
            </a:r>
            <a:r>
              <a:rPr lang="zh-CN" altLang="en-US" sz="1050" dirty="0"/>
              <a:t>，乘客可合理车速范围内，控制车速快一点，慢一点等，给乘客更多语音控制智驾的条件，但需要路段与安全车速范围内。</a:t>
            </a:r>
            <a:endParaRPr lang="en-US" altLang="zh-CN" sz="1050" dirty="0"/>
          </a:p>
          <a:p>
            <a:pPr marL="171450" indent="-171450">
              <a:spcBef>
                <a:spcPts val="600"/>
              </a:spcBef>
              <a:buFont typeface="Wingdings" panose="05000000000000000000" pitchFamily="2" charset="2"/>
              <a:buChar char="ü"/>
            </a:pPr>
            <a:r>
              <a:rPr lang="zh-CN" altLang="en-US" sz="1050" dirty="0"/>
              <a:t>能够智能识别乘客状态或者进行语音主动对话是否需要，对于晕车乘客，醉酒乘客，有孩子乘客，强制为平稳驾驶，避免急加速，急减速</a:t>
            </a:r>
            <a:endParaRPr lang="en-US" altLang="zh-CN" sz="1050" dirty="0"/>
          </a:p>
          <a:p>
            <a:pPr marL="171450" indent="-171450">
              <a:spcBef>
                <a:spcPts val="600"/>
              </a:spcBef>
              <a:buFont typeface="Wingdings" panose="05000000000000000000" pitchFamily="2" charset="2"/>
              <a:buChar char="ü"/>
            </a:pPr>
            <a:r>
              <a:rPr lang="zh-CN" altLang="en-US" sz="1050" dirty="0"/>
              <a:t>语音控智驾的需求，与当前行车环境与安全法规相抵触，进行相应语音提醒拒绝用户的指令</a:t>
            </a:r>
            <a:endParaRPr lang="en-US" altLang="zh-CN" sz="1050" dirty="0"/>
          </a:p>
          <a:p>
            <a:pPr marL="171450" indent="-171450">
              <a:spcBef>
                <a:spcPts val="600"/>
              </a:spcBef>
              <a:buFont typeface="Wingdings" panose="05000000000000000000" pitchFamily="2" charset="2"/>
              <a:buChar char="ü"/>
            </a:pPr>
            <a:r>
              <a:rPr lang="zh-CN" altLang="en-US" sz="1050" dirty="0"/>
              <a:t>语音情景控制智驾，如赶飞机赶不上，能快一些吗，身体有点不舒服，可以稳一点，正常与网约车对话方式，对进行与司机</a:t>
            </a:r>
            <a:r>
              <a:rPr lang="en-US" altLang="zh-CN" sz="1050" dirty="0"/>
              <a:t>Agent</a:t>
            </a:r>
            <a:r>
              <a:rPr lang="zh-CN" altLang="en-US" sz="1050" dirty="0"/>
              <a:t>对话</a:t>
            </a:r>
            <a:endParaRPr lang="en-US" altLang="zh-CN" sz="1050" dirty="0"/>
          </a:p>
          <a:p>
            <a:pPr marL="171450" indent="-171450">
              <a:spcBef>
                <a:spcPts val="600"/>
              </a:spcBef>
              <a:buFont typeface="Wingdings" panose="05000000000000000000" pitchFamily="2" charset="2"/>
              <a:buChar char="ü"/>
            </a:pPr>
            <a:r>
              <a:rPr lang="zh-CN" altLang="en-US" sz="1050" dirty="0"/>
              <a:t>对于出发前时间预估相比发生可能延迟要进行语音提醒，避免乘客抱怨（超过</a:t>
            </a:r>
            <a:r>
              <a:rPr lang="en-US" altLang="zh-CN" sz="1050" dirty="0"/>
              <a:t>5</a:t>
            </a:r>
            <a:r>
              <a:rPr lang="zh-CN" altLang="en-US" sz="1050" dirty="0"/>
              <a:t>分钟以上）</a:t>
            </a:r>
            <a:endParaRPr lang="en-US" altLang="zh-CN" sz="1050" dirty="0"/>
          </a:p>
          <a:p>
            <a:pPr marL="171450" indent="-171450">
              <a:spcBef>
                <a:spcPts val="600"/>
              </a:spcBef>
              <a:buFont typeface="Wingdings" panose="05000000000000000000" pitchFamily="2" charset="2"/>
              <a:buChar char="ü"/>
            </a:pPr>
            <a:endParaRPr lang="en-US" altLang="zh-CN" sz="1050" dirty="0"/>
          </a:p>
        </p:txBody>
      </p:sp>
      <p:sp>
        <p:nvSpPr>
          <p:cNvPr id="4" name="文本框 3">
            <a:extLst>
              <a:ext uri="{FF2B5EF4-FFF2-40B4-BE49-F238E27FC236}">
                <a16:creationId xmlns:a16="http://schemas.microsoft.com/office/drawing/2014/main" id="{82B18AAA-C08F-BF6E-A0C7-B7D2D4BD64F3}"/>
              </a:ext>
            </a:extLst>
          </p:cNvPr>
          <p:cNvSpPr txBox="1"/>
          <p:nvPr/>
        </p:nvSpPr>
        <p:spPr>
          <a:xfrm>
            <a:off x="3282653" y="2903945"/>
            <a:ext cx="819455"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激进型</a:t>
            </a:r>
          </a:p>
        </p:txBody>
      </p:sp>
      <p:sp>
        <p:nvSpPr>
          <p:cNvPr id="6" name="文本框 5">
            <a:extLst>
              <a:ext uri="{FF2B5EF4-FFF2-40B4-BE49-F238E27FC236}">
                <a16:creationId xmlns:a16="http://schemas.microsoft.com/office/drawing/2014/main" id="{0E2A3833-8614-127B-AE8B-61931066B355}"/>
              </a:ext>
            </a:extLst>
          </p:cNvPr>
          <p:cNvSpPr txBox="1"/>
          <p:nvPr/>
        </p:nvSpPr>
        <p:spPr>
          <a:xfrm>
            <a:off x="3244138" y="4165911"/>
            <a:ext cx="1127232"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合规安全性</a:t>
            </a:r>
          </a:p>
        </p:txBody>
      </p:sp>
      <p:sp>
        <p:nvSpPr>
          <p:cNvPr id="7" name="Rectangle 1">
            <a:extLst>
              <a:ext uri="{FF2B5EF4-FFF2-40B4-BE49-F238E27FC236}">
                <a16:creationId xmlns:a16="http://schemas.microsoft.com/office/drawing/2014/main" id="{D89F9B23-A17F-626D-13ED-22EB54A91C98}"/>
              </a:ext>
            </a:extLst>
          </p:cNvPr>
          <p:cNvSpPr>
            <a:spLocks noChangeArrowheads="1"/>
          </p:cNvSpPr>
          <p:nvPr/>
        </p:nvSpPr>
        <p:spPr bwMode="auto">
          <a:xfrm>
            <a:off x="3282653" y="2115536"/>
            <a:ext cx="3529290" cy="790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zh-CN" altLang="zh-CN" sz="1050" b="1" i="0" u="none" strike="noStrike" cap="none" normalizeH="0" baseline="0" dirty="0">
                <a:ln>
                  <a:noFill/>
                </a:ln>
                <a:solidFill>
                  <a:schemeClr val="tx1"/>
                </a:solidFill>
                <a:effectLst/>
                <a:latin typeface="Arial" panose="020B0604020202020204" pitchFamily="34" charset="0"/>
              </a:rPr>
              <a:t>日常舒适需求</a:t>
            </a:r>
            <a:r>
              <a:rPr kumimoji="0" lang="zh-CN" altLang="zh-CN" sz="1050" b="0" i="0" u="none" strike="noStrike" cap="none" normalizeH="0" baseline="0" dirty="0">
                <a:ln>
                  <a:noFill/>
                </a:ln>
                <a:solidFill>
                  <a:schemeClr val="tx1"/>
                </a:solidFill>
                <a:effectLst/>
                <a:latin typeface="Arial" panose="020B0604020202020204" pitchFamily="34" charset="0"/>
              </a:rPr>
              <a:t>：乘客反感颠簸（乘客因颠簸投诉）；</a:t>
            </a:r>
            <a:endParaRPr kumimoji="0" lang="en-US" altLang="zh-CN" sz="1050" b="0" i="0" u="none" strike="noStrike" cap="none" normalizeH="0" baseline="0" dirty="0">
              <a:ln>
                <a:noFill/>
              </a:ln>
              <a:solidFill>
                <a:schemeClr val="tx1"/>
              </a:solidFill>
              <a:effectLst/>
              <a:latin typeface="Arial" panose="020B0604020202020204" pitchFamily="34" charset="0"/>
            </a:endParaRPr>
          </a:p>
          <a:p>
            <a:pPr marL="171450" indent="-171450" eaLnBrk="0" fontAlgn="base" hangingPunct="0">
              <a:lnSpc>
                <a:spcPct val="150000"/>
              </a:lnSpc>
              <a:spcBef>
                <a:spcPct val="0"/>
              </a:spcBef>
              <a:spcAft>
                <a:spcPct val="0"/>
              </a:spcAft>
              <a:buFont typeface="Arial" panose="020B0604020202020204" pitchFamily="34" charset="0"/>
              <a:buChar char="•"/>
            </a:pPr>
            <a:r>
              <a:rPr lang="zh-CN" altLang="zh-CN" sz="1050" b="1" dirty="0">
                <a:latin typeface="Arial" panose="020B0604020202020204" pitchFamily="34" charset="0"/>
              </a:rPr>
              <a:t>复杂路况谨慎</a:t>
            </a:r>
            <a:r>
              <a:rPr lang="zh-CN" altLang="zh-CN" sz="1050" dirty="0">
                <a:latin typeface="Arial" panose="020B0604020202020204" pitchFamily="34" charset="0"/>
              </a:rPr>
              <a:t>：雨雪天气“减速慢行”但保持平稳</a:t>
            </a: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zh-CN" altLang="en-US" sz="1050" b="1" dirty="0">
                <a:latin typeface="Arial" panose="020B0604020202020204" pitchFamily="34" charset="0"/>
              </a:rPr>
              <a:t>需要照顾的人群更喜欢</a:t>
            </a:r>
            <a:r>
              <a:rPr lang="zh-CN" altLang="en-US" sz="1050" dirty="0">
                <a:latin typeface="Arial" panose="020B0604020202020204" pitchFamily="34" charset="0"/>
              </a:rPr>
              <a:t>，如晕车，醉酒，有孩子等</a:t>
            </a:r>
            <a:endParaRPr kumimoji="0" lang="zh-CN" altLang="zh-CN" sz="105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370A7509-AEE1-2B8F-D58E-BF287C91B105}"/>
              </a:ext>
            </a:extLst>
          </p:cNvPr>
          <p:cNvSpPr>
            <a:spLocks noChangeArrowheads="1"/>
          </p:cNvSpPr>
          <p:nvPr/>
        </p:nvSpPr>
        <p:spPr bwMode="auto">
          <a:xfrm>
            <a:off x="3354576" y="3106503"/>
            <a:ext cx="3511485" cy="103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zh-CN" altLang="zh-CN" sz="1050" b="1" i="0" u="none" strike="noStrike" cap="none" normalizeH="0" baseline="0" dirty="0">
                <a:ln>
                  <a:noFill/>
                </a:ln>
                <a:solidFill>
                  <a:schemeClr val="tx1"/>
                </a:solidFill>
                <a:effectLst/>
                <a:latin typeface="Arial" panose="020B0604020202020204" pitchFamily="34" charset="0"/>
              </a:rPr>
              <a:t>日常</a:t>
            </a:r>
            <a:r>
              <a:rPr kumimoji="0" lang="zh-CN" altLang="en-US" sz="1050" b="1" i="0" u="none" strike="noStrike" cap="none" normalizeH="0" baseline="0" dirty="0">
                <a:ln>
                  <a:noFill/>
                </a:ln>
                <a:solidFill>
                  <a:schemeClr val="tx1"/>
                </a:solidFill>
                <a:effectLst/>
                <a:latin typeface="Arial" panose="020B0604020202020204" pitchFamily="34" charset="0"/>
              </a:rPr>
              <a:t>乘坐</a:t>
            </a:r>
            <a:r>
              <a:rPr kumimoji="0" lang="zh-CN" altLang="zh-CN" sz="1050" b="1" i="0" u="none" strike="noStrike" cap="none" normalizeH="0" baseline="0" dirty="0">
                <a:ln>
                  <a:noFill/>
                </a:ln>
                <a:solidFill>
                  <a:schemeClr val="tx1"/>
                </a:solidFill>
                <a:effectLst/>
                <a:latin typeface="Arial" panose="020B0604020202020204" pitchFamily="34" charset="0"/>
              </a:rPr>
              <a:t>体验破坏</a:t>
            </a:r>
            <a:r>
              <a:rPr kumimoji="0" lang="en-US" altLang="zh-CN" sz="1050" b="1"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zh-CN" altLang="zh-CN" sz="1050" b="1" i="0" u="none" strike="noStrike" cap="none" normalizeH="0" baseline="0" dirty="0">
                <a:ln>
                  <a:noFill/>
                </a:ln>
                <a:solidFill>
                  <a:schemeClr val="tx1"/>
                </a:solidFill>
                <a:effectLst/>
                <a:latin typeface="Arial" panose="020B0604020202020204" pitchFamily="34" charset="0"/>
              </a:rPr>
              <a:t>特殊乘客伤害</a:t>
            </a:r>
            <a:r>
              <a:rPr kumimoji="0" lang="zh-CN" altLang="zh-CN" sz="1050" b="0" i="0" u="none" strike="noStrike" cap="none" normalizeH="0" baseline="0" dirty="0">
                <a:ln>
                  <a:noFill/>
                </a:ln>
                <a:solidFill>
                  <a:schemeClr val="tx1"/>
                </a:solidFill>
                <a:effectLst/>
                <a:latin typeface="Arial" panose="020B0604020202020204" pitchFamily="34" charset="0"/>
              </a:rPr>
              <a:t>：醉酒者（急转弯加重呕吐）、儿童（急刹易受伤）；</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zh-CN" altLang="zh-CN" sz="1050" b="1" i="0" u="none" strike="noStrike" cap="none" normalizeH="0" baseline="0" dirty="0">
                <a:ln>
                  <a:noFill/>
                </a:ln>
                <a:solidFill>
                  <a:schemeClr val="tx1"/>
                </a:solidFill>
                <a:effectLst/>
                <a:latin typeface="Arial" panose="020B0604020202020204" pitchFamily="34" charset="0"/>
              </a:rPr>
              <a:t>规则违反</a:t>
            </a:r>
            <a:r>
              <a:rPr kumimoji="0" lang="zh-CN" altLang="zh-CN" sz="1050" b="0" i="0" u="none" strike="noStrike" cap="none" normalizeH="0" baseline="0" dirty="0">
                <a:ln>
                  <a:noFill/>
                </a:ln>
                <a:solidFill>
                  <a:schemeClr val="tx1"/>
                </a:solidFill>
                <a:effectLst/>
                <a:latin typeface="Arial" panose="020B0604020202020204" pitchFamily="34" charset="0"/>
              </a:rPr>
              <a:t>：闯红灯、急刹车（被投诉</a:t>
            </a:r>
            <a:r>
              <a:rPr lang="zh-CN" altLang="zh-CN" sz="1050" dirty="0">
                <a:latin typeface="Arial" panose="020B0604020202020204" pitchFamily="34" charset="0"/>
              </a:rPr>
              <a:t>‘危险驾驶’）；</a:t>
            </a:r>
          </a:p>
        </p:txBody>
      </p:sp>
      <p:sp>
        <p:nvSpPr>
          <p:cNvPr id="20" name="Rectangle 4">
            <a:extLst>
              <a:ext uri="{FF2B5EF4-FFF2-40B4-BE49-F238E27FC236}">
                <a16:creationId xmlns:a16="http://schemas.microsoft.com/office/drawing/2014/main" id="{46013D03-9D2F-C14E-AC8C-491D0BC7403B}"/>
              </a:ext>
            </a:extLst>
          </p:cNvPr>
          <p:cNvSpPr>
            <a:spLocks noChangeArrowheads="1"/>
          </p:cNvSpPr>
          <p:nvPr/>
        </p:nvSpPr>
        <p:spPr bwMode="auto">
          <a:xfrm>
            <a:off x="3277655" y="4454676"/>
            <a:ext cx="3511485" cy="790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zh-CN" altLang="en-US" sz="1050" b="1" i="0" u="none" strike="noStrike" cap="none" normalizeH="0" baseline="0" dirty="0">
                <a:ln>
                  <a:noFill/>
                </a:ln>
                <a:solidFill>
                  <a:schemeClr val="tx1"/>
                </a:solidFill>
                <a:effectLst/>
                <a:latin typeface="Arial" panose="020B0604020202020204" pitchFamily="34" charset="0"/>
              </a:rPr>
              <a:t>不延迟情况下受欢迎</a:t>
            </a:r>
            <a:endParaRPr kumimoji="0" lang="en-US" altLang="zh-CN" sz="1050" b="1"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zh-CN" altLang="zh-CN" sz="1050" b="1" i="0" u="none" strike="noStrike" cap="none" normalizeH="0" baseline="0" dirty="0">
                <a:ln>
                  <a:noFill/>
                </a:ln>
                <a:solidFill>
                  <a:schemeClr val="tx1"/>
                </a:solidFill>
                <a:effectLst/>
                <a:latin typeface="Arial" panose="020B0604020202020204" pitchFamily="34" charset="0"/>
              </a:rPr>
              <a:t>过度延误未沟通</a:t>
            </a:r>
            <a:r>
              <a:rPr kumimoji="0" lang="zh-CN" altLang="zh-CN" sz="1050" b="0" i="0" u="none" strike="noStrike" cap="none" normalizeH="0" baseline="0" dirty="0">
                <a:ln>
                  <a:noFill/>
                </a:ln>
                <a:solidFill>
                  <a:schemeClr val="tx1"/>
                </a:solidFill>
                <a:effectLst/>
                <a:latin typeface="Arial" panose="020B0604020202020204" pitchFamily="34" charset="0"/>
              </a:rPr>
              <a:t>：如“雨天降速晚到10分钟未被理解”（“乘客以‘未达时效承诺’投诉”）；</a:t>
            </a:r>
          </a:p>
        </p:txBody>
      </p:sp>
      <p:sp>
        <p:nvSpPr>
          <p:cNvPr id="8" name="文本框 7">
            <a:extLst>
              <a:ext uri="{FF2B5EF4-FFF2-40B4-BE49-F238E27FC236}">
                <a16:creationId xmlns:a16="http://schemas.microsoft.com/office/drawing/2014/main" id="{69D393DC-C49D-140A-51CA-8B7F3737B8C8}"/>
              </a:ext>
            </a:extLst>
          </p:cNvPr>
          <p:cNvSpPr txBox="1"/>
          <p:nvPr/>
        </p:nvSpPr>
        <p:spPr>
          <a:xfrm>
            <a:off x="6964954" y="2954836"/>
            <a:ext cx="723275" cy="253916"/>
          </a:xfrm>
          <a:prstGeom prst="rect">
            <a:avLst/>
          </a:prstGeom>
          <a:noFill/>
        </p:spPr>
        <p:txBody>
          <a:bodyPr wrap="none" rtlCol="0">
            <a:spAutoFit/>
          </a:bodyPr>
          <a:lstStyle/>
          <a:p>
            <a:r>
              <a:rPr lang="zh-CN" altLang="en-US" sz="1050" b="1" dirty="0"/>
              <a:t>机会点：</a:t>
            </a:r>
          </a:p>
        </p:txBody>
      </p:sp>
      <p:sp>
        <p:nvSpPr>
          <p:cNvPr id="9" name="文本框 8">
            <a:extLst>
              <a:ext uri="{FF2B5EF4-FFF2-40B4-BE49-F238E27FC236}">
                <a16:creationId xmlns:a16="http://schemas.microsoft.com/office/drawing/2014/main" id="{FCD7B92C-B815-A0B4-01A3-FB4D10513D6F}"/>
              </a:ext>
            </a:extLst>
          </p:cNvPr>
          <p:cNvSpPr txBox="1"/>
          <p:nvPr/>
        </p:nvSpPr>
        <p:spPr>
          <a:xfrm>
            <a:off x="6990140" y="5335380"/>
            <a:ext cx="588623" cy="253916"/>
          </a:xfrm>
          <a:prstGeom prst="rect">
            <a:avLst/>
          </a:prstGeom>
          <a:noFill/>
        </p:spPr>
        <p:txBody>
          <a:bodyPr wrap="none" rtlCol="0">
            <a:spAutoFit/>
          </a:bodyPr>
          <a:lstStyle/>
          <a:p>
            <a:r>
              <a:rPr lang="zh-CN" altLang="en-US" sz="1050" b="1" dirty="0"/>
              <a:t>展望：</a:t>
            </a:r>
          </a:p>
        </p:txBody>
      </p:sp>
      <p:sp>
        <p:nvSpPr>
          <p:cNvPr id="11" name="文本框 10">
            <a:extLst>
              <a:ext uri="{FF2B5EF4-FFF2-40B4-BE49-F238E27FC236}">
                <a16:creationId xmlns:a16="http://schemas.microsoft.com/office/drawing/2014/main" id="{34E962D6-705A-9F38-A189-F2D5685E50D8}"/>
              </a:ext>
            </a:extLst>
          </p:cNvPr>
          <p:cNvSpPr txBox="1"/>
          <p:nvPr/>
        </p:nvSpPr>
        <p:spPr>
          <a:xfrm>
            <a:off x="6964954" y="1895169"/>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12" name="文本框 11">
            <a:extLst>
              <a:ext uri="{FF2B5EF4-FFF2-40B4-BE49-F238E27FC236}">
                <a16:creationId xmlns:a16="http://schemas.microsoft.com/office/drawing/2014/main" id="{B14CA349-E285-9D8B-DC47-8A615E55ED7B}"/>
              </a:ext>
            </a:extLst>
          </p:cNvPr>
          <p:cNvSpPr txBox="1"/>
          <p:nvPr/>
        </p:nvSpPr>
        <p:spPr>
          <a:xfrm>
            <a:off x="3244138" y="5302367"/>
            <a:ext cx="819455" cy="276999"/>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b="1" dirty="0"/>
              <a:t>灵活型</a:t>
            </a:r>
          </a:p>
        </p:txBody>
      </p:sp>
      <p:sp>
        <p:nvSpPr>
          <p:cNvPr id="17" name="文本框 16">
            <a:extLst>
              <a:ext uri="{FF2B5EF4-FFF2-40B4-BE49-F238E27FC236}">
                <a16:creationId xmlns:a16="http://schemas.microsoft.com/office/drawing/2014/main" id="{CAFE24BF-07E6-47E0-1C81-801A4F242945}"/>
              </a:ext>
            </a:extLst>
          </p:cNvPr>
          <p:cNvSpPr txBox="1"/>
          <p:nvPr/>
        </p:nvSpPr>
        <p:spPr>
          <a:xfrm>
            <a:off x="3243705" y="5593955"/>
            <a:ext cx="3462905" cy="430887"/>
          </a:xfrm>
          <a:prstGeom prst="rect">
            <a:avLst/>
          </a:prstGeom>
          <a:noFill/>
        </p:spPr>
        <p:txBody>
          <a:bodyPr wrap="square" rtlCol="0">
            <a:spAutoFit/>
          </a:bodyPr>
          <a:lstStyle/>
          <a:p>
            <a:pPr marL="285750" indent="-285750">
              <a:buFont typeface="Arial" panose="020B0604020202020204" pitchFamily="34" charset="0"/>
              <a:buChar char="•"/>
            </a:pPr>
            <a:r>
              <a:rPr lang="zh-CN" altLang="en-US" sz="1050" dirty="0"/>
              <a:t>乘客追求对司机</a:t>
            </a:r>
            <a:r>
              <a:rPr lang="en-US" altLang="zh-CN" sz="1050" dirty="0"/>
              <a:t>Agent</a:t>
            </a:r>
            <a:r>
              <a:rPr lang="zh-CN" altLang="en-US" sz="1050" dirty="0"/>
              <a:t>的更多控制权，司机</a:t>
            </a:r>
            <a:r>
              <a:rPr lang="en-US" altLang="zh-CN" sz="1050" dirty="0"/>
              <a:t>agent</a:t>
            </a:r>
            <a:r>
              <a:rPr lang="zh-CN" altLang="en-US" sz="1050" dirty="0"/>
              <a:t>可以灵活响应乘客要求</a:t>
            </a:r>
          </a:p>
        </p:txBody>
      </p:sp>
      <p:sp>
        <p:nvSpPr>
          <p:cNvPr id="19" name="文本框 18">
            <a:extLst>
              <a:ext uri="{FF2B5EF4-FFF2-40B4-BE49-F238E27FC236}">
                <a16:creationId xmlns:a16="http://schemas.microsoft.com/office/drawing/2014/main" id="{13CE3FB4-D659-4FA9-3D14-086A39337463}"/>
              </a:ext>
            </a:extLst>
          </p:cNvPr>
          <p:cNvSpPr txBox="1"/>
          <p:nvPr/>
        </p:nvSpPr>
        <p:spPr>
          <a:xfrm>
            <a:off x="7578763" y="2095707"/>
            <a:ext cx="4140877" cy="822726"/>
          </a:xfrm>
          <a:prstGeom prst="rect">
            <a:avLst/>
          </a:prstGeom>
          <a:noFill/>
        </p:spPr>
        <p:txBody>
          <a:bodyPr wrap="none" rtlCol="0">
            <a:spAutoFit/>
          </a:bodyPr>
          <a:lstStyle/>
          <a:p>
            <a:pPr marL="285750" indent="-285750">
              <a:lnSpc>
                <a:spcPct val="150000"/>
              </a:lnSpc>
              <a:buFont typeface="Wingdings" panose="05000000000000000000" pitchFamily="2" charset="2"/>
              <a:buChar char="ü"/>
            </a:pPr>
            <a:r>
              <a:rPr lang="zh-CN" altLang="en-US" sz="1100" dirty="0"/>
              <a:t>通过语音指令控制人驾时驾驶模式，运动模式，舒适模式等</a:t>
            </a:r>
            <a:endParaRPr lang="en-US" altLang="zh-CN" sz="1100" dirty="0"/>
          </a:p>
          <a:p>
            <a:pPr marL="285750" indent="-285750">
              <a:lnSpc>
                <a:spcPct val="150000"/>
              </a:lnSpc>
              <a:buFont typeface="Wingdings" panose="05000000000000000000" pitchFamily="2" charset="2"/>
              <a:buChar char="ü"/>
            </a:pPr>
            <a:r>
              <a:rPr lang="zh-CN" altLang="en-US" sz="1100" dirty="0"/>
              <a:t>通过语音指令控制智能驾驶超过前车等（理想）</a:t>
            </a:r>
            <a:endParaRPr lang="en-US" altLang="zh-CN" sz="1100" dirty="0"/>
          </a:p>
          <a:p>
            <a:pPr marL="285750" indent="-285750">
              <a:lnSpc>
                <a:spcPct val="150000"/>
              </a:lnSpc>
              <a:buFont typeface="Wingdings" panose="05000000000000000000" pitchFamily="2" charset="2"/>
              <a:buChar char="ü"/>
            </a:pPr>
            <a:r>
              <a:rPr lang="zh-CN" altLang="en-US" sz="1100" dirty="0"/>
              <a:t>智能驾驶模式分为平稳型，激进型等，语音不可切换</a:t>
            </a:r>
          </a:p>
        </p:txBody>
      </p:sp>
      <p:sp>
        <p:nvSpPr>
          <p:cNvPr id="27" name="文本框 26">
            <a:extLst>
              <a:ext uri="{FF2B5EF4-FFF2-40B4-BE49-F238E27FC236}">
                <a16:creationId xmlns:a16="http://schemas.microsoft.com/office/drawing/2014/main" id="{33354958-E292-EFF3-88AA-4C60A2DFFEC7}"/>
              </a:ext>
            </a:extLst>
          </p:cNvPr>
          <p:cNvSpPr txBox="1"/>
          <p:nvPr/>
        </p:nvSpPr>
        <p:spPr>
          <a:xfrm>
            <a:off x="7298727" y="5611202"/>
            <a:ext cx="4672816" cy="577081"/>
          </a:xfrm>
          <a:prstGeom prst="rect">
            <a:avLst/>
          </a:prstGeom>
          <a:noFill/>
        </p:spPr>
        <p:txBody>
          <a:bodyPr wrap="square" rtlCol="0">
            <a:spAutoFit/>
          </a:bodyPr>
          <a:lstStyle/>
          <a:p>
            <a:pPr marL="285750" indent="-285750">
              <a:buFont typeface="Wingdings" panose="05000000000000000000" pitchFamily="2" charset="2"/>
              <a:buChar char="ü"/>
            </a:pPr>
            <a:r>
              <a:rPr lang="zh-CN" altLang="en-US" sz="1050" dirty="0"/>
              <a:t>语音能够自然语音交互的方式完全控制智驾，包括但不限于智驾风格，行车动作等，司机</a:t>
            </a:r>
            <a:r>
              <a:rPr lang="en-US" altLang="zh-CN" sz="1050" dirty="0"/>
              <a:t>Agent</a:t>
            </a:r>
            <a:r>
              <a:rPr lang="zh-CN" altLang="en-US" sz="1050" dirty="0"/>
              <a:t>在驾驶方面，在安全合规下，可以完全被语音控制。</a:t>
            </a:r>
          </a:p>
        </p:txBody>
      </p:sp>
    </p:spTree>
    <p:extLst>
      <p:ext uri="{BB962C8B-B14F-4D97-AF65-F5344CB8AC3E}">
        <p14:creationId xmlns:p14="http://schemas.microsoft.com/office/powerpoint/2010/main" val="2257447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3FAE1-2363-3448-CBAA-F92922E55F2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40863E9-13A4-3CA5-F270-289446CE9159}"/>
              </a:ext>
            </a:extLst>
          </p:cNvPr>
          <p:cNvSpPr>
            <a:spLocks noGrp="1"/>
          </p:cNvSpPr>
          <p:nvPr>
            <p:ph type="title" idx="4294967295"/>
          </p:nvPr>
        </p:nvSpPr>
        <p:spPr>
          <a:xfrm>
            <a:off x="669924" y="433637"/>
            <a:ext cx="10440000" cy="595063"/>
          </a:xfrm>
        </p:spPr>
        <p:txBody>
          <a:bodyPr/>
          <a:lstStyle/>
          <a:p>
            <a:r>
              <a:rPr lang="zh-CN" altLang="en-US" dirty="0"/>
              <a:t>跨阶段</a:t>
            </a:r>
          </a:p>
        </p:txBody>
      </p:sp>
      <p:sp>
        <p:nvSpPr>
          <p:cNvPr id="16" name="文本占位符 4">
            <a:extLst>
              <a:ext uri="{FF2B5EF4-FFF2-40B4-BE49-F238E27FC236}">
                <a16:creationId xmlns:a16="http://schemas.microsoft.com/office/drawing/2014/main" id="{3AE6E755-21CA-F0F2-FCBF-BA349073A577}"/>
              </a:ext>
            </a:extLst>
          </p:cNvPr>
          <p:cNvSpPr txBox="1"/>
          <p:nvPr/>
        </p:nvSpPr>
        <p:spPr>
          <a:xfrm>
            <a:off x="5183625" y="1395662"/>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a:extLst>
              <a:ext uri="{FF2B5EF4-FFF2-40B4-BE49-F238E27FC236}">
                <a16:creationId xmlns:a16="http://schemas.microsoft.com/office/drawing/2014/main" id="{2BD297F0-C7DC-62E3-14E4-C1F557C87E04}"/>
              </a:ext>
            </a:extLst>
          </p:cNvPr>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a:extLst>
              <a:ext uri="{FF2B5EF4-FFF2-40B4-BE49-F238E27FC236}">
                <a16:creationId xmlns:a16="http://schemas.microsoft.com/office/drawing/2014/main" id="{3829A729-1475-4CA2-2C10-8CCB58D2CA12}"/>
              </a:ext>
            </a:extLst>
          </p:cNvPr>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a:extLst>
              <a:ext uri="{FF2B5EF4-FFF2-40B4-BE49-F238E27FC236}">
                <a16:creationId xmlns:a16="http://schemas.microsoft.com/office/drawing/2014/main" id="{5BD267CF-23B0-B5EB-AD75-7CE078750423}"/>
              </a:ext>
            </a:extLst>
          </p:cNvPr>
          <p:cNvSpPr txBox="1"/>
          <p:nvPr/>
        </p:nvSpPr>
        <p:spPr>
          <a:xfrm>
            <a:off x="87166" y="3150881"/>
            <a:ext cx="376623" cy="954107"/>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跨阶段</a:t>
            </a:r>
          </a:p>
        </p:txBody>
      </p:sp>
      <p:sp>
        <p:nvSpPr>
          <p:cNvPr id="10" name="文本框 9">
            <a:extLst>
              <a:ext uri="{FF2B5EF4-FFF2-40B4-BE49-F238E27FC236}">
                <a16:creationId xmlns:a16="http://schemas.microsoft.com/office/drawing/2014/main" id="{2E1E8995-38D2-8664-C628-1D2FE691C591}"/>
              </a:ext>
            </a:extLst>
          </p:cNvPr>
          <p:cNvSpPr txBox="1"/>
          <p:nvPr/>
        </p:nvSpPr>
        <p:spPr>
          <a:xfrm>
            <a:off x="425035" y="2186095"/>
            <a:ext cx="1089404" cy="3600986"/>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司机素质与品格</a:t>
            </a: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a:extLst>
              <a:ext uri="{FF2B5EF4-FFF2-40B4-BE49-F238E27FC236}">
                <a16:creationId xmlns:a16="http://schemas.microsoft.com/office/drawing/2014/main" id="{30AEE326-4190-0C9F-F33B-1CE58841225A}"/>
              </a:ext>
            </a:extLst>
          </p:cNvPr>
          <p:cNvSpPr txBox="1"/>
          <p:nvPr/>
        </p:nvSpPr>
        <p:spPr>
          <a:xfrm>
            <a:off x="2143529" y="1384066"/>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a:extLst>
              <a:ext uri="{FF2B5EF4-FFF2-40B4-BE49-F238E27FC236}">
                <a16:creationId xmlns:a16="http://schemas.microsoft.com/office/drawing/2014/main" id="{FDF554F6-C1C0-3E1D-40A0-33ED867FEFCC}"/>
              </a:ext>
            </a:extLst>
          </p:cNvPr>
          <p:cNvSpPr txBox="1"/>
          <p:nvPr/>
        </p:nvSpPr>
        <p:spPr>
          <a:xfrm>
            <a:off x="9262073" y="1398077"/>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a:extLst>
              <a:ext uri="{FF2B5EF4-FFF2-40B4-BE49-F238E27FC236}">
                <a16:creationId xmlns:a16="http://schemas.microsoft.com/office/drawing/2014/main" id="{96542679-5360-6F51-4F8A-A51020205AFB}"/>
              </a:ext>
            </a:extLst>
          </p:cNvPr>
          <p:cNvCxnSpPr/>
          <p:nvPr/>
        </p:nvCxnSpPr>
        <p:spPr>
          <a:xfrm>
            <a:off x="2868827" y="1810163"/>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0ABD31AD-2007-6E53-E432-CB4A0F684844}"/>
              </a:ext>
            </a:extLst>
          </p:cNvPr>
          <p:cNvCxnSpPr/>
          <p:nvPr/>
        </p:nvCxnSpPr>
        <p:spPr>
          <a:xfrm>
            <a:off x="6215487" y="1826588"/>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a:extLst>
              <a:ext uri="{FF2B5EF4-FFF2-40B4-BE49-F238E27FC236}">
                <a16:creationId xmlns:a16="http://schemas.microsoft.com/office/drawing/2014/main" id="{F4DA284E-88D2-C091-5682-3C0E6D6FED85}"/>
              </a:ext>
            </a:extLst>
          </p:cNvPr>
          <p:cNvSpPr txBox="1"/>
          <p:nvPr/>
        </p:nvSpPr>
        <p:spPr>
          <a:xfrm>
            <a:off x="483782" y="1390273"/>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高频场景</a:t>
            </a:r>
          </a:p>
        </p:txBody>
      </p:sp>
      <p:cxnSp>
        <p:nvCxnSpPr>
          <p:cNvPr id="34" name="直接连接符 33">
            <a:extLst>
              <a:ext uri="{FF2B5EF4-FFF2-40B4-BE49-F238E27FC236}">
                <a16:creationId xmlns:a16="http://schemas.microsoft.com/office/drawing/2014/main" id="{E76F1BF0-9C62-EABA-F818-8425F3D5B71B}"/>
              </a:ext>
            </a:extLst>
          </p:cNvPr>
          <p:cNvCxnSpPr/>
          <p:nvPr/>
        </p:nvCxnSpPr>
        <p:spPr>
          <a:xfrm>
            <a:off x="1414296" y="1810163"/>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a:extLst>
              <a:ext uri="{FF2B5EF4-FFF2-40B4-BE49-F238E27FC236}">
                <a16:creationId xmlns:a16="http://schemas.microsoft.com/office/drawing/2014/main" id="{E463419B-93B4-CDC1-244C-A1C47E8F3232}"/>
              </a:ext>
            </a:extLst>
          </p:cNvPr>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23" name="文本框 22">
            <a:extLst>
              <a:ext uri="{FF2B5EF4-FFF2-40B4-BE49-F238E27FC236}">
                <a16:creationId xmlns:a16="http://schemas.microsoft.com/office/drawing/2014/main" id="{D8E96C55-EB30-EDE9-F228-5268059C7C83}"/>
              </a:ext>
            </a:extLst>
          </p:cNvPr>
          <p:cNvSpPr txBox="1"/>
          <p:nvPr/>
        </p:nvSpPr>
        <p:spPr>
          <a:xfrm>
            <a:off x="1398015" y="3627934"/>
            <a:ext cx="1450322" cy="82388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100" dirty="0"/>
              <a:t>核心欢迎素质</a:t>
            </a:r>
            <a:endParaRPr lang="en-US" altLang="zh-CN" sz="1100" dirty="0"/>
          </a:p>
          <a:p>
            <a:pPr marL="285750" indent="-285750">
              <a:lnSpc>
                <a:spcPct val="150000"/>
              </a:lnSpc>
              <a:buFont typeface="Arial" panose="020B0604020202020204" pitchFamily="34" charset="0"/>
              <a:buChar char="•"/>
            </a:pPr>
            <a:r>
              <a:rPr lang="zh-CN" altLang="en-US" sz="1100" dirty="0"/>
              <a:t>场景化加分项</a:t>
            </a:r>
            <a:endParaRPr lang="en-US" altLang="zh-CN" sz="1100" dirty="0"/>
          </a:p>
          <a:p>
            <a:pPr marL="285750" indent="-285750">
              <a:lnSpc>
                <a:spcPct val="150000"/>
              </a:lnSpc>
              <a:buFont typeface="Arial" panose="020B0604020202020204" pitchFamily="34" charset="0"/>
              <a:buChar char="•"/>
            </a:pPr>
            <a:r>
              <a:rPr lang="zh-CN" altLang="en-US" sz="1100" dirty="0"/>
              <a:t>绝对禁忌</a:t>
            </a:r>
          </a:p>
        </p:txBody>
      </p:sp>
      <p:sp>
        <p:nvSpPr>
          <p:cNvPr id="24" name="文本框 22">
            <a:extLst>
              <a:ext uri="{FF2B5EF4-FFF2-40B4-BE49-F238E27FC236}">
                <a16:creationId xmlns:a16="http://schemas.microsoft.com/office/drawing/2014/main" id="{D8E96C55-EB30-EDE9-F228-5268059C7C83}"/>
              </a:ext>
            </a:extLst>
          </p:cNvPr>
          <p:cNvSpPr txBox="1"/>
          <p:nvPr/>
        </p:nvSpPr>
        <p:spPr>
          <a:xfrm>
            <a:off x="2848108" y="1894968"/>
            <a:ext cx="1450322" cy="26161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zh-CN" altLang="en-US" sz="1100" b="1" dirty="0"/>
              <a:t>核心欢迎素质</a:t>
            </a:r>
            <a:endParaRPr lang="en-US" altLang="zh-CN" sz="1100" b="1" dirty="0"/>
          </a:p>
        </p:txBody>
      </p:sp>
      <p:sp>
        <p:nvSpPr>
          <p:cNvPr id="31" name="文本框 30">
            <a:extLst>
              <a:ext uri="{FF2B5EF4-FFF2-40B4-BE49-F238E27FC236}">
                <a16:creationId xmlns:a16="http://schemas.microsoft.com/office/drawing/2014/main" id="{344F2FCB-5BAB-D90D-7CCD-A47DB436E8BB}"/>
              </a:ext>
            </a:extLst>
          </p:cNvPr>
          <p:cNvSpPr txBox="1"/>
          <p:nvPr/>
        </p:nvSpPr>
        <p:spPr>
          <a:xfrm>
            <a:off x="3008085" y="2186095"/>
            <a:ext cx="1300356" cy="790666"/>
          </a:xfrm>
          <a:prstGeom prst="rect">
            <a:avLst/>
          </a:prstGeom>
          <a:noFill/>
        </p:spPr>
        <p:txBody>
          <a:bodyPr wrap="none" rtlCol="0">
            <a:spAutoFit/>
          </a:bodyPr>
          <a:lstStyle/>
          <a:p>
            <a:pPr marL="171450" indent="-171450">
              <a:lnSpc>
                <a:spcPct val="150000"/>
              </a:lnSpc>
              <a:buFont typeface="Arial" panose="020B0604020202020204" pitchFamily="34" charset="0"/>
              <a:buChar char="•"/>
            </a:pPr>
            <a:r>
              <a:rPr lang="zh-CN" altLang="en-US" sz="1050" dirty="0"/>
              <a:t>礼貌与尊重</a:t>
            </a:r>
            <a:endParaRPr lang="en-US" altLang="zh-CN" sz="1050" dirty="0"/>
          </a:p>
          <a:p>
            <a:pPr marL="171450" indent="-171450">
              <a:lnSpc>
                <a:spcPct val="150000"/>
              </a:lnSpc>
              <a:buFont typeface="Arial" panose="020B0604020202020204" pitchFamily="34" charset="0"/>
              <a:buChar char="•"/>
            </a:pPr>
            <a:r>
              <a:rPr lang="zh-CN" altLang="en-US" sz="1050" dirty="0"/>
              <a:t>耐心</a:t>
            </a:r>
            <a:endParaRPr lang="en-US" altLang="zh-CN" sz="1050" dirty="0"/>
          </a:p>
          <a:p>
            <a:pPr marL="171450" indent="-171450">
              <a:lnSpc>
                <a:spcPct val="150000"/>
              </a:lnSpc>
              <a:buFont typeface="Arial" panose="020B0604020202020204" pitchFamily="34" charset="0"/>
              <a:buChar char="•"/>
            </a:pPr>
            <a:r>
              <a:rPr lang="zh-CN" altLang="en-US" sz="1050" dirty="0"/>
              <a:t>责任心与专业性</a:t>
            </a:r>
          </a:p>
        </p:txBody>
      </p:sp>
      <p:sp>
        <p:nvSpPr>
          <p:cNvPr id="32" name="文本框 22">
            <a:extLst>
              <a:ext uri="{FF2B5EF4-FFF2-40B4-BE49-F238E27FC236}">
                <a16:creationId xmlns:a16="http://schemas.microsoft.com/office/drawing/2014/main" id="{C182D010-B762-29F8-15E4-ECAFBDC79136}"/>
              </a:ext>
            </a:extLst>
          </p:cNvPr>
          <p:cNvSpPr txBox="1"/>
          <p:nvPr/>
        </p:nvSpPr>
        <p:spPr>
          <a:xfrm>
            <a:off x="2848108" y="3020076"/>
            <a:ext cx="1450322" cy="26161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zh-CN" altLang="en-US" sz="1100" b="1" dirty="0"/>
              <a:t>场景化加分项</a:t>
            </a:r>
            <a:endParaRPr lang="en-US" altLang="zh-CN" sz="1100" b="1" dirty="0"/>
          </a:p>
        </p:txBody>
      </p:sp>
      <p:sp>
        <p:nvSpPr>
          <p:cNvPr id="33" name="文本框 32">
            <a:extLst>
              <a:ext uri="{FF2B5EF4-FFF2-40B4-BE49-F238E27FC236}">
                <a16:creationId xmlns:a16="http://schemas.microsoft.com/office/drawing/2014/main" id="{C7C5B36D-6DFB-6433-9744-A51C4094A1CD}"/>
              </a:ext>
            </a:extLst>
          </p:cNvPr>
          <p:cNvSpPr txBox="1"/>
          <p:nvPr/>
        </p:nvSpPr>
        <p:spPr>
          <a:xfrm>
            <a:off x="3024822" y="3288204"/>
            <a:ext cx="896399" cy="790666"/>
          </a:xfrm>
          <a:prstGeom prst="rect">
            <a:avLst/>
          </a:prstGeom>
          <a:noFill/>
        </p:spPr>
        <p:txBody>
          <a:bodyPr wrap="none" rtlCol="0">
            <a:spAutoFit/>
          </a:bodyPr>
          <a:lstStyle/>
          <a:p>
            <a:pPr marL="171450" indent="-171450">
              <a:lnSpc>
                <a:spcPct val="150000"/>
              </a:lnSpc>
              <a:buFont typeface="Arial" panose="020B0604020202020204" pitchFamily="34" charset="0"/>
              <a:buChar char="•"/>
            </a:pPr>
            <a:r>
              <a:rPr lang="zh-CN" altLang="en-US" sz="1050" dirty="0"/>
              <a:t>灵活应变</a:t>
            </a:r>
            <a:endParaRPr lang="en-US" altLang="zh-CN" sz="1050" dirty="0"/>
          </a:p>
          <a:p>
            <a:pPr marL="171450" indent="-171450">
              <a:lnSpc>
                <a:spcPct val="150000"/>
              </a:lnSpc>
              <a:buFont typeface="Arial" panose="020B0604020202020204" pitchFamily="34" charset="0"/>
              <a:buChar char="•"/>
            </a:pPr>
            <a:r>
              <a:rPr lang="zh-CN" altLang="en-US" sz="1050" dirty="0"/>
              <a:t>人文关怀</a:t>
            </a:r>
            <a:endParaRPr lang="en-US" altLang="zh-CN" sz="1050" dirty="0"/>
          </a:p>
          <a:p>
            <a:pPr marL="171450" indent="-171450">
              <a:lnSpc>
                <a:spcPct val="150000"/>
              </a:lnSpc>
              <a:buFont typeface="Arial" panose="020B0604020202020204" pitchFamily="34" charset="0"/>
              <a:buChar char="•"/>
            </a:pPr>
            <a:r>
              <a:rPr lang="zh-CN" altLang="en-US" sz="1050" dirty="0"/>
              <a:t>同理心</a:t>
            </a:r>
          </a:p>
        </p:txBody>
      </p:sp>
      <p:sp>
        <p:nvSpPr>
          <p:cNvPr id="37" name="文本框 22">
            <a:extLst>
              <a:ext uri="{FF2B5EF4-FFF2-40B4-BE49-F238E27FC236}">
                <a16:creationId xmlns:a16="http://schemas.microsoft.com/office/drawing/2014/main" id="{E7B4F424-F115-94AC-4BED-362086F1C051}"/>
              </a:ext>
            </a:extLst>
          </p:cNvPr>
          <p:cNvSpPr txBox="1"/>
          <p:nvPr/>
        </p:nvSpPr>
        <p:spPr>
          <a:xfrm>
            <a:off x="2873036" y="4390314"/>
            <a:ext cx="1450322" cy="26161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zh-CN" altLang="en-US" sz="1100" b="1" dirty="0"/>
              <a:t>绝对禁忌</a:t>
            </a:r>
            <a:endParaRPr lang="en-US" altLang="zh-CN" sz="1100" b="1" dirty="0"/>
          </a:p>
        </p:txBody>
      </p:sp>
      <p:sp>
        <p:nvSpPr>
          <p:cNvPr id="40" name="文本框 39">
            <a:extLst>
              <a:ext uri="{FF2B5EF4-FFF2-40B4-BE49-F238E27FC236}">
                <a16:creationId xmlns:a16="http://schemas.microsoft.com/office/drawing/2014/main" id="{7F014AA7-F6D1-0915-43CF-51354C3CBBA1}"/>
              </a:ext>
            </a:extLst>
          </p:cNvPr>
          <p:cNvSpPr txBox="1"/>
          <p:nvPr/>
        </p:nvSpPr>
        <p:spPr>
          <a:xfrm>
            <a:off x="3024822" y="4695215"/>
            <a:ext cx="2475604" cy="103304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050" dirty="0"/>
              <a:t>危险驾驶</a:t>
            </a:r>
            <a:endParaRPr lang="en-US" altLang="zh-CN" sz="1050" dirty="0"/>
          </a:p>
          <a:p>
            <a:pPr marL="285750" indent="-285750">
              <a:lnSpc>
                <a:spcPct val="150000"/>
              </a:lnSpc>
              <a:buFont typeface="Arial" panose="020B0604020202020204" pitchFamily="34" charset="0"/>
              <a:buChar char="•"/>
            </a:pPr>
            <a:r>
              <a:rPr lang="zh-CN" altLang="en-US" sz="1050" dirty="0"/>
              <a:t>欺诈行为（绕路，贪利加价等）</a:t>
            </a:r>
            <a:endParaRPr lang="en-US" altLang="zh-CN" sz="1050" dirty="0"/>
          </a:p>
          <a:p>
            <a:pPr marL="285750" indent="-285750">
              <a:lnSpc>
                <a:spcPct val="150000"/>
              </a:lnSpc>
              <a:buFont typeface="Arial" panose="020B0604020202020204" pitchFamily="34" charset="0"/>
              <a:buChar char="•"/>
            </a:pPr>
            <a:r>
              <a:rPr lang="zh-CN" altLang="en-US" sz="1050" dirty="0"/>
              <a:t>态度恶劣（大吼大叫等）</a:t>
            </a:r>
            <a:endParaRPr lang="en-US" altLang="zh-CN" sz="1050" dirty="0"/>
          </a:p>
          <a:p>
            <a:pPr marL="285750" indent="-285750">
              <a:lnSpc>
                <a:spcPct val="150000"/>
              </a:lnSpc>
              <a:buFont typeface="Arial" panose="020B0604020202020204" pitchFamily="34" charset="0"/>
              <a:buChar char="•"/>
            </a:pPr>
            <a:r>
              <a:rPr lang="zh-CN" altLang="en-US" sz="1050" dirty="0"/>
              <a:t>不尊重隐私</a:t>
            </a:r>
          </a:p>
        </p:txBody>
      </p:sp>
      <p:sp>
        <p:nvSpPr>
          <p:cNvPr id="41" name="文本框 40">
            <a:extLst>
              <a:ext uri="{FF2B5EF4-FFF2-40B4-BE49-F238E27FC236}">
                <a16:creationId xmlns:a16="http://schemas.microsoft.com/office/drawing/2014/main" id="{BE58DC84-C308-02B3-289D-C6E719BC7CB1}"/>
              </a:ext>
            </a:extLst>
          </p:cNvPr>
          <p:cNvSpPr txBox="1"/>
          <p:nvPr/>
        </p:nvSpPr>
        <p:spPr>
          <a:xfrm>
            <a:off x="6740135" y="3568663"/>
            <a:ext cx="5013924" cy="2062103"/>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50" dirty="0"/>
              <a:t>司机</a:t>
            </a:r>
            <a:r>
              <a:rPr lang="en-US" altLang="zh-CN" sz="1050" dirty="0"/>
              <a:t>Agent</a:t>
            </a:r>
            <a:r>
              <a:rPr lang="zh-CN" altLang="en-US" sz="1050" dirty="0"/>
              <a:t>语音沟通可以做到类人化的表达，抑扬起伏，结合视觉或者其他多模传感器等，能够理解乘客的情绪，至少能够通过交互做到核心素质礼貌，耐心，责任心与专业性</a:t>
            </a:r>
            <a:endParaRPr lang="en-US" altLang="zh-CN" sz="1050" dirty="0"/>
          </a:p>
          <a:p>
            <a:pPr marL="171450" indent="-171450">
              <a:spcBef>
                <a:spcPts val="600"/>
              </a:spcBef>
              <a:buFont typeface="Wingdings" panose="05000000000000000000" pitchFamily="2" charset="2"/>
              <a:buChar char="ü"/>
            </a:pPr>
            <a:r>
              <a:rPr lang="zh-CN" altLang="en-US" sz="1050" dirty="0"/>
              <a:t>司机</a:t>
            </a:r>
            <a:r>
              <a:rPr lang="en-US" altLang="zh-CN" sz="1050" dirty="0"/>
              <a:t>Agent</a:t>
            </a:r>
            <a:r>
              <a:rPr lang="zh-CN" altLang="en-US" sz="1050" dirty="0"/>
              <a:t>能够不仅是语音理解，更是场景化理解乘客状态，需要重点发力，理解客户车内的场景，灵活应对，提供场景式服务</a:t>
            </a:r>
            <a:endParaRPr lang="en-US" altLang="zh-CN" sz="1050" dirty="0"/>
          </a:p>
          <a:p>
            <a:pPr marL="628650" lvl="1" indent="-171450">
              <a:spcBef>
                <a:spcPts val="600"/>
              </a:spcBef>
              <a:buFont typeface="Arial" panose="020B0604020202020204" pitchFamily="34" charset="0"/>
              <a:buChar char="•"/>
            </a:pPr>
            <a:r>
              <a:rPr lang="zh-CN" altLang="en-US" sz="1000" dirty="0"/>
              <a:t>乘客比较疲劳</a:t>
            </a:r>
            <a:r>
              <a:rPr lang="en-US" altLang="zh-CN" sz="1000" dirty="0"/>
              <a:t>——</a:t>
            </a:r>
            <a:r>
              <a:rPr lang="zh-CN" altLang="en-US" sz="1000" dirty="0"/>
              <a:t>主动提示可提供小憩模式，</a:t>
            </a:r>
            <a:endParaRPr lang="en-US" altLang="zh-CN" sz="1000" dirty="0"/>
          </a:p>
          <a:p>
            <a:pPr marL="628650" lvl="1" indent="-171450">
              <a:spcBef>
                <a:spcPts val="600"/>
              </a:spcBef>
              <a:buFont typeface="Arial" panose="020B0604020202020204" pitchFamily="34" charset="0"/>
              <a:buChar char="•"/>
            </a:pPr>
            <a:r>
              <a:rPr lang="zh-CN" altLang="en-US" sz="1000" dirty="0"/>
              <a:t>乘客晕车，醉酒</a:t>
            </a:r>
            <a:r>
              <a:rPr lang="en-US" altLang="zh-CN" sz="1000" dirty="0"/>
              <a:t>——</a:t>
            </a:r>
            <a:r>
              <a:rPr lang="zh-CN" altLang="en-US" sz="1000" dirty="0"/>
              <a:t>降低车速等</a:t>
            </a:r>
            <a:endParaRPr lang="en-US" altLang="zh-CN" sz="1000" dirty="0"/>
          </a:p>
          <a:p>
            <a:pPr marL="628650" lvl="1" indent="-171450">
              <a:spcBef>
                <a:spcPts val="600"/>
              </a:spcBef>
              <a:buFont typeface="Arial" panose="020B0604020202020204" pitchFamily="34" charset="0"/>
              <a:buChar char="•"/>
            </a:pPr>
            <a:r>
              <a:rPr lang="zh-CN" altLang="en-US" sz="1000" dirty="0"/>
              <a:t>乘客焦急赶时间</a:t>
            </a:r>
            <a:r>
              <a:rPr lang="en-US" altLang="zh-CN" sz="1000" dirty="0"/>
              <a:t>——</a:t>
            </a:r>
            <a:r>
              <a:rPr lang="zh-CN" altLang="en-US" sz="1000" dirty="0"/>
              <a:t>适当提高车速，并进行语音提示进行安抚，提示到达时间是否来得及</a:t>
            </a:r>
            <a:endParaRPr lang="en-US" altLang="zh-CN" sz="1000" dirty="0"/>
          </a:p>
          <a:p>
            <a:pPr marL="171450" indent="-171450">
              <a:spcBef>
                <a:spcPts val="600"/>
              </a:spcBef>
              <a:buFont typeface="Wingdings" panose="05000000000000000000" pitchFamily="2" charset="2"/>
              <a:buChar char="ü"/>
            </a:pPr>
            <a:endParaRPr lang="en-US" altLang="zh-CN" sz="1050" dirty="0"/>
          </a:p>
        </p:txBody>
      </p:sp>
      <p:sp>
        <p:nvSpPr>
          <p:cNvPr id="8" name="文本框 7">
            <a:extLst>
              <a:ext uri="{FF2B5EF4-FFF2-40B4-BE49-F238E27FC236}">
                <a16:creationId xmlns:a16="http://schemas.microsoft.com/office/drawing/2014/main" id="{9E39AE96-B092-B403-F1A8-60CD6A680140}"/>
              </a:ext>
            </a:extLst>
          </p:cNvPr>
          <p:cNvSpPr txBox="1"/>
          <p:nvPr/>
        </p:nvSpPr>
        <p:spPr>
          <a:xfrm>
            <a:off x="6298617" y="3300773"/>
            <a:ext cx="723275" cy="253916"/>
          </a:xfrm>
          <a:prstGeom prst="rect">
            <a:avLst/>
          </a:prstGeom>
          <a:noFill/>
        </p:spPr>
        <p:txBody>
          <a:bodyPr wrap="none" rtlCol="0">
            <a:spAutoFit/>
          </a:bodyPr>
          <a:lstStyle/>
          <a:p>
            <a:r>
              <a:rPr lang="zh-CN" altLang="en-US" sz="1050" b="1" dirty="0"/>
              <a:t>机会点：</a:t>
            </a:r>
          </a:p>
        </p:txBody>
      </p:sp>
      <p:sp>
        <p:nvSpPr>
          <p:cNvPr id="9" name="文本框 8">
            <a:extLst>
              <a:ext uri="{FF2B5EF4-FFF2-40B4-BE49-F238E27FC236}">
                <a16:creationId xmlns:a16="http://schemas.microsoft.com/office/drawing/2014/main" id="{96B3013B-1337-C773-BAAB-78C6F3C13E32}"/>
              </a:ext>
            </a:extLst>
          </p:cNvPr>
          <p:cNvSpPr txBox="1"/>
          <p:nvPr/>
        </p:nvSpPr>
        <p:spPr>
          <a:xfrm>
            <a:off x="6241533" y="5376850"/>
            <a:ext cx="588623" cy="253916"/>
          </a:xfrm>
          <a:prstGeom prst="rect">
            <a:avLst/>
          </a:prstGeom>
          <a:noFill/>
        </p:spPr>
        <p:txBody>
          <a:bodyPr wrap="none" rtlCol="0">
            <a:spAutoFit/>
          </a:bodyPr>
          <a:lstStyle/>
          <a:p>
            <a:r>
              <a:rPr lang="zh-CN" altLang="en-US" sz="1050" b="1" dirty="0"/>
              <a:t>展望：</a:t>
            </a:r>
          </a:p>
        </p:txBody>
      </p:sp>
      <p:sp>
        <p:nvSpPr>
          <p:cNvPr id="11" name="文本框 10">
            <a:extLst>
              <a:ext uri="{FF2B5EF4-FFF2-40B4-BE49-F238E27FC236}">
                <a16:creationId xmlns:a16="http://schemas.microsoft.com/office/drawing/2014/main" id="{CCD6CB70-92F2-10C6-F91F-6835E3F297B6}"/>
              </a:ext>
            </a:extLst>
          </p:cNvPr>
          <p:cNvSpPr txBox="1"/>
          <p:nvPr/>
        </p:nvSpPr>
        <p:spPr>
          <a:xfrm>
            <a:off x="6155773" y="1824269"/>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12" name="文本框 11">
            <a:extLst>
              <a:ext uri="{FF2B5EF4-FFF2-40B4-BE49-F238E27FC236}">
                <a16:creationId xmlns:a16="http://schemas.microsoft.com/office/drawing/2014/main" id="{93002147-0994-0AC4-FCA7-5AE6E1E01D14}"/>
              </a:ext>
            </a:extLst>
          </p:cNvPr>
          <p:cNvSpPr txBox="1"/>
          <p:nvPr/>
        </p:nvSpPr>
        <p:spPr>
          <a:xfrm>
            <a:off x="6753041" y="2172233"/>
            <a:ext cx="5013924" cy="1131079"/>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50" dirty="0"/>
              <a:t>智能座舱能够被动满足乘客绝大部分需要，如能够场景模式及自定义，满足乘客的各个场景功能性需求</a:t>
            </a:r>
            <a:endParaRPr lang="en-US" altLang="zh-CN" sz="1050" dirty="0"/>
          </a:p>
          <a:p>
            <a:pPr marL="171450" indent="-171450">
              <a:spcBef>
                <a:spcPts val="600"/>
              </a:spcBef>
              <a:buFont typeface="Wingdings" panose="05000000000000000000" pitchFamily="2" charset="2"/>
              <a:buChar char="ü"/>
            </a:pPr>
            <a:r>
              <a:rPr lang="zh-CN" altLang="en-US" sz="1050" dirty="0"/>
              <a:t>大模型应用，也能做到陪聊，但无法做到情绪化的陪伴，缺少情绪价值</a:t>
            </a:r>
            <a:endParaRPr lang="en-US" altLang="zh-CN" sz="1050" dirty="0"/>
          </a:p>
          <a:p>
            <a:pPr marL="171450" indent="-171450">
              <a:spcBef>
                <a:spcPts val="600"/>
              </a:spcBef>
              <a:buFont typeface="Wingdings" panose="05000000000000000000" pitchFamily="2" charset="2"/>
              <a:buChar char="ü"/>
            </a:pPr>
            <a:r>
              <a:rPr lang="zh-CN" altLang="en-US" sz="1050" dirty="0"/>
              <a:t>语音的音色等虽然进步很大，但是还无法做到完全拟人，或者类人化表达</a:t>
            </a:r>
            <a:endParaRPr lang="en-US" altLang="zh-CN" sz="1050" dirty="0"/>
          </a:p>
          <a:p>
            <a:pPr marL="171450" indent="-171450">
              <a:spcBef>
                <a:spcPts val="600"/>
              </a:spcBef>
              <a:buFont typeface="Wingdings" panose="05000000000000000000" pitchFamily="2" charset="2"/>
              <a:buChar char="ü"/>
            </a:pPr>
            <a:r>
              <a:rPr lang="zh-CN" altLang="en-US" sz="1050" dirty="0"/>
              <a:t>语音的泛化与自然度已经提升很多，但是视觉等融合不足，理解力依然有限</a:t>
            </a:r>
            <a:endParaRPr lang="en-US" altLang="zh-CN" sz="1050" dirty="0"/>
          </a:p>
        </p:txBody>
      </p:sp>
      <p:sp>
        <p:nvSpPr>
          <p:cNvPr id="13" name="文本框 12">
            <a:extLst>
              <a:ext uri="{FF2B5EF4-FFF2-40B4-BE49-F238E27FC236}">
                <a16:creationId xmlns:a16="http://schemas.microsoft.com/office/drawing/2014/main" id="{76313AD9-98AB-46E7-DF03-45721F2D5304}"/>
              </a:ext>
            </a:extLst>
          </p:cNvPr>
          <p:cNvSpPr txBox="1"/>
          <p:nvPr/>
        </p:nvSpPr>
        <p:spPr>
          <a:xfrm>
            <a:off x="6660254" y="5654446"/>
            <a:ext cx="5106710" cy="430887"/>
          </a:xfrm>
          <a:prstGeom prst="rect">
            <a:avLst/>
          </a:prstGeom>
          <a:noFill/>
        </p:spPr>
        <p:txBody>
          <a:bodyPr wrap="square" rtlCol="0">
            <a:spAutoFit/>
          </a:bodyPr>
          <a:lstStyle/>
          <a:p>
            <a:pPr marL="285750" indent="-285750">
              <a:buFont typeface="Wingdings" panose="05000000000000000000" pitchFamily="2" charset="2"/>
              <a:buChar char="ü"/>
            </a:pPr>
            <a:r>
              <a:rPr lang="zh-CN" altLang="en-US" sz="1100" dirty="0"/>
              <a:t>司机</a:t>
            </a:r>
            <a:r>
              <a:rPr lang="en-US" altLang="zh-CN" sz="1100" dirty="0"/>
              <a:t>Agent</a:t>
            </a:r>
            <a:r>
              <a:rPr lang="zh-CN" altLang="en-US" sz="1100" dirty="0"/>
              <a:t>成为乘客的朋友与知己，不仅能提供专业的服务，还能够真的懂你，成为同理心的伯牙子期</a:t>
            </a:r>
          </a:p>
        </p:txBody>
      </p:sp>
    </p:spTree>
    <p:extLst>
      <p:ext uri="{BB962C8B-B14F-4D97-AF65-F5344CB8AC3E}">
        <p14:creationId xmlns:p14="http://schemas.microsoft.com/office/powerpoint/2010/main" val="33562846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3DC48-2BE8-19B5-0602-2B189B995D1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E77FD65-1838-F619-4B3F-260ECE0ACAD0}"/>
              </a:ext>
            </a:extLst>
          </p:cNvPr>
          <p:cNvSpPr>
            <a:spLocks noGrp="1"/>
          </p:cNvSpPr>
          <p:nvPr>
            <p:ph type="title" idx="4294967295"/>
          </p:nvPr>
        </p:nvSpPr>
        <p:spPr>
          <a:xfrm>
            <a:off x="669924" y="433637"/>
            <a:ext cx="10440000" cy="595063"/>
          </a:xfrm>
        </p:spPr>
        <p:txBody>
          <a:bodyPr/>
          <a:lstStyle/>
          <a:p>
            <a:r>
              <a:rPr lang="zh-CN" altLang="en-US" dirty="0"/>
              <a:t>跨阶段</a:t>
            </a:r>
          </a:p>
        </p:txBody>
      </p:sp>
      <p:sp>
        <p:nvSpPr>
          <p:cNvPr id="16" name="文本占位符 4">
            <a:extLst>
              <a:ext uri="{FF2B5EF4-FFF2-40B4-BE49-F238E27FC236}">
                <a16:creationId xmlns:a16="http://schemas.microsoft.com/office/drawing/2014/main" id="{837DF146-0CCD-EEA4-3C21-A48D7914354E}"/>
              </a:ext>
            </a:extLst>
          </p:cNvPr>
          <p:cNvSpPr txBox="1"/>
          <p:nvPr/>
        </p:nvSpPr>
        <p:spPr>
          <a:xfrm>
            <a:off x="5183625" y="1395662"/>
            <a:ext cx="229071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b="1" dirty="0">
                <a:solidFill>
                  <a:srgbClr val="000000"/>
                </a:solidFill>
                <a:latin typeface="微软雅黑" panose="020B0503020204020204" pitchFamily="34" charset="-122"/>
                <a:ea typeface="微软雅黑" panose="020B0503020204020204" pitchFamily="34" charset="-122"/>
              </a:rPr>
              <a:t>用户需求分析</a:t>
            </a: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连接符 25">
            <a:extLst>
              <a:ext uri="{FF2B5EF4-FFF2-40B4-BE49-F238E27FC236}">
                <a16:creationId xmlns:a16="http://schemas.microsoft.com/office/drawing/2014/main" id="{90F073F9-8DEE-AE33-E1C4-C0BD1423AB6A}"/>
              </a:ext>
            </a:extLst>
          </p:cNvPr>
          <p:cNvCxnSpPr/>
          <p:nvPr/>
        </p:nvCxnSpPr>
        <p:spPr>
          <a:xfrm>
            <a:off x="431787" y="1303200"/>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8" name="直接连接符 27">
            <a:extLst>
              <a:ext uri="{FF2B5EF4-FFF2-40B4-BE49-F238E27FC236}">
                <a16:creationId xmlns:a16="http://schemas.microsoft.com/office/drawing/2014/main" id="{C1B51786-B61B-35E9-98CF-85BA1756ED70}"/>
              </a:ext>
            </a:extLst>
          </p:cNvPr>
          <p:cNvCxnSpPr/>
          <p:nvPr/>
        </p:nvCxnSpPr>
        <p:spPr>
          <a:xfrm>
            <a:off x="431787" y="1810163"/>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文本框 17">
            <a:extLst>
              <a:ext uri="{FF2B5EF4-FFF2-40B4-BE49-F238E27FC236}">
                <a16:creationId xmlns:a16="http://schemas.microsoft.com/office/drawing/2014/main" id="{95C10821-278C-AA59-3B98-0EA324AEA00B}"/>
              </a:ext>
            </a:extLst>
          </p:cNvPr>
          <p:cNvSpPr txBox="1"/>
          <p:nvPr/>
        </p:nvSpPr>
        <p:spPr>
          <a:xfrm>
            <a:off x="87166" y="3150881"/>
            <a:ext cx="376623" cy="954107"/>
          </a:xfrm>
          <a:prstGeom prst="rect">
            <a:avLst/>
          </a:prstGeom>
          <a:noFill/>
        </p:spPr>
        <p:txBody>
          <a:bodyPr wrap="square">
            <a:spAutoFit/>
          </a:bodyPr>
          <a:lstStyle/>
          <a:p>
            <a:pPr algn="ctr" fontAlgn="b">
              <a:defRPr/>
            </a:pP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algn="ctr"/>
            <a:r>
              <a:rPr kumimoji="0"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跨阶段</a:t>
            </a:r>
          </a:p>
        </p:txBody>
      </p:sp>
      <p:sp>
        <p:nvSpPr>
          <p:cNvPr id="10" name="文本框 9">
            <a:extLst>
              <a:ext uri="{FF2B5EF4-FFF2-40B4-BE49-F238E27FC236}">
                <a16:creationId xmlns:a16="http://schemas.microsoft.com/office/drawing/2014/main" id="{7B6D1E20-F1B6-EEF6-0DF4-517048E60AB1}"/>
              </a:ext>
            </a:extLst>
          </p:cNvPr>
          <p:cNvSpPr txBox="1"/>
          <p:nvPr/>
        </p:nvSpPr>
        <p:spPr>
          <a:xfrm>
            <a:off x="522113" y="594161"/>
            <a:ext cx="953743" cy="3600986"/>
          </a:xfrm>
          <a:prstGeom prst="rect">
            <a:avLst/>
          </a:prstGeom>
          <a:noFill/>
        </p:spPr>
        <p:txBody>
          <a:bodyPr wrap="square">
            <a:spAutoFit/>
          </a:bodyPr>
          <a:lstStyle/>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Ø"/>
              <a:defRPr/>
            </a:pPr>
            <a:endParaRPr lang="en-US" altLang="zh-CN" sz="1200" b="1" dirty="0">
              <a:solidFill>
                <a:srgbClr val="000000"/>
              </a:solidFill>
              <a:latin typeface="微软雅黑" panose="020B0503020204020204" pitchFamily="34" charset="-122"/>
              <a:ea typeface="微软雅黑" panose="020B0503020204020204" pitchFamily="34" charset="-122"/>
            </a:endParaRPr>
          </a:p>
          <a:p>
            <a:pPr marL="171450" marR="0" lvl="0" indent="-171450" algn="l" defTabSz="914400" rtl="0" eaLnBrk="1" fontAlgn="b" latinLnBrk="0" hangingPunct="1">
              <a:lnSpc>
                <a:spcPct val="100000"/>
              </a:lnSpc>
              <a:spcBef>
                <a:spcPts val="600"/>
              </a:spcBef>
              <a:spcAft>
                <a:spcPts val="0"/>
              </a:spcAft>
              <a:buClrTx/>
              <a:buSzTx/>
              <a:buFont typeface="Wingdings" panose="05000000000000000000" pitchFamily="2" charset="2"/>
              <a:buChar char="p"/>
              <a:defRPr/>
            </a:pPr>
            <a:r>
              <a:rPr lang="zh-CN" altLang="en-US" sz="1200" b="1" dirty="0">
                <a:solidFill>
                  <a:srgbClr val="000000"/>
                </a:solidFill>
                <a:latin typeface="微软雅黑" panose="020B0503020204020204" pitchFamily="34" charset="-122"/>
                <a:ea typeface="微软雅黑" panose="020B0503020204020204" pitchFamily="34" charset="-122"/>
              </a:rPr>
              <a:t>乘客个性化</a:t>
            </a:r>
            <a:endParaRPr lang="en-US" altLang="zh-CN" sz="1200" b="1" dirty="0">
              <a:solidFill>
                <a:srgbClr val="000000"/>
              </a:solidFill>
              <a:latin typeface="微软雅黑" panose="020B0503020204020204" pitchFamily="34" charset="-122"/>
              <a:ea typeface="微软雅黑" panose="020B0503020204020204" pitchFamily="34" charset="-122"/>
            </a:endParaRPr>
          </a:p>
        </p:txBody>
      </p:sp>
      <p:sp>
        <p:nvSpPr>
          <p:cNvPr id="58" name="文本占位符 4">
            <a:extLst>
              <a:ext uri="{FF2B5EF4-FFF2-40B4-BE49-F238E27FC236}">
                <a16:creationId xmlns:a16="http://schemas.microsoft.com/office/drawing/2014/main" id="{CD5FCBE5-C8BE-F8F6-4092-F666EBCA6AFA}"/>
              </a:ext>
            </a:extLst>
          </p:cNvPr>
          <p:cNvSpPr txBox="1"/>
          <p:nvPr/>
        </p:nvSpPr>
        <p:spPr>
          <a:xfrm>
            <a:off x="2143529" y="1384066"/>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关键发现</a:t>
            </a:r>
          </a:p>
        </p:txBody>
      </p:sp>
      <p:sp>
        <p:nvSpPr>
          <p:cNvPr id="60" name="文本占位符 4">
            <a:extLst>
              <a:ext uri="{FF2B5EF4-FFF2-40B4-BE49-F238E27FC236}">
                <a16:creationId xmlns:a16="http://schemas.microsoft.com/office/drawing/2014/main" id="{9BF00574-6429-09FF-4A10-F139B0424929}"/>
              </a:ext>
            </a:extLst>
          </p:cNvPr>
          <p:cNvSpPr txBox="1"/>
          <p:nvPr/>
        </p:nvSpPr>
        <p:spPr>
          <a:xfrm>
            <a:off x="9262073" y="1398077"/>
            <a:ext cx="2709470"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司机</a:t>
            </a:r>
            <a:r>
              <a:rPr lang="en-US" altLang="zh-CN" b="1" dirty="0">
                <a:solidFill>
                  <a:srgbClr val="000000"/>
                </a:solidFill>
                <a:latin typeface="微软雅黑" panose="020B0503020204020204" pitchFamily="34" charset="-122"/>
                <a:ea typeface="微软雅黑" panose="020B0503020204020204" pitchFamily="34" charset="-122"/>
              </a:rPr>
              <a:t>Agent</a:t>
            </a: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功能建议</a:t>
            </a:r>
          </a:p>
        </p:txBody>
      </p:sp>
      <p:cxnSp>
        <p:nvCxnSpPr>
          <p:cNvPr id="49" name="直接连接符 48">
            <a:extLst>
              <a:ext uri="{FF2B5EF4-FFF2-40B4-BE49-F238E27FC236}">
                <a16:creationId xmlns:a16="http://schemas.microsoft.com/office/drawing/2014/main" id="{EE8FA880-AB03-C2D1-9F24-F4438AF40485}"/>
              </a:ext>
            </a:extLst>
          </p:cNvPr>
          <p:cNvCxnSpPr/>
          <p:nvPr/>
        </p:nvCxnSpPr>
        <p:spPr>
          <a:xfrm>
            <a:off x="2992441" y="1810162"/>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C2DFA17-2DFE-1719-2B83-260BADC1B623}"/>
              </a:ext>
            </a:extLst>
          </p:cNvPr>
          <p:cNvCxnSpPr/>
          <p:nvPr/>
        </p:nvCxnSpPr>
        <p:spPr>
          <a:xfrm>
            <a:off x="7129887" y="1884236"/>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文本占位符 4">
            <a:extLst>
              <a:ext uri="{FF2B5EF4-FFF2-40B4-BE49-F238E27FC236}">
                <a16:creationId xmlns:a16="http://schemas.microsoft.com/office/drawing/2014/main" id="{321351EC-228F-3415-B743-82E0294AF1A4}"/>
              </a:ext>
            </a:extLst>
          </p:cNvPr>
          <p:cNvSpPr txBox="1"/>
          <p:nvPr/>
        </p:nvSpPr>
        <p:spPr>
          <a:xfrm>
            <a:off x="483782" y="1390273"/>
            <a:ext cx="1697824" cy="338554"/>
          </a:xfrm>
          <a:prstGeom prst="rect">
            <a:avLst/>
          </a:prstGeom>
        </p:spPr>
        <p:txBody>
          <a:bodyPr wrap="square" anchor="ctr">
            <a:sp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高频场景</a:t>
            </a:r>
          </a:p>
        </p:txBody>
      </p:sp>
      <p:cxnSp>
        <p:nvCxnSpPr>
          <p:cNvPr id="34" name="直接连接符 33">
            <a:extLst>
              <a:ext uri="{FF2B5EF4-FFF2-40B4-BE49-F238E27FC236}">
                <a16:creationId xmlns:a16="http://schemas.microsoft.com/office/drawing/2014/main" id="{6415BFFF-D4CB-129C-202D-5A4B4C3FAA8D}"/>
              </a:ext>
            </a:extLst>
          </p:cNvPr>
          <p:cNvCxnSpPr/>
          <p:nvPr/>
        </p:nvCxnSpPr>
        <p:spPr>
          <a:xfrm>
            <a:off x="1414296" y="1810163"/>
            <a:ext cx="0" cy="4320000"/>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25">
            <a:extLst>
              <a:ext uri="{FF2B5EF4-FFF2-40B4-BE49-F238E27FC236}">
                <a16:creationId xmlns:a16="http://schemas.microsoft.com/office/drawing/2014/main" id="{0BF7AB8B-3A6E-3AC9-79BB-3B6D236D29D1}"/>
              </a:ext>
            </a:extLst>
          </p:cNvPr>
          <p:cNvCxnSpPr/>
          <p:nvPr/>
        </p:nvCxnSpPr>
        <p:spPr>
          <a:xfrm>
            <a:off x="431787" y="6170268"/>
            <a:ext cx="11196000" cy="0"/>
          </a:xfrm>
          <a:prstGeom prst="line">
            <a:avLst/>
          </a:prstGeom>
          <a:ln w="25400">
            <a:solidFill>
              <a:schemeClr val="bg1">
                <a:lumMod val="50000"/>
              </a:schemeClr>
            </a:solidFill>
            <a:tailEnd type="none"/>
          </a:ln>
          <a:effectLst/>
        </p:spPr>
        <p:style>
          <a:lnRef idx="2">
            <a:schemeClr val="accent1"/>
          </a:lnRef>
          <a:fillRef idx="0">
            <a:schemeClr val="accent1"/>
          </a:fillRef>
          <a:effectRef idx="1">
            <a:schemeClr val="accent1"/>
          </a:effectRef>
          <a:fontRef idx="minor">
            <a:schemeClr val="tx1"/>
          </a:fontRef>
        </p:style>
      </p:cxnSp>
      <p:sp>
        <p:nvSpPr>
          <p:cNvPr id="43" name="文本框 42">
            <a:extLst>
              <a:ext uri="{FF2B5EF4-FFF2-40B4-BE49-F238E27FC236}">
                <a16:creationId xmlns:a16="http://schemas.microsoft.com/office/drawing/2014/main" id="{9944E2EE-D1AE-614E-42C0-6D6C6BDFEA36}"/>
              </a:ext>
            </a:extLst>
          </p:cNvPr>
          <p:cNvSpPr txBox="1"/>
          <p:nvPr/>
        </p:nvSpPr>
        <p:spPr>
          <a:xfrm>
            <a:off x="1571638" y="2900166"/>
            <a:ext cx="1325022" cy="133171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100" dirty="0"/>
              <a:t>内向社恐型</a:t>
            </a:r>
            <a:endParaRPr lang="en-US" altLang="zh-CN" sz="1100" dirty="0"/>
          </a:p>
          <a:p>
            <a:pPr marL="285750" indent="-285750">
              <a:lnSpc>
                <a:spcPct val="150000"/>
              </a:lnSpc>
              <a:buFont typeface="Arial" panose="020B0604020202020204" pitchFamily="34" charset="0"/>
              <a:buChar char="•"/>
            </a:pPr>
            <a:r>
              <a:rPr lang="zh-CN" altLang="en-US" sz="1100" dirty="0"/>
              <a:t>注重细节型</a:t>
            </a:r>
            <a:endParaRPr lang="en-US" altLang="zh-CN" sz="1100" dirty="0"/>
          </a:p>
          <a:p>
            <a:pPr marL="285750" indent="-285750">
              <a:lnSpc>
                <a:spcPct val="150000"/>
              </a:lnSpc>
              <a:buFont typeface="Arial" panose="020B0604020202020204" pitchFamily="34" charset="0"/>
              <a:buChar char="•"/>
            </a:pPr>
            <a:r>
              <a:rPr lang="zh-CN" altLang="en-US" sz="1100" dirty="0"/>
              <a:t>高效务实型</a:t>
            </a:r>
            <a:endParaRPr lang="en-US" altLang="zh-CN" sz="1100" dirty="0"/>
          </a:p>
          <a:p>
            <a:pPr marL="285750" indent="-285750">
              <a:lnSpc>
                <a:spcPct val="150000"/>
              </a:lnSpc>
              <a:buFont typeface="Arial" panose="020B0604020202020204" pitchFamily="34" charset="0"/>
              <a:buChar char="•"/>
            </a:pPr>
            <a:r>
              <a:rPr lang="zh-CN" altLang="en-US" sz="1100" dirty="0"/>
              <a:t>包容体谅型</a:t>
            </a:r>
            <a:endParaRPr lang="en-US" altLang="zh-CN" sz="1100" dirty="0"/>
          </a:p>
          <a:p>
            <a:pPr marL="285750" indent="-285750">
              <a:lnSpc>
                <a:spcPct val="150000"/>
              </a:lnSpc>
              <a:buFont typeface="Arial" panose="020B0604020202020204" pitchFamily="34" charset="0"/>
              <a:buChar char="•"/>
            </a:pPr>
            <a:r>
              <a:rPr lang="zh-CN" altLang="en-US" sz="1100" dirty="0"/>
              <a:t>强势维权型</a:t>
            </a:r>
          </a:p>
        </p:txBody>
      </p:sp>
      <p:sp>
        <p:nvSpPr>
          <p:cNvPr id="45" name="文本框 44">
            <a:extLst>
              <a:ext uri="{FF2B5EF4-FFF2-40B4-BE49-F238E27FC236}">
                <a16:creationId xmlns:a16="http://schemas.microsoft.com/office/drawing/2014/main" id="{E5F6B545-F974-E3C7-B93E-CB85E95F04DE}"/>
              </a:ext>
            </a:extLst>
          </p:cNvPr>
          <p:cNvSpPr txBox="1"/>
          <p:nvPr/>
        </p:nvSpPr>
        <p:spPr>
          <a:xfrm>
            <a:off x="3122917" y="2386933"/>
            <a:ext cx="3266895" cy="2855205"/>
          </a:xfrm>
          <a:prstGeom prst="rect">
            <a:avLst/>
          </a:prstGeom>
          <a:noFill/>
        </p:spPr>
        <p:txBody>
          <a:bodyPr wrap="square">
            <a:spAutoFit/>
          </a:bodyPr>
          <a:lstStyle/>
          <a:p>
            <a:pPr marL="171450" indent="-171450">
              <a:lnSpc>
                <a:spcPct val="150000"/>
              </a:lnSpc>
              <a:buFont typeface="Wingdings" panose="05000000000000000000" pitchFamily="2" charset="2"/>
              <a:buChar char="Ø"/>
            </a:pPr>
            <a:r>
              <a:rPr lang="zh-CN" altLang="en-US" sz="1100" b="1" dirty="0"/>
              <a:t>减少沟通、保持安静、不被打扰</a:t>
            </a:r>
            <a:r>
              <a:rPr lang="en-US" altLang="zh-CN" sz="1100" dirty="0"/>
              <a:t>——</a:t>
            </a:r>
            <a:r>
              <a:rPr lang="zh-CN" altLang="en-US" sz="1100" dirty="0"/>
              <a:t>摇手表示停止聊天，司机要有眼力见</a:t>
            </a:r>
            <a:endParaRPr lang="en-US" altLang="zh-CN" sz="1100" dirty="0"/>
          </a:p>
          <a:p>
            <a:pPr marL="171450" indent="-171450">
              <a:lnSpc>
                <a:spcPct val="150000"/>
              </a:lnSpc>
              <a:buFont typeface="Wingdings" panose="05000000000000000000" pitchFamily="2" charset="2"/>
              <a:buChar char="Ø"/>
            </a:pPr>
            <a:r>
              <a:rPr lang="zh-CN" altLang="en-US" sz="1100" b="1" dirty="0"/>
              <a:t>体验精致、细节到位</a:t>
            </a:r>
            <a:r>
              <a:rPr lang="en-US" altLang="zh-CN" sz="1100" dirty="0"/>
              <a:t>——</a:t>
            </a:r>
            <a:r>
              <a:rPr lang="zh-CN" altLang="en-US" sz="1100" dirty="0"/>
              <a:t>车辆整洁干净，备至物品充分（充电线，呕吐带，纸斤），驾驶细节</a:t>
            </a:r>
            <a:endParaRPr lang="en-US" altLang="zh-CN" sz="1100" dirty="0"/>
          </a:p>
          <a:p>
            <a:pPr marL="171450" indent="-171450">
              <a:lnSpc>
                <a:spcPct val="150000"/>
              </a:lnSpc>
              <a:buFont typeface="Wingdings" panose="05000000000000000000" pitchFamily="2" charset="2"/>
              <a:buChar char="Ø"/>
            </a:pPr>
            <a:r>
              <a:rPr lang="zh-CN" altLang="en-US" sz="1100" b="1" dirty="0"/>
              <a:t>安全、准时、高效到达目的地</a:t>
            </a:r>
            <a:r>
              <a:rPr lang="en-US" altLang="zh-CN" sz="1100" dirty="0"/>
              <a:t>——</a:t>
            </a:r>
            <a:r>
              <a:rPr lang="zh-CN" altLang="en-US" sz="1100" dirty="0"/>
              <a:t>司机龟速行驶、绕路、开错道等行为零容忍，最优路线</a:t>
            </a:r>
            <a:endParaRPr lang="en-US" altLang="zh-CN" sz="1100" dirty="0"/>
          </a:p>
          <a:p>
            <a:pPr marL="171450" indent="-171450">
              <a:lnSpc>
                <a:spcPct val="150000"/>
              </a:lnSpc>
              <a:buFont typeface="Wingdings" panose="05000000000000000000" pitchFamily="2" charset="2"/>
              <a:buChar char="Ø"/>
            </a:pPr>
            <a:r>
              <a:rPr lang="zh-CN" altLang="en-US" sz="1100" b="1" dirty="0"/>
              <a:t>互相理解、友好沟通</a:t>
            </a:r>
            <a:r>
              <a:rPr lang="en-US" altLang="zh-CN" sz="1100" dirty="0"/>
              <a:t>——</a:t>
            </a:r>
            <a:r>
              <a:rPr lang="zh-CN" altLang="en-US" sz="1100" dirty="0"/>
              <a:t>遇到问题能主动沟通、真诚致歉，不推卸责任</a:t>
            </a:r>
            <a:endParaRPr lang="en-US" altLang="zh-CN" sz="1100" dirty="0"/>
          </a:p>
          <a:p>
            <a:pPr marL="171450" indent="-171450">
              <a:lnSpc>
                <a:spcPct val="150000"/>
              </a:lnSpc>
              <a:buFont typeface="Wingdings" panose="05000000000000000000" pitchFamily="2" charset="2"/>
              <a:buChar char="Ø"/>
            </a:pPr>
            <a:r>
              <a:rPr lang="zh-CN" altLang="en-US" sz="1100" b="1" dirty="0"/>
              <a:t>遵守规则、保障自身权益</a:t>
            </a:r>
            <a:r>
              <a:rPr lang="en-US" altLang="zh-CN" sz="1100" dirty="0"/>
              <a:t>——</a:t>
            </a:r>
            <a:r>
              <a:rPr lang="zh-CN" altLang="en-US" sz="1100" dirty="0"/>
              <a:t>不会因司机的刁难而妥协</a:t>
            </a:r>
          </a:p>
        </p:txBody>
      </p:sp>
      <p:sp>
        <p:nvSpPr>
          <p:cNvPr id="46" name="文本框 45">
            <a:extLst>
              <a:ext uri="{FF2B5EF4-FFF2-40B4-BE49-F238E27FC236}">
                <a16:creationId xmlns:a16="http://schemas.microsoft.com/office/drawing/2014/main" id="{8544B777-F00E-3B68-DA8D-F73BF83327CD}"/>
              </a:ext>
            </a:extLst>
          </p:cNvPr>
          <p:cNvSpPr txBox="1"/>
          <p:nvPr/>
        </p:nvSpPr>
        <p:spPr>
          <a:xfrm>
            <a:off x="3475406" y="1960049"/>
            <a:ext cx="954107" cy="276999"/>
          </a:xfrm>
          <a:prstGeom prst="rect">
            <a:avLst/>
          </a:prstGeom>
          <a:noFill/>
        </p:spPr>
        <p:txBody>
          <a:bodyPr wrap="none" rtlCol="0">
            <a:spAutoFit/>
          </a:bodyPr>
          <a:lstStyle/>
          <a:p>
            <a:r>
              <a:rPr lang="zh-CN" altLang="en-US" sz="1200" dirty="0"/>
              <a:t>核心诉求：</a:t>
            </a:r>
          </a:p>
        </p:txBody>
      </p:sp>
      <p:sp>
        <p:nvSpPr>
          <p:cNvPr id="56" name="文本框 55">
            <a:extLst>
              <a:ext uri="{FF2B5EF4-FFF2-40B4-BE49-F238E27FC236}">
                <a16:creationId xmlns:a16="http://schemas.microsoft.com/office/drawing/2014/main" id="{11B05022-2A02-CAAC-AE54-4018A10A56E8}"/>
              </a:ext>
            </a:extLst>
          </p:cNvPr>
          <p:cNvSpPr txBox="1"/>
          <p:nvPr/>
        </p:nvSpPr>
        <p:spPr>
          <a:xfrm>
            <a:off x="1391910" y="2430205"/>
            <a:ext cx="1736373" cy="261610"/>
          </a:xfrm>
          <a:prstGeom prst="rect">
            <a:avLst/>
          </a:prstGeom>
          <a:noFill/>
        </p:spPr>
        <p:txBody>
          <a:bodyPr wrap="none" rtlCol="0">
            <a:spAutoFit/>
          </a:bodyPr>
          <a:lstStyle/>
          <a:p>
            <a:r>
              <a:rPr lang="zh-CN" altLang="en-US" sz="1100" dirty="0"/>
              <a:t>以下个性，还存在复合型</a:t>
            </a:r>
          </a:p>
        </p:txBody>
      </p:sp>
      <p:sp>
        <p:nvSpPr>
          <p:cNvPr id="57" name="文本框 56">
            <a:extLst>
              <a:ext uri="{FF2B5EF4-FFF2-40B4-BE49-F238E27FC236}">
                <a16:creationId xmlns:a16="http://schemas.microsoft.com/office/drawing/2014/main" id="{CAA0AB5C-AE86-7931-3FD8-22212A6C0BF6}"/>
              </a:ext>
            </a:extLst>
          </p:cNvPr>
          <p:cNvSpPr txBox="1"/>
          <p:nvPr/>
        </p:nvSpPr>
        <p:spPr>
          <a:xfrm>
            <a:off x="7430538" y="3478037"/>
            <a:ext cx="4328444" cy="2346796"/>
          </a:xfrm>
          <a:prstGeom prst="rect">
            <a:avLst/>
          </a:prstGeom>
          <a:noFill/>
        </p:spPr>
        <p:txBody>
          <a:bodyPr wrap="square" rtlCol="0">
            <a:spAutoFit/>
          </a:bodyPr>
          <a:lstStyle/>
          <a:p>
            <a:pPr marL="171450" indent="-171450">
              <a:spcBef>
                <a:spcPts val="600"/>
              </a:spcBef>
              <a:buFont typeface="Wingdings" panose="05000000000000000000" pitchFamily="2" charset="2"/>
              <a:buChar char="ü"/>
            </a:pPr>
            <a:r>
              <a:rPr lang="zh-CN" altLang="en-US" sz="1050" dirty="0"/>
              <a:t>记录乘客习惯，乘客个性化标签以提供个性化服务</a:t>
            </a:r>
            <a:endParaRPr lang="en-US" altLang="zh-CN" sz="1050" dirty="0"/>
          </a:p>
          <a:p>
            <a:pPr marL="628650" lvl="1" indent="-171450">
              <a:spcBef>
                <a:spcPts val="600"/>
              </a:spcBef>
              <a:buFont typeface="Arial" panose="020B0604020202020204" pitchFamily="34" charset="0"/>
              <a:buChar char="•"/>
            </a:pPr>
            <a:r>
              <a:rPr lang="zh-CN" altLang="en-US" sz="1000" dirty="0"/>
              <a:t>个性化情景服务</a:t>
            </a:r>
            <a:endParaRPr lang="en-US" altLang="zh-CN" sz="1000" dirty="0"/>
          </a:p>
          <a:p>
            <a:pPr marL="1143000" lvl="2" indent="-228600">
              <a:spcBef>
                <a:spcPts val="600"/>
              </a:spcBef>
              <a:buFont typeface="+mj-ea"/>
              <a:buAutoNum type="circleNumDbPlain"/>
            </a:pPr>
            <a:r>
              <a:rPr lang="zh-CN" altLang="en-US" sz="1000" dirty="0"/>
              <a:t>识别乘客个人风格，提供与乘客个人风格相对应不同语音</a:t>
            </a:r>
            <a:r>
              <a:rPr lang="en-US" altLang="zh-CN" sz="1000" dirty="0"/>
              <a:t>Agent</a:t>
            </a:r>
            <a:r>
              <a:rPr lang="zh-CN" altLang="en-US" sz="1000" dirty="0"/>
              <a:t>风格，内向社恐型提供简洁型，注意细节型提供细致主动型</a:t>
            </a:r>
            <a:endParaRPr lang="en-US" altLang="zh-CN" sz="1000" dirty="0"/>
          </a:p>
          <a:p>
            <a:pPr marL="1143000" lvl="2" indent="-228600">
              <a:spcBef>
                <a:spcPts val="600"/>
              </a:spcBef>
              <a:buFont typeface="+mj-ea"/>
              <a:buAutoNum type="circleNumDbPlain"/>
            </a:pPr>
            <a:r>
              <a:rPr lang="zh-CN" altLang="en-US" sz="1000" dirty="0"/>
              <a:t>根据乘客当前情绪，能够灵活对应不同</a:t>
            </a:r>
            <a:r>
              <a:rPr lang="en-US" altLang="zh-CN" sz="1000" dirty="0"/>
              <a:t>Agent</a:t>
            </a:r>
            <a:r>
              <a:rPr lang="zh-CN" altLang="en-US" sz="1000" dirty="0"/>
              <a:t>的提示与语音服务</a:t>
            </a:r>
            <a:endParaRPr lang="en-US" altLang="zh-CN" sz="1000" dirty="0"/>
          </a:p>
          <a:p>
            <a:pPr marL="628650" lvl="1" indent="-171450">
              <a:spcBef>
                <a:spcPts val="600"/>
              </a:spcBef>
              <a:buFont typeface="Arial" panose="020B0604020202020204" pitchFamily="34" charset="0"/>
              <a:buChar char="•"/>
            </a:pPr>
            <a:r>
              <a:rPr lang="zh-CN" altLang="en-US" sz="1000" dirty="0"/>
              <a:t>个性化场景服务</a:t>
            </a:r>
            <a:endParaRPr lang="en-US" altLang="zh-CN" sz="1000" dirty="0"/>
          </a:p>
          <a:p>
            <a:pPr marL="1143000" lvl="2" indent="-228600">
              <a:spcBef>
                <a:spcPts val="600"/>
              </a:spcBef>
              <a:buFont typeface="+mj-ea"/>
              <a:buAutoNum type="circleNumDbPlain"/>
            </a:pPr>
            <a:r>
              <a:rPr lang="zh-CN" altLang="en-US" sz="900" dirty="0">
                <a:latin typeface="+mn-ea"/>
              </a:rPr>
              <a:t>硬件使用习惯的场景服务，如座椅，空调，</a:t>
            </a:r>
            <a:r>
              <a:rPr lang="en-US" altLang="zh-CN" sz="900" dirty="0">
                <a:latin typeface="+mn-ea"/>
              </a:rPr>
              <a:t>HUD,</a:t>
            </a:r>
            <a:r>
              <a:rPr lang="zh-CN" altLang="en-US" sz="900" dirty="0">
                <a:latin typeface="+mn-ea"/>
              </a:rPr>
              <a:t>音源播放的优先级等</a:t>
            </a:r>
            <a:endParaRPr lang="en-US" altLang="zh-CN" sz="900" dirty="0">
              <a:latin typeface="+mn-ea"/>
            </a:endParaRPr>
          </a:p>
          <a:p>
            <a:pPr marL="1143000" lvl="2" indent="-228600">
              <a:spcBef>
                <a:spcPts val="600"/>
              </a:spcBef>
              <a:buFont typeface="+mj-ea"/>
              <a:buAutoNum type="circleNumDbPlain"/>
            </a:pPr>
            <a:r>
              <a:rPr lang="zh-CN" altLang="en-US" sz="900" dirty="0">
                <a:latin typeface="+mn-ea"/>
              </a:rPr>
              <a:t>软件相关使用习惯的场景服务：常用</a:t>
            </a:r>
            <a:r>
              <a:rPr lang="en-US" altLang="zh-CN" sz="900" dirty="0">
                <a:latin typeface="+mn-ea"/>
              </a:rPr>
              <a:t>APP</a:t>
            </a:r>
            <a:r>
              <a:rPr lang="zh-CN" altLang="en-US" sz="900" dirty="0">
                <a:latin typeface="+mn-ea"/>
              </a:rPr>
              <a:t>推进，</a:t>
            </a:r>
            <a:r>
              <a:rPr lang="en-US" altLang="zh-CN" sz="900" dirty="0">
                <a:latin typeface="+mn-ea"/>
              </a:rPr>
              <a:t>APP</a:t>
            </a:r>
            <a:r>
              <a:rPr lang="zh-CN" altLang="en-US" sz="900" dirty="0">
                <a:latin typeface="+mn-ea"/>
              </a:rPr>
              <a:t>个性化可自定义，交互界面，</a:t>
            </a:r>
            <a:r>
              <a:rPr lang="en-US" altLang="zh-CN" sz="900" dirty="0">
                <a:latin typeface="+mn-ea"/>
              </a:rPr>
              <a:t>app</a:t>
            </a:r>
            <a:r>
              <a:rPr lang="zh-CN" altLang="en-US" sz="900" dirty="0">
                <a:latin typeface="+mn-ea"/>
              </a:rPr>
              <a:t>常用选项的个性化</a:t>
            </a:r>
            <a:endParaRPr lang="en-US" altLang="zh-CN" sz="1050" dirty="0"/>
          </a:p>
        </p:txBody>
      </p:sp>
      <p:sp>
        <p:nvSpPr>
          <p:cNvPr id="4" name="文本框 3">
            <a:extLst>
              <a:ext uri="{FF2B5EF4-FFF2-40B4-BE49-F238E27FC236}">
                <a16:creationId xmlns:a16="http://schemas.microsoft.com/office/drawing/2014/main" id="{F170DD3C-75DB-FF04-823A-F5DFF0B05F19}"/>
              </a:ext>
            </a:extLst>
          </p:cNvPr>
          <p:cNvSpPr txBox="1"/>
          <p:nvPr/>
        </p:nvSpPr>
        <p:spPr>
          <a:xfrm>
            <a:off x="7031329" y="3248674"/>
            <a:ext cx="723275" cy="253916"/>
          </a:xfrm>
          <a:prstGeom prst="rect">
            <a:avLst/>
          </a:prstGeom>
          <a:noFill/>
        </p:spPr>
        <p:txBody>
          <a:bodyPr wrap="none" rtlCol="0">
            <a:spAutoFit/>
          </a:bodyPr>
          <a:lstStyle/>
          <a:p>
            <a:r>
              <a:rPr lang="zh-CN" altLang="en-US" sz="1050" b="1" dirty="0"/>
              <a:t>机会点：</a:t>
            </a:r>
          </a:p>
        </p:txBody>
      </p:sp>
      <p:sp>
        <p:nvSpPr>
          <p:cNvPr id="5" name="文本框 4">
            <a:extLst>
              <a:ext uri="{FF2B5EF4-FFF2-40B4-BE49-F238E27FC236}">
                <a16:creationId xmlns:a16="http://schemas.microsoft.com/office/drawing/2014/main" id="{ED4B2B4F-331E-D1F5-4B0B-63757561384A}"/>
              </a:ext>
            </a:extLst>
          </p:cNvPr>
          <p:cNvSpPr txBox="1"/>
          <p:nvPr/>
        </p:nvSpPr>
        <p:spPr>
          <a:xfrm>
            <a:off x="7031329" y="5840346"/>
            <a:ext cx="588623" cy="253916"/>
          </a:xfrm>
          <a:prstGeom prst="rect">
            <a:avLst/>
          </a:prstGeom>
          <a:noFill/>
        </p:spPr>
        <p:txBody>
          <a:bodyPr wrap="none" rtlCol="0">
            <a:spAutoFit/>
          </a:bodyPr>
          <a:lstStyle/>
          <a:p>
            <a:r>
              <a:rPr lang="zh-CN" altLang="en-US" sz="1050" b="1" dirty="0"/>
              <a:t>展望：</a:t>
            </a:r>
          </a:p>
        </p:txBody>
      </p:sp>
      <p:sp>
        <p:nvSpPr>
          <p:cNvPr id="6" name="文本框 5">
            <a:extLst>
              <a:ext uri="{FF2B5EF4-FFF2-40B4-BE49-F238E27FC236}">
                <a16:creationId xmlns:a16="http://schemas.microsoft.com/office/drawing/2014/main" id="{2F736312-9408-888A-EF0D-9F868485208E}"/>
              </a:ext>
            </a:extLst>
          </p:cNvPr>
          <p:cNvSpPr txBox="1"/>
          <p:nvPr/>
        </p:nvSpPr>
        <p:spPr>
          <a:xfrm>
            <a:off x="7012896" y="1870199"/>
            <a:ext cx="760144" cy="253916"/>
          </a:xfrm>
          <a:prstGeom prst="rect">
            <a:avLst/>
          </a:prstGeom>
          <a:noFill/>
        </p:spPr>
        <p:txBody>
          <a:bodyPr wrap="none" rtlCol="0">
            <a:spAutoFit/>
          </a:bodyPr>
          <a:lstStyle/>
          <a:p>
            <a:r>
              <a:rPr lang="zh-CN" altLang="en-US" sz="1050" dirty="0"/>
              <a:t> </a:t>
            </a:r>
            <a:r>
              <a:rPr lang="zh-CN" altLang="en-US" sz="1050" b="1" dirty="0"/>
              <a:t>已做到</a:t>
            </a:r>
            <a:r>
              <a:rPr lang="zh-CN" altLang="en-US" sz="1050" dirty="0"/>
              <a:t>：</a:t>
            </a:r>
          </a:p>
        </p:txBody>
      </p:sp>
      <p:sp>
        <p:nvSpPr>
          <p:cNvPr id="8" name="文本框 7">
            <a:extLst>
              <a:ext uri="{FF2B5EF4-FFF2-40B4-BE49-F238E27FC236}">
                <a16:creationId xmlns:a16="http://schemas.microsoft.com/office/drawing/2014/main" id="{A26B7D2C-70C9-E6E2-8049-43D47E10792B}"/>
              </a:ext>
            </a:extLst>
          </p:cNvPr>
          <p:cNvSpPr txBox="1"/>
          <p:nvPr/>
        </p:nvSpPr>
        <p:spPr>
          <a:xfrm>
            <a:off x="7474339" y="2124115"/>
            <a:ext cx="4532010" cy="1033040"/>
          </a:xfrm>
          <a:prstGeom prst="rect">
            <a:avLst/>
          </a:prstGeom>
          <a:noFill/>
        </p:spPr>
        <p:txBody>
          <a:bodyPr wrap="none" rtlCol="0">
            <a:spAutoFit/>
          </a:bodyPr>
          <a:lstStyle/>
          <a:p>
            <a:pPr marL="171450" indent="-171450">
              <a:lnSpc>
                <a:spcPct val="150000"/>
              </a:lnSpc>
              <a:buFont typeface="Wingdings" panose="05000000000000000000" pitchFamily="2" charset="2"/>
              <a:buChar char="ü"/>
            </a:pPr>
            <a:r>
              <a:rPr lang="zh-CN" altLang="en-US" sz="1050" dirty="0"/>
              <a:t>座椅舒适度，</a:t>
            </a:r>
            <a:r>
              <a:rPr lang="en-US" altLang="zh-CN" sz="1050" dirty="0"/>
              <a:t>HUD</a:t>
            </a:r>
            <a:r>
              <a:rPr lang="zh-CN" altLang="en-US" sz="1050" dirty="0"/>
              <a:t>显示位置能够做到个性化的自动调节</a:t>
            </a:r>
            <a:endParaRPr lang="en-US" altLang="zh-CN" sz="1050" dirty="0"/>
          </a:p>
          <a:p>
            <a:pPr marL="171450" indent="-171450">
              <a:lnSpc>
                <a:spcPct val="150000"/>
              </a:lnSpc>
              <a:buFont typeface="Wingdings" panose="05000000000000000000" pitchFamily="2" charset="2"/>
              <a:buChar char="ü"/>
            </a:pPr>
            <a:r>
              <a:rPr lang="zh-CN" altLang="en-US" sz="1050" dirty="0"/>
              <a:t>设置部分的参数跟账户绑定做个性化的记忆，账号切换时进行偏好同步</a:t>
            </a:r>
            <a:endParaRPr lang="en-US" altLang="zh-CN" sz="1050" dirty="0"/>
          </a:p>
          <a:p>
            <a:pPr marL="171450" indent="-171450">
              <a:lnSpc>
                <a:spcPct val="150000"/>
              </a:lnSpc>
              <a:buFont typeface="Wingdings" panose="05000000000000000000" pitchFamily="2" charset="2"/>
              <a:buChar char="ü"/>
            </a:pPr>
            <a:r>
              <a:rPr lang="zh-CN" altLang="en-US" sz="1050" dirty="0"/>
              <a:t>部分车企可生成个性化的界面（理想），但生成效率低，个性化不足</a:t>
            </a:r>
            <a:endParaRPr lang="en-US" altLang="zh-CN" sz="1050" dirty="0"/>
          </a:p>
          <a:p>
            <a:pPr marL="171450" indent="-171450">
              <a:lnSpc>
                <a:spcPct val="150000"/>
              </a:lnSpc>
              <a:buFont typeface="Wingdings" panose="05000000000000000000" pitchFamily="2" charset="2"/>
              <a:buChar char="ü"/>
            </a:pPr>
            <a:r>
              <a:rPr lang="zh-CN" altLang="en-US" sz="1050" dirty="0"/>
              <a:t>个性化的推荐服务几乎没有</a:t>
            </a:r>
            <a:r>
              <a:rPr lang="en-US" altLang="zh-CN" sz="1050" dirty="0"/>
              <a:t>,</a:t>
            </a:r>
            <a:r>
              <a:rPr lang="zh-CN" altLang="en-US" sz="1050" dirty="0"/>
              <a:t>常用</a:t>
            </a:r>
            <a:r>
              <a:rPr lang="en-US" altLang="zh-CN" sz="1050" dirty="0"/>
              <a:t>app</a:t>
            </a:r>
            <a:r>
              <a:rPr lang="zh-CN" altLang="en-US" sz="1050" dirty="0"/>
              <a:t>推荐</a:t>
            </a:r>
          </a:p>
        </p:txBody>
      </p:sp>
      <p:sp>
        <p:nvSpPr>
          <p:cNvPr id="12" name="文本框 11">
            <a:extLst>
              <a:ext uri="{FF2B5EF4-FFF2-40B4-BE49-F238E27FC236}">
                <a16:creationId xmlns:a16="http://schemas.microsoft.com/office/drawing/2014/main" id="{1A9E0652-C98E-8DE7-3759-9A7C588220A6}"/>
              </a:ext>
            </a:extLst>
          </p:cNvPr>
          <p:cNvSpPr txBox="1"/>
          <p:nvPr/>
        </p:nvSpPr>
        <p:spPr>
          <a:xfrm>
            <a:off x="7619952" y="5870655"/>
            <a:ext cx="2755883" cy="261610"/>
          </a:xfrm>
          <a:prstGeom prst="rect">
            <a:avLst/>
          </a:prstGeom>
          <a:noFill/>
        </p:spPr>
        <p:txBody>
          <a:bodyPr wrap="none" rtlCol="0">
            <a:spAutoFit/>
          </a:bodyPr>
          <a:lstStyle/>
          <a:p>
            <a:pPr marL="171450" indent="-171450">
              <a:buFont typeface="Wingdings" panose="05000000000000000000" pitchFamily="2" charset="2"/>
              <a:buChar char="ü"/>
            </a:pPr>
            <a:r>
              <a:rPr lang="zh-CN" altLang="en-US" sz="1100" dirty="0"/>
              <a:t>真正的个性化座舱，千人千面真正实现</a:t>
            </a:r>
          </a:p>
        </p:txBody>
      </p:sp>
    </p:spTree>
    <p:extLst>
      <p:ext uri="{BB962C8B-B14F-4D97-AF65-F5344CB8AC3E}">
        <p14:creationId xmlns:p14="http://schemas.microsoft.com/office/powerpoint/2010/main" val="8613888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THINKCELLUNDODONOTDELETE" val="0"/>
  <p:tag name="ISLIDE.THEME" val="73b7c9ea-8de7-4122-a4ca-550f9828a6b1"/>
</p:tagLst>
</file>

<file path=ppt/theme/theme1.xml><?xml version="1.0" encoding="utf-8"?>
<a:theme xmlns:a="http://schemas.openxmlformats.org/drawingml/2006/main" name="主题5">
  <a:themeElements>
    <a:clrScheme name="房利美">
      <a:dk1>
        <a:srgbClr val="000000"/>
      </a:dk1>
      <a:lt1>
        <a:srgbClr val="FFFFFF"/>
      </a:lt1>
      <a:dk2>
        <a:srgbClr val="768395"/>
      </a:dk2>
      <a:lt2>
        <a:srgbClr val="F0F0F0"/>
      </a:lt2>
      <a:accent1>
        <a:srgbClr val="008FD4"/>
      </a:accent1>
      <a:accent2>
        <a:srgbClr val="4BC3FF"/>
      </a:accent2>
      <a:accent3>
        <a:srgbClr val="585858"/>
      </a:accent3>
      <a:accent4>
        <a:srgbClr val="6E737A"/>
      </a:accent4>
      <a:accent5>
        <a:srgbClr val="93989E"/>
      </a:accent5>
      <a:accent6>
        <a:srgbClr val="B7B8B9"/>
      </a:accent6>
      <a:hlink>
        <a:srgbClr val="4472C4"/>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sz="1200"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11143</TotalTime>
  <Words>7583</Words>
  <Application>Microsoft Office PowerPoint</Application>
  <PresentationFormat>宽屏</PresentationFormat>
  <Paragraphs>1219</Paragraphs>
  <Slides>24</Slides>
  <Notes>22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24</vt:i4>
      </vt:variant>
    </vt:vector>
  </HeadingPairs>
  <TitlesOfParts>
    <vt:vector size="32" baseType="lpstr">
      <vt:lpstr>等线</vt:lpstr>
      <vt:lpstr>微软雅黑</vt:lpstr>
      <vt:lpstr>Arial</vt:lpstr>
      <vt:lpstr>Arial Black</vt:lpstr>
      <vt:lpstr>Calibri</vt:lpstr>
      <vt:lpstr>Impact</vt:lpstr>
      <vt:lpstr>Wingdings</vt:lpstr>
      <vt:lpstr>主题5</vt:lpstr>
      <vt:lpstr>项目执行概况 (定性)</vt:lpstr>
      <vt:lpstr>PowerPoint 演示文稿</vt:lpstr>
      <vt:lpstr>上车前阶段——行前沟通</vt:lpstr>
      <vt:lpstr>上车前阶段——行前沟通</vt:lpstr>
      <vt:lpstr>上车前阶段——行前沟通</vt:lpstr>
      <vt:lpstr>上车前阶段——定位与接驾</vt:lpstr>
      <vt:lpstr>上车前阶段——定位与接驾</vt:lpstr>
      <vt:lpstr>上车前阶段——定位与接驾</vt:lpstr>
      <vt:lpstr>上车时阶段——协助上车&amp;行程确认</vt:lpstr>
      <vt:lpstr>上车时阶段——协助上车&amp;行程确认</vt:lpstr>
      <vt:lpstr>上车时阶段——行程确认</vt:lpstr>
      <vt:lpstr>行驶阶段——车内环境舒适调整旅程</vt:lpstr>
      <vt:lpstr>行驶阶段——车内环境舒适调整旅程</vt:lpstr>
      <vt:lpstr>行驶阶段——行程控制权</vt:lpstr>
      <vt:lpstr>行驶阶段——行程娱乐（Robotaxi）</vt:lpstr>
      <vt:lpstr>行驶阶段——临时停车需求</vt:lpstr>
      <vt:lpstr>到达阶段——停车位置沟通</vt:lpstr>
      <vt:lpstr>到达阶段——停车位置沟通</vt:lpstr>
      <vt:lpstr>到达阶段——安全提醒</vt:lpstr>
      <vt:lpstr>到达阶段——服务评价</vt:lpstr>
      <vt:lpstr>跨阶段</vt:lpstr>
      <vt:lpstr>跨阶段</vt:lpstr>
      <vt:lpstr>跨阶段</vt:lpstr>
      <vt:lpstr>PowerPoint 演示文稿</vt:lpstr>
    </vt:vector>
  </TitlesOfParts>
  <Manager>iSlide</Manager>
  <Company>iSlide</Company>
  <LinksUpToDate>false</LinksUpToDate>
  <SharedDoc>false</SharedDoc>
  <HyperlinkBase>https://www.islide.cc</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hailong liu</cp:lastModifiedBy>
  <cp:revision>2228</cp:revision>
  <cp:lastPrinted>2019-03-18T16:00:00Z</cp:lastPrinted>
  <dcterms:created xsi:type="dcterms:W3CDTF">2019-03-18T16:00:00Z</dcterms:created>
  <dcterms:modified xsi:type="dcterms:W3CDTF">2026-03-10T10:48:20Z</dcterms:modified>
  <dc:description>﻿﻿﻿﻿​﻿⁢﻿﻿﻿﻿﻿﻿﻿﻿﻿﻿﻿﻿﻿‍​‌⁢﻿⁡﻿‍</dc:descript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D9BEB7119B5B45F0B14428D565C34882_13</vt:lpwstr>
  </property>
  <property fmtid="{D5CDD505-2E9C-101B-9397-08002B2CF9AE}" pid="4" name="KSOProductBuildVer">
    <vt:lpwstr>2052-12.1.0.24657</vt:lpwstr>
  </property>
</Properties>
</file>