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9336378" r:id="rId2"/>
    <p:sldId id="9336323" r:id="rId3"/>
    <p:sldId id="9336362" r:id="rId4"/>
    <p:sldId id="9336364" r:id="rId5"/>
    <p:sldId id="9336369" r:id="rId6"/>
    <p:sldId id="9336366" r:id="rId7"/>
    <p:sldId id="9336367" r:id="rId8"/>
    <p:sldId id="9336370" r:id="rId9"/>
    <p:sldId id="9336371" r:id="rId10"/>
    <p:sldId id="9336348" r:id="rId11"/>
    <p:sldId id="9336356" r:id="rId12"/>
    <p:sldId id="9336372" r:id="rId13"/>
    <p:sldId id="9336373" r:id="rId14"/>
    <p:sldId id="9336374" r:id="rId15"/>
    <p:sldId id="9336375" r:id="rId16"/>
    <p:sldId id="9336376" r:id="rId17"/>
    <p:sldId id="9336379" r:id="rId18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8479F7F8-D6F7-4FB5-A6E4-CD1DC14A0B70}">
          <p14:sldIdLst>
            <p14:sldId id="9336378"/>
            <p14:sldId id="9336323"/>
            <p14:sldId id="9336362"/>
            <p14:sldId id="9336364"/>
            <p14:sldId id="9336369"/>
            <p14:sldId id="9336366"/>
            <p14:sldId id="9336367"/>
            <p14:sldId id="9336370"/>
            <p14:sldId id="9336371"/>
            <p14:sldId id="9336348"/>
            <p14:sldId id="9336356"/>
            <p14:sldId id="9336372"/>
            <p14:sldId id="9336373"/>
            <p14:sldId id="9336374"/>
            <p14:sldId id="9336375"/>
            <p14:sldId id="9336376"/>
            <p14:sldId id="933637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7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何远明" initials="何远明" lastIdx="1" clrIdx="0"/>
  <p:cmAuthor id="2" name="邢 华洋" initials="邢" lastIdx="1" clrIdx="1"/>
  <p:cmAuthor id="3" name="Vincent Liu" initials="VL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F3FF"/>
    <a:srgbClr val="FF0000"/>
    <a:srgbClr val="F2F2F2"/>
    <a:srgbClr val="DEDEDE"/>
    <a:srgbClr val="4BC3FF"/>
    <a:srgbClr val="6E737A"/>
    <a:srgbClr val="585858"/>
    <a:srgbClr val="7F7F7F"/>
    <a:srgbClr val="FFFFFF"/>
    <a:srgbClr val="EFF1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815" autoAdjust="0"/>
    <p:restoredTop sz="96395" autoAdjust="0"/>
  </p:normalViewPr>
  <p:slideViewPr>
    <p:cSldViewPr snapToGrid="0" showGuides="1">
      <p:cViewPr>
        <p:scale>
          <a:sx n="92" d="100"/>
          <a:sy n="92" d="100"/>
        </p:scale>
        <p:origin x="53" y="91"/>
      </p:cViewPr>
      <p:guideLst>
        <p:guide orient="horz" pos="2276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752" y="17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0" Type="http://schemas.openxmlformats.org/officeDocument/2006/relationships/handoutMaster" Target="handoutMasters/handoutMaster1.xml"/><Relationship Id="rId21" Type="http://schemas.openxmlformats.org/officeDocument/2006/relationships/tags" Target="tags/tag1.xml"/><Relationship Id="rId22" Type="http://schemas.openxmlformats.org/officeDocument/2006/relationships/commentAuthors" Target="commentAuthors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D0AD29-D2CB-4930-8D9E-BB08DD7C7803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0CC26F-C6FF-43E2-A352-9B1ED310C8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203191A-92A8-4D0F-9BC0-492B7FA552F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12165-A4B7-C4F4-8736-E8C105169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EADAF85-B573-0680-94FD-CC1964AE06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1840BB3-C072-D55B-DB4E-7B77C7090F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40660E-9A9E-BBEC-E829-E8A1470806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9E6FDB6-6D2B-46C1-9FA1-D82906A37C3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16528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16CA3-987C-1015-642D-7A41CB51C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0AA9218-4540-A9E1-B08D-3510476062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E8DC105-FDDD-D01F-5940-5C3640F816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1A6F38-ADFE-E91D-85CC-873469CB2E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9E6FDB6-6D2B-46C1-9FA1-D82906A37C3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20681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82338-E5B4-818A-7C4E-1D6D074BC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9DA73EB-546F-0253-0BAE-6764D81BAA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27C6F24-3347-4ADE-832C-7114E6452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204343-F460-91B8-8451-CB566FA085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9E6FDB6-6D2B-46C1-9FA1-D82906A37C3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47815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EBEA1-E523-D41A-5953-3CE0CC13D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45B19A7-3169-2740-E17A-4E7C013C2D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6A99E01-EE6A-9348-9746-C71BDB543B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FE18A5-3D8A-6F39-38EE-F7453FEE06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9E6FDB6-6D2B-46C1-9FA1-D82906A37C3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39836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5EEDE-63C1-5D95-9BDD-E0FCFC361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EC4A3A3-D3B5-F4C1-45D1-DC76C626AE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E8927EC-9823-9F93-02C7-37474EC3A1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7CCFAB-FC32-5629-44B3-AFE6F325EC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9E6FDB6-6D2B-46C1-9FA1-D82906A37C3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69264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4CAD6-A2E9-662E-150B-4B2E7FC12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F3BFC4-F4B4-7D98-03CD-5DDDE68B70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FFDC0B4-FA60-0588-9AB4-0E3BEC2EAC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3B44D5-B233-8F45-F154-F116B587DB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9E6FDB6-6D2B-46C1-9FA1-D82906A37C3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63306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9E6FDB6-6D2B-46C1-9FA1-D82906A37C3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BC89F-F677-9022-F734-75E0F54EA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D404DB8-ED4F-8804-6A79-9C9A8FECBD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A6083C7-CD49-F3B1-0891-3AEAA5666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4509B6-B13E-2A40-970C-4726A1D117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9E6FDB6-6D2B-46C1-9FA1-D82906A37C3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95349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98ACA-59A3-6E2B-3651-40D288708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3A229BC-08C1-4C96-2FE8-0FB4366F44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49F814F-9ED1-B604-BEB8-38D5ADE3F7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D976E6-39EB-5294-D358-5BBD2BC639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9E6FDB6-6D2B-46C1-9FA1-D82906A37C3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00076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46617-A402-BE4D-6A4B-10E1E45E9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9083A21-77F8-F1EA-EA24-0254F2AE85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8C7BF9C-D9F4-2FAE-812B-13C332EA43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08627A-11A8-A989-19AE-DD69709E0D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9E6FDB6-6D2B-46C1-9FA1-D82906A37C3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47144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3BBCC-0CF3-C598-89D6-33C7F72E8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6EAEA62-F5D6-AA07-E7BA-7BDEF406A9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09528BA-1227-0B88-4A4A-B03D1FD6D0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432959-3F27-291C-2E9F-0CC4FF4B16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9E6FDB6-6D2B-46C1-9FA1-D82906A37C3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02145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EC8F6-7975-4CEE-4646-FAC0C269F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9D4AF7E-4118-6C7C-0773-CC3ACC0362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09A80ED-71EB-0E29-74CC-E5AF092CF2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50F9FD-4BC9-0097-29A4-55BC0290E6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9E6FDB6-6D2B-46C1-9FA1-D82906A37C3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05860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44CC9-B952-D095-38B8-9AC1DB661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039B9FF-0BFF-4661-15FF-62AA5327B5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BD67A31-6AF2-9D80-2DAE-E36D7E7C04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5153F0-233E-CCA6-7A30-7D485CEE28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9E6FDB6-6D2B-46C1-9FA1-D82906A37C3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976940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形 20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grpSp>
        <p:nvGrpSpPr>
          <p:cNvPr id="33" name="组合 32"/>
          <p:cNvGrpSpPr/>
          <p:nvPr userDrawn="1"/>
        </p:nvGrpSpPr>
        <p:grpSpPr>
          <a:xfrm>
            <a:off x="5650534" y="2839475"/>
            <a:ext cx="4995718" cy="1832979"/>
            <a:chOff x="5650534" y="2735779"/>
            <a:chExt cx="4995718" cy="1832979"/>
          </a:xfrm>
        </p:grpSpPr>
        <p:sp>
          <p:nvSpPr>
            <p:cNvPr id="34" name="文本框 33"/>
            <p:cNvSpPr txBox="1"/>
            <p:nvPr/>
          </p:nvSpPr>
          <p:spPr>
            <a:xfrm>
              <a:off x="5650534" y="2735779"/>
              <a:ext cx="1528111" cy="1832979"/>
            </a:xfrm>
            <a:prstGeom prst="rect">
              <a:avLst/>
            </a:prstGeom>
            <a:noFill/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z="9600" dirty="0">
                  <a:solidFill>
                    <a:schemeClr val="tx2">
                      <a:alpha val="16000"/>
                    </a:schemeClr>
                  </a:solidFill>
                  <a:latin typeface="Impact" panose="020B0806030902050204" pitchFamily="34" charset="0"/>
                </a:rPr>
                <a:t>2</a:t>
              </a:r>
              <a:endParaRPr lang="zh-CN" altLang="en-US" sz="9600" dirty="0">
                <a:solidFill>
                  <a:schemeClr val="tx2">
                    <a:alpha val="16000"/>
                  </a:schemeClr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6806403" y="2735779"/>
              <a:ext cx="1528111" cy="1832979"/>
            </a:xfrm>
            <a:prstGeom prst="rect">
              <a:avLst/>
            </a:prstGeom>
            <a:noFill/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z="9600" dirty="0">
                  <a:solidFill>
                    <a:schemeClr val="tx2">
                      <a:alpha val="16000"/>
                    </a:schemeClr>
                  </a:solidFill>
                  <a:latin typeface="Impact" panose="020B0806030902050204" pitchFamily="34" charset="0"/>
                </a:rPr>
                <a:t>0</a:t>
              </a:r>
              <a:endParaRPr lang="zh-CN" altLang="en-US" sz="9600" dirty="0">
                <a:solidFill>
                  <a:schemeClr val="tx2">
                    <a:alpha val="16000"/>
                  </a:schemeClr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7962271" y="2735779"/>
              <a:ext cx="1528111" cy="1832979"/>
            </a:xfrm>
            <a:prstGeom prst="rect">
              <a:avLst/>
            </a:prstGeom>
            <a:noFill/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z="9600" dirty="0">
                  <a:solidFill>
                    <a:schemeClr val="tx2">
                      <a:alpha val="16000"/>
                    </a:schemeClr>
                  </a:solidFill>
                  <a:latin typeface="Impact" panose="020B0806030902050204" pitchFamily="34" charset="0"/>
                </a:rPr>
                <a:t>2</a:t>
              </a:r>
              <a:endParaRPr lang="zh-CN" altLang="en-US" sz="9600" dirty="0">
                <a:solidFill>
                  <a:schemeClr val="tx2">
                    <a:alpha val="16000"/>
                  </a:schemeClr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9118141" y="2735779"/>
              <a:ext cx="1528111" cy="1832979"/>
            </a:xfrm>
            <a:prstGeom prst="rect">
              <a:avLst/>
            </a:prstGeom>
            <a:noFill/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z="9600" dirty="0">
                  <a:solidFill>
                    <a:schemeClr val="tx2">
                      <a:alpha val="16000"/>
                    </a:schemeClr>
                  </a:solidFill>
                  <a:latin typeface="Impact" panose="020B0806030902050204" pitchFamily="34" charset="0"/>
                </a:rPr>
                <a:t>6</a:t>
              </a:r>
              <a:endParaRPr lang="zh-CN" altLang="en-US" sz="9600" dirty="0">
                <a:solidFill>
                  <a:schemeClr val="tx2">
                    <a:alpha val="16000"/>
                  </a:schemeClr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39" name="副标题 9800"/>
          <p:cNvSpPr>
            <a:spLocks noGrp="1"/>
          </p:cNvSpPr>
          <p:nvPr>
            <p:ph type="subTitle" idx="1"/>
          </p:nvPr>
        </p:nvSpPr>
        <p:spPr>
          <a:xfrm>
            <a:off x="1041399" y="5633743"/>
            <a:ext cx="7175501" cy="55879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3F82C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0" name="标题 9801"/>
          <p:cNvSpPr>
            <a:spLocks noGrp="1"/>
          </p:cNvSpPr>
          <p:nvPr>
            <p:ph type="ctrTitle"/>
          </p:nvPr>
        </p:nvSpPr>
        <p:spPr>
          <a:xfrm>
            <a:off x="1041399" y="3086100"/>
            <a:ext cx="7175501" cy="2237785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rgbClr val="3F82C4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41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8331199" y="3086100"/>
            <a:ext cx="2565401" cy="245363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42" name="文本占位符 12"/>
          <p:cNvSpPr>
            <a:spLocks noGrp="1"/>
          </p:cNvSpPr>
          <p:nvPr>
            <p:ph type="body" sz="quarter" idx="11" hasCustomPrompt="1"/>
          </p:nvPr>
        </p:nvSpPr>
        <p:spPr>
          <a:xfrm>
            <a:off x="8331199" y="3382371"/>
            <a:ext cx="2565401" cy="245363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cxnSp>
        <p:nvCxnSpPr>
          <p:cNvPr id="43" name="直接连接符 42"/>
          <p:cNvCxnSpPr/>
          <p:nvPr userDrawn="1"/>
        </p:nvCxnSpPr>
        <p:spPr>
          <a:xfrm>
            <a:off x="1041399" y="5511167"/>
            <a:ext cx="7175501" cy="0"/>
          </a:xfrm>
          <a:prstGeom prst="line">
            <a:avLst/>
          </a:prstGeom>
          <a:ln>
            <a:solidFill>
              <a:srgbClr val="D1E1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图片 43" descr="3车云logo(1)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406599" y="463050"/>
            <a:ext cx="2799607" cy="720000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reflection stA="45000" endPos="0" dist="50800" dir="5400000" sy="-100000" algn="bl" rotWithShape="0"/>
          </a:effectLst>
        </p:spPr>
      </p:pic>
      <p:sp>
        <p:nvSpPr>
          <p:cNvPr id="45" name="副标题 10"/>
          <p:cNvSpPr txBox="1"/>
          <p:nvPr userDrawn="1"/>
        </p:nvSpPr>
        <p:spPr>
          <a:xfrm>
            <a:off x="1041399" y="5633743"/>
            <a:ext cx="7175501" cy="55879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400" dirty="0">
                <a:solidFill>
                  <a:schemeClr val="accent5"/>
                </a:solidFill>
                <a:latin typeface="+mn-lt"/>
              </a:rPr>
              <a:t>Copyright(c) www.cheyun.com</a:t>
            </a:r>
            <a:endParaRPr lang="zh-CN" altLang="en-US" sz="1400" dirty="0">
              <a:solidFill>
                <a:schemeClr val="accent5"/>
              </a:solidFill>
              <a:latin typeface="+mn-lt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14"/>
          </p:nvPr>
        </p:nvSpPr>
        <p:spPr>
          <a:xfrm>
            <a:off x="669925" y="1130300"/>
            <a:ext cx="10850563" cy="418191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50000"/>
              </a:lnSpc>
              <a:defRPr sz="1600">
                <a:latin typeface="+mn-ea"/>
                <a:ea typeface="+mn-ea"/>
              </a:defRPr>
            </a:lvl1pPr>
            <a:lvl2pPr marL="457200" indent="0">
              <a:buNone/>
              <a:defRPr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0" y="0"/>
            <a:ext cx="5467546" cy="360000"/>
            <a:chOff x="0" y="0"/>
            <a:chExt cx="5467546" cy="433637"/>
          </a:xfrm>
        </p:grpSpPr>
        <p:sp>
          <p:nvSpPr>
            <p:cNvPr id="17" name="iṧ1iḑé"/>
            <p:cNvSpPr/>
            <p:nvPr userDrawn="1"/>
          </p:nvSpPr>
          <p:spPr bwMode="auto">
            <a:xfrm>
              <a:off x="0" y="0"/>
              <a:ext cx="1696826" cy="431736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 w="19050">
              <a:noFill/>
              <a:round/>
            </a:ln>
          </p:spPr>
          <p:txBody>
            <a:bodyPr wrap="square" lIns="91440" tIns="45720" rIns="91440" bIns="45720" anchor="t">
              <a:noAutofit/>
            </a:bodyPr>
            <a:lstStyle/>
            <a:p>
              <a:r>
                <a:rPr lang="en-US" altLang="zh-CN" sz="1600" i="1" u="sng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1</a:t>
              </a:r>
              <a:endParaRPr sz="1600" i="1" u="sng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18" name="iṣľïḋé"/>
            <p:cNvSpPr/>
            <p:nvPr userDrawn="1"/>
          </p:nvSpPr>
          <p:spPr>
            <a:xfrm>
              <a:off x="490037" y="0"/>
              <a:ext cx="1206788" cy="431736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/>
            <a:p>
              <a:pPr algn="r"/>
              <a:r>
                <a:rPr lang="zh-CN" altLang="en-US" sz="1400" dirty="0">
                  <a:solidFill>
                    <a:schemeClr val="bg1"/>
                  </a:solidFill>
                  <a:latin typeface="+mn-ea"/>
                </a:rPr>
                <a:t>车云研究院</a:t>
              </a:r>
            </a:p>
          </p:txBody>
        </p:sp>
        <p:sp>
          <p:nvSpPr>
            <p:cNvPr id="15" name="iṥ1iďé"/>
            <p:cNvSpPr/>
            <p:nvPr userDrawn="1"/>
          </p:nvSpPr>
          <p:spPr bwMode="auto">
            <a:xfrm>
              <a:off x="1706759" y="1901"/>
              <a:ext cx="1984338" cy="43173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9050">
              <a:noFill/>
              <a:round/>
            </a:ln>
          </p:spPr>
          <p:txBody>
            <a:bodyPr wrap="square" lIns="91440" tIns="45720" rIns="91440" bIns="45720" anchor="t">
              <a:normAutofit/>
            </a:bodyPr>
            <a:lstStyle/>
            <a:p>
              <a:r>
                <a:rPr lang="en-US" altLang="zh-CN" sz="1600" i="1" u="sng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2</a:t>
              </a:r>
              <a:endParaRPr sz="1600" i="1" u="sng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16" name="iṣľïḋé"/>
            <p:cNvSpPr/>
            <p:nvPr userDrawn="1"/>
          </p:nvSpPr>
          <p:spPr>
            <a:xfrm>
              <a:off x="2152037" y="1901"/>
              <a:ext cx="1539060" cy="431736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/>
            <a:p>
              <a:pPr algn="r"/>
              <a:r>
                <a:rPr lang="zh-CN" altLang="en-US" sz="1400" dirty="0">
                  <a:solidFill>
                    <a:schemeClr val="bg1"/>
                  </a:solidFill>
                  <a:latin typeface="+mn-ea"/>
                </a:rPr>
                <a:t>优势及咨询经验</a:t>
              </a:r>
            </a:p>
          </p:txBody>
        </p:sp>
        <p:sp>
          <p:nvSpPr>
            <p:cNvPr id="13" name="iṥ1iďé"/>
            <p:cNvSpPr/>
            <p:nvPr userDrawn="1"/>
          </p:nvSpPr>
          <p:spPr bwMode="auto">
            <a:xfrm>
              <a:off x="3700526" y="1901"/>
              <a:ext cx="1767020" cy="43173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9050">
              <a:noFill/>
              <a:round/>
            </a:ln>
          </p:spPr>
          <p:txBody>
            <a:bodyPr wrap="square" lIns="91440" tIns="45720" rIns="91440" bIns="45720" anchor="t">
              <a:normAutofit/>
            </a:bodyPr>
            <a:lstStyle/>
            <a:p>
              <a:r>
                <a:rPr lang="en-US" altLang="zh-CN" sz="1600" i="1" u="sng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3</a:t>
              </a:r>
              <a:endParaRPr sz="1600" i="1" u="sng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14" name="iṣľïḋé"/>
            <p:cNvSpPr/>
            <p:nvPr userDrawn="1"/>
          </p:nvSpPr>
          <p:spPr>
            <a:xfrm>
              <a:off x="4199102" y="1901"/>
              <a:ext cx="1268443" cy="431736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/>
            <a:p>
              <a:pPr algn="r"/>
              <a:r>
                <a:rPr lang="zh-CN" altLang="en-US" sz="1400" dirty="0">
                  <a:solidFill>
                    <a:schemeClr val="bg1"/>
                  </a:solidFill>
                  <a:latin typeface="+mn-ea"/>
                </a:rPr>
                <a:t>咨询服务团队</a:t>
              </a:r>
            </a:p>
          </p:txBody>
        </p:sp>
      </p:grpSp>
      <p:sp>
        <p:nvSpPr>
          <p:cNvPr id="19" name="文本占位符 6"/>
          <p:cNvSpPr>
            <a:spLocks noGrp="1"/>
          </p:cNvSpPr>
          <p:nvPr userDrawn="1">
            <p:ph type="body" sz="quarter" idx="14"/>
          </p:nvPr>
        </p:nvSpPr>
        <p:spPr>
          <a:xfrm>
            <a:off x="669925" y="1130300"/>
            <a:ext cx="10850563" cy="418191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50000"/>
              </a:lnSpc>
              <a:defRPr sz="1600">
                <a:latin typeface="+mn-ea"/>
                <a:ea typeface="+mn-ea"/>
              </a:defRPr>
            </a:lvl1pPr>
            <a:lvl2pPr marL="457200" indent="0">
              <a:buNone/>
              <a:defRPr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19" name="文本占位符 6"/>
          <p:cNvSpPr>
            <a:spLocks noGrp="1"/>
          </p:cNvSpPr>
          <p:nvPr userDrawn="1">
            <p:ph type="body" sz="quarter" idx="14"/>
          </p:nvPr>
        </p:nvSpPr>
        <p:spPr>
          <a:xfrm>
            <a:off x="669925" y="1130300"/>
            <a:ext cx="10850563" cy="418191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50000"/>
              </a:lnSpc>
              <a:defRPr sz="1600">
                <a:latin typeface="+mn-ea"/>
                <a:ea typeface="+mn-ea"/>
              </a:defRPr>
            </a:lvl1pPr>
            <a:lvl2pPr marL="457200" indent="0">
              <a:buNone/>
              <a:defRPr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0" y="0"/>
            <a:ext cx="5467546" cy="360000"/>
            <a:chOff x="0" y="0"/>
            <a:chExt cx="5467546" cy="433637"/>
          </a:xfrm>
        </p:grpSpPr>
        <p:sp>
          <p:nvSpPr>
            <p:cNvPr id="20" name="iṧ1iḑé"/>
            <p:cNvSpPr/>
            <p:nvPr userDrawn="1"/>
          </p:nvSpPr>
          <p:spPr bwMode="auto">
            <a:xfrm>
              <a:off x="0" y="0"/>
              <a:ext cx="1696826" cy="43173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9050">
              <a:noFill/>
              <a:round/>
            </a:ln>
          </p:spPr>
          <p:txBody>
            <a:bodyPr wrap="square" lIns="91440" tIns="45720" rIns="91440" bIns="45720" anchor="t">
              <a:normAutofit/>
            </a:bodyPr>
            <a:lstStyle/>
            <a:p>
              <a:pPr lvl="0"/>
              <a:r>
                <a:rPr lang="en-US" altLang="zh-CN" sz="1600" i="1" u="sng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1</a:t>
              </a:r>
              <a:endParaRPr sz="1600" i="1" u="sng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21" name="iṣľïḋé"/>
            <p:cNvSpPr/>
            <p:nvPr userDrawn="1"/>
          </p:nvSpPr>
          <p:spPr>
            <a:xfrm>
              <a:off x="490037" y="0"/>
              <a:ext cx="1206788" cy="431736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/>
            <a:p>
              <a:pPr algn="r"/>
              <a:r>
                <a:rPr lang="zh-CN" altLang="en-US" sz="1400" dirty="0">
                  <a:solidFill>
                    <a:schemeClr val="bg1"/>
                  </a:solidFill>
                  <a:latin typeface="+mn-ea"/>
                </a:rPr>
                <a:t>车云研究院</a:t>
              </a:r>
            </a:p>
          </p:txBody>
        </p:sp>
        <p:sp>
          <p:nvSpPr>
            <p:cNvPr id="22" name="iṥ1iďé"/>
            <p:cNvSpPr/>
            <p:nvPr userDrawn="1"/>
          </p:nvSpPr>
          <p:spPr bwMode="auto">
            <a:xfrm>
              <a:off x="1706759" y="1901"/>
              <a:ext cx="1984338" cy="431736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 w="19050">
              <a:noFill/>
              <a:round/>
            </a:ln>
          </p:spPr>
          <p:txBody>
            <a:bodyPr wrap="square" lIns="91440" tIns="45720" rIns="91440" bIns="45720" anchor="t">
              <a:noAutofit/>
            </a:bodyPr>
            <a:lstStyle/>
            <a:p>
              <a:pPr lvl="0"/>
              <a:r>
                <a:rPr lang="en-US" altLang="zh-CN" sz="1600" i="1" u="sng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2</a:t>
              </a:r>
              <a:endParaRPr sz="1600" i="1" u="sng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23" name="iṣľïḋé"/>
            <p:cNvSpPr/>
            <p:nvPr userDrawn="1"/>
          </p:nvSpPr>
          <p:spPr>
            <a:xfrm>
              <a:off x="2152037" y="1901"/>
              <a:ext cx="1539060" cy="431736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/>
            <a:p>
              <a:pPr algn="r"/>
              <a:r>
                <a:rPr lang="zh-CN" altLang="en-US" sz="1400" dirty="0">
                  <a:solidFill>
                    <a:schemeClr val="bg1"/>
                  </a:solidFill>
                  <a:latin typeface="+mn-ea"/>
                </a:rPr>
                <a:t>优势及咨询经验</a:t>
              </a:r>
            </a:p>
          </p:txBody>
        </p:sp>
        <p:sp>
          <p:nvSpPr>
            <p:cNvPr id="24" name="iṥ1iďé"/>
            <p:cNvSpPr/>
            <p:nvPr userDrawn="1"/>
          </p:nvSpPr>
          <p:spPr bwMode="auto">
            <a:xfrm>
              <a:off x="3700526" y="1901"/>
              <a:ext cx="1767020" cy="43173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9050">
              <a:noFill/>
              <a:round/>
            </a:ln>
          </p:spPr>
          <p:txBody>
            <a:bodyPr wrap="square" lIns="91440" tIns="45720" rIns="91440" bIns="45720" anchor="t">
              <a:normAutofit/>
            </a:bodyPr>
            <a:lstStyle/>
            <a:p>
              <a:r>
                <a:rPr lang="en-US" altLang="zh-CN" sz="1600" i="1" u="sng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3</a:t>
              </a:r>
              <a:endParaRPr sz="1600" i="1" u="sng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25" name="iṣľïḋé"/>
            <p:cNvSpPr/>
            <p:nvPr userDrawn="1"/>
          </p:nvSpPr>
          <p:spPr>
            <a:xfrm>
              <a:off x="4199102" y="1901"/>
              <a:ext cx="1268443" cy="431736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/>
            <a:p>
              <a:pPr algn="r"/>
              <a:r>
                <a:rPr lang="zh-CN" altLang="en-US" sz="1400" dirty="0">
                  <a:solidFill>
                    <a:schemeClr val="bg1"/>
                  </a:solidFill>
                  <a:latin typeface="+mn-ea"/>
                </a:rPr>
                <a:t>咨询服务团队</a:t>
              </a: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19" name="文本占位符 6"/>
          <p:cNvSpPr>
            <a:spLocks noGrp="1"/>
          </p:cNvSpPr>
          <p:nvPr userDrawn="1">
            <p:ph type="body" sz="quarter" idx="14"/>
          </p:nvPr>
        </p:nvSpPr>
        <p:spPr>
          <a:xfrm>
            <a:off x="669925" y="1130300"/>
            <a:ext cx="10850563" cy="418191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50000"/>
              </a:lnSpc>
              <a:defRPr sz="1600">
                <a:latin typeface="+mn-ea"/>
                <a:ea typeface="+mn-ea"/>
              </a:defRPr>
            </a:lvl1pPr>
            <a:lvl2pPr marL="457200" indent="0">
              <a:buNone/>
              <a:defRPr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0" y="0"/>
            <a:ext cx="5467546" cy="360000"/>
            <a:chOff x="0" y="0"/>
            <a:chExt cx="5467546" cy="433637"/>
          </a:xfrm>
        </p:grpSpPr>
        <p:sp>
          <p:nvSpPr>
            <p:cNvPr id="20" name="iṧ1iḑé"/>
            <p:cNvSpPr/>
            <p:nvPr userDrawn="1"/>
          </p:nvSpPr>
          <p:spPr bwMode="auto">
            <a:xfrm>
              <a:off x="0" y="0"/>
              <a:ext cx="1696826" cy="43173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9050">
              <a:noFill/>
              <a:round/>
            </a:ln>
          </p:spPr>
          <p:txBody>
            <a:bodyPr wrap="square" lIns="91440" tIns="45720" rIns="91440" bIns="45720" anchor="t">
              <a:normAutofit/>
            </a:bodyPr>
            <a:lstStyle/>
            <a:p>
              <a:pPr lvl="0"/>
              <a:r>
                <a:rPr lang="en-US" altLang="zh-CN" sz="1600" i="1" u="sng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1</a:t>
              </a:r>
              <a:endParaRPr sz="1600" i="1" u="sng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21" name="iṣľïḋé"/>
            <p:cNvSpPr/>
            <p:nvPr userDrawn="1"/>
          </p:nvSpPr>
          <p:spPr>
            <a:xfrm>
              <a:off x="490037" y="0"/>
              <a:ext cx="1206788" cy="431736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/>
            <a:p>
              <a:pPr algn="r"/>
              <a:r>
                <a:rPr lang="zh-CN" altLang="en-US" sz="1400" dirty="0">
                  <a:solidFill>
                    <a:schemeClr val="bg1"/>
                  </a:solidFill>
                  <a:latin typeface="+mn-ea"/>
                </a:rPr>
                <a:t>车云研究院</a:t>
              </a:r>
            </a:p>
          </p:txBody>
        </p:sp>
        <p:sp>
          <p:nvSpPr>
            <p:cNvPr id="22" name="iṥ1iďé"/>
            <p:cNvSpPr/>
            <p:nvPr userDrawn="1"/>
          </p:nvSpPr>
          <p:spPr bwMode="auto">
            <a:xfrm>
              <a:off x="1706759" y="1901"/>
              <a:ext cx="1984338" cy="43173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9050">
              <a:noFill/>
              <a:round/>
            </a:ln>
          </p:spPr>
          <p:txBody>
            <a:bodyPr wrap="square" lIns="91440" tIns="45720" rIns="91440" bIns="45720" anchor="t">
              <a:normAutofit/>
            </a:bodyPr>
            <a:lstStyle/>
            <a:p>
              <a:r>
                <a:rPr lang="en-US" altLang="zh-CN" sz="1600" i="1" u="sng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2</a:t>
              </a:r>
              <a:endParaRPr sz="1600" i="1" u="sng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23" name="iṣľïḋé"/>
            <p:cNvSpPr/>
            <p:nvPr userDrawn="1"/>
          </p:nvSpPr>
          <p:spPr>
            <a:xfrm>
              <a:off x="2152037" y="1901"/>
              <a:ext cx="1539060" cy="431736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/>
            <a:p>
              <a:pPr algn="r"/>
              <a:r>
                <a:rPr lang="zh-CN" altLang="en-US" sz="1400" dirty="0">
                  <a:solidFill>
                    <a:schemeClr val="bg1"/>
                  </a:solidFill>
                  <a:latin typeface="+mn-ea"/>
                </a:rPr>
                <a:t>优势及咨询经验</a:t>
              </a:r>
            </a:p>
          </p:txBody>
        </p:sp>
        <p:sp>
          <p:nvSpPr>
            <p:cNvPr id="24" name="iṥ1iďé"/>
            <p:cNvSpPr/>
            <p:nvPr userDrawn="1"/>
          </p:nvSpPr>
          <p:spPr bwMode="auto">
            <a:xfrm>
              <a:off x="3700526" y="1901"/>
              <a:ext cx="1767020" cy="431736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 w="19050">
              <a:noFill/>
              <a:round/>
            </a:ln>
          </p:spPr>
          <p:txBody>
            <a:bodyPr wrap="square" lIns="91440" tIns="45720" rIns="91440" bIns="45720" anchor="t">
              <a:noAutofit/>
            </a:bodyPr>
            <a:lstStyle/>
            <a:p>
              <a:pPr lvl="0"/>
              <a:r>
                <a:rPr lang="en-US" altLang="zh-CN" sz="1600" i="1" u="sng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3</a:t>
              </a:r>
              <a:endParaRPr sz="1600" i="1" u="sng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25" name="iṣľïḋé"/>
            <p:cNvSpPr/>
            <p:nvPr userDrawn="1"/>
          </p:nvSpPr>
          <p:spPr>
            <a:xfrm>
              <a:off x="4199102" y="1901"/>
              <a:ext cx="1268443" cy="431736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/>
            <a:p>
              <a:pPr algn="r"/>
              <a:r>
                <a:rPr lang="zh-CN" altLang="en-US" sz="1400" dirty="0">
                  <a:solidFill>
                    <a:schemeClr val="bg1"/>
                  </a:solidFill>
                  <a:latin typeface="+mn-ea"/>
                </a:rPr>
                <a:t>咨询服务团队</a:t>
              </a: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4" name="文本占位符 6"/>
          <p:cNvSpPr>
            <a:spLocks noGrp="1"/>
          </p:cNvSpPr>
          <p:nvPr>
            <p:ph type="body" sz="quarter" idx="14"/>
          </p:nvPr>
        </p:nvSpPr>
        <p:spPr>
          <a:xfrm>
            <a:off x="669925" y="1130300"/>
            <a:ext cx="10850563" cy="418191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50000"/>
              </a:lnSpc>
              <a:defRPr sz="1600">
                <a:latin typeface="+mn-ea"/>
                <a:ea typeface="+mn-ea"/>
              </a:defRPr>
            </a:lvl1pPr>
            <a:lvl2pPr marL="457200" indent="0">
              <a:buNone/>
              <a:defRPr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"/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69" r="65582"/>
          <a:stretch>
            <a:fillRect/>
          </a:stretch>
        </p:blipFill>
        <p:spPr>
          <a:xfrm flipH="1" flipV="1">
            <a:off x="8013701" y="0"/>
            <a:ext cx="4178299" cy="6858000"/>
          </a:xfrm>
          <a:prstGeom prst="rect">
            <a:avLst/>
          </a:prstGeom>
        </p:spPr>
      </p:pic>
      <p:sp>
        <p:nvSpPr>
          <p:cNvPr id="3" name="标题 19"/>
          <p:cNvSpPr>
            <a:spLocks noGrp="1"/>
          </p:cNvSpPr>
          <p:nvPr>
            <p:ph type="title"/>
          </p:nvPr>
        </p:nvSpPr>
        <p:spPr>
          <a:xfrm>
            <a:off x="2352098" y="2533650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4" name="文本占位符 20"/>
          <p:cNvSpPr>
            <a:spLocks noGrp="1"/>
          </p:cNvSpPr>
          <p:nvPr>
            <p:ph type="body" idx="1"/>
          </p:nvPr>
        </p:nvSpPr>
        <p:spPr>
          <a:xfrm>
            <a:off x="2353214" y="3733086"/>
            <a:ext cx="5419185" cy="101562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2352098" y="3590746"/>
            <a:ext cx="7175501" cy="0"/>
          </a:xfrm>
          <a:prstGeom prst="line">
            <a:avLst/>
          </a:prstGeom>
          <a:ln>
            <a:solidFill>
              <a:srgbClr val="D1E1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 descr="3车云logo(1)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72810" y="850235"/>
            <a:ext cx="1399808" cy="360000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reflection stA="45000" endPos="0" dist="50800" dir="5400000" sy="-100000" algn="bl" rotWithShape="0"/>
          </a:effectLst>
        </p:spPr>
      </p:pic>
      <p:sp>
        <p:nvSpPr>
          <p:cNvPr id="8" name="矩形 7"/>
          <p:cNvSpPr/>
          <p:nvPr userDrawn="1"/>
        </p:nvSpPr>
        <p:spPr>
          <a:xfrm>
            <a:off x="381561" y="0"/>
            <a:ext cx="162000" cy="12102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583265" y="605117"/>
            <a:ext cx="161366" cy="6051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直接连接符 29"/>
          <p:cNvCxnSpPr/>
          <p:nvPr userDrawn="1"/>
        </p:nvCxnSpPr>
        <p:spPr>
          <a:xfrm>
            <a:off x="1346202" y="4850767"/>
            <a:ext cx="6426198" cy="0"/>
          </a:xfrm>
          <a:prstGeom prst="line">
            <a:avLst/>
          </a:prstGeom>
          <a:ln>
            <a:solidFill>
              <a:srgbClr val="D1E1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 descr="3车云logo(1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43694" y="2709000"/>
            <a:ext cx="2799607" cy="720000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reflection stA="45000" endPos="0" dist="50800" dir="5400000" sy="-100000" algn="bl" rotWithShape="0"/>
          </a:effectLst>
        </p:spPr>
      </p:pic>
      <p:sp>
        <p:nvSpPr>
          <p:cNvPr id="2" name="文本框 1"/>
          <p:cNvSpPr txBox="1"/>
          <p:nvPr userDrawn="1"/>
        </p:nvSpPr>
        <p:spPr>
          <a:xfrm>
            <a:off x="1346202" y="3963374"/>
            <a:ext cx="6426198" cy="64633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zh-CN" sz="3600" dirty="0">
                <a:solidFill>
                  <a:schemeClr val="accent4"/>
                </a:solidFill>
                <a:latin typeface="Arial Black" panose="020B0A04020102020204" pitchFamily="34" charset="0"/>
              </a:rPr>
              <a:t>THANKS</a:t>
            </a:r>
            <a:endParaRPr lang="zh-CN" altLang="en-US" sz="3600" dirty="0">
              <a:solidFill>
                <a:schemeClr val="accent4"/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346202" y="4905411"/>
            <a:ext cx="6426198" cy="70423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4"/>
                </a:solidFill>
                <a:latin typeface="Arial Black" panose="020B0A04020102020204" pitchFamily="34" charset="0"/>
              </a:rPr>
              <a:t>www.cheyun.com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4"/>
                </a:solidFill>
                <a:latin typeface="Arial Black" panose="020B0A04020102020204" pitchFamily="34" charset="0"/>
              </a:rPr>
              <a:t>2026 </a:t>
            </a:r>
            <a:r>
              <a:rPr lang="zh-CN" altLang="en-US" sz="1400" dirty="0">
                <a:solidFill>
                  <a:schemeClr val="accent4"/>
                </a:solidFill>
                <a:latin typeface="Arial Black" panose="020B0A04020102020204" pitchFamily="34" charset="0"/>
              </a:rPr>
              <a:t>年 </a:t>
            </a:r>
            <a:r>
              <a:rPr lang="en-US" altLang="zh-CN" sz="1400" dirty="0">
                <a:solidFill>
                  <a:schemeClr val="accent4"/>
                </a:solidFill>
                <a:latin typeface="Arial Black" panose="020B0A04020102020204" pitchFamily="34" charset="0"/>
              </a:rPr>
              <a:t>03</a:t>
            </a:r>
            <a:r>
              <a:rPr lang="zh-CN" altLang="en-US" sz="1400" dirty="0">
                <a:solidFill>
                  <a:schemeClr val="accent4"/>
                </a:solidFill>
                <a:latin typeface="Arial Black" panose="020B0A04020102020204" pitchFamily="34" charset="0"/>
              </a:rPr>
              <a:t>月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正文页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612001" y="-1"/>
            <a:ext cx="9340585" cy="1048869"/>
          </a:xfrm>
          <a:prstGeom prst="rect">
            <a:avLst/>
          </a:prstGeom>
        </p:spPr>
        <p:txBody>
          <a:bodyPr vert="horz" lIns="0" tIns="36000" rIns="0" bIns="0" rtlCol="0" anchor="ctr" anchorCtr="0">
            <a:noAutofit/>
          </a:bodyPr>
          <a:lstStyle>
            <a:lvl1pPr>
              <a:defRPr sz="2000" spc="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3627" y="82564"/>
            <a:ext cx="1877097" cy="88373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Box 4"/>
          <p:cNvSpPr txBox="1"/>
          <p:nvPr/>
        </p:nvSpPr>
        <p:spPr>
          <a:xfrm>
            <a:off x="45722" y="-1021933"/>
            <a:ext cx="5656517" cy="830997"/>
          </a:xfrm>
          <a:prstGeom prst="rect">
            <a:avLst/>
          </a:prstGeom>
          <a:ln w="12700">
            <a:miter lim="400000"/>
          </a:ln>
        </p:spPr>
        <p:txBody>
          <a:bodyPr lIns="14466" rIns="14466">
            <a:spAutoFit/>
          </a:bodyPr>
          <a:lstStyle/>
          <a:p>
            <a:pPr>
              <a:defRPr sz="1000">
                <a:latin typeface="HYZhongJianHeiJ Regular"/>
                <a:ea typeface="HYZhongJianHeiJ Regular"/>
                <a:cs typeface="HYZhongJianHeiJ Regular"/>
                <a:sym typeface="HYZhongJianHeiJ Regular"/>
              </a:defRPr>
            </a:pPr>
            <a:r>
              <a:rPr sz="1200"/>
              <a:t>目录标题字体：汉仪粗简黑简  / 字号：30 / 字距：正常（0）</a:t>
            </a:r>
          </a:p>
          <a:p>
            <a:pPr>
              <a:defRPr sz="1000">
                <a:latin typeface="HYZhongJianHeiJ Regular"/>
                <a:ea typeface="HYZhongJianHeiJ Regular"/>
                <a:cs typeface="HYZhongJianHeiJ Regular"/>
                <a:sym typeface="HYZhongJianHeiJ Regular"/>
              </a:defRPr>
            </a:pPr>
            <a:r>
              <a:rPr sz="1200"/>
              <a:t>标题字体：汉仪中简黑简 / 字号：30 / 字距：正常（0）</a:t>
            </a:r>
          </a:p>
          <a:p>
            <a:pPr>
              <a:defRPr sz="1000">
                <a:latin typeface="HYZhongJianHeiJ Regular"/>
                <a:ea typeface="HYZhongJianHeiJ Regular"/>
                <a:cs typeface="HYZhongJianHeiJ Regular"/>
                <a:sym typeface="HYZhongJianHeiJ Regular"/>
              </a:defRPr>
            </a:pPr>
            <a:r>
              <a:rPr sz="1200"/>
              <a:t>副标题字体：汉仪中简黑简 / 字号：16-18 / 字距：1.5 / 字距：正常（0）</a:t>
            </a:r>
          </a:p>
          <a:p>
            <a:pPr defTabSz="288925">
              <a:defRPr sz="1000">
                <a:latin typeface="HYZhongJianHeiJ Regular"/>
                <a:ea typeface="HYZhongJianHeiJ Regular"/>
                <a:cs typeface="HYZhongJianHeiJ Regular"/>
                <a:sym typeface="HYZhongJianHeiJ Regular"/>
              </a:defRPr>
            </a:pPr>
            <a:r>
              <a:rPr sz="1200"/>
              <a:t>正文字体：汉仪中简黑简 / 字号：12 -14/ 行距：1.5 / 字距：正常（0）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0" y="6154574"/>
            <a:ext cx="510988" cy="403412"/>
          </a:xfrm>
          <a:prstGeom prst="rect">
            <a:avLst/>
          </a:prstGeom>
          <a:solidFill>
            <a:schemeClr val="bg1"/>
          </a:solidFill>
          <a:ln w="12700" cap="flat">
            <a:noFill/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幻灯片编号"/>
          <p:cNvSpPr txBox="1"/>
          <p:nvPr userDrawn="1"/>
        </p:nvSpPr>
        <p:spPr>
          <a:xfrm rot="5400000">
            <a:off x="-68091" y="5848741"/>
            <a:ext cx="541173" cy="307777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28892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b="1" i="0" u="none" strike="noStrike" cap="none" spc="0" normalizeH="0" baseline="0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DIN Next W1G"/>
                <a:ea typeface="DIN Next W1G"/>
                <a:cs typeface="DIN Next W1G"/>
                <a:sym typeface="DIN Next W1G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fld id="{86CB4B4D-7CA3-9044-876B-883B54F8677D}" type="slidenum">
              <a:rPr lang="en-US" altLang="zh-CN" smtClean="0"/>
              <a:t>‹#›</a:t>
            </a:fld>
            <a:r>
              <a:rPr lang="en-US" altLang="zh-CN" dirty="0"/>
              <a:t>/5</a:t>
            </a:r>
            <a:endParaRPr lang="zh-CN" altLang="en-US" dirty="0"/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png"/><Relationship Id="rId18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433637"/>
            <a:ext cx="10850563" cy="5950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 userDrawn="1"/>
        </p:nvSpPr>
        <p:spPr>
          <a:xfrm>
            <a:off x="669924" y="6331974"/>
            <a:ext cx="27222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chemeClr val="tx2"/>
                </a:solidFill>
                <a:latin typeface="Arial Black" panose="020B0A04020102020204" pitchFamily="34" charset="0"/>
              </a:rPr>
              <a:t>www.cheyun.com</a:t>
            </a:r>
            <a:endParaRPr lang="zh-CN" altLang="en-US" sz="1100" b="1" dirty="0">
              <a:solidFill>
                <a:schemeClr val="tx2"/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4734103" y="6331974"/>
            <a:ext cx="27222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tx2"/>
                </a:solidFill>
                <a:latin typeface="Arial Black" panose="020B0A04020102020204" pitchFamily="34" charset="0"/>
              </a:rPr>
              <a:t>03-2026</a:t>
            </a: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8798282" y="6331974"/>
            <a:ext cx="27222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100" b="1" dirty="0">
                <a:solidFill>
                  <a:schemeClr val="tx2"/>
                </a:solidFill>
                <a:latin typeface="Arial Black" panose="020B0A04020102020204" pitchFamily="34" charset="0"/>
              </a:rPr>
              <a:t>- </a:t>
            </a:r>
            <a:fld id="{B82E189C-64F3-4B6C-A562-F6D75348744A}" type="slidenum">
              <a:rPr lang="en-US" altLang="zh-CN" sz="1100" b="1" smtClean="0">
                <a:solidFill>
                  <a:schemeClr val="tx2"/>
                </a:solidFill>
                <a:latin typeface="Arial Black" panose="020B0A04020102020204" pitchFamily="34" charset="0"/>
              </a:rPr>
              <a:t>‹#›</a:t>
            </a:fld>
            <a:r>
              <a:rPr lang="en-US" altLang="zh-CN" sz="1100" b="1" dirty="0">
                <a:solidFill>
                  <a:schemeClr val="tx2"/>
                </a:solidFill>
                <a:latin typeface="Arial Black" panose="020B0A04020102020204" pitchFamily="34" charset="0"/>
              </a:rPr>
              <a:t> -</a:t>
            </a:r>
            <a:endParaRPr lang="zh-CN" altLang="en-US" sz="1100" b="1" dirty="0">
              <a:solidFill>
                <a:schemeClr val="tx2"/>
              </a:solidFill>
              <a:latin typeface="Arial Black" panose="020B0A04020102020204" pitchFamily="34" charset="0"/>
            </a:endParaRPr>
          </a:p>
        </p:txBody>
      </p:sp>
      <p:pic>
        <p:nvPicPr>
          <p:cNvPr id="14" name="图片 13" descr="3车云logo(1)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731391" y="147480"/>
            <a:ext cx="1399805" cy="360000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reflection stA="45000" endPos="0" dist="50800" dir="5400000" sy="-100000" algn="bl" rotWithShape="0"/>
          </a:effectLst>
        </p:spPr>
      </p:pic>
      <p:sp>
        <p:nvSpPr>
          <p:cNvPr id="27" name="矩形 26"/>
          <p:cNvSpPr/>
          <p:nvPr userDrawn="1"/>
        </p:nvSpPr>
        <p:spPr>
          <a:xfrm>
            <a:off x="-1004762" y="1573162"/>
            <a:ext cx="894736" cy="2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1000" dirty="0">
                <a:solidFill>
                  <a:schemeClr val="accent4"/>
                </a:solidFill>
              </a:rPr>
              <a:t>255/255/255</a:t>
            </a:r>
            <a:endParaRPr lang="zh-CN" altLang="en-US" sz="1000" dirty="0">
              <a:solidFill>
                <a:schemeClr val="accent4"/>
              </a:solidFill>
            </a:endParaRPr>
          </a:p>
        </p:txBody>
      </p:sp>
      <p:sp>
        <p:nvSpPr>
          <p:cNvPr id="42" name="矩形 41"/>
          <p:cNvSpPr/>
          <p:nvPr userDrawn="1"/>
        </p:nvSpPr>
        <p:spPr>
          <a:xfrm>
            <a:off x="-1004762" y="1840398"/>
            <a:ext cx="894736" cy="21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1000" dirty="0"/>
              <a:t>0/0/0</a:t>
            </a:r>
            <a:endParaRPr lang="zh-CN" altLang="en-US" sz="1000" dirty="0"/>
          </a:p>
        </p:txBody>
      </p:sp>
      <p:sp>
        <p:nvSpPr>
          <p:cNvPr id="43" name="矩形 42"/>
          <p:cNvSpPr/>
          <p:nvPr userDrawn="1"/>
        </p:nvSpPr>
        <p:spPr>
          <a:xfrm>
            <a:off x="-1004762" y="2107634"/>
            <a:ext cx="894736" cy="21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1000" dirty="0">
                <a:solidFill>
                  <a:schemeClr val="accent4"/>
                </a:solidFill>
              </a:rPr>
              <a:t>240/240/240</a:t>
            </a:r>
            <a:endParaRPr lang="zh-CN" altLang="en-US" sz="1000" dirty="0">
              <a:solidFill>
                <a:schemeClr val="accent4"/>
              </a:solidFill>
            </a:endParaRPr>
          </a:p>
        </p:txBody>
      </p:sp>
      <p:sp>
        <p:nvSpPr>
          <p:cNvPr id="44" name="矩形 43"/>
          <p:cNvSpPr/>
          <p:nvPr userDrawn="1"/>
        </p:nvSpPr>
        <p:spPr>
          <a:xfrm>
            <a:off x="-1004762" y="2374869"/>
            <a:ext cx="894736" cy="21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1000" dirty="0"/>
              <a:t>118/131/149</a:t>
            </a:r>
            <a:endParaRPr lang="zh-CN" altLang="en-US" sz="1000" dirty="0"/>
          </a:p>
        </p:txBody>
      </p:sp>
      <p:sp>
        <p:nvSpPr>
          <p:cNvPr id="45" name="矩形 44"/>
          <p:cNvSpPr/>
          <p:nvPr userDrawn="1"/>
        </p:nvSpPr>
        <p:spPr>
          <a:xfrm>
            <a:off x="-1004762" y="3213000"/>
            <a:ext cx="894736" cy="2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1000" dirty="0"/>
              <a:t>0/143/212</a:t>
            </a:r>
            <a:endParaRPr lang="zh-CN" altLang="en-US" sz="1000" dirty="0"/>
          </a:p>
        </p:txBody>
      </p:sp>
      <p:sp>
        <p:nvSpPr>
          <p:cNvPr id="46" name="矩形 45"/>
          <p:cNvSpPr/>
          <p:nvPr userDrawn="1"/>
        </p:nvSpPr>
        <p:spPr>
          <a:xfrm>
            <a:off x="-1004762" y="3527047"/>
            <a:ext cx="894736" cy="21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1000" dirty="0"/>
              <a:t>75/195/255</a:t>
            </a:r>
            <a:endParaRPr lang="zh-CN" altLang="en-US" sz="1000" dirty="0"/>
          </a:p>
        </p:txBody>
      </p:sp>
      <p:sp>
        <p:nvSpPr>
          <p:cNvPr id="47" name="矩形 46"/>
          <p:cNvSpPr/>
          <p:nvPr userDrawn="1"/>
        </p:nvSpPr>
        <p:spPr>
          <a:xfrm>
            <a:off x="-1004762" y="3841094"/>
            <a:ext cx="894736" cy="21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1000" dirty="0"/>
              <a:t>88/88/88</a:t>
            </a:r>
            <a:endParaRPr lang="zh-CN" altLang="en-US" sz="1000" dirty="0"/>
          </a:p>
        </p:txBody>
      </p:sp>
      <p:sp>
        <p:nvSpPr>
          <p:cNvPr id="48" name="矩形 47"/>
          <p:cNvSpPr/>
          <p:nvPr userDrawn="1"/>
        </p:nvSpPr>
        <p:spPr>
          <a:xfrm>
            <a:off x="-1004762" y="4155141"/>
            <a:ext cx="894736" cy="216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1000" dirty="0"/>
              <a:t>110/115/122</a:t>
            </a:r>
            <a:endParaRPr lang="zh-CN" altLang="en-US" sz="1000" dirty="0"/>
          </a:p>
        </p:txBody>
      </p:sp>
      <p:sp>
        <p:nvSpPr>
          <p:cNvPr id="49" name="矩形 48"/>
          <p:cNvSpPr/>
          <p:nvPr userDrawn="1"/>
        </p:nvSpPr>
        <p:spPr>
          <a:xfrm>
            <a:off x="-1004762" y="4469188"/>
            <a:ext cx="894736" cy="216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1000" dirty="0"/>
              <a:t>147/152/158</a:t>
            </a:r>
            <a:endParaRPr lang="zh-CN" altLang="en-US" sz="1000" dirty="0"/>
          </a:p>
        </p:txBody>
      </p:sp>
      <p:sp>
        <p:nvSpPr>
          <p:cNvPr id="50" name="矩形 49"/>
          <p:cNvSpPr/>
          <p:nvPr userDrawn="1"/>
        </p:nvSpPr>
        <p:spPr>
          <a:xfrm>
            <a:off x="-1004762" y="4783233"/>
            <a:ext cx="894736" cy="2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1000" dirty="0"/>
              <a:t>183/184/185</a:t>
            </a:r>
            <a:endParaRPr lang="zh-CN" altLang="en-US" sz="1000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-1012723" y="1307690"/>
            <a:ext cx="8947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solidFill>
                  <a:schemeClr val="bg1"/>
                </a:solidFill>
                <a:latin typeface="+mn-ea"/>
                <a:ea typeface="+mn-ea"/>
              </a:rPr>
              <a:t>文字</a:t>
            </a:r>
            <a:r>
              <a:rPr lang="en-US" altLang="zh-CN" sz="1100" dirty="0">
                <a:solidFill>
                  <a:schemeClr val="bg1"/>
                </a:solidFill>
                <a:latin typeface="+mn-ea"/>
                <a:ea typeface="+mn-ea"/>
              </a:rPr>
              <a:t>/</a:t>
            </a:r>
            <a:r>
              <a:rPr lang="zh-CN" altLang="en-US" sz="1100" dirty="0">
                <a:solidFill>
                  <a:schemeClr val="bg1"/>
                </a:solidFill>
                <a:latin typeface="+mn-ea"/>
                <a:ea typeface="+mn-ea"/>
              </a:rPr>
              <a:t>背景</a:t>
            </a:r>
          </a:p>
        </p:txBody>
      </p:sp>
      <p:sp>
        <p:nvSpPr>
          <p:cNvPr id="51" name="文本框 50"/>
          <p:cNvSpPr txBox="1"/>
          <p:nvPr userDrawn="1"/>
        </p:nvSpPr>
        <p:spPr>
          <a:xfrm>
            <a:off x="-1012723" y="2944234"/>
            <a:ext cx="8947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solidFill>
                  <a:schemeClr val="bg1"/>
                </a:solidFill>
                <a:latin typeface="+mn-ea"/>
                <a:ea typeface="+mn-ea"/>
              </a:rPr>
              <a:t>填充色</a:t>
            </a:r>
          </a:p>
        </p:txBody>
      </p:sp>
      <p:pic>
        <p:nvPicPr>
          <p:cNvPr id="52" name="Picture 51" descr="4c3e3edd-4a4f-4cac-b65a-2182c609a4de_til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400" b="1" kern="1200" dirty="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3">
            <a:extLst>
              <a:ext uri="{FF2B5EF4-FFF2-40B4-BE49-F238E27FC236}">
                <a16:creationId xmlns:a16="http://schemas.microsoft.com/office/drawing/2014/main" id="{B53E931E-B3F3-6252-1B3F-2EBD4135DE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AEE4BE9-525E-820F-D89C-DE8114FC8E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C2DFF98-6520-7131-7DCB-E9A810F1E4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C1E2E90A-D58F-A7FA-B3C2-A73A8F35F8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2851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673560" y="1138434"/>
            <a:ext cx="57599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600" b="0" dirty="0">
                <a:solidFill>
                  <a:srgbClr val="000000"/>
                </a:solidFill>
              </a:rPr>
              <a:t>3</a:t>
            </a:r>
            <a:r>
              <a:rPr lang="zh-CN" altLang="en-US" sz="1600" b="0" dirty="0">
                <a:solidFill>
                  <a:srgbClr val="000000"/>
                </a:solidFill>
              </a:rPr>
              <a:t>月</a:t>
            </a:r>
            <a:r>
              <a:rPr lang="en-US" altLang="zh-CN" sz="1600" b="0" dirty="0">
                <a:solidFill>
                  <a:srgbClr val="000000"/>
                </a:solidFill>
              </a:rPr>
              <a:t>1</a:t>
            </a:r>
            <a:r>
              <a:rPr lang="zh-CN" altLang="en-US" sz="1600" b="0" dirty="0">
                <a:solidFill>
                  <a:srgbClr val="000000"/>
                </a:solidFill>
              </a:rPr>
              <a:t>日上午进行了乘客组圆桌访谈，下午进行司机组圆桌访谈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6364736" y="1584609"/>
            <a:ext cx="4439654" cy="24520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 lang="zh-CN" altLang="en-US" sz="1400" dirty="0">
              <a:latin typeface="+mn-ea"/>
            </a:endParaRPr>
          </a:p>
        </p:txBody>
      </p:sp>
      <p:sp>
        <p:nvSpPr>
          <p:cNvPr id="111" name="椭圆 110"/>
          <p:cNvSpPr/>
          <p:nvPr/>
        </p:nvSpPr>
        <p:spPr>
          <a:xfrm>
            <a:off x="7544801" y="2333371"/>
            <a:ext cx="1901176" cy="110705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lnSpc>
                <a:spcPct val="125000"/>
              </a:lnSpc>
            </a:pPr>
            <a:endParaRPr lang="zh-CN" altLang="en-US" sz="1400" dirty="0">
              <a:latin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669924" y="433637"/>
            <a:ext cx="10850563" cy="595063"/>
          </a:xfrm>
        </p:spPr>
        <p:txBody>
          <a:bodyPr/>
          <a:lstStyle/>
          <a:p>
            <a:r>
              <a:rPr lang="zh-CN" altLang="en-US" b="1" dirty="0">
                <a:sym typeface="Arial" panose="020B0604020202020204" pitchFamily="34" charset="0"/>
              </a:rPr>
              <a:t>项目执行概况 </a:t>
            </a:r>
            <a:r>
              <a:rPr lang="en-US" altLang="zh-CN" sz="1600" dirty="0">
                <a:sym typeface="Arial" panose="020B0604020202020204" pitchFamily="34" charset="0"/>
              </a:rPr>
              <a:t>(</a:t>
            </a:r>
            <a:r>
              <a:rPr lang="zh-CN" altLang="en-US" sz="1600" b="1" dirty="0">
                <a:sym typeface="Arial" panose="020B0604020202020204" pitchFamily="34" charset="0"/>
              </a:rPr>
              <a:t>定性</a:t>
            </a:r>
            <a:r>
              <a:rPr lang="en-US" altLang="zh-CN" sz="1600" b="1" dirty="0">
                <a:sym typeface="Arial" panose="020B0604020202020204" pitchFamily="34" charset="0"/>
              </a:rPr>
              <a:t>)</a:t>
            </a:r>
            <a:endParaRPr lang="zh-CN" altLang="en-US" sz="1600" dirty="0"/>
          </a:p>
        </p:txBody>
      </p:sp>
      <p:sp>
        <p:nvSpPr>
          <p:cNvPr id="7" name="矩形 6"/>
          <p:cNvSpPr/>
          <p:nvPr/>
        </p:nvSpPr>
        <p:spPr>
          <a:xfrm>
            <a:off x="909627" y="1613116"/>
            <a:ext cx="4437875" cy="24066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 lang="zh-CN" altLang="en-US" sz="1400" dirty="0">
              <a:latin typeface="+mn-ea"/>
            </a:endParaRPr>
          </a:p>
        </p:txBody>
      </p:sp>
      <p:grpSp>
        <p:nvGrpSpPr>
          <p:cNvPr id="130" name="组合 129"/>
          <p:cNvGrpSpPr/>
          <p:nvPr/>
        </p:nvGrpSpPr>
        <p:grpSpPr>
          <a:xfrm>
            <a:off x="2818191" y="3409855"/>
            <a:ext cx="792618" cy="651138"/>
            <a:chOff x="2254134" y="3409855"/>
            <a:chExt cx="792618" cy="651138"/>
          </a:xfrm>
        </p:grpSpPr>
        <p:sp>
          <p:nvSpPr>
            <p:cNvPr id="13" name="businessman-presenter_46787"/>
            <p:cNvSpPr/>
            <p:nvPr/>
          </p:nvSpPr>
          <p:spPr>
            <a:xfrm>
              <a:off x="2470830" y="3409855"/>
              <a:ext cx="311791" cy="434974"/>
            </a:xfrm>
            <a:custGeom>
              <a:avLst/>
              <a:gdLst>
                <a:gd name="T0" fmla="*/ 3466 w 3883"/>
                <a:gd name="T1" fmla="*/ 3672 h 6573"/>
                <a:gd name="T2" fmla="*/ 417 w 3883"/>
                <a:gd name="T3" fmla="*/ 3672 h 6573"/>
                <a:gd name="T4" fmla="*/ 55 w 3883"/>
                <a:gd name="T5" fmla="*/ 3339 h 6573"/>
                <a:gd name="T6" fmla="*/ 9 w 3883"/>
                <a:gd name="T7" fmla="*/ 2780 h 6573"/>
                <a:gd name="T8" fmla="*/ 189 w 3883"/>
                <a:gd name="T9" fmla="*/ 2584 h 6573"/>
                <a:gd name="T10" fmla="*/ 3694 w 3883"/>
                <a:gd name="T11" fmla="*/ 2584 h 6573"/>
                <a:gd name="T12" fmla="*/ 3875 w 3883"/>
                <a:gd name="T13" fmla="*/ 2780 h 6573"/>
                <a:gd name="T14" fmla="*/ 3828 w 3883"/>
                <a:gd name="T15" fmla="*/ 3339 h 6573"/>
                <a:gd name="T16" fmla="*/ 3466 w 3883"/>
                <a:gd name="T17" fmla="*/ 3672 h 6573"/>
                <a:gd name="T18" fmla="*/ 3438 w 3883"/>
                <a:gd name="T19" fmla="*/ 3853 h 6573"/>
                <a:gd name="T20" fmla="*/ 446 w 3883"/>
                <a:gd name="T21" fmla="*/ 3853 h 6573"/>
                <a:gd name="T22" fmla="*/ 808 w 3883"/>
                <a:gd name="T23" fmla="*/ 6573 h 6573"/>
                <a:gd name="T24" fmla="*/ 3075 w 3883"/>
                <a:gd name="T25" fmla="*/ 6573 h 6573"/>
                <a:gd name="T26" fmla="*/ 3438 w 3883"/>
                <a:gd name="T27" fmla="*/ 3853 h 6573"/>
                <a:gd name="T28" fmla="*/ 1957 w 3883"/>
                <a:gd name="T29" fmla="*/ 1223 h 6573"/>
                <a:gd name="T30" fmla="*/ 2569 w 3883"/>
                <a:gd name="T31" fmla="*/ 611 h 6573"/>
                <a:gd name="T32" fmla="*/ 1957 w 3883"/>
                <a:gd name="T33" fmla="*/ 0 h 6573"/>
                <a:gd name="T34" fmla="*/ 1346 w 3883"/>
                <a:gd name="T35" fmla="*/ 611 h 6573"/>
                <a:gd name="T36" fmla="*/ 1957 w 3883"/>
                <a:gd name="T37" fmla="*/ 1223 h 6573"/>
                <a:gd name="T38" fmla="*/ 3347 w 3883"/>
                <a:gd name="T39" fmla="*/ 2403 h 6573"/>
                <a:gd name="T40" fmla="*/ 3213 w 3883"/>
                <a:gd name="T41" fmla="*/ 1805 h 6573"/>
                <a:gd name="T42" fmla="*/ 2901 w 3883"/>
                <a:gd name="T43" fmla="*/ 1515 h 6573"/>
                <a:gd name="T44" fmla="*/ 2357 w 3883"/>
                <a:gd name="T45" fmla="*/ 1435 h 6573"/>
                <a:gd name="T46" fmla="*/ 2088 w 3883"/>
                <a:gd name="T47" fmla="*/ 2052 h 6573"/>
                <a:gd name="T48" fmla="*/ 2053 w 3883"/>
                <a:gd name="T49" fmla="*/ 1748 h 6573"/>
                <a:gd name="T50" fmla="*/ 2034 w 3883"/>
                <a:gd name="T51" fmla="*/ 1731 h 6573"/>
                <a:gd name="T52" fmla="*/ 1880 w 3883"/>
                <a:gd name="T53" fmla="*/ 1731 h 6573"/>
                <a:gd name="T54" fmla="*/ 1862 w 3883"/>
                <a:gd name="T55" fmla="*/ 1748 h 6573"/>
                <a:gd name="T56" fmla="*/ 1830 w 3883"/>
                <a:gd name="T57" fmla="*/ 2060 h 6573"/>
                <a:gd name="T58" fmla="*/ 1557 w 3883"/>
                <a:gd name="T59" fmla="*/ 1435 h 6573"/>
                <a:gd name="T60" fmla="*/ 1014 w 3883"/>
                <a:gd name="T61" fmla="*/ 1515 h 6573"/>
                <a:gd name="T62" fmla="*/ 701 w 3883"/>
                <a:gd name="T63" fmla="*/ 1805 h 6573"/>
                <a:gd name="T64" fmla="*/ 567 w 3883"/>
                <a:gd name="T65" fmla="*/ 2403 h 6573"/>
                <a:gd name="T66" fmla="*/ 3347 w 3883"/>
                <a:gd name="T67" fmla="*/ 2403 h 6573"/>
                <a:gd name="T68" fmla="*/ 1769 w 3883"/>
                <a:gd name="T69" fmla="*/ 1458 h 6573"/>
                <a:gd name="T70" fmla="*/ 1844 w 3883"/>
                <a:gd name="T71" fmla="*/ 1618 h 6573"/>
                <a:gd name="T72" fmla="*/ 1957 w 3883"/>
                <a:gd name="T73" fmla="*/ 1646 h 6573"/>
                <a:gd name="T74" fmla="*/ 2070 w 3883"/>
                <a:gd name="T75" fmla="*/ 1618 h 6573"/>
                <a:gd name="T76" fmla="*/ 2145 w 3883"/>
                <a:gd name="T77" fmla="*/ 1458 h 6573"/>
                <a:gd name="T78" fmla="*/ 1957 w 3883"/>
                <a:gd name="T79" fmla="*/ 1383 h 6573"/>
                <a:gd name="T80" fmla="*/ 1769 w 3883"/>
                <a:gd name="T81" fmla="*/ 1458 h 6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883" h="6573">
                  <a:moveTo>
                    <a:pt x="3466" y="3672"/>
                  </a:moveTo>
                  <a:lnTo>
                    <a:pt x="417" y="3672"/>
                  </a:lnTo>
                  <a:cubicBezTo>
                    <a:pt x="228" y="3672"/>
                    <a:pt x="71" y="3527"/>
                    <a:pt x="55" y="3339"/>
                  </a:cubicBezTo>
                  <a:lnTo>
                    <a:pt x="9" y="2780"/>
                  </a:lnTo>
                  <a:cubicBezTo>
                    <a:pt x="0" y="2675"/>
                    <a:pt x="83" y="2584"/>
                    <a:pt x="189" y="2584"/>
                  </a:cubicBezTo>
                  <a:lnTo>
                    <a:pt x="3694" y="2584"/>
                  </a:lnTo>
                  <a:cubicBezTo>
                    <a:pt x="3800" y="2584"/>
                    <a:pt x="3883" y="2675"/>
                    <a:pt x="3875" y="2780"/>
                  </a:cubicBezTo>
                  <a:lnTo>
                    <a:pt x="3828" y="3339"/>
                  </a:lnTo>
                  <a:cubicBezTo>
                    <a:pt x="3812" y="3527"/>
                    <a:pt x="3655" y="3672"/>
                    <a:pt x="3466" y="3672"/>
                  </a:cubicBezTo>
                  <a:close/>
                  <a:moveTo>
                    <a:pt x="3438" y="3853"/>
                  </a:moveTo>
                  <a:lnTo>
                    <a:pt x="446" y="3853"/>
                  </a:lnTo>
                  <a:lnTo>
                    <a:pt x="808" y="6573"/>
                  </a:lnTo>
                  <a:lnTo>
                    <a:pt x="3075" y="6573"/>
                  </a:lnTo>
                  <a:lnTo>
                    <a:pt x="3438" y="3853"/>
                  </a:lnTo>
                  <a:close/>
                  <a:moveTo>
                    <a:pt x="1957" y="1223"/>
                  </a:moveTo>
                  <a:cubicBezTo>
                    <a:pt x="2295" y="1223"/>
                    <a:pt x="2569" y="949"/>
                    <a:pt x="2569" y="611"/>
                  </a:cubicBezTo>
                  <a:cubicBezTo>
                    <a:pt x="2569" y="274"/>
                    <a:pt x="2295" y="0"/>
                    <a:pt x="1957" y="0"/>
                  </a:cubicBezTo>
                  <a:cubicBezTo>
                    <a:pt x="1619" y="0"/>
                    <a:pt x="1346" y="274"/>
                    <a:pt x="1346" y="611"/>
                  </a:cubicBezTo>
                  <a:cubicBezTo>
                    <a:pt x="1346" y="949"/>
                    <a:pt x="1619" y="1223"/>
                    <a:pt x="1957" y="1223"/>
                  </a:cubicBezTo>
                  <a:close/>
                  <a:moveTo>
                    <a:pt x="3347" y="2403"/>
                  </a:moveTo>
                  <a:lnTo>
                    <a:pt x="3213" y="1805"/>
                  </a:lnTo>
                  <a:cubicBezTo>
                    <a:pt x="3179" y="1653"/>
                    <a:pt x="3055" y="1537"/>
                    <a:pt x="2901" y="1515"/>
                  </a:cubicBezTo>
                  <a:lnTo>
                    <a:pt x="2357" y="1435"/>
                  </a:lnTo>
                  <a:lnTo>
                    <a:pt x="2088" y="2052"/>
                  </a:lnTo>
                  <a:lnTo>
                    <a:pt x="2053" y="1748"/>
                  </a:lnTo>
                  <a:cubicBezTo>
                    <a:pt x="2052" y="1738"/>
                    <a:pt x="2044" y="1731"/>
                    <a:pt x="2034" y="1731"/>
                  </a:cubicBezTo>
                  <a:lnTo>
                    <a:pt x="1880" y="1731"/>
                  </a:lnTo>
                  <a:cubicBezTo>
                    <a:pt x="1870" y="1731"/>
                    <a:pt x="1862" y="1738"/>
                    <a:pt x="1862" y="1748"/>
                  </a:cubicBezTo>
                  <a:lnTo>
                    <a:pt x="1830" y="2060"/>
                  </a:lnTo>
                  <a:lnTo>
                    <a:pt x="1557" y="1435"/>
                  </a:lnTo>
                  <a:lnTo>
                    <a:pt x="1014" y="1515"/>
                  </a:lnTo>
                  <a:cubicBezTo>
                    <a:pt x="859" y="1537"/>
                    <a:pt x="735" y="1653"/>
                    <a:pt x="701" y="1805"/>
                  </a:cubicBezTo>
                  <a:lnTo>
                    <a:pt x="567" y="2403"/>
                  </a:lnTo>
                  <a:lnTo>
                    <a:pt x="3347" y="2403"/>
                  </a:lnTo>
                  <a:close/>
                  <a:moveTo>
                    <a:pt x="1769" y="1458"/>
                  </a:moveTo>
                  <a:cubicBezTo>
                    <a:pt x="1769" y="1515"/>
                    <a:pt x="1816" y="1590"/>
                    <a:pt x="1844" y="1618"/>
                  </a:cubicBezTo>
                  <a:cubicBezTo>
                    <a:pt x="1872" y="1646"/>
                    <a:pt x="1919" y="1646"/>
                    <a:pt x="1957" y="1646"/>
                  </a:cubicBezTo>
                  <a:cubicBezTo>
                    <a:pt x="1995" y="1646"/>
                    <a:pt x="2042" y="1646"/>
                    <a:pt x="2070" y="1618"/>
                  </a:cubicBezTo>
                  <a:cubicBezTo>
                    <a:pt x="2098" y="1590"/>
                    <a:pt x="2145" y="1515"/>
                    <a:pt x="2145" y="1458"/>
                  </a:cubicBezTo>
                  <a:cubicBezTo>
                    <a:pt x="2145" y="1392"/>
                    <a:pt x="2030" y="1383"/>
                    <a:pt x="1957" y="1383"/>
                  </a:cubicBezTo>
                  <a:cubicBezTo>
                    <a:pt x="1884" y="1383"/>
                    <a:pt x="1769" y="1392"/>
                    <a:pt x="1769" y="145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2254134" y="3845549"/>
              <a:ext cx="79261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latin typeface="+mn-ea"/>
                </a:rPr>
                <a:t>主持人</a:t>
              </a: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892602" y="3098775"/>
            <a:ext cx="868372" cy="627791"/>
            <a:chOff x="910521" y="5817059"/>
            <a:chExt cx="729117" cy="591660"/>
          </a:xfrm>
        </p:grpSpPr>
        <p:sp>
          <p:nvSpPr>
            <p:cNvPr id="32" name="man-with-bow_56788"/>
            <p:cNvSpPr/>
            <p:nvPr/>
          </p:nvSpPr>
          <p:spPr>
            <a:xfrm>
              <a:off x="1083425" y="5817059"/>
              <a:ext cx="279562" cy="283309"/>
            </a:xfrm>
            <a:custGeom>
              <a:avLst/>
              <a:gdLst>
                <a:gd name="connsiteX0" fmla="*/ 188888 w 557678"/>
                <a:gd name="connsiteY0" fmla="*/ 367011 h 607780"/>
                <a:gd name="connsiteX1" fmla="*/ 199785 w 557678"/>
                <a:gd name="connsiteY1" fmla="*/ 373977 h 607780"/>
                <a:gd name="connsiteX2" fmla="*/ 278839 w 557678"/>
                <a:gd name="connsiteY2" fmla="*/ 490974 h 607780"/>
                <a:gd name="connsiteX3" fmla="*/ 357893 w 557678"/>
                <a:gd name="connsiteY3" fmla="*/ 373977 h 607780"/>
                <a:gd name="connsiteX4" fmla="*/ 368886 w 557678"/>
                <a:gd name="connsiteY4" fmla="*/ 367011 h 607780"/>
                <a:gd name="connsiteX5" fmla="*/ 374908 w 557678"/>
                <a:gd name="connsiteY5" fmla="*/ 368729 h 607780"/>
                <a:gd name="connsiteX6" fmla="*/ 557678 w 557678"/>
                <a:gd name="connsiteY6" fmla="*/ 480572 h 607780"/>
                <a:gd name="connsiteX7" fmla="*/ 557678 w 557678"/>
                <a:gd name="connsiteY7" fmla="*/ 607780 h 607780"/>
                <a:gd name="connsiteX8" fmla="*/ 278839 w 557678"/>
                <a:gd name="connsiteY8" fmla="*/ 607780 h 607780"/>
                <a:gd name="connsiteX9" fmla="*/ 0 w 557678"/>
                <a:gd name="connsiteY9" fmla="*/ 607780 h 607780"/>
                <a:gd name="connsiteX10" fmla="*/ 0 w 557678"/>
                <a:gd name="connsiteY10" fmla="*/ 480572 h 607780"/>
                <a:gd name="connsiteX11" fmla="*/ 182770 w 557678"/>
                <a:gd name="connsiteY11" fmla="*/ 368729 h 607780"/>
                <a:gd name="connsiteX12" fmla="*/ 188888 w 557678"/>
                <a:gd name="connsiteY12" fmla="*/ 367011 h 607780"/>
                <a:gd name="connsiteX13" fmla="*/ 233347 w 557678"/>
                <a:gd name="connsiteY13" fmla="*/ 332928 h 607780"/>
                <a:gd name="connsiteX14" fmla="*/ 235832 w 557678"/>
                <a:gd name="connsiteY14" fmla="*/ 333119 h 607780"/>
                <a:gd name="connsiteX15" fmla="*/ 236501 w 557678"/>
                <a:gd name="connsiteY15" fmla="*/ 333214 h 607780"/>
                <a:gd name="connsiteX16" fmla="*/ 236692 w 557678"/>
                <a:gd name="connsiteY16" fmla="*/ 333214 h 607780"/>
                <a:gd name="connsiteX17" fmla="*/ 237934 w 557678"/>
                <a:gd name="connsiteY17" fmla="*/ 333596 h 607780"/>
                <a:gd name="connsiteX18" fmla="*/ 238508 w 557678"/>
                <a:gd name="connsiteY18" fmla="*/ 333787 h 607780"/>
                <a:gd name="connsiteX19" fmla="*/ 239177 w 557678"/>
                <a:gd name="connsiteY19" fmla="*/ 333977 h 607780"/>
                <a:gd name="connsiteX20" fmla="*/ 243478 w 557678"/>
                <a:gd name="connsiteY20" fmla="*/ 336553 h 607780"/>
                <a:gd name="connsiteX21" fmla="*/ 264981 w 557678"/>
                <a:gd name="connsiteY21" fmla="*/ 353724 h 607780"/>
                <a:gd name="connsiteX22" fmla="*/ 267657 w 557678"/>
                <a:gd name="connsiteY22" fmla="*/ 353820 h 607780"/>
                <a:gd name="connsiteX23" fmla="*/ 278839 w 557678"/>
                <a:gd name="connsiteY23" fmla="*/ 353724 h 607780"/>
                <a:gd name="connsiteX24" fmla="*/ 290021 w 557678"/>
                <a:gd name="connsiteY24" fmla="*/ 353820 h 607780"/>
                <a:gd name="connsiteX25" fmla="*/ 292792 w 557678"/>
                <a:gd name="connsiteY25" fmla="*/ 353724 h 607780"/>
                <a:gd name="connsiteX26" fmla="*/ 314200 w 557678"/>
                <a:gd name="connsiteY26" fmla="*/ 336553 h 607780"/>
                <a:gd name="connsiteX27" fmla="*/ 318596 w 557678"/>
                <a:gd name="connsiteY27" fmla="*/ 333977 h 607780"/>
                <a:gd name="connsiteX28" fmla="*/ 319265 w 557678"/>
                <a:gd name="connsiteY28" fmla="*/ 333787 h 607780"/>
                <a:gd name="connsiteX29" fmla="*/ 319743 w 557678"/>
                <a:gd name="connsiteY29" fmla="*/ 333596 h 607780"/>
                <a:gd name="connsiteX30" fmla="*/ 321081 w 557678"/>
                <a:gd name="connsiteY30" fmla="*/ 333214 h 607780"/>
                <a:gd name="connsiteX31" fmla="*/ 321272 w 557678"/>
                <a:gd name="connsiteY31" fmla="*/ 333214 h 607780"/>
                <a:gd name="connsiteX32" fmla="*/ 321846 w 557678"/>
                <a:gd name="connsiteY32" fmla="*/ 333119 h 607780"/>
                <a:gd name="connsiteX33" fmla="*/ 324426 w 557678"/>
                <a:gd name="connsiteY33" fmla="*/ 332928 h 607780"/>
                <a:gd name="connsiteX34" fmla="*/ 340195 w 557678"/>
                <a:gd name="connsiteY34" fmla="*/ 347905 h 607780"/>
                <a:gd name="connsiteX35" fmla="*/ 340195 w 557678"/>
                <a:gd name="connsiteY35" fmla="*/ 380912 h 607780"/>
                <a:gd name="connsiteX36" fmla="*/ 324426 w 557678"/>
                <a:gd name="connsiteY36" fmla="*/ 396366 h 607780"/>
                <a:gd name="connsiteX37" fmla="*/ 314869 w 557678"/>
                <a:gd name="connsiteY37" fmla="*/ 393123 h 607780"/>
                <a:gd name="connsiteX38" fmla="*/ 294417 w 557678"/>
                <a:gd name="connsiteY38" fmla="*/ 374807 h 607780"/>
                <a:gd name="connsiteX39" fmla="*/ 278839 w 557678"/>
                <a:gd name="connsiteY39" fmla="*/ 374902 h 607780"/>
                <a:gd name="connsiteX40" fmla="*/ 263261 w 557678"/>
                <a:gd name="connsiteY40" fmla="*/ 374807 h 607780"/>
                <a:gd name="connsiteX41" fmla="*/ 242809 w 557678"/>
                <a:gd name="connsiteY41" fmla="*/ 393123 h 607780"/>
                <a:gd name="connsiteX42" fmla="*/ 233347 w 557678"/>
                <a:gd name="connsiteY42" fmla="*/ 396366 h 607780"/>
                <a:gd name="connsiteX43" fmla="*/ 217482 w 557678"/>
                <a:gd name="connsiteY43" fmla="*/ 380912 h 607780"/>
                <a:gd name="connsiteX44" fmla="*/ 217482 w 557678"/>
                <a:gd name="connsiteY44" fmla="*/ 347905 h 607780"/>
                <a:gd name="connsiteX45" fmla="*/ 233347 w 557678"/>
                <a:gd name="connsiteY45" fmla="*/ 332928 h 607780"/>
                <a:gd name="connsiteX46" fmla="*/ 277214 w 557678"/>
                <a:gd name="connsiteY46" fmla="*/ 0 h 607780"/>
                <a:gd name="connsiteX47" fmla="*/ 278552 w 557678"/>
                <a:gd name="connsiteY47" fmla="*/ 0 h 607780"/>
                <a:gd name="connsiteX48" fmla="*/ 278744 w 557678"/>
                <a:gd name="connsiteY48" fmla="*/ 0 h 607780"/>
                <a:gd name="connsiteX49" fmla="*/ 278839 w 557678"/>
                <a:gd name="connsiteY49" fmla="*/ 0 h 607780"/>
                <a:gd name="connsiteX50" fmla="*/ 278935 w 557678"/>
                <a:gd name="connsiteY50" fmla="*/ 0 h 607780"/>
                <a:gd name="connsiteX51" fmla="*/ 279222 w 557678"/>
                <a:gd name="connsiteY51" fmla="*/ 0 h 607780"/>
                <a:gd name="connsiteX52" fmla="*/ 280560 w 557678"/>
                <a:gd name="connsiteY52" fmla="*/ 0 h 607780"/>
                <a:gd name="connsiteX53" fmla="*/ 404758 w 557678"/>
                <a:gd name="connsiteY53" fmla="*/ 105659 h 607780"/>
                <a:gd name="connsiteX54" fmla="*/ 396727 w 557678"/>
                <a:gd name="connsiteY54" fmla="*/ 160159 h 607780"/>
                <a:gd name="connsiteX55" fmla="*/ 408009 w 557678"/>
                <a:gd name="connsiteY55" fmla="*/ 186120 h 607780"/>
                <a:gd name="connsiteX56" fmla="*/ 379039 w 557678"/>
                <a:gd name="connsiteY56" fmla="*/ 238616 h 607780"/>
                <a:gd name="connsiteX57" fmla="*/ 317179 w 557678"/>
                <a:gd name="connsiteY57" fmla="*/ 313541 h 607780"/>
                <a:gd name="connsiteX58" fmla="*/ 278935 w 557678"/>
                <a:gd name="connsiteY58" fmla="*/ 322131 h 607780"/>
                <a:gd name="connsiteX59" fmla="*/ 278839 w 557678"/>
                <a:gd name="connsiteY59" fmla="*/ 322131 h 607780"/>
                <a:gd name="connsiteX60" fmla="*/ 278744 w 557678"/>
                <a:gd name="connsiteY60" fmla="*/ 322131 h 607780"/>
                <a:gd name="connsiteX61" fmla="*/ 240499 w 557678"/>
                <a:gd name="connsiteY61" fmla="*/ 313541 h 607780"/>
                <a:gd name="connsiteX62" fmla="*/ 178734 w 557678"/>
                <a:gd name="connsiteY62" fmla="*/ 238616 h 607780"/>
                <a:gd name="connsiteX63" fmla="*/ 149669 w 557678"/>
                <a:gd name="connsiteY63" fmla="*/ 186120 h 607780"/>
                <a:gd name="connsiteX64" fmla="*/ 161046 w 557678"/>
                <a:gd name="connsiteY64" fmla="*/ 160159 h 607780"/>
                <a:gd name="connsiteX65" fmla="*/ 153015 w 557678"/>
                <a:gd name="connsiteY65" fmla="*/ 105659 h 607780"/>
                <a:gd name="connsiteX66" fmla="*/ 277214 w 557678"/>
                <a:gd name="connsiteY66" fmla="*/ 0 h 607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557678" h="607780">
                  <a:moveTo>
                    <a:pt x="188888" y="367011"/>
                  </a:moveTo>
                  <a:cubicBezTo>
                    <a:pt x="193667" y="367011"/>
                    <a:pt x="197873" y="369874"/>
                    <a:pt x="199785" y="373977"/>
                  </a:cubicBezTo>
                  <a:cubicBezTo>
                    <a:pt x="218808" y="405851"/>
                    <a:pt x="254177" y="489256"/>
                    <a:pt x="278839" y="490974"/>
                  </a:cubicBezTo>
                  <a:cubicBezTo>
                    <a:pt x="303502" y="489256"/>
                    <a:pt x="338870" y="405851"/>
                    <a:pt x="357893" y="373977"/>
                  </a:cubicBezTo>
                  <a:cubicBezTo>
                    <a:pt x="359900" y="369874"/>
                    <a:pt x="364011" y="367011"/>
                    <a:pt x="368886" y="367011"/>
                  </a:cubicBezTo>
                  <a:cubicBezTo>
                    <a:pt x="371085" y="367011"/>
                    <a:pt x="372996" y="367870"/>
                    <a:pt x="374908" y="368729"/>
                  </a:cubicBezTo>
                  <a:cubicBezTo>
                    <a:pt x="382269" y="371878"/>
                    <a:pt x="557678" y="427132"/>
                    <a:pt x="557678" y="480572"/>
                  </a:cubicBezTo>
                  <a:lnTo>
                    <a:pt x="557678" y="607780"/>
                  </a:lnTo>
                  <a:lnTo>
                    <a:pt x="278839" y="607780"/>
                  </a:lnTo>
                  <a:lnTo>
                    <a:pt x="0" y="607780"/>
                  </a:lnTo>
                  <a:lnTo>
                    <a:pt x="0" y="480572"/>
                  </a:lnTo>
                  <a:cubicBezTo>
                    <a:pt x="0" y="421120"/>
                    <a:pt x="175314" y="371687"/>
                    <a:pt x="182770" y="368729"/>
                  </a:cubicBezTo>
                  <a:cubicBezTo>
                    <a:pt x="184682" y="367870"/>
                    <a:pt x="186593" y="367011"/>
                    <a:pt x="188888" y="367011"/>
                  </a:cubicBezTo>
                  <a:close/>
                  <a:moveTo>
                    <a:pt x="233347" y="332928"/>
                  </a:moveTo>
                  <a:cubicBezTo>
                    <a:pt x="234207" y="332928"/>
                    <a:pt x="235067" y="332928"/>
                    <a:pt x="235832" y="333119"/>
                  </a:cubicBezTo>
                  <a:cubicBezTo>
                    <a:pt x="236023" y="333119"/>
                    <a:pt x="236310" y="333119"/>
                    <a:pt x="236501" y="333214"/>
                  </a:cubicBezTo>
                  <a:cubicBezTo>
                    <a:pt x="236501" y="333214"/>
                    <a:pt x="236596" y="333214"/>
                    <a:pt x="236692" y="333214"/>
                  </a:cubicBezTo>
                  <a:cubicBezTo>
                    <a:pt x="237074" y="333310"/>
                    <a:pt x="237552" y="333405"/>
                    <a:pt x="237934" y="333596"/>
                  </a:cubicBezTo>
                  <a:cubicBezTo>
                    <a:pt x="238126" y="333596"/>
                    <a:pt x="238317" y="333691"/>
                    <a:pt x="238508" y="333787"/>
                  </a:cubicBezTo>
                  <a:cubicBezTo>
                    <a:pt x="238699" y="333787"/>
                    <a:pt x="238890" y="333882"/>
                    <a:pt x="239177" y="333977"/>
                  </a:cubicBezTo>
                  <a:cubicBezTo>
                    <a:pt x="240706" y="334645"/>
                    <a:pt x="242140" y="335504"/>
                    <a:pt x="243478" y="336553"/>
                  </a:cubicBezTo>
                  <a:cubicBezTo>
                    <a:pt x="250836" y="342372"/>
                    <a:pt x="255615" y="353056"/>
                    <a:pt x="264981" y="353724"/>
                  </a:cubicBezTo>
                  <a:cubicBezTo>
                    <a:pt x="265841" y="353820"/>
                    <a:pt x="266797" y="353820"/>
                    <a:pt x="267657" y="353820"/>
                  </a:cubicBezTo>
                  <a:cubicBezTo>
                    <a:pt x="268517" y="353820"/>
                    <a:pt x="274060" y="353724"/>
                    <a:pt x="278839" y="353724"/>
                  </a:cubicBezTo>
                  <a:cubicBezTo>
                    <a:pt x="283617" y="353724"/>
                    <a:pt x="289256" y="353820"/>
                    <a:pt x="290021" y="353820"/>
                  </a:cubicBezTo>
                  <a:cubicBezTo>
                    <a:pt x="290976" y="353820"/>
                    <a:pt x="291836" y="353820"/>
                    <a:pt x="292792" y="353724"/>
                  </a:cubicBezTo>
                  <a:cubicBezTo>
                    <a:pt x="302158" y="353056"/>
                    <a:pt x="306841" y="342372"/>
                    <a:pt x="314200" y="336553"/>
                  </a:cubicBezTo>
                  <a:cubicBezTo>
                    <a:pt x="315538" y="335504"/>
                    <a:pt x="316972" y="334645"/>
                    <a:pt x="318596" y="333977"/>
                  </a:cubicBezTo>
                  <a:cubicBezTo>
                    <a:pt x="318787" y="333882"/>
                    <a:pt x="318979" y="333787"/>
                    <a:pt x="319265" y="333787"/>
                  </a:cubicBezTo>
                  <a:cubicBezTo>
                    <a:pt x="319456" y="333691"/>
                    <a:pt x="319648" y="333596"/>
                    <a:pt x="319743" y="333596"/>
                  </a:cubicBezTo>
                  <a:cubicBezTo>
                    <a:pt x="320221" y="333405"/>
                    <a:pt x="320603" y="333310"/>
                    <a:pt x="321081" y="333214"/>
                  </a:cubicBezTo>
                  <a:cubicBezTo>
                    <a:pt x="321081" y="333214"/>
                    <a:pt x="321177" y="333214"/>
                    <a:pt x="321272" y="333214"/>
                  </a:cubicBezTo>
                  <a:cubicBezTo>
                    <a:pt x="321463" y="333119"/>
                    <a:pt x="321654" y="333119"/>
                    <a:pt x="321846" y="333119"/>
                  </a:cubicBezTo>
                  <a:cubicBezTo>
                    <a:pt x="322706" y="332928"/>
                    <a:pt x="323566" y="332928"/>
                    <a:pt x="324426" y="332928"/>
                  </a:cubicBezTo>
                  <a:cubicBezTo>
                    <a:pt x="332836" y="332928"/>
                    <a:pt x="339813" y="339510"/>
                    <a:pt x="340195" y="347905"/>
                  </a:cubicBezTo>
                  <a:lnTo>
                    <a:pt x="340195" y="380912"/>
                  </a:lnTo>
                  <a:cubicBezTo>
                    <a:pt x="340004" y="389498"/>
                    <a:pt x="333027" y="396366"/>
                    <a:pt x="324426" y="396366"/>
                  </a:cubicBezTo>
                  <a:cubicBezTo>
                    <a:pt x="320794" y="396366"/>
                    <a:pt x="317545" y="395126"/>
                    <a:pt x="314869" y="393123"/>
                  </a:cubicBezTo>
                  <a:cubicBezTo>
                    <a:pt x="305885" y="387208"/>
                    <a:pt x="299864" y="374997"/>
                    <a:pt x="294417" y="374807"/>
                  </a:cubicBezTo>
                  <a:lnTo>
                    <a:pt x="278839" y="374902"/>
                  </a:lnTo>
                  <a:lnTo>
                    <a:pt x="263261" y="374807"/>
                  </a:lnTo>
                  <a:cubicBezTo>
                    <a:pt x="257813" y="374997"/>
                    <a:pt x="251792" y="387208"/>
                    <a:pt x="242809" y="393123"/>
                  </a:cubicBezTo>
                  <a:cubicBezTo>
                    <a:pt x="240228" y="395126"/>
                    <a:pt x="236883" y="396366"/>
                    <a:pt x="233347" y="396366"/>
                  </a:cubicBezTo>
                  <a:cubicBezTo>
                    <a:pt x="224746" y="396366"/>
                    <a:pt x="217769" y="389498"/>
                    <a:pt x="217482" y="380912"/>
                  </a:cubicBezTo>
                  <a:lnTo>
                    <a:pt x="217482" y="347905"/>
                  </a:lnTo>
                  <a:cubicBezTo>
                    <a:pt x="217960" y="339510"/>
                    <a:pt x="224841" y="332928"/>
                    <a:pt x="233347" y="332928"/>
                  </a:cubicBezTo>
                  <a:close/>
                  <a:moveTo>
                    <a:pt x="277214" y="0"/>
                  </a:moveTo>
                  <a:cubicBezTo>
                    <a:pt x="277596" y="0"/>
                    <a:pt x="278074" y="0"/>
                    <a:pt x="278552" y="0"/>
                  </a:cubicBezTo>
                  <a:cubicBezTo>
                    <a:pt x="278648" y="0"/>
                    <a:pt x="278648" y="0"/>
                    <a:pt x="278744" y="0"/>
                  </a:cubicBezTo>
                  <a:cubicBezTo>
                    <a:pt x="278744" y="0"/>
                    <a:pt x="278839" y="0"/>
                    <a:pt x="278839" y="0"/>
                  </a:cubicBezTo>
                  <a:cubicBezTo>
                    <a:pt x="278935" y="0"/>
                    <a:pt x="278935" y="0"/>
                    <a:pt x="278935" y="0"/>
                  </a:cubicBezTo>
                  <a:cubicBezTo>
                    <a:pt x="279030" y="0"/>
                    <a:pt x="279126" y="0"/>
                    <a:pt x="279222" y="0"/>
                  </a:cubicBezTo>
                  <a:cubicBezTo>
                    <a:pt x="279604" y="0"/>
                    <a:pt x="280082" y="0"/>
                    <a:pt x="280560" y="0"/>
                  </a:cubicBezTo>
                  <a:cubicBezTo>
                    <a:pt x="387453" y="0"/>
                    <a:pt x="407531" y="76166"/>
                    <a:pt x="404758" y="105659"/>
                  </a:cubicBezTo>
                  <a:cubicBezTo>
                    <a:pt x="402464" y="129330"/>
                    <a:pt x="396727" y="160159"/>
                    <a:pt x="396727" y="160159"/>
                  </a:cubicBezTo>
                  <a:cubicBezTo>
                    <a:pt x="396727" y="160159"/>
                    <a:pt x="408009" y="165313"/>
                    <a:pt x="408009" y="186120"/>
                  </a:cubicBezTo>
                  <a:cubicBezTo>
                    <a:pt x="404089" y="238234"/>
                    <a:pt x="383246" y="215708"/>
                    <a:pt x="379039" y="238616"/>
                  </a:cubicBezTo>
                  <a:cubicBezTo>
                    <a:pt x="371868" y="276603"/>
                    <a:pt x="338213" y="304092"/>
                    <a:pt x="317179" y="313541"/>
                  </a:cubicBezTo>
                  <a:cubicBezTo>
                    <a:pt x="304941" y="319077"/>
                    <a:pt x="292225" y="321845"/>
                    <a:pt x="278935" y="322131"/>
                  </a:cubicBezTo>
                  <a:cubicBezTo>
                    <a:pt x="278935" y="322131"/>
                    <a:pt x="278935" y="322131"/>
                    <a:pt x="278839" y="322131"/>
                  </a:cubicBezTo>
                  <a:cubicBezTo>
                    <a:pt x="278839" y="322131"/>
                    <a:pt x="278744" y="322131"/>
                    <a:pt x="278744" y="322131"/>
                  </a:cubicBezTo>
                  <a:cubicBezTo>
                    <a:pt x="265454" y="321845"/>
                    <a:pt x="252738" y="319077"/>
                    <a:pt x="240499" y="313541"/>
                  </a:cubicBezTo>
                  <a:cubicBezTo>
                    <a:pt x="219561" y="304092"/>
                    <a:pt x="185810" y="276603"/>
                    <a:pt x="178734" y="238616"/>
                  </a:cubicBezTo>
                  <a:cubicBezTo>
                    <a:pt x="174432" y="215708"/>
                    <a:pt x="153684" y="238234"/>
                    <a:pt x="149669" y="186120"/>
                  </a:cubicBezTo>
                  <a:cubicBezTo>
                    <a:pt x="149669" y="165313"/>
                    <a:pt x="161046" y="160159"/>
                    <a:pt x="161046" y="160159"/>
                  </a:cubicBezTo>
                  <a:cubicBezTo>
                    <a:pt x="161046" y="160159"/>
                    <a:pt x="155214" y="129330"/>
                    <a:pt x="153015" y="105659"/>
                  </a:cubicBezTo>
                  <a:cubicBezTo>
                    <a:pt x="150147" y="76166"/>
                    <a:pt x="170225" y="0"/>
                    <a:pt x="2772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910521" y="6089650"/>
              <a:ext cx="729117" cy="31906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800" dirty="0">
                  <a:latin typeface="+mn-ea"/>
                </a:rPr>
                <a:t>外贸业务员</a:t>
              </a:r>
              <a:endParaRPr lang="en-US" altLang="zh-CN" sz="800" dirty="0">
                <a:latin typeface="+mn-ea"/>
              </a:endParaRPr>
            </a:p>
            <a:p>
              <a:pPr algn="ctr"/>
              <a:r>
                <a:rPr lang="zh-CN" altLang="en-US" sz="800" dirty="0">
                  <a:latin typeface="+mn-ea"/>
                </a:rPr>
                <a:t>尤先生（快车）</a:t>
              </a: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861807" y="1866102"/>
            <a:ext cx="1041934" cy="590167"/>
            <a:chOff x="1451715" y="6221194"/>
            <a:chExt cx="874846" cy="587534"/>
          </a:xfrm>
        </p:grpSpPr>
        <p:sp>
          <p:nvSpPr>
            <p:cNvPr id="30" name="man-with-bow_56788"/>
            <p:cNvSpPr/>
            <p:nvPr/>
          </p:nvSpPr>
          <p:spPr>
            <a:xfrm>
              <a:off x="1731383" y="6221194"/>
              <a:ext cx="279562" cy="283309"/>
            </a:xfrm>
            <a:custGeom>
              <a:avLst/>
              <a:gdLst>
                <a:gd name="connsiteX0" fmla="*/ 188888 w 557678"/>
                <a:gd name="connsiteY0" fmla="*/ 367011 h 607780"/>
                <a:gd name="connsiteX1" fmla="*/ 199785 w 557678"/>
                <a:gd name="connsiteY1" fmla="*/ 373977 h 607780"/>
                <a:gd name="connsiteX2" fmla="*/ 278839 w 557678"/>
                <a:gd name="connsiteY2" fmla="*/ 490974 h 607780"/>
                <a:gd name="connsiteX3" fmla="*/ 357893 w 557678"/>
                <a:gd name="connsiteY3" fmla="*/ 373977 h 607780"/>
                <a:gd name="connsiteX4" fmla="*/ 368886 w 557678"/>
                <a:gd name="connsiteY4" fmla="*/ 367011 h 607780"/>
                <a:gd name="connsiteX5" fmla="*/ 374908 w 557678"/>
                <a:gd name="connsiteY5" fmla="*/ 368729 h 607780"/>
                <a:gd name="connsiteX6" fmla="*/ 557678 w 557678"/>
                <a:gd name="connsiteY6" fmla="*/ 480572 h 607780"/>
                <a:gd name="connsiteX7" fmla="*/ 557678 w 557678"/>
                <a:gd name="connsiteY7" fmla="*/ 607780 h 607780"/>
                <a:gd name="connsiteX8" fmla="*/ 278839 w 557678"/>
                <a:gd name="connsiteY8" fmla="*/ 607780 h 607780"/>
                <a:gd name="connsiteX9" fmla="*/ 0 w 557678"/>
                <a:gd name="connsiteY9" fmla="*/ 607780 h 607780"/>
                <a:gd name="connsiteX10" fmla="*/ 0 w 557678"/>
                <a:gd name="connsiteY10" fmla="*/ 480572 h 607780"/>
                <a:gd name="connsiteX11" fmla="*/ 182770 w 557678"/>
                <a:gd name="connsiteY11" fmla="*/ 368729 h 607780"/>
                <a:gd name="connsiteX12" fmla="*/ 188888 w 557678"/>
                <a:gd name="connsiteY12" fmla="*/ 367011 h 607780"/>
                <a:gd name="connsiteX13" fmla="*/ 233347 w 557678"/>
                <a:gd name="connsiteY13" fmla="*/ 332928 h 607780"/>
                <a:gd name="connsiteX14" fmla="*/ 235832 w 557678"/>
                <a:gd name="connsiteY14" fmla="*/ 333119 h 607780"/>
                <a:gd name="connsiteX15" fmla="*/ 236501 w 557678"/>
                <a:gd name="connsiteY15" fmla="*/ 333214 h 607780"/>
                <a:gd name="connsiteX16" fmla="*/ 236692 w 557678"/>
                <a:gd name="connsiteY16" fmla="*/ 333214 h 607780"/>
                <a:gd name="connsiteX17" fmla="*/ 237934 w 557678"/>
                <a:gd name="connsiteY17" fmla="*/ 333596 h 607780"/>
                <a:gd name="connsiteX18" fmla="*/ 238508 w 557678"/>
                <a:gd name="connsiteY18" fmla="*/ 333787 h 607780"/>
                <a:gd name="connsiteX19" fmla="*/ 239177 w 557678"/>
                <a:gd name="connsiteY19" fmla="*/ 333977 h 607780"/>
                <a:gd name="connsiteX20" fmla="*/ 243478 w 557678"/>
                <a:gd name="connsiteY20" fmla="*/ 336553 h 607780"/>
                <a:gd name="connsiteX21" fmla="*/ 264981 w 557678"/>
                <a:gd name="connsiteY21" fmla="*/ 353724 h 607780"/>
                <a:gd name="connsiteX22" fmla="*/ 267657 w 557678"/>
                <a:gd name="connsiteY22" fmla="*/ 353820 h 607780"/>
                <a:gd name="connsiteX23" fmla="*/ 278839 w 557678"/>
                <a:gd name="connsiteY23" fmla="*/ 353724 h 607780"/>
                <a:gd name="connsiteX24" fmla="*/ 290021 w 557678"/>
                <a:gd name="connsiteY24" fmla="*/ 353820 h 607780"/>
                <a:gd name="connsiteX25" fmla="*/ 292792 w 557678"/>
                <a:gd name="connsiteY25" fmla="*/ 353724 h 607780"/>
                <a:gd name="connsiteX26" fmla="*/ 314200 w 557678"/>
                <a:gd name="connsiteY26" fmla="*/ 336553 h 607780"/>
                <a:gd name="connsiteX27" fmla="*/ 318596 w 557678"/>
                <a:gd name="connsiteY27" fmla="*/ 333977 h 607780"/>
                <a:gd name="connsiteX28" fmla="*/ 319265 w 557678"/>
                <a:gd name="connsiteY28" fmla="*/ 333787 h 607780"/>
                <a:gd name="connsiteX29" fmla="*/ 319743 w 557678"/>
                <a:gd name="connsiteY29" fmla="*/ 333596 h 607780"/>
                <a:gd name="connsiteX30" fmla="*/ 321081 w 557678"/>
                <a:gd name="connsiteY30" fmla="*/ 333214 h 607780"/>
                <a:gd name="connsiteX31" fmla="*/ 321272 w 557678"/>
                <a:gd name="connsiteY31" fmla="*/ 333214 h 607780"/>
                <a:gd name="connsiteX32" fmla="*/ 321846 w 557678"/>
                <a:gd name="connsiteY32" fmla="*/ 333119 h 607780"/>
                <a:gd name="connsiteX33" fmla="*/ 324426 w 557678"/>
                <a:gd name="connsiteY33" fmla="*/ 332928 h 607780"/>
                <a:gd name="connsiteX34" fmla="*/ 340195 w 557678"/>
                <a:gd name="connsiteY34" fmla="*/ 347905 h 607780"/>
                <a:gd name="connsiteX35" fmla="*/ 340195 w 557678"/>
                <a:gd name="connsiteY35" fmla="*/ 380912 h 607780"/>
                <a:gd name="connsiteX36" fmla="*/ 324426 w 557678"/>
                <a:gd name="connsiteY36" fmla="*/ 396366 h 607780"/>
                <a:gd name="connsiteX37" fmla="*/ 314869 w 557678"/>
                <a:gd name="connsiteY37" fmla="*/ 393123 h 607780"/>
                <a:gd name="connsiteX38" fmla="*/ 294417 w 557678"/>
                <a:gd name="connsiteY38" fmla="*/ 374807 h 607780"/>
                <a:gd name="connsiteX39" fmla="*/ 278839 w 557678"/>
                <a:gd name="connsiteY39" fmla="*/ 374902 h 607780"/>
                <a:gd name="connsiteX40" fmla="*/ 263261 w 557678"/>
                <a:gd name="connsiteY40" fmla="*/ 374807 h 607780"/>
                <a:gd name="connsiteX41" fmla="*/ 242809 w 557678"/>
                <a:gd name="connsiteY41" fmla="*/ 393123 h 607780"/>
                <a:gd name="connsiteX42" fmla="*/ 233347 w 557678"/>
                <a:gd name="connsiteY42" fmla="*/ 396366 h 607780"/>
                <a:gd name="connsiteX43" fmla="*/ 217482 w 557678"/>
                <a:gd name="connsiteY43" fmla="*/ 380912 h 607780"/>
                <a:gd name="connsiteX44" fmla="*/ 217482 w 557678"/>
                <a:gd name="connsiteY44" fmla="*/ 347905 h 607780"/>
                <a:gd name="connsiteX45" fmla="*/ 233347 w 557678"/>
                <a:gd name="connsiteY45" fmla="*/ 332928 h 607780"/>
                <a:gd name="connsiteX46" fmla="*/ 277214 w 557678"/>
                <a:gd name="connsiteY46" fmla="*/ 0 h 607780"/>
                <a:gd name="connsiteX47" fmla="*/ 278552 w 557678"/>
                <a:gd name="connsiteY47" fmla="*/ 0 h 607780"/>
                <a:gd name="connsiteX48" fmla="*/ 278744 w 557678"/>
                <a:gd name="connsiteY48" fmla="*/ 0 h 607780"/>
                <a:gd name="connsiteX49" fmla="*/ 278839 w 557678"/>
                <a:gd name="connsiteY49" fmla="*/ 0 h 607780"/>
                <a:gd name="connsiteX50" fmla="*/ 278935 w 557678"/>
                <a:gd name="connsiteY50" fmla="*/ 0 h 607780"/>
                <a:gd name="connsiteX51" fmla="*/ 279222 w 557678"/>
                <a:gd name="connsiteY51" fmla="*/ 0 h 607780"/>
                <a:gd name="connsiteX52" fmla="*/ 280560 w 557678"/>
                <a:gd name="connsiteY52" fmla="*/ 0 h 607780"/>
                <a:gd name="connsiteX53" fmla="*/ 404758 w 557678"/>
                <a:gd name="connsiteY53" fmla="*/ 105659 h 607780"/>
                <a:gd name="connsiteX54" fmla="*/ 396727 w 557678"/>
                <a:gd name="connsiteY54" fmla="*/ 160159 h 607780"/>
                <a:gd name="connsiteX55" fmla="*/ 408009 w 557678"/>
                <a:gd name="connsiteY55" fmla="*/ 186120 h 607780"/>
                <a:gd name="connsiteX56" fmla="*/ 379039 w 557678"/>
                <a:gd name="connsiteY56" fmla="*/ 238616 h 607780"/>
                <a:gd name="connsiteX57" fmla="*/ 317179 w 557678"/>
                <a:gd name="connsiteY57" fmla="*/ 313541 h 607780"/>
                <a:gd name="connsiteX58" fmla="*/ 278935 w 557678"/>
                <a:gd name="connsiteY58" fmla="*/ 322131 h 607780"/>
                <a:gd name="connsiteX59" fmla="*/ 278839 w 557678"/>
                <a:gd name="connsiteY59" fmla="*/ 322131 h 607780"/>
                <a:gd name="connsiteX60" fmla="*/ 278744 w 557678"/>
                <a:gd name="connsiteY60" fmla="*/ 322131 h 607780"/>
                <a:gd name="connsiteX61" fmla="*/ 240499 w 557678"/>
                <a:gd name="connsiteY61" fmla="*/ 313541 h 607780"/>
                <a:gd name="connsiteX62" fmla="*/ 178734 w 557678"/>
                <a:gd name="connsiteY62" fmla="*/ 238616 h 607780"/>
                <a:gd name="connsiteX63" fmla="*/ 149669 w 557678"/>
                <a:gd name="connsiteY63" fmla="*/ 186120 h 607780"/>
                <a:gd name="connsiteX64" fmla="*/ 161046 w 557678"/>
                <a:gd name="connsiteY64" fmla="*/ 160159 h 607780"/>
                <a:gd name="connsiteX65" fmla="*/ 153015 w 557678"/>
                <a:gd name="connsiteY65" fmla="*/ 105659 h 607780"/>
                <a:gd name="connsiteX66" fmla="*/ 277214 w 557678"/>
                <a:gd name="connsiteY66" fmla="*/ 0 h 607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557678" h="607780">
                  <a:moveTo>
                    <a:pt x="188888" y="367011"/>
                  </a:moveTo>
                  <a:cubicBezTo>
                    <a:pt x="193667" y="367011"/>
                    <a:pt x="197873" y="369874"/>
                    <a:pt x="199785" y="373977"/>
                  </a:cubicBezTo>
                  <a:cubicBezTo>
                    <a:pt x="218808" y="405851"/>
                    <a:pt x="254177" y="489256"/>
                    <a:pt x="278839" y="490974"/>
                  </a:cubicBezTo>
                  <a:cubicBezTo>
                    <a:pt x="303502" y="489256"/>
                    <a:pt x="338870" y="405851"/>
                    <a:pt x="357893" y="373977"/>
                  </a:cubicBezTo>
                  <a:cubicBezTo>
                    <a:pt x="359900" y="369874"/>
                    <a:pt x="364011" y="367011"/>
                    <a:pt x="368886" y="367011"/>
                  </a:cubicBezTo>
                  <a:cubicBezTo>
                    <a:pt x="371085" y="367011"/>
                    <a:pt x="372996" y="367870"/>
                    <a:pt x="374908" y="368729"/>
                  </a:cubicBezTo>
                  <a:cubicBezTo>
                    <a:pt x="382269" y="371878"/>
                    <a:pt x="557678" y="427132"/>
                    <a:pt x="557678" y="480572"/>
                  </a:cubicBezTo>
                  <a:lnTo>
                    <a:pt x="557678" y="607780"/>
                  </a:lnTo>
                  <a:lnTo>
                    <a:pt x="278839" y="607780"/>
                  </a:lnTo>
                  <a:lnTo>
                    <a:pt x="0" y="607780"/>
                  </a:lnTo>
                  <a:lnTo>
                    <a:pt x="0" y="480572"/>
                  </a:lnTo>
                  <a:cubicBezTo>
                    <a:pt x="0" y="421120"/>
                    <a:pt x="175314" y="371687"/>
                    <a:pt x="182770" y="368729"/>
                  </a:cubicBezTo>
                  <a:cubicBezTo>
                    <a:pt x="184682" y="367870"/>
                    <a:pt x="186593" y="367011"/>
                    <a:pt x="188888" y="367011"/>
                  </a:cubicBezTo>
                  <a:close/>
                  <a:moveTo>
                    <a:pt x="233347" y="332928"/>
                  </a:moveTo>
                  <a:cubicBezTo>
                    <a:pt x="234207" y="332928"/>
                    <a:pt x="235067" y="332928"/>
                    <a:pt x="235832" y="333119"/>
                  </a:cubicBezTo>
                  <a:cubicBezTo>
                    <a:pt x="236023" y="333119"/>
                    <a:pt x="236310" y="333119"/>
                    <a:pt x="236501" y="333214"/>
                  </a:cubicBezTo>
                  <a:cubicBezTo>
                    <a:pt x="236501" y="333214"/>
                    <a:pt x="236596" y="333214"/>
                    <a:pt x="236692" y="333214"/>
                  </a:cubicBezTo>
                  <a:cubicBezTo>
                    <a:pt x="237074" y="333310"/>
                    <a:pt x="237552" y="333405"/>
                    <a:pt x="237934" y="333596"/>
                  </a:cubicBezTo>
                  <a:cubicBezTo>
                    <a:pt x="238126" y="333596"/>
                    <a:pt x="238317" y="333691"/>
                    <a:pt x="238508" y="333787"/>
                  </a:cubicBezTo>
                  <a:cubicBezTo>
                    <a:pt x="238699" y="333787"/>
                    <a:pt x="238890" y="333882"/>
                    <a:pt x="239177" y="333977"/>
                  </a:cubicBezTo>
                  <a:cubicBezTo>
                    <a:pt x="240706" y="334645"/>
                    <a:pt x="242140" y="335504"/>
                    <a:pt x="243478" y="336553"/>
                  </a:cubicBezTo>
                  <a:cubicBezTo>
                    <a:pt x="250836" y="342372"/>
                    <a:pt x="255615" y="353056"/>
                    <a:pt x="264981" y="353724"/>
                  </a:cubicBezTo>
                  <a:cubicBezTo>
                    <a:pt x="265841" y="353820"/>
                    <a:pt x="266797" y="353820"/>
                    <a:pt x="267657" y="353820"/>
                  </a:cubicBezTo>
                  <a:cubicBezTo>
                    <a:pt x="268517" y="353820"/>
                    <a:pt x="274060" y="353724"/>
                    <a:pt x="278839" y="353724"/>
                  </a:cubicBezTo>
                  <a:cubicBezTo>
                    <a:pt x="283617" y="353724"/>
                    <a:pt x="289256" y="353820"/>
                    <a:pt x="290021" y="353820"/>
                  </a:cubicBezTo>
                  <a:cubicBezTo>
                    <a:pt x="290976" y="353820"/>
                    <a:pt x="291836" y="353820"/>
                    <a:pt x="292792" y="353724"/>
                  </a:cubicBezTo>
                  <a:cubicBezTo>
                    <a:pt x="302158" y="353056"/>
                    <a:pt x="306841" y="342372"/>
                    <a:pt x="314200" y="336553"/>
                  </a:cubicBezTo>
                  <a:cubicBezTo>
                    <a:pt x="315538" y="335504"/>
                    <a:pt x="316972" y="334645"/>
                    <a:pt x="318596" y="333977"/>
                  </a:cubicBezTo>
                  <a:cubicBezTo>
                    <a:pt x="318787" y="333882"/>
                    <a:pt x="318979" y="333787"/>
                    <a:pt x="319265" y="333787"/>
                  </a:cubicBezTo>
                  <a:cubicBezTo>
                    <a:pt x="319456" y="333691"/>
                    <a:pt x="319648" y="333596"/>
                    <a:pt x="319743" y="333596"/>
                  </a:cubicBezTo>
                  <a:cubicBezTo>
                    <a:pt x="320221" y="333405"/>
                    <a:pt x="320603" y="333310"/>
                    <a:pt x="321081" y="333214"/>
                  </a:cubicBezTo>
                  <a:cubicBezTo>
                    <a:pt x="321081" y="333214"/>
                    <a:pt x="321177" y="333214"/>
                    <a:pt x="321272" y="333214"/>
                  </a:cubicBezTo>
                  <a:cubicBezTo>
                    <a:pt x="321463" y="333119"/>
                    <a:pt x="321654" y="333119"/>
                    <a:pt x="321846" y="333119"/>
                  </a:cubicBezTo>
                  <a:cubicBezTo>
                    <a:pt x="322706" y="332928"/>
                    <a:pt x="323566" y="332928"/>
                    <a:pt x="324426" y="332928"/>
                  </a:cubicBezTo>
                  <a:cubicBezTo>
                    <a:pt x="332836" y="332928"/>
                    <a:pt x="339813" y="339510"/>
                    <a:pt x="340195" y="347905"/>
                  </a:cubicBezTo>
                  <a:lnTo>
                    <a:pt x="340195" y="380912"/>
                  </a:lnTo>
                  <a:cubicBezTo>
                    <a:pt x="340004" y="389498"/>
                    <a:pt x="333027" y="396366"/>
                    <a:pt x="324426" y="396366"/>
                  </a:cubicBezTo>
                  <a:cubicBezTo>
                    <a:pt x="320794" y="396366"/>
                    <a:pt x="317545" y="395126"/>
                    <a:pt x="314869" y="393123"/>
                  </a:cubicBezTo>
                  <a:cubicBezTo>
                    <a:pt x="305885" y="387208"/>
                    <a:pt x="299864" y="374997"/>
                    <a:pt x="294417" y="374807"/>
                  </a:cubicBezTo>
                  <a:lnTo>
                    <a:pt x="278839" y="374902"/>
                  </a:lnTo>
                  <a:lnTo>
                    <a:pt x="263261" y="374807"/>
                  </a:lnTo>
                  <a:cubicBezTo>
                    <a:pt x="257813" y="374997"/>
                    <a:pt x="251792" y="387208"/>
                    <a:pt x="242809" y="393123"/>
                  </a:cubicBezTo>
                  <a:cubicBezTo>
                    <a:pt x="240228" y="395126"/>
                    <a:pt x="236883" y="396366"/>
                    <a:pt x="233347" y="396366"/>
                  </a:cubicBezTo>
                  <a:cubicBezTo>
                    <a:pt x="224746" y="396366"/>
                    <a:pt x="217769" y="389498"/>
                    <a:pt x="217482" y="380912"/>
                  </a:cubicBezTo>
                  <a:lnTo>
                    <a:pt x="217482" y="347905"/>
                  </a:lnTo>
                  <a:cubicBezTo>
                    <a:pt x="217960" y="339510"/>
                    <a:pt x="224841" y="332928"/>
                    <a:pt x="233347" y="332928"/>
                  </a:cubicBezTo>
                  <a:close/>
                  <a:moveTo>
                    <a:pt x="277214" y="0"/>
                  </a:moveTo>
                  <a:cubicBezTo>
                    <a:pt x="277596" y="0"/>
                    <a:pt x="278074" y="0"/>
                    <a:pt x="278552" y="0"/>
                  </a:cubicBezTo>
                  <a:cubicBezTo>
                    <a:pt x="278648" y="0"/>
                    <a:pt x="278648" y="0"/>
                    <a:pt x="278744" y="0"/>
                  </a:cubicBezTo>
                  <a:cubicBezTo>
                    <a:pt x="278744" y="0"/>
                    <a:pt x="278839" y="0"/>
                    <a:pt x="278839" y="0"/>
                  </a:cubicBezTo>
                  <a:cubicBezTo>
                    <a:pt x="278935" y="0"/>
                    <a:pt x="278935" y="0"/>
                    <a:pt x="278935" y="0"/>
                  </a:cubicBezTo>
                  <a:cubicBezTo>
                    <a:pt x="279030" y="0"/>
                    <a:pt x="279126" y="0"/>
                    <a:pt x="279222" y="0"/>
                  </a:cubicBezTo>
                  <a:cubicBezTo>
                    <a:pt x="279604" y="0"/>
                    <a:pt x="280082" y="0"/>
                    <a:pt x="280560" y="0"/>
                  </a:cubicBezTo>
                  <a:cubicBezTo>
                    <a:pt x="387453" y="0"/>
                    <a:pt x="407531" y="76166"/>
                    <a:pt x="404758" y="105659"/>
                  </a:cubicBezTo>
                  <a:cubicBezTo>
                    <a:pt x="402464" y="129330"/>
                    <a:pt x="396727" y="160159"/>
                    <a:pt x="396727" y="160159"/>
                  </a:cubicBezTo>
                  <a:cubicBezTo>
                    <a:pt x="396727" y="160159"/>
                    <a:pt x="408009" y="165313"/>
                    <a:pt x="408009" y="186120"/>
                  </a:cubicBezTo>
                  <a:cubicBezTo>
                    <a:pt x="404089" y="238234"/>
                    <a:pt x="383246" y="215708"/>
                    <a:pt x="379039" y="238616"/>
                  </a:cubicBezTo>
                  <a:cubicBezTo>
                    <a:pt x="371868" y="276603"/>
                    <a:pt x="338213" y="304092"/>
                    <a:pt x="317179" y="313541"/>
                  </a:cubicBezTo>
                  <a:cubicBezTo>
                    <a:pt x="304941" y="319077"/>
                    <a:pt x="292225" y="321845"/>
                    <a:pt x="278935" y="322131"/>
                  </a:cubicBezTo>
                  <a:cubicBezTo>
                    <a:pt x="278935" y="322131"/>
                    <a:pt x="278935" y="322131"/>
                    <a:pt x="278839" y="322131"/>
                  </a:cubicBezTo>
                  <a:cubicBezTo>
                    <a:pt x="278839" y="322131"/>
                    <a:pt x="278744" y="322131"/>
                    <a:pt x="278744" y="322131"/>
                  </a:cubicBezTo>
                  <a:cubicBezTo>
                    <a:pt x="265454" y="321845"/>
                    <a:pt x="252738" y="319077"/>
                    <a:pt x="240499" y="313541"/>
                  </a:cubicBezTo>
                  <a:cubicBezTo>
                    <a:pt x="219561" y="304092"/>
                    <a:pt x="185810" y="276603"/>
                    <a:pt x="178734" y="238616"/>
                  </a:cubicBezTo>
                  <a:cubicBezTo>
                    <a:pt x="174432" y="215708"/>
                    <a:pt x="153684" y="238234"/>
                    <a:pt x="149669" y="186120"/>
                  </a:cubicBezTo>
                  <a:cubicBezTo>
                    <a:pt x="149669" y="165313"/>
                    <a:pt x="161046" y="160159"/>
                    <a:pt x="161046" y="160159"/>
                  </a:cubicBezTo>
                  <a:cubicBezTo>
                    <a:pt x="161046" y="160159"/>
                    <a:pt x="155214" y="129330"/>
                    <a:pt x="153015" y="105659"/>
                  </a:cubicBezTo>
                  <a:cubicBezTo>
                    <a:pt x="150147" y="76166"/>
                    <a:pt x="170225" y="0"/>
                    <a:pt x="2772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451715" y="6461251"/>
              <a:ext cx="874846" cy="3474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800" dirty="0">
                  <a:latin typeface="+mn-ea"/>
                </a:rPr>
                <a:t>教育教师</a:t>
              </a:r>
              <a:endParaRPr lang="en-US" altLang="zh-CN" sz="800" dirty="0">
                <a:latin typeface="+mn-ea"/>
              </a:endParaRPr>
            </a:p>
            <a:p>
              <a:pPr algn="ctr"/>
              <a:r>
                <a:rPr lang="zh-CN" altLang="en-US" sz="800" dirty="0">
                  <a:latin typeface="+mn-ea"/>
                </a:rPr>
                <a:t>朱先生（快车）</a:t>
              </a: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3789227" y="3410526"/>
            <a:ext cx="714107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800" dirty="0">
                <a:latin typeface="+mn-ea"/>
              </a:rPr>
              <a:t>老师贾女士</a:t>
            </a:r>
            <a:endParaRPr lang="en-US" altLang="zh-CN" sz="800" dirty="0">
              <a:latin typeface="+mn-ea"/>
            </a:endParaRPr>
          </a:p>
          <a:p>
            <a:pPr algn="ctr"/>
            <a:r>
              <a:rPr lang="zh-CN" altLang="en-US" sz="800" dirty="0">
                <a:latin typeface="+mn-ea"/>
              </a:rPr>
              <a:t>（快车）</a:t>
            </a:r>
          </a:p>
        </p:txBody>
      </p:sp>
      <p:sp>
        <p:nvSpPr>
          <p:cNvPr id="63" name="矩形 62"/>
          <p:cNvSpPr/>
          <p:nvPr/>
        </p:nvSpPr>
        <p:spPr>
          <a:xfrm>
            <a:off x="909628" y="1732326"/>
            <a:ext cx="594868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400" b="1" dirty="0">
                <a:latin typeface="+mn-ea"/>
              </a:rPr>
              <a:t>乘客圆桌</a:t>
            </a:r>
          </a:p>
        </p:txBody>
      </p:sp>
      <p:sp>
        <p:nvSpPr>
          <p:cNvPr id="64" name="矩形 63"/>
          <p:cNvSpPr/>
          <p:nvPr/>
        </p:nvSpPr>
        <p:spPr>
          <a:xfrm>
            <a:off x="6487111" y="1720589"/>
            <a:ext cx="594868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400" b="1" dirty="0">
                <a:latin typeface="+mn-ea"/>
              </a:rPr>
              <a:t>司机圆桌</a:t>
            </a:r>
          </a:p>
        </p:txBody>
      </p:sp>
      <p:grpSp>
        <p:nvGrpSpPr>
          <p:cNvPr id="65" name="组合 64"/>
          <p:cNvGrpSpPr/>
          <p:nvPr/>
        </p:nvGrpSpPr>
        <p:grpSpPr>
          <a:xfrm>
            <a:off x="909628" y="4115410"/>
            <a:ext cx="4437876" cy="2105983"/>
            <a:chOff x="6308024" y="1891136"/>
            <a:chExt cx="5016139" cy="4960111"/>
          </a:xfrm>
        </p:grpSpPr>
        <p:sp>
          <p:nvSpPr>
            <p:cNvPr id="66" name="矩形: 圆角 65"/>
            <p:cNvSpPr/>
            <p:nvPr/>
          </p:nvSpPr>
          <p:spPr>
            <a:xfrm>
              <a:off x="6571668" y="1891136"/>
              <a:ext cx="4488853" cy="440631"/>
            </a:xfrm>
            <a:prstGeom prst="roundRect">
              <a:avLst>
                <a:gd name="adj" fmla="val 16667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9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定性用户画像</a:t>
              </a:r>
            </a:p>
          </p:txBody>
        </p:sp>
        <p:sp>
          <p:nvSpPr>
            <p:cNvPr id="67" name="矩形 66"/>
            <p:cNvSpPr/>
            <p:nvPr/>
          </p:nvSpPr>
          <p:spPr>
            <a:xfrm>
              <a:off x="6308024" y="2547520"/>
              <a:ext cx="5016139" cy="4303727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00" dirty="0"/>
            </a:p>
          </p:txBody>
        </p:sp>
        <p:sp>
          <p:nvSpPr>
            <p:cNvPr id="68" name="文本占位符 4"/>
            <p:cNvSpPr txBox="1"/>
            <p:nvPr/>
          </p:nvSpPr>
          <p:spPr>
            <a:xfrm>
              <a:off x="6841745" y="2594302"/>
              <a:ext cx="999483" cy="5531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年龄与性别构成</a:t>
              </a:r>
              <a:endParaRPr kumimoji="0" lang="en-US" altLang="zh-CN" sz="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9" name="文本占位符 4"/>
            <p:cNvSpPr txBox="1"/>
            <p:nvPr/>
          </p:nvSpPr>
          <p:spPr>
            <a:xfrm>
              <a:off x="7654115" y="2657479"/>
              <a:ext cx="3617525" cy="456228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6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乘客群体男女比例均衡，年龄集中在</a:t>
              </a:r>
              <a:r>
                <a:rPr kumimoji="0" lang="en-US" altLang="zh-CN" sz="6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25-38</a:t>
              </a:r>
              <a:r>
                <a:rPr kumimoji="0" lang="zh-CN" altLang="en-US" sz="6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岁之间，其中</a:t>
              </a:r>
              <a:r>
                <a:rPr lang="zh-CN" altLang="en-US" sz="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大部分</a:t>
              </a:r>
              <a:r>
                <a:rPr kumimoji="0" lang="zh-CN" altLang="en-US" sz="6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的乘客年龄在</a:t>
              </a:r>
              <a:r>
                <a:rPr kumimoji="0" lang="en-US" altLang="zh-CN" sz="6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34</a:t>
              </a:r>
              <a:r>
                <a:rPr kumimoji="0" lang="zh-CN" altLang="en-US" sz="6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岁及以下</a:t>
              </a:r>
            </a:p>
          </p:txBody>
        </p:sp>
        <p:sp>
          <p:nvSpPr>
            <p:cNvPr id="70" name="矩形: 圆角 69"/>
            <p:cNvSpPr/>
            <p:nvPr/>
          </p:nvSpPr>
          <p:spPr>
            <a:xfrm>
              <a:off x="6462601" y="2781886"/>
              <a:ext cx="473928" cy="3080209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 b="1" dirty="0"/>
                <a:t>共性特点</a:t>
              </a:r>
            </a:p>
          </p:txBody>
        </p:sp>
        <p:sp>
          <p:nvSpPr>
            <p:cNvPr id="71" name="矩形: 圆角 70"/>
            <p:cNvSpPr/>
            <p:nvPr/>
          </p:nvSpPr>
          <p:spPr>
            <a:xfrm>
              <a:off x="6462601" y="6104900"/>
              <a:ext cx="473928" cy="553182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 b="1" dirty="0"/>
                <a:t>差异特点</a:t>
              </a:r>
            </a:p>
          </p:txBody>
        </p:sp>
        <p:sp>
          <p:nvSpPr>
            <p:cNvPr id="72" name="文本占位符 4"/>
            <p:cNvSpPr txBox="1"/>
            <p:nvPr/>
          </p:nvSpPr>
          <p:spPr>
            <a:xfrm>
              <a:off x="6937740" y="2983702"/>
              <a:ext cx="829831" cy="80055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ct val="120000"/>
                </a:lnSpc>
                <a:buNone/>
                <a:defRPr/>
              </a:pPr>
              <a:r>
                <a:rPr lang="zh-CN" altLang="en-US" sz="7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常用平台与打车频次</a:t>
              </a:r>
              <a:endParaRPr lang="en-US" altLang="zh-CN" sz="7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文本占位符 4"/>
            <p:cNvSpPr txBox="1"/>
            <p:nvPr/>
          </p:nvSpPr>
          <p:spPr>
            <a:xfrm>
              <a:off x="6819318" y="3499492"/>
              <a:ext cx="999483" cy="5531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lang="zh-CN" altLang="en-US" sz="7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学历与职业特征</a:t>
              </a:r>
              <a:endParaRPr kumimoji="0" lang="en-US" altLang="zh-CN" sz="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4" name="文本占位符 4"/>
            <p:cNvSpPr txBox="1"/>
            <p:nvPr/>
          </p:nvSpPr>
          <p:spPr>
            <a:xfrm>
              <a:off x="7654115" y="2977178"/>
              <a:ext cx="3617525" cy="71718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lang="zh-CN" altLang="en-US" sz="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乘客最常使用的平台以滴滴为主，美团打车为辅；打车频次分布较为分散，其中月均打车</a:t>
              </a:r>
              <a:r>
                <a:rPr lang="en-US" altLang="zh-CN" sz="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</a:t>
              </a:r>
              <a:r>
                <a:rPr lang="zh-CN" altLang="en-US" sz="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次以上的用户占比较少，</a:t>
              </a:r>
              <a:r>
                <a:rPr lang="en-US" altLang="zh-CN" sz="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10-20</a:t>
              </a:r>
              <a:r>
                <a:rPr lang="zh-CN" altLang="en-US" sz="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次的用户占比明显较多</a:t>
              </a:r>
            </a:p>
          </p:txBody>
        </p:sp>
        <p:sp>
          <p:nvSpPr>
            <p:cNvPr id="75" name="文本占位符 4"/>
            <p:cNvSpPr txBox="1"/>
            <p:nvPr/>
          </p:nvSpPr>
          <p:spPr>
            <a:xfrm>
              <a:off x="7653185" y="3555196"/>
              <a:ext cx="3661252" cy="456228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6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乘客均为本科学历，乘客多从事教育、外贸、金融等服务业</a:t>
              </a:r>
              <a:endParaRPr kumimoji="0" lang="en-US" altLang="zh-CN" sz="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6" name="文本占位符 4"/>
            <p:cNvSpPr txBox="1"/>
            <p:nvPr/>
          </p:nvSpPr>
          <p:spPr>
            <a:xfrm>
              <a:off x="6816872" y="6129670"/>
              <a:ext cx="999483" cy="5531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buNone/>
                <a:defRPr/>
              </a:pPr>
              <a:r>
                <a:rPr lang="zh-CN" altLang="en-US" sz="7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不寻常需求</a:t>
              </a:r>
              <a:endParaRPr lang="en-US" altLang="zh-CN" sz="7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1" name="矩形 80"/>
          <p:cNvSpPr/>
          <p:nvPr/>
        </p:nvSpPr>
        <p:spPr>
          <a:xfrm>
            <a:off x="6366515" y="4388296"/>
            <a:ext cx="4437875" cy="183309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" dirty="0"/>
          </a:p>
        </p:txBody>
      </p:sp>
      <p:sp>
        <p:nvSpPr>
          <p:cNvPr id="84" name="矩形: 圆角 83"/>
          <p:cNvSpPr/>
          <p:nvPr/>
        </p:nvSpPr>
        <p:spPr>
          <a:xfrm>
            <a:off x="6493548" y="4493608"/>
            <a:ext cx="441274" cy="1225958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700" b="1" dirty="0"/>
              <a:t>共性特点</a:t>
            </a:r>
          </a:p>
        </p:txBody>
      </p:sp>
      <p:sp>
        <p:nvSpPr>
          <p:cNvPr id="85" name="矩形: 圆角 84"/>
          <p:cNvSpPr/>
          <p:nvPr/>
        </p:nvSpPr>
        <p:spPr>
          <a:xfrm>
            <a:off x="6494837" y="5834809"/>
            <a:ext cx="439985" cy="328056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700" b="1" dirty="0"/>
              <a:t>差异特点</a:t>
            </a:r>
          </a:p>
        </p:txBody>
      </p:sp>
      <p:sp>
        <p:nvSpPr>
          <p:cNvPr id="86" name="文本占位符 4"/>
          <p:cNvSpPr txBox="1"/>
          <p:nvPr/>
        </p:nvSpPr>
        <p:spPr>
          <a:xfrm>
            <a:off x="6920848" y="4588493"/>
            <a:ext cx="834047" cy="2348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  <a:defRPr/>
            </a:pPr>
            <a:r>
              <a:rPr lang="zh-CN" altLang="en-US" sz="700" b="1" dirty="0"/>
              <a:t>学历与</a:t>
            </a:r>
            <a:r>
              <a:rPr lang="zh-CN" altLang="en-US" sz="7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职业特征</a:t>
            </a:r>
            <a:endParaRPr lang="en-US" altLang="zh-CN" sz="7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文本占位符 4"/>
          <p:cNvSpPr txBox="1"/>
          <p:nvPr/>
        </p:nvSpPr>
        <p:spPr>
          <a:xfrm>
            <a:off x="6934102" y="5439543"/>
            <a:ext cx="722983" cy="21063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20000"/>
              </a:lnSpc>
              <a:buNone/>
              <a:defRPr/>
            </a:pPr>
            <a:r>
              <a:rPr lang="zh-CN" altLang="en-US" sz="7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主动提醒</a:t>
            </a:r>
            <a:endParaRPr lang="en-US" altLang="zh-CN" sz="7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文本占位符 4"/>
          <p:cNvSpPr txBox="1"/>
          <p:nvPr/>
        </p:nvSpPr>
        <p:spPr>
          <a:xfrm>
            <a:off x="6943087" y="5849207"/>
            <a:ext cx="873057" cy="2348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7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工龄与工作时间</a:t>
            </a:r>
            <a:endParaRPr kumimoji="0" lang="en-US" altLang="zh-CN" sz="7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2" name="文本占位符 4"/>
          <p:cNvSpPr txBox="1"/>
          <p:nvPr/>
        </p:nvSpPr>
        <p:spPr>
          <a:xfrm>
            <a:off x="7858927" y="2443994"/>
            <a:ext cx="528035" cy="2144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N=5</a:t>
            </a:r>
            <a:endParaRPr kumimoji="0" lang="en-US" altLang="zh-CN" sz="6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29" name="组合 128"/>
          <p:cNvGrpSpPr/>
          <p:nvPr/>
        </p:nvGrpSpPr>
        <p:grpSpPr>
          <a:xfrm>
            <a:off x="2354048" y="2257098"/>
            <a:ext cx="1720291" cy="1107052"/>
            <a:chOff x="1914215" y="2257098"/>
            <a:chExt cx="1720291" cy="1107052"/>
          </a:xfrm>
        </p:grpSpPr>
        <p:sp>
          <p:nvSpPr>
            <p:cNvPr id="11" name="椭圆 10"/>
            <p:cNvSpPr/>
            <p:nvPr/>
          </p:nvSpPr>
          <p:spPr>
            <a:xfrm>
              <a:off x="1914215" y="2257098"/>
              <a:ext cx="1720291" cy="1107052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125000"/>
                </a:lnSpc>
              </a:pPr>
              <a:endParaRPr lang="zh-CN" altLang="en-US" sz="1400" dirty="0">
                <a:latin typeface="+mn-ea"/>
              </a:endParaRPr>
            </a:p>
          </p:txBody>
        </p:sp>
        <p:sp>
          <p:nvSpPr>
            <p:cNvPr id="78" name="文本占位符 4"/>
            <p:cNvSpPr txBox="1"/>
            <p:nvPr/>
          </p:nvSpPr>
          <p:spPr>
            <a:xfrm>
              <a:off x="2219603" y="2346781"/>
              <a:ext cx="528035" cy="214482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>
              <a:lvl1pPr marL="228600" indent="-22860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lang="en-US" altLang="zh-CN" sz="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N=6</a:t>
              </a:r>
              <a:endParaRPr kumimoji="0" lang="en-US" altLang="zh-CN" sz="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3" name="文本框 92"/>
            <p:cNvSpPr txBox="1"/>
            <p:nvPr/>
          </p:nvSpPr>
          <p:spPr>
            <a:xfrm>
              <a:off x="2379480" y="2662170"/>
              <a:ext cx="800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/>
                <a:t>乘客组</a:t>
              </a:r>
            </a:p>
          </p:txBody>
        </p:sp>
      </p:grpSp>
      <p:sp>
        <p:nvSpPr>
          <p:cNvPr id="94" name="文本框 93"/>
          <p:cNvSpPr txBox="1"/>
          <p:nvPr/>
        </p:nvSpPr>
        <p:spPr>
          <a:xfrm>
            <a:off x="8118054" y="2678078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司机组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4009507" y="2447185"/>
            <a:ext cx="849130" cy="633833"/>
            <a:chOff x="2336261" y="4996776"/>
            <a:chExt cx="712961" cy="582692"/>
          </a:xfrm>
        </p:grpSpPr>
        <p:sp>
          <p:nvSpPr>
            <p:cNvPr id="6" name="man-with-bow_56788"/>
            <p:cNvSpPr/>
            <p:nvPr/>
          </p:nvSpPr>
          <p:spPr>
            <a:xfrm>
              <a:off x="2462876" y="4996776"/>
              <a:ext cx="279562" cy="283309"/>
            </a:xfrm>
            <a:custGeom>
              <a:avLst/>
              <a:gdLst>
                <a:gd name="connsiteX0" fmla="*/ 188888 w 557678"/>
                <a:gd name="connsiteY0" fmla="*/ 367011 h 607780"/>
                <a:gd name="connsiteX1" fmla="*/ 199785 w 557678"/>
                <a:gd name="connsiteY1" fmla="*/ 373977 h 607780"/>
                <a:gd name="connsiteX2" fmla="*/ 278839 w 557678"/>
                <a:gd name="connsiteY2" fmla="*/ 490974 h 607780"/>
                <a:gd name="connsiteX3" fmla="*/ 357893 w 557678"/>
                <a:gd name="connsiteY3" fmla="*/ 373977 h 607780"/>
                <a:gd name="connsiteX4" fmla="*/ 368886 w 557678"/>
                <a:gd name="connsiteY4" fmla="*/ 367011 h 607780"/>
                <a:gd name="connsiteX5" fmla="*/ 374908 w 557678"/>
                <a:gd name="connsiteY5" fmla="*/ 368729 h 607780"/>
                <a:gd name="connsiteX6" fmla="*/ 557678 w 557678"/>
                <a:gd name="connsiteY6" fmla="*/ 480572 h 607780"/>
                <a:gd name="connsiteX7" fmla="*/ 557678 w 557678"/>
                <a:gd name="connsiteY7" fmla="*/ 607780 h 607780"/>
                <a:gd name="connsiteX8" fmla="*/ 278839 w 557678"/>
                <a:gd name="connsiteY8" fmla="*/ 607780 h 607780"/>
                <a:gd name="connsiteX9" fmla="*/ 0 w 557678"/>
                <a:gd name="connsiteY9" fmla="*/ 607780 h 607780"/>
                <a:gd name="connsiteX10" fmla="*/ 0 w 557678"/>
                <a:gd name="connsiteY10" fmla="*/ 480572 h 607780"/>
                <a:gd name="connsiteX11" fmla="*/ 182770 w 557678"/>
                <a:gd name="connsiteY11" fmla="*/ 368729 h 607780"/>
                <a:gd name="connsiteX12" fmla="*/ 188888 w 557678"/>
                <a:gd name="connsiteY12" fmla="*/ 367011 h 607780"/>
                <a:gd name="connsiteX13" fmla="*/ 233347 w 557678"/>
                <a:gd name="connsiteY13" fmla="*/ 332928 h 607780"/>
                <a:gd name="connsiteX14" fmla="*/ 235832 w 557678"/>
                <a:gd name="connsiteY14" fmla="*/ 333119 h 607780"/>
                <a:gd name="connsiteX15" fmla="*/ 236501 w 557678"/>
                <a:gd name="connsiteY15" fmla="*/ 333214 h 607780"/>
                <a:gd name="connsiteX16" fmla="*/ 236692 w 557678"/>
                <a:gd name="connsiteY16" fmla="*/ 333214 h 607780"/>
                <a:gd name="connsiteX17" fmla="*/ 237934 w 557678"/>
                <a:gd name="connsiteY17" fmla="*/ 333596 h 607780"/>
                <a:gd name="connsiteX18" fmla="*/ 238508 w 557678"/>
                <a:gd name="connsiteY18" fmla="*/ 333787 h 607780"/>
                <a:gd name="connsiteX19" fmla="*/ 239177 w 557678"/>
                <a:gd name="connsiteY19" fmla="*/ 333977 h 607780"/>
                <a:gd name="connsiteX20" fmla="*/ 243478 w 557678"/>
                <a:gd name="connsiteY20" fmla="*/ 336553 h 607780"/>
                <a:gd name="connsiteX21" fmla="*/ 264981 w 557678"/>
                <a:gd name="connsiteY21" fmla="*/ 353724 h 607780"/>
                <a:gd name="connsiteX22" fmla="*/ 267657 w 557678"/>
                <a:gd name="connsiteY22" fmla="*/ 353820 h 607780"/>
                <a:gd name="connsiteX23" fmla="*/ 278839 w 557678"/>
                <a:gd name="connsiteY23" fmla="*/ 353724 h 607780"/>
                <a:gd name="connsiteX24" fmla="*/ 290021 w 557678"/>
                <a:gd name="connsiteY24" fmla="*/ 353820 h 607780"/>
                <a:gd name="connsiteX25" fmla="*/ 292792 w 557678"/>
                <a:gd name="connsiteY25" fmla="*/ 353724 h 607780"/>
                <a:gd name="connsiteX26" fmla="*/ 314200 w 557678"/>
                <a:gd name="connsiteY26" fmla="*/ 336553 h 607780"/>
                <a:gd name="connsiteX27" fmla="*/ 318596 w 557678"/>
                <a:gd name="connsiteY27" fmla="*/ 333977 h 607780"/>
                <a:gd name="connsiteX28" fmla="*/ 319265 w 557678"/>
                <a:gd name="connsiteY28" fmla="*/ 333787 h 607780"/>
                <a:gd name="connsiteX29" fmla="*/ 319743 w 557678"/>
                <a:gd name="connsiteY29" fmla="*/ 333596 h 607780"/>
                <a:gd name="connsiteX30" fmla="*/ 321081 w 557678"/>
                <a:gd name="connsiteY30" fmla="*/ 333214 h 607780"/>
                <a:gd name="connsiteX31" fmla="*/ 321272 w 557678"/>
                <a:gd name="connsiteY31" fmla="*/ 333214 h 607780"/>
                <a:gd name="connsiteX32" fmla="*/ 321846 w 557678"/>
                <a:gd name="connsiteY32" fmla="*/ 333119 h 607780"/>
                <a:gd name="connsiteX33" fmla="*/ 324426 w 557678"/>
                <a:gd name="connsiteY33" fmla="*/ 332928 h 607780"/>
                <a:gd name="connsiteX34" fmla="*/ 340195 w 557678"/>
                <a:gd name="connsiteY34" fmla="*/ 347905 h 607780"/>
                <a:gd name="connsiteX35" fmla="*/ 340195 w 557678"/>
                <a:gd name="connsiteY35" fmla="*/ 380912 h 607780"/>
                <a:gd name="connsiteX36" fmla="*/ 324426 w 557678"/>
                <a:gd name="connsiteY36" fmla="*/ 396366 h 607780"/>
                <a:gd name="connsiteX37" fmla="*/ 314869 w 557678"/>
                <a:gd name="connsiteY37" fmla="*/ 393123 h 607780"/>
                <a:gd name="connsiteX38" fmla="*/ 294417 w 557678"/>
                <a:gd name="connsiteY38" fmla="*/ 374807 h 607780"/>
                <a:gd name="connsiteX39" fmla="*/ 278839 w 557678"/>
                <a:gd name="connsiteY39" fmla="*/ 374902 h 607780"/>
                <a:gd name="connsiteX40" fmla="*/ 263261 w 557678"/>
                <a:gd name="connsiteY40" fmla="*/ 374807 h 607780"/>
                <a:gd name="connsiteX41" fmla="*/ 242809 w 557678"/>
                <a:gd name="connsiteY41" fmla="*/ 393123 h 607780"/>
                <a:gd name="connsiteX42" fmla="*/ 233347 w 557678"/>
                <a:gd name="connsiteY42" fmla="*/ 396366 h 607780"/>
                <a:gd name="connsiteX43" fmla="*/ 217482 w 557678"/>
                <a:gd name="connsiteY43" fmla="*/ 380912 h 607780"/>
                <a:gd name="connsiteX44" fmla="*/ 217482 w 557678"/>
                <a:gd name="connsiteY44" fmla="*/ 347905 h 607780"/>
                <a:gd name="connsiteX45" fmla="*/ 233347 w 557678"/>
                <a:gd name="connsiteY45" fmla="*/ 332928 h 607780"/>
                <a:gd name="connsiteX46" fmla="*/ 277214 w 557678"/>
                <a:gd name="connsiteY46" fmla="*/ 0 h 607780"/>
                <a:gd name="connsiteX47" fmla="*/ 278552 w 557678"/>
                <a:gd name="connsiteY47" fmla="*/ 0 h 607780"/>
                <a:gd name="connsiteX48" fmla="*/ 278744 w 557678"/>
                <a:gd name="connsiteY48" fmla="*/ 0 h 607780"/>
                <a:gd name="connsiteX49" fmla="*/ 278839 w 557678"/>
                <a:gd name="connsiteY49" fmla="*/ 0 h 607780"/>
                <a:gd name="connsiteX50" fmla="*/ 278935 w 557678"/>
                <a:gd name="connsiteY50" fmla="*/ 0 h 607780"/>
                <a:gd name="connsiteX51" fmla="*/ 279222 w 557678"/>
                <a:gd name="connsiteY51" fmla="*/ 0 h 607780"/>
                <a:gd name="connsiteX52" fmla="*/ 280560 w 557678"/>
                <a:gd name="connsiteY52" fmla="*/ 0 h 607780"/>
                <a:gd name="connsiteX53" fmla="*/ 404758 w 557678"/>
                <a:gd name="connsiteY53" fmla="*/ 105659 h 607780"/>
                <a:gd name="connsiteX54" fmla="*/ 396727 w 557678"/>
                <a:gd name="connsiteY54" fmla="*/ 160159 h 607780"/>
                <a:gd name="connsiteX55" fmla="*/ 408009 w 557678"/>
                <a:gd name="connsiteY55" fmla="*/ 186120 h 607780"/>
                <a:gd name="connsiteX56" fmla="*/ 379039 w 557678"/>
                <a:gd name="connsiteY56" fmla="*/ 238616 h 607780"/>
                <a:gd name="connsiteX57" fmla="*/ 317179 w 557678"/>
                <a:gd name="connsiteY57" fmla="*/ 313541 h 607780"/>
                <a:gd name="connsiteX58" fmla="*/ 278935 w 557678"/>
                <a:gd name="connsiteY58" fmla="*/ 322131 h 607780"/>
                <a:gd name="connsiteX59" fmla="*/ 278839 w 557678"/>
                <a:gd name="connsiteY59" fmla="*/ 322131 h 607780"/>
                <a:gd name="connsiteX60" fmla="*/ 278744 w 557678"/>
                <a:gd name="connsiteY60" fmla="*/ 322131 h 607780"/>
                <a:gd name="connsiteX61" fmla="*/ 240499 w 557678"/>
                <a:gd name="connsiteY61" fmla="*/ 313541 h 607780"/>
                <a:gd name="connsiteX62" fmla="*/ 178734 w 557678"/>
                <a:gd name="connsiteY62" fmla="*/ 238616 h 607780"/>
                <a:gd name="connsiteX63" fmla="*/ 149669 w 557678"/>
                <a:gd name="connsiteY63" fmla="*/ 186120 h 607780"/>
                <a:gd name="connsiteX64" fmla="*/ 161046 w 557678"/>
                <a:gd name="connsiteY64" fmla="*/ 160159 h 607780"/>
                <a:gd name="connsiteX65" fmla="*/ 153015 w 557678"/>
                <a:gd name="connsiteY65" fmla="*/ 105659 h 607780"/>
                <a:gd name="connsiteX66" fmla="*/ 277214 w 557678"/>
                <a:gd name="connsiteY66" fmla="*/ 0 h 607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557678" h="607780">
                  <a:moveTo>
                    <a:pt x="188888" y="367011"/>
                  </a:moveTo>
                  <a:cubicBezTo>
                    <a:pt x="193667" y="367011"/>
                    <a:pt x="197873" y="369874"/>
                    <a:pt x="199785" y="373977"/>
                  </a:cubicBezTo>
                  <a:cubicBezTo>
                    <a:pt x="218808" y="405851"/>
                    <a:pt x="254177" y="489256"/>
                    <a:pt x="278839" y="490974"/>
                  </a:cubicBezTo>
                  <a:cubicBezTo>
                    <a:pt x="303502" y="489256"/>
                    <a:pt x="338870" y="405851"/>
                    <a:pt x="357893" y="373977"/>
                  </a:cubicBezTo>
                  <a:cubicBezTo>
                    <a:pt x="359900" y="369874"/>
                    <a:pt x="364011" y="367011"/>
                    <a:pt x="368886" y="367011"/>
                  </a:cubicBezTo>
                  <a:cubicBezTo>
                    <a:pt x="371085" y="367011"/>
                    <a:pt x="372996" y="367870"/>
                    <a:pt x="374908" y="368729"/>
                  </a:cubicBezTo>
                  <a:cubicBezTo>
                    <a:pt x="382269" y="371878"/>
                    <a:pt x="557678" y="427132"/>
                    <a:pt x="557678" y="480572"/>
                  </a:cubicBezTo>
                  <a:lnTo>
                    <a:pt x="557678" y="607780"/>
                  </a:lnTo>
                  <a:lnTo>
                    <a:pt x="278839" y="607780"/>
                  </a:lnTo>
                  <a:lnTo>
                    <a:pt x="0" y="607780"/>
                  </a:lnTo>
                  <a:lnTo>
                    <a:pt x="0" y="480572"/>
                  </a:lnTo>
                  <a:cubicBezTo>
                    <a:pt x="0" y="421120"/>
                    <a:pt x="175314" y="371687"/>
                    <a:pt x="182770" y="368729"/>
                  </a:cubicBezTo>
                  <a:cubicBezTo>
                    <a:pt x="184682" y="367870"/>
                    <a:pt x="186593" y="367011"/>
                    <a:pt x="188888" y="367011"/>
                  </a:cubicBezTo>
                  <a:close/>
                  <a:moveTo>
                    <a:pt x="233347" y="332928"/>
                  </a:moveTo>
                  <a:cubicBezTo>
                    <a:pt x="234207" y="332928"/>
                    <a:pt x="235067" y="332928"/>
                    <a:pt x="235832" y="333119"/>
                  </a:cubicBezTo>
                  <a:cubicBezTo>
                    <a:pt x="236023" y="333119"/>
                    <a:pt x="236310" y="333119"/>
                    <a:pt x="236501" y="333214"/>
                  </a:cubicBezTo>
                  <a:cubicBezTo>
                    <a:pt x="236501" y="333214"/>
                    <a:pt x="236596" y="333214"/>
                    <a:pt x="236692" y="333214"/>
                  </a:cubicBezTo>
                  <a:cubicBezTo>
                    <a:pt x="237074" y="333310"/>
                    <a:pt x="237552" y="333405"/>
                    <a:pt x="237934" y="333596"/>
                  </a:cubicBezTo>
                  <a:cubicBezTo>
                    <a:pt x="238126" y="333596"/>
                    <a:pt x="238317" y="333691"/>
                    <a:pt x="238508" y="333787"/>
                  </a:cubicBezTo>
                  <a:cubicBezTo>
                    <a:pt x="238699" y="333787"/>
                    <a:pt x="238890" y="333882"/>
                    <a:pt x="239177" y="333977"/>
                  </a:cubicBezTo>
                  <a:cubicBezTo>
                    <a:pt x="240706" y="334645"/>
                    <a:pt x="242140" y="335504"/>
                    <a:pt x="243478" y="336553"/>
                  </a:cubicBezTo>
                  <a:cubicBezTo>
                    <a:pt x="250836" y="342372"/>
                    <a:pt x="255615" y="353056"/>
                    <a:pt x="264981" y="353724"/>
                  </a:cubicBezTo>
                  <a:cubicBezTo>
                    <a:pt x="265841" y="353820"/>
                    <a:pt x="266797" y="353820"/>
                    <a:pt x="267657" y="353820"/>
                  </a:cubicBezTo>
                  <a:cubicBezTo>
                    <a:pt x="268517" y="353820"/>
                    <a:pt x="274060" y="353724"/>
                    <a:pt x="278839" y="353724"/>
                  </a:cubicBezTo>
                  <a:cubicBezTo>
                    <a:pt x="283617" y="353724"/>
                    <a:pt x="289256" y="353820"/>
                    <a:pt x="290021" y="353820"/>
                  </a:cubicBezTo>
                  <a:cubicBezTo>
                    <a:pt x="290976" y="353820"/>
                    <a:pt x="291836" y="353820"/>
                    <a:pt x="292792" y="353724"/>
                  </a:cubicBezTo>
                  <a:cubicBezTo>
                    <a:pt x="302158" y="353056"/>
                    <a:pt x="306841" y="342372"/>
                    <a:pt x="314200" y="336553"/>
                  </a:cubicBezTo>
                  <a:cubicBezTo>
                    <a:pt x="315538" y="335504"/>
                    <a:pt x="316972" y="334645"/>
                    <a:pt x="318596" y="333977"/>
                  </a:cubicBezTo>
                  <a:cubicBezTo>
                    <a:pt x="318787" y="333882"/>
                    <a:pt x="318979" y="333787"/>
                    <a:pt x="319265" y="333787"/>
                  </a:cubicBezTo>
                  <a:cubicBezTo>
                    <a:pt x="319456" y="333691"/>
                    <a:pt x="319648" y="333596"/>
                    <a:pt x="319743" y="333596"/>
                  </a:cubicBezTo>
                  <a:cubicBezTo>
                    <a:pt x="320221" y="333405"/>
                    <a:pt x="320603" y="333310"/>
                    <a:pt x="321081" y="333214"/>
                  </a:cubicBezTo>
                  <a:cubicBezTo>
                    <a:pt x="321081" y="333214"/>
                    <a:pt x="321177" y="333214"/>
                    <a:pt x="321272" y="333214"/>
                  </a:cubicBezTo>
                  <a:cubicBezTo>
                    <a:pt x="321463" y="333119"/>
                    <a:pt x="321654" y="333119"/>
                    <a:pt x="321846" y="333119"/>
                  </a:cubicBezTo>
                  <a:cubicBezTo>
                    <a:pt x="322706" y="332928"/>
                    <a:pt x="323566" y="332928"/>
                    <a:pt x="324426" y="332928"/>
                  </a:cubicBezTo>
                  <a:cubicBezTo>
                    <a:pt x="332836" y="332928"/>
                    <a:pt x="339813" y="339510"/>
                    <a:pt x="340195" y="347905"/>
                  </a:cubicBezTo>
                  <a:lnTo>
                    <a:pt x="340195" y="380912"/>
                  </a:lnTo>
                  <a:cubicBezTo>
                    <a:pt x="340004" y="389498"/>
                    <a:pt x="333027" y="396366"/>
                    <a:pt x="324426" y="396366"/>
                  </a:cubicBezTo>
                  <a:cubicBezTo>
                    <a:pt x="320794" y="396366"/>
                    <a:pt x="317545" y="395126"/>
                    <a:pt x="314869" y="393123"/>
                  </a:cubicBezTo>
                  <a:cubicBezTo>
                    <a:pt x="305885" y="387208"/>
                    <a:pt x="299864" y="374997"/>
                    <a:pt x="294417" y="374807"/>
                  </a:cubicBezTo>
                  <a:lnTo>
                    <a:pt x="278839" y="374902"/>
                  </a:lnTo>
                  <a:lnTo>
                    <a:pt x="263261" y="374807"/>
                  </a:lnTo>
                  <a:cubicBezTo>
                    <a:pt x="257813" y="374997"/>
                    <a:pt x="251792" y="387208"/>
                    <a:pt x="242809" y="393123"/>
                  </a:cubicBezTo>
                  <a:cubicBezTo>
                    <a:pt x="240228" y="395126"/>
                    <a:pt x="236883" y="396366"/>
                    <a:pt x="233347" y="396366"/>
                  </a:cubicBezTo>
                  <a:cubicBezTo>
                    <a:pt x="224746" y="396366"/>
                    <a:pt x="217769" y="389498"/>
                    <a:pt x="217482" y="380912"/>
                  </a:cubicBezTo>
                  <a:lnTo>
                    <a:pt x="217482" y="347905"/>
                  </a:lnTo>
                  <a:cubicBezTo>
                    <a:pt x="217960" y="339510"/>
                    <a:pt x="224841" y="332928"/>
                    <a:pt x="233347" y="332928"/>
                  </a:cubicBezTo>
                  <a:close/>
                  <a:moveTo>
                    <a:pt x="277214" y="0"/>
                  </a:moveTo>
                  <a:cubicBezTo>
                    <a:pt x="277596" y="0"/>
                    <a:pt x="278074" y="0"/>
                    <a:pt x="278552" y="0"/>
                  </a:cubicBezTo>
                  <a:cubicBezTo>
                    <a:pt x="278648" y="0"/>
                    <a:pt x="278648" y="0"/>
                    <a:pt x="278744" y="0"/>
                  </a:cubicBezTo>
                  <a:cubicBezTo>
                    <a:pt x="278744" y="0"/>
                    <a:pt x="278839" y="0"/>
                    <a:pt x="278839" y="0"/>
                  </a:cubicBezTo>
                  <a:cubicBezTo>
                    <a:pt x="278935" y="0"/>
                    <a:pt x="278935" y="0"/>
                    <a:pt x="278935" y="0"/>
                  </a:cubicBezTo>
                  <a:cubicBezTo>
                    <a:pt x="279030" y="0"/>
                    <a:pt x="279126" y="0"/>
                    <a:pt x="279222" y="0"/>
                  </a:cubicBezTo>
                  <a:cubicBezTo>
                    <a:pt x="279604" y="0"/>
                    <a:pt x="280082" y="0"/>
                    <a:pt x="280560" y="0"/>
                  </a:cubicBezTo>
                  <a:cubicBezTo>
                    <a:pt x="387453" y="0"/>
                    <a:pt x="407531" y="76166"/>
                    <a:pt x="404758" y="105659"/>
                  </a:cubicBezTo>
                  <a:cubicBezTo>
                    <a:pt x="402464" y="129330"/>
                    <a:pt x="396727" y="160159"/>
                    <a:pt x="396727" y="160159"/>
                  </a:cubicBezTo>
                  <a:cubicBezTo>
                    <a:pt x="396727" y="160159"/>
                    <a:pt x="408009" y="165313"/>
                    <a:pt x="408009" y="186120"/>
                  </a:cubicBezTo>
                  <a:cubicBezTo>
                    <a:pt x="404089" y="238234"/>
                    <a:pt x="383246" y="215708"/>
                    <a:pt x="379039" y="238616"/>
                  </a:cubicBezTo>
                  <a:cubicBezTo>
                    <a:pt x="371868" y="276603"/>
                    <a:pt x="338213" y="304092"/>
                    <a:pt x="317179" y="313541"/>
                  </a:cubicBezTo>
                  <a:cubicBezTo>
                    <a:pt x="304941" y="319077"/>
                    <a:pt x="292225" y="321845"/>
                    <a:pt x="278935" y="322131"/>
                  </a:cubicBezTo>
                  <a:cubicBezTo>
                    <a:pt x="278935" y="322131"/>
                    <a:pt x="278935" y="322131"/>
                    <a:pt x="278839" y="322131"/>
                  </a:cubicBezTo>
                  <a:cubicBezTo>
                    <a:pt x="278839" y="322131"/>
                    <a:pt x="278744" y="322131"/>
                    <a:pt x="278744" y="322131"/>
                  </a:cubicBezTo>
                  <a:cubicBezTo>
                    <a:pt x="265454" y="321845"/>
                    <a:pt x="252738" y="319077"/>
                    <a:pt x="240499" y="313541"/>
                  </a:cubicBezTo>
                  <a:cubicBezTo>
                    <a:pt x="219561" y="304092"/>
                    <a:pt x="185810" y="276603"/>
                    <a:pt x="178734" y="238616"/>
                  </a:cubicBezTo>
                  <a:cubicBezTo>
                    <a:pt x="174432" y="215708"/>
                    <a:pt x="153684" y="238234"/>
                    <a:pt x="149669" y="186120"/>
                  </a:cubicBezTo>
                  <a:cubicBezTo>
                    <a:pt x="149669" y="165313"/>
                    <a:pt x="161046" y="160159"/>
                    <a:pt x="161046" y="160159"/>
                  </a:cubicBezTo>
                  <a:cubicBezTo>
                    <a:pt x="161046" y="160159"/>
                    <a:pt x="155214" y="129330"/>
                    <a:pt x="153015" y="105659"/>
                  </a:cubicBezTo>
                  <a:cubicBezTo>
                    <a:pt x="150147" y="76166"/>
                    <a:pt x="170225" y="0"/>
                    <a:pt x="2772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336261" y="5268230"/>
              <a:ext cx="712961" cy="311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800" dirty="0">
                  <a:latin typeface="+mn-ea"/>
                </a:rPr>
                <a:t>海外投资者</a:t>
              </a:r>
              <a:endParaRPr lang="en-US" altLang="zh-CN" sz="800" dirty="0">
                <a:latin typeface="+mn-ea"/>
              </a:endParaRPr>
            </a:p>
            <a:p>
              <a:pPr algn="ctr"/>
              <a:r>
                <a:rPr lang="zh-CN" altLang="en-US" sz="800" dirty="0">
                  <a:latin typeface="+mn-ea"/>
                </a:rPr>
                <a:t>林先生（快车）</a:t>
              </a:r>
            </a:p>
          </p:txBody>
        </p:sp>
      </p:grpSp>
      <p:grpSp>
        <p:nvGrpSpPr>
          <p:cNvPr id="109" name="组合 108"/>
          <p:cNvGrpSpPr/>
          <p:nvPr/>
        </p:nvGrpSpPr>
        <p:grpSpPr>
          <a:xfrm>
            <a:off x="3590008" y="1820983"/>
            <a:ext cx="849130" cy="638962"/>
            <a:chOff x="2802937" y="2046687"/>
            <a:chExt cx="849130" cy="638962"/>
          </a:xfrm>
        </p:grpSpPr>
        <p:sp>
          <p:nvSpPr>
            <p:cNvPr id="27" name="文本框 26"/>
            <p:cNvSpPr txBox="1"/>
            <p:nvPr/>
          </p:nvSpPr>
          <p:spPr>
            <a:xfrm>
              <a:off x="2802937" y="2347095"/>
              <a:ext cx="849130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800" dirty="0">
                  <a:latin typeface="+mn-ea"/>
                </a:rPr>
                <a:t>保险业务员施女士（专车）</a:t>
              </a:r>
            </a:p>
          </p:txBody>
        </p:sp>
        <p:pic>
          <p:nvPicPr>
            <p:cNvPr id="104" name="图片 10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6254" y="2046687"/>
              <a:ext cx="332956" cy="332956"/>
            </a:xfrm>
            <a:prstGeom prst="rect">
              <a:avLst/>
            </a:prstGeom>
          </p:spPr>
        </p:pic>
      </p:grpSp>
      <p:grpSp>
        <p:nvGrpSpPr>
          <p:cNvPr id="108" name="组合 107"/>
          <p:cNvGrpSpPr/>
          <p:nvPr/>
        </p:nvGrpSpPr>
        <p:grpSpPr>
          <a:xfrm>
            <a:off x="1548793" y="2514907"/>
            <a:ext cx="849130" cy="659108"/>
            <a:chOff x="1253643" y="2596532"/>
            <a:chExt cx="918935" cy="724547"/>
          </a:xfrm>
        </p:grpSpPr>
        <p:sp>
          <p:nvSpPr>
            <p:cNvPr id="35" name="文本框 34"/>
            <p:cNvSpPr txBox="1"/>
            <p:nvPr/>
          </p:nvSpPr>
          <p:spPr>
            <a:xfrm>
              <a:off x="1253643" y="2948915"/>
              <a:ext cx="918935" cy="37216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800" dirty="0">
                  <a:latin typeface="+mn-ea"/>
                </a:rPr>
                <a:t>老师王女士（专车）</a:t>
              </a:r>
            </a:p>
          </p:txBody>
        </p:sp>
        <p:pic>
          <p:nvPicPr>
            <p:cNvPr id="105" name="图片 10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36154" y="2596532"/>
              <a:ext cx="365440" cy="365440"/>
            </a:xfrm>
            <a:prstGeom prst="rect">
              <a:avLst/>
            </a:prstGeom>
          </p:spPr>
        </p:pic>
      </p:grpSp>
      <p:pic>
        <p:nvPicPr>
          <p:cNvPr id="107" name="图片 10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4665" y="3071472"/>
            <a:ext cx="344583" cy="344583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8140704" y="3457298"/>
            <a:ext cx="792618" cy="651138"/>
            <a:chOff x="7905175" y="3418178"/>
            <a:chExt cx="792618" cy="651138"/>
          </a:xfrm>
        </p:grpSpPr>
        <p:sp>
          <p:nvSpPr>
            <p:cNvPr id="112" name="businessman-presenter_46787"/>
            <p:cNvSpPr/>
            <p:nvPr/>
          </p:nvSpPr>
          <p:spPr>
            <a:xfrm>
              <a:off x="8121871" y="3418178"/>
              <a:ext cx="311791" cy="434974"/>
            </a:xfrm>
            <a:custGeom>
              <a:avLst/>
              <a:gdLst>
                <a:gd name="T0" fmla="*/ 3466 w 3883"/>
                <a:gd name="T1" fmla="*/ 3672 h 6573"/>
                <a:gd name="T2" fmla="*/ 417 w 3883"/>
                <a:gd name="T3" fmla="*/ 3672 h 6573"/>
                <a:gd name="T4" fmla="*/ 55 w 3883"/>
                <a:gd name="T5" fmla="*/ 3339 h 6573"/>
                <a:gd name="T6" fmla="*/ 9 w 3883"/>
                <a:gd name="T7" fmla="*/ 2780 h 6573"/>
                <a:gd name="T8" fmla="*/ 189 w 3883"/>
                <a:gd name="T9" fmla="*/ 2584 h 6573"/>
                <a:gd name="T10" fmla="*/ 3694 w 3883"/>
                <a:gd name="T11" fmla="*/ 2584 h 6573"/>
                <a:gd name="T12" fmla="*/ 3875 w 3883"/>
                <a:gd name="T13" fmla="*/ 2780 h 6573"/>
                <a:gd name="T14" fmla="*/ 3828 w 3883"/>
                <a:gd name="T15" fmla="*/ 3339 h 6573"/>
                <a:gd name="T16" fmla="*/ 3466 w 3883"/>
                <a:gd name="T17" fmla="*/ 3672 h 6573"/>
                <a:gd name="T18" fmla="*/ 3438 w 3883"/>
                <a:gd name="T19" fmla="*/ 3853 h 6573"/>
                <a:gd name="T20" fmla="*/ 446 w 3883"/>
                <a:gd name="T21" fmla="*/ 3853 h 6573"/>
                <a:gd name="T22" fmla="*/ 808 w 3883"/>
                <a:gd name="T23" fmla="*/ 6573 h 6573"/>
                <a:gd name="T24" fmla="*/ 3075 w 3883"/>
                <a:gd name="T25" fmla="*/ 6573 h 6573"/>
                <a:gd name="T26" fmla="*/ 3438 w 3883"/>
                <a:gd name="T27" fmla="*/ 3853 h 6573"/>
                <a:gd name="T28" fmla="*/ 1957 w 3883"/>
                <a:gd name="T29" fmla="*/ 1223 h 6573"/>
                <a:gd name="T30" fmla="*/ 2569 w 3883"/>
                <a:gd name="T31" fmla="*/ 611 h 6573"/>
                <a:gd name="T32" fmla="*/ 1957 w 3883"/>
                <a:gd name="T33" fmla="*/ 0 h 6573"/>
                <a:gd name="T34" fmla="*/ 1346 w 3883"/>
                <a:gd name="T35" fmla="*/ 611 h 6573"/>
                <a:gd name="T36" fmla="*/ 1957 w 3883"/>
                <a:gd name="T37" fmla="*/ 1223 h 6573"/>
                <a:gd name="T38" fmla="*/ 3347 w 3883"/>
                <a:gd name="T39" fmla="*/ 2403 h 6573"/>
                <a:gd name="T40" fmla="*/ 3213 w 3883"/>
                <a:gd name="T41" fmla="*/ 1805 h 6573"/>
                <a:gd name="T42" fmla="*/ 2901 w 3883"/>
                <a:gd name="T43" fmla="*/ 1515 h 6573"/>
                <a:gd name="T44" fmla="*/ 2357 w 3883"/>
                <a:gd name="T45" fmla="*/ 1435 h 6573"/>
                <a:gd name="T46" fmla="*/ 2088 w 3883"/>
                <a:gd name="T47" fmla="*/ 2052 h 6573"/>
                <a:gd name="T48" fmla="*/ 2053 w 3883"/>
                <a:gd name="T49" fmla="*/ 1748 h 6573"/>
                <a:gd name="T50" fmla="*/ 2034 w 3883"/>
                <a:gd name="T51" fmla="*/ 1731 h 6573"/>
                <a:gd name="T52" fmla="*/ 1880 w 3883"/>
                <a:gd name="T53" fmla="*/ 1731 h 6573"/>
                <a:gd name="T54" fmla="*/ 1862 w 3883"/>
                <a:gd name="T55" fmla="*/ 1748 h 6573"/>
                <a:gd name="T56" fmla="*/ 1830 w 3883"/>
                <a:gd name="T57" fmla="*/ 2060 h 6573"/>
                <a:gd name="T58" fmla="*/ 1557 w 3883"/>
                <a:gd name="T59" fmla="*/ 1435 h 6573"/>
                <a:gd name="T60" fmla="*/ 1014 w 3883"/>
                <a:gd name="T61" fmla="*/ 1515 h 6573"/>
                <a:gd name="T62" fmla="*/ 701 w 3883"/>
                <a:gd name="T63" fmla="*/ 1805 h 6573"/>
                <a:gd name="T64" fmla="*/ 567 w 3883"/>
                <a:gd name="T65" fmla="*/ 2403 h 6573"/>
                <a:gd name="T66" fmla="*/ 3347 w 3883"/>
                <a:gd name="T67" fmla="*/ 2403 h 6573"/>
                <a:gd name="T68" fmla="*/ 1769 w 3883"/>
                <a:gd name="T69" fmla="*/ 1458 h 6573"/>
                <a:gd name="T70" fmla="*/ 1844 w 3883"/>
                <a:gd name="T71" fmla="*/ 1618 h 6573"/>
                <a:gd name="T72" fmla="*/ 1957 w 3883"/>
                <a:gd name="T73" fmla="*/ 1646 h 6573"/>
                <a:gd name="T74" fmla="*/ 2070 w 3883"/>
                <a:gd name="T75" fmla="*/ 1618 h 6573"/>
                <a:gd name="T76" fmla="*/ 2145 w 3883"/>
                <a:gd name="T77" fmla="*/ 1458 h 6573"/>
                <a:gd name="T78" fmla="*/ 1957 w 3883"/>
                <a:gd name="T79" fmla="*/ 1383 h 6573"/>
                <a:gd name="T80" fmla="*/ 1769 w 3883"/>
                <a:gd name="T81" fmla="*/ 1458 h 6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883" h="6573">
                  <a:moveTo>
                    <a:pt x="3466" y="3672"/>
                  </a:moveTo>
                  <a:lnTo>
                    <a:pt x="417" y="3672"/>
                  </a:lnTo>
                  <a:cubicBezTo>
                    <a:pt x="228" y="3672"/>
                    <a:pt x="71" y="3527"/>
                    <a:pt x="55" y="3339"/>
                  </a:cubicBezTo>
                  <a:lnTo>
                    <a:pt x="9" y="2780"/>
                  </a:lnTo>
                  <a:cubicBezTo>
                    <a:pt x="0" y="2675"/>
                    <a:pt x="83" y="2584"/>
                    <a:pt x="189" y="2584"/>
                  </a:cubicBezTo>
                  <a:lnTo>
                    <a:pt x="3694" y="2584"/>
                  </a:lnTo>
                  <a:cubicBezTo>
                    <a:pt x="3800" y="2584"/>
                    <a:pt x="3883" y="2675"/>
                    <a:pt x="3875" y="2780"/>
                  </a:cubicBezTo>
                  <a:lnTo>
                    <a:pt x="3828" y="3339"/>
                  </a:lnTo>
                  <a:cubicBezTo>
                    <a:pt x="3812" y="3527"/>
                    <a:pt x="3655" y="3672"/>
                    <a:pt x="3466" y="3672"/>
                  </a:cubicBezTo>
                  <a:close/>
                  <a:moveTo>
                    <a:pt x="3438" y="3853"/>
                  </a:moveTo>
                  <a:lnTo>
                    <a:pt x="446" y="3853"/>
                  </a:lnTo>
                  <a:lnTo>
                    <a:pt x="808" y="6573"/>
                  </a:lnTo>
                  <a:lnTo>
                    <a:pt x="3075" y="6573"/>
                  </a:lnTo>
                  <a:lnTo>
                    <a:pt x="3438" y="3853"/>
                  </a:lnTo>
                  <a:close/>
                  <a:moveTo>
                    <a:pt x="1957" y="1223"/>
                  </a:moveTo>
                  <a:cubicBezTo>
                    <a:pt x="2295" y="1223"/>
                    <a:pt x="2569" y="949"/>
                    <a:pt x="2569" y="611"/>
                  </a:cubicBezTo>
                  <a:cubicBezTo>
                    <a:pt x="2569" y="274"/>
                    <a:pt x="2295" y="0"/>
                    <a:pt x="1957" y="0"/>
                  </a:cubicBezTo>
                  <a:cubicBezTo>
                    <a:pt x="1619" y="0"/>
                    <a:pt x="1346" y="274"/>
                    <a:pt x="1346" y="611"/>
                  </a:cubicBezTo>
                  <a:cubicBezTo>
                    <a:pt x="1346" y="949"/>
                    <a:pt x="1619" y="1223"/>
                    <a:pt x="1957" y="1223"/>
                  </a:cubicBezTo>
                  <a:close/>
                  <a:moveTo>
                    <a:pt x="3347" y="2403"/>
                  </a:moveTo>
                  <a:lnTo>
                    <a:pt x="3213" y="1805"/>
                  </a:lnTo>
                  <a:cubicBezTo>
                    <a:pt x="3179" y="1653"/>
                    <a:pt x="3055" y="1537"/>
                    <a:pt x="2901" y="1515"/>
                  </a:cubicBezTo>
                  <a:lnTo>
                    <a:pt x="2357" y="1435"/>
                  </a:lnTo>
                  <a:lnTo>
                    <a:pt x="2088" y="2052"/>
                  </a:lnTo>
                  <a:lnTo>
                    <a:pt x="2053" y="1748"/>
                  </a:lnTo>
                  <a:cubicBezTo>
                    <a:pt x="2052" y="1738"/>
                    <a:pt x="2044" y="1731"/>
                    <a:pt x="2034" y="1731"/>
                  </a:cubicBezTo>
                  <a:lnTo>
                    <a:pt x="1880" y="1731"/>
                  </a:lnTo>
                  <a:cubicBezTo>
                    <a:pt x="1870" y="1731"/>
                    <a:pt x="1862" y="1738"/>
                    <a:pt x="1862" y="1748"/>
                  </a:cubicBezTo>
                  <a:lnTo>
                    <a:pt x="1830" y="2060"/>
                  </a:lnTo>
                  <a:lnTo>
                    <a:pt x="1557" y="1435"/>
                  </a:lnTo>
                  <a:lnTo>
                    <a:pt x="1014" y="1515"/>
                  </a:lnTo>
                  <a:cubicBezTo>
                    <a:pt x="859" y="1537"/>
                    <a:pt x="735" y="1653"/>
                    <a:pt x="701" y="1805"/>
                  </a:cubicBezTo>
                  <a:lnTo>
                    <a:pt x="567" y="2403"/>
                  </a:lnTo>
                  <a:lnTo>
                    <a:pt x="3347" y="2403"/>
                  </a:lnTo>
                  <a:close/>
                  <a:moveTo>
                    <a:pt x="1769" y="1458"/>
                  </a:moveTo>
                  <a:cubicBezTo>
                    <a:pt x="1769" y="1515"/>
                    <a:pt x="1816" y="1590"/>
                    <a:pt x="1844" y="1618"/>
                  </a:cubicBezTo>
                  <a:cubicBezTo>
                    <a:pt x="1872" y="1646"/>
                    <a:pt x="1919" y="1646"/>
                    <a:pt x="1957" y="1646"/>
                  </a:cubicBezTo>
                  <a:cubicBezTo>
                    <a:pt x="1995" y="1646"/>
                    <a:pt x="2042" y="1646"/>
                    <a:pt x="2070" y="1618"/>
                  </a:cubicBezTo>
                  <a:cubicBezTo>
                    <a:pt x="2098" y="1590"/>
                    <a:pt x="2145" y="1515"/>
                    <a:pt x="2145" y="1458"/>
                  </a:cubicBezTo>
                  <a:cubicBezTo>
                    <a:pt x="2145" y="1392"/>
                    <a:pt x="2030" y="1383"/>
                    <a:pt x="1957" y="1383"/>
                  </a:cubicBezTo>
                  <a:cubicBezTo>
                    <a:pt x="1884" y="1383"/>
                    <a:pt x="1769" y="1392"/>
                    <a:pt x="1769" y="145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文本框 112"/>
            <p:cNvSpPr txBox="1"/>
            <p:nvPr/>
          </p:nvSpPr>
          <p:spPr>
            <a:xfrm>
              <a:off x="7905175" y="3853872"/>
              <a:ext cx="79261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latin typeface="+mn-ea"/>
                </a:rPr>
                <a:t>主持人</a:t>
              </a:r>
            </a:p>
          </p:txBody>
        </p:sp>
      </p:grpSp>
      <p:grpSp>
        <p:nvGrpSpPr>
          <p:cNvPr id="114" name="组合 113"/>
          <p:cNvGrpSpPr/>
          <p:nvPr/>
        </p:nvGrpSpPr>
        <p:grpSpPr>
          <a:xfrm>
            <a:off x="6998911" y="3085241"/>
            <a:ext cx="849130" cy="636300"/>
            <a:chOff x="1266169" y="2596532"/>
            <a:chExt cx="918935" cy="699471"/>
          </a:xfrm>
        </p:grpSpPr>
        <p:sp>
          <p:nvSpPr>
            <p:cNvPr id="115" name="文本框 114"/>
            <p:cNvSpPr txBox="1"/>
            <p:nvPr/>
          </p:nvSpPr>
          <p:spPr>
            <a:xfrm>
              <a:off x="1266169" y="2923838"/>
              <a:ext cx="918935" cy="3721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800" dirty="0">
                  <a:latin typeface="+mn-ea"/>
                </a:rPr>
                <a:t>专车司机</a:t>
              </a:r>
              <a:endParaRPr lang="en-US" altLang="zh-CN" sz="800" dirty="0">
                <a:latin typeface="+mn-ea"/>
              </a:endParaRPr>
            </a:p>
            <a:p>
              <a:pPr algn="ctr"/>
              <a:r>
                <a:rPr lang="zh-CN" altLang="en-US" sz="800" dirty="0">
                  <a:latin typeface="+mn-ea"/>
                </a:rPr>
                <a:t>黄女士</a:t>
              </a:r>
            </a:p>
          </p:txBody>
        </p:sp>
        <p:pic>
          <p:nvPicPr>
            <p:cNvPr id="116" name="图片 11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36154" y="2596532"/>
              <a:ext cx="365440" cy="365440"/>
            </a:xfrm>
            <a:prstGeom prst="rect">
              <a:avLst/>
            </a:prstGeom>
          </p:spPr>
        </p:pic>
      </p:grpSp>
      <p:grpSp>
        <p:nvGrpSpPr>
          <p:cNvPr id="117" name="组合 116"/>
          <p:cNvGrpSpPr/>
          <p:nvPr/>
        </p:nvGrpSpPr>
        <p:grpSpPr>
          <a:xfrm>
            <a:off x="6934822" y="2309302"/>
            <a:ext cx="849130" cy="624726"/>
            <a:chOff x="1272432" y="2596532"/>
            <a:chExt cx="918935" cy="686748"/>
          </a:xfrm>
        </p:grpSpPr>
        <p:sp>
          <p:nvSpPr>
            <p:cNvPr id="118" name="文本框 117"/>
            <p:cNvSpPr txBox="1"/>
            <p:nvPr/>
          </p:nvSpPr>
          <p:spPr>
            <a:xfrm>
              <a:off x="1272432" y="2911115"/>
              <a:ext cx="918935" cy="3721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800" dirty="0">
                  <a:latin typeface="+mn-ea"/>
                </a:rPr>
                <a:t>快车司机</a:t>
              </a:r>
              <a:endParaRPr lang="en-US" altLang="zh-CN" sz="800" dirty="0">
                <a:latin typeface="+mn-ea"/>
              </a:endParaRPr>
            </a:p>
            <a:p>
              <a:pPr algn="ctr"/>
              <a:r>
                <a:rPr lang="zh-CN" altLang="en-US" sz="800" dirty="0">
                  <a:latin typeface="+mn-ea"/>
                </a:rPr>
                <a:t>戴女士</a:t>
              </a:r>
            </a:p>
          </p:txBody>
        </p:sp>
        <p:pic>
          <p:nvPicPr>
            <p:cNvPr id="119" name="图片 11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36154" y="2596532"/>
              <a:ext cx="365440" cy="365440"/>
            </a:xfrm>
            <a:prstGeom prst="rect">
              <a:avLst/>
            </a:prstGeom>
          </p:spPr>
        </p:pic>
      </p:grpSp>
      <p:grpSp>
        <p:nvGrpSpPr>
          <p:cNvPr id="120" name="组合 119"/>
          <p:cNvGrpSpPr/>
          <p:nvPr/>
        </p:nvGrpSpPr>
        <p:grpSpPr>
          <a:xfrm>
            <a:off x="8133238" y="1712947"/>
            <a:ext cx="772287" cy="633834"/>
            <a:chOff x="2307107" y="4996776"/>
            <a:chExt cx="648441" cy="582692"/>
          </a:xfrm>
        </p:grpSpPr>
        <p:sp>
          <p:nvSpPr>
            <p:cNvPr id="121" name="man-with-bow_56788"/>
            <p:cNvSpPr/>
            <p:nvPr/>
          </p:nvSpPr>
          <p:spPr>
            <a:xfrm>
              <a:off x="2462876" y="4996776"/>
              <a:ext cx="279562" cy="283309"/>
            </a:xfrm>
            <a:custGeom>
              <a:avLst/>
              <a:gdLst>
                <a:gd name="connsiteX0" fmla="*/ 188888 w 557678"/>
                <a:gd name="connsiteY0" fmla="*/ 367011 h 607780"/>
                <a:gd name="connsiteX1" fmla="*/ 199785 w 557678"/>
                <a:gd name="connsiteY1" fmla="*/ 373977 h 607780"/>
                <a:gd name="connsiteX2" fmla="*/ 278839 w 557678"/>
                <a:gd name="connsiteY2" fmla="*/ 490974 h 607780"/>
                <a:gd name="connsiteX3" fmla="*/ 357893 w 557678"/>
                <a:gd name="connsiteY3" fmla="*/ 373977 h 607780"/>
                <a:gd name="connsiteX4" fmla="*/ 368886 w 557678"/>
                <a:gd name="connsiteY4" fmla="*/ 367011 h 607780"/>
                <a:gd name="connsiteX5" fmla="*/ 374908 w 557678"/>
                <a:gd name="connsiteY5" fmla="*/ 368729 h 607780"/>
                <a:gd name="connsiteX6" fmla="*/ 557678 w 557678"/>
                <a:gd name="connsiteY6" fmla="*/ 480572 h 607780"/>
                <a:gd name="connsiteX7" fmla="*/ 557678 w 557678"/>
                <a:gd name="connsiteY7" fmla="*/ 607780 h 607780"/>
                <a:gd name="connsiteX8" fmla="*/ 278839 w 557678"/>
                <a:gd name="connsiteY8" fmla="*/ 607780 h 607780"/>
                <a:gd name="connsiteX9" fmla="*/ 0 w 557678"/>
                <a:gd name="connsiteY9" fmla="*/ 607780 h 607780"/>
                <a:gd name="connsiteX10" fmla="*/ 0 w 557678"/>
                <a:gd name="connsiteY10" fmla="*/ 480572 h 607780"/>
                <a:gd name="connsiteX11" fmla="*/ 182770 w 557678"/>
                <a:gd name="connsiteY11" fmla="*/ 368729 h 607780"/>
                <a:gd name="connsiteX12" fmla="*/ 188888 w 557678"/>
                <a:gd name="connsiteY12" fmla="*/ 367011 h 607780"/>
                <a:gd name="connsiteX13" fmla="*/ 233347 w 557678"/>
                <a:gd name="connsiteY13" fmla="*/ 332928 h 607780"/>
                <a:gd name="connsiteX14" fmla="*/ 235832 w 557678"/>
                <a:gd name="connsiteY14" fmla="*/ 333119 h 607780"/>
                <a:gd name="connsiteX15" fmla="*/ 236501 w 557678"/>
                <a:gd name="connsiteY15" fmla="*/ 333214 h 607780"/>
                <a:gd name="connsiteX16" fmla="*/ 236692 w 557678"/>
                <a:gd name="connsiteY16" fmla="*/ 333214 h 607780"/>
                <a:gd name="connsiteX17" fmla="*/ 237934 w 557678"/>
                <a:gd name="connsiteY17" fmla="*/ 333596 h 607780"/>
                <a:gd name="connsiteX18" fmla="*/ 238508 w 557678"/>
                <a:gd name="connsiteY18" fmla="*/ 333787 h 607780"/>
                <a:gd name="connsiteX19" fmla="*/ 239177 w 557678"/>
                <a:gd name="connsiteY19" fmla="*/ 333977 h 607780"/>
                <a:gd name="connsiteX20" fmla="*/ 243478 w 557678"/>
                <a:gd name="connsiteY20" fmla="*/ 336553 h 607780"/>
                <a:gd name="connsiteX21" fmla="*/ 264981 w 557678"/>
                <a:gd name="connsiteY21" fmla="*/ 353724 h 607780"/>
                <a:gd name="connsiteX22" fmla="*/ 267657 w 557678"/>
                <a:gd name="connsiteY22" fmla="*/ 353820 h 607780"/>
                <a:gd name="connsiteX23" fmla="*/ 278839 w 557678"/>
                <a:gd name="connsiteY23" fmla="*/ 353724 h 607780"/>
                <a:gd name="connsiteX24" fmla="*/ 290021 w 557678"/>
                <a:gd name="connsiteY24" fmla="*/ 353820 h 607780"/>
                <a:gd name="connsiteX25" fmla="*/ 292792 w 557678"/>
                <a:gd name="connsiteY25" fmla="*/ 353724 h 607780"/>
                <a:gd name="connsiteX26" fmla="*/ 314200 w 557678"/>
                <a:gd name="connsiteY26" fmla="*/ 336553 h 607780"/>
                <a:gd name="connsiteX27" fmla="*/ 318596 w 557678"/>
                <a:gd name="connsiteY27" fmla="*/ 333977 h 607780"/>
                <a:gd name="connsiteX28" fmla="*/ 319265 w 557678"/>
                <a:gd name="connsiteY28" fmla="*/ 333787 h 607780"/>
                <a:gd name="connsiteX29" fmla="*/ 319743 w 557678"/>
                <a:gd name="connsiteY29" fmla="*/ 333596 h 607780"/>
                <a:gd name="connsiteX30" fmla="*/ 321081 w 557678"/>
                <a:gd name="connsiteY30" fmla="*/ 333214 h 607780"/>
                <a:gd name="connsiteX31" fmla="*/ 321272 w 557678"/>
                <a:gd name="connsiteY31" fmla="*/ 333214 h 607780"/>
                <a:gd name="connsiteX32" fmla="*/ 321846 w 557678"/>
                <a:gd name="connsiteY32" fmla="*/ 333119 h 607780"/>
                <a:gd name="connsiteX33" fmla="*/ 324426 w 557678"/>
                <a:gd name="connsiteY33" fmla="*/ 332928 h 607780"/>
                <a:gd name="connsiteX34" fmla="*/ 340195 w 557678"/>
                <a:gd name="connsiteY34" fmla="*/ 347905 h 607780"/>
                <a:gd name="connsiteX35" fmla="*/ 340195 w 557678"/>
                <a:gd name="connsiteY35" fmla="*/ 380912 h 607780"/>
                <a:gd name="connsiteX36" fmla="*/ 324426 w 557678"/>
                <a:gd name="connsiteY36" fmla="*/ 396366 h 607780"/>
                <a:gd name="connsiteX37" fmla="*/ 314869 w 557678"/>
                <a:gd name="connsiteY37" fmla="*/ 393123 h 607780"/>
                <a:gd name="connsiteX38" fmla="*/ 294417 w 557678"/>
                <a:gd name="connsiteY38" fmla="*/ 374807 h 607780"/>
                <a:gd name="connsiteX39" fmla="*/ 278839 w 557678"/>
                <a:gd name="connsiteY39" fmla="*/ 374902 h 607780"/>
                <a:gd name="connsiteX40" fmla="*/ 263261 w 557678"/>
                <a:gd name="connsiteY40" fmla="*/ 374807 h 607780"/>
                <a:gd name="connsiteX41" fmla="*/ 242809 w 557678"/>
                <a:gd name="connsiteY41" fmla="*/ 393123 h 607780"/>
                <a:gd name="connsiteX42" fmla="*/ 233347 w 557678"/>
                <a:gd name="connsiteY42" fmla="*/ 396366 h 607780"/>
                <a:gd name="connsiteX43" fmla="*/ 217482 w 557678"/>
                <a:gd name="connsiteY43" fmla="*/ 380912 h 607780"/>
                <a:gd name="connsiteX44" fmla="*/ 217482 w 557678"/>
                <a:gd name="connsiteY44" fmla="*/ 347905 h 607780"/>
                <a:gd name="connsiteX45" fmla="*/ 233347 w 557678"/>
                <a:gd name="connsiteY45" fmla="*/ 332928 h 607780"/>
                <a:gd name="connsiteX46" fmla="*/ 277214 w 557678"/>
                <a:gd name="connsiteY46" fmla="*/ 0 h 607780"/>
                <a:gd name="connsiteX47" fmla="*/ 278552 w 557678"/>
                <a:gd name="connsiteY47" fmla="*/ 0 h 607780"/>
                <a:gd name="connsiteX48" fmla="*/ 278744 w 557678"/>
                <a:gd name="connsiteY48" fmla="*/ 0 h 607780"/>
                <a:gd name="connsiteX49" fmla="*/ 278839 w 557678"/>
                <a:gd name="connsiteY49" fmla="*/ 0 h 607780"/>
                <a:gd name="connsiteX50" fmla="*/ 278935 w 557678"/>
                <a:gd name="connsiteY50" fmla="*/ 0 h 607780"/>
                <a:gd name="connsiteX51" fmla="*/ 279222 w 557678"/>
                <a:gd name="connsiteY51" fmla="*/ 0 h 607780"/>
                <a:gd name="connsiteX52" fmla="*/ 280560 w 557678"/>
                <a:gd name="connsiteY52" fmla="*/ 0 h 607780"/>
                <a:gd name="connsiteX53" fmla="*/ 404758 w 557678"/>
                <a:gd name="connsiteY53" fmla="*/ 105659 h 607780"/>
                <a:gd name="connsiteX54" fmla="*/ 396727 w 557678"/>
                <a:gd name="connsiteY54" fmla="*/ 160159 h 607780"/>
                <a:gd name="connsiteX55" fmla="*/ 408009 w 557678"/>
                <a:gd name="connsiteY55" fmla="*/ 186120 h 607780"/>
                <a:gd name="connsiteX56" fmla="*/ 379039 w 557678"/>
                <a:gd name="connsiteY56" fmla="*/ 238616 h 607780"/>
                <a:gd name="connsiteX57" fmla="*/ 317179 w 557678"/>
                <a:gd name="connsiteY57" fmla="*/ 313541 h 607780"/>
                <a:gd name="connsiteX58" fmla="*/ 278935 w 557678"/>
                <a:gd name="connsiteY58" fmla="*/ 322131 h 607780"/>
                <a:gd name="connsiteX59" fmla="*/ 278839 w 557678"/>
                <a:gd name="connsiteY59" fmla="*/ 322131 h 607780"/>
                <a:gd name="connsiteX60" fmla="*/ 278744 w 557678"/>
                <a:gd name="connsiteY60" fmla="*/ 322131 h 607780"/>
                <a:gd name="connsiteX61" fmla="*/ 240499 w 557678"/>
                <a:gd name="connsiteY61" fmla="*/ 313541 h 607780"/>
                <a:gd name="connsiteX62" fmla="*/ 178734 w 557678"/>
                <a:gd name="connsiteY62" fmla="*/ 238616 h 607780"/>
                <a:gd name="connsiteX63" fmla="*/ 149669 w 557678"/>
                <a:gd name="connsiteY63" fmla="*/ 186120 h 607780"/>
                <a:gd name="connsiteX64" fmla="*/ 161046 w 557678"/>
                <a:gd name="connsiteY64" fmla="*/ 160159 h 607780"/>
                <a:gd name="connsiteX65" fmla="*/ 153015 w 557678"/>
                <a:gd name="connsiteY65" fmla="*/ 105659 h 607780"/>
                <a:gd name="connsiteX66" fmla="*/ 277214 w 557678"/>
                <a:gd name="connsiteY66" fmla="*/ 0 h 607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557678" h="607780">
                  <a:moveTo>
                    <a:pt x="188888" y="367011"/>
                  </a:moveTo>
                  <a:cubicBezTo>
                    <a:pt x="193667" y="367011"/>
                    <a:pt x="197873" y="369874"/>
                    <a:pt x="199785" y="373977"/>
                  </a:cubicBezTo>
                  <a:cubicBezTo>
                    <a:pt x="218808" y="405851"/>
                    <a:pt x="254177" y="489256"/>
                    <a:pt x="278839" y="490974"/>
                  </a:cubicBezTo>
                  <a:cubicBezTo>
                    <a:pt x="303502" y="489256"/>
                    <a:pt x="338870" y="405851"/>
                    <a:pt x="357893" y="373977"/>
                  </a:cubicBezTo>
                  <a:cubicBezTo>
                    <a:pt x="359900" y="369874"/>
                    <a:pt x="364011" y="367011"/>
                    <a:pt x="368886" y="367011"/>
                  </a:cubicBezTo>
                  <a:cubicBezTo>
                    <a:pt x="371085" y="367011"/>
                    <a:pt x="372996" y="367870"/>
                    <a:pt x="374908" y="368729"/>
                  </a:cubicBezTo>
                  <a:cubicBezTo>
                    <a:pt x="382269" y="371878"/>
                    <a:pt x="557678" y="427132"/>
                    <a:pt x="557678" y="480572"/>
                  </a:cubicBezTo>
                  <a:lnTo>
                    <a:pt x="557678" y="607780"/>
                  </a:lnTo>
                  <a:lnTo>
                    <a:pt x="278839" y="607780"/>
                  </a:lnTo>
                  <a:lnTo>
                    <a:pt x="0" y="607780"/>
                  </a:lnTo>
                  <a:lnTo>
                    <a:pt x="0" y="480572"/>
                  </a:lnTo>
                  <a:cubicBezTo>
                    <a:pt x="0" y="421120"/>
                    <a:pt x="175314" y="371687"/>
                    <a:pt x="182770" y="368729"/>
                  </a:cubicBezTo>
                  <a:cubicBezTo>
                    <a:pt x="184682" y="367870"/>
                    <a:pt x="186593" y="367011"/>
                    <a:pt x="188888" y="367011"/>
                  </a:cubicBezTo>
                  <a:close/>
                  <a:moveTo>
                    <a:pt x="233347" y="332928"/>
                  </a:moveTo>
                  <a:cubicBezTo>
                    <a:pt x="234207" y="332928"/>
                    <a:pt x="235067" y="332928"/>
                    <a:pt x="235832" y="333119"/>
                  </a:cubicBezTo>
                  <a:cubicBezTo>
                    <a:pt x="236023" y="333119"/>
                    <a:pt x="236310" y="333119"/>
                    <a:pt x="236501" y="333214"/>
                  </a:cubicBezTo>
                  <a:cubicBezTo>
                    <a:pt x="236501" y="333214"/>
                    <a:pt x="236596" y="333214"/>
                    <a:pt x="236692" y="333214"/>
                  </a:cubicBezTo>
                  <a:cubicBezTo>
                    <a:pt x="237074" y="333310"/>
                    <a:pt x="237552" y="333405"/>
                    <a:pt x="237934" y="333596"/>
                  </a:cubicBezTo>
                  <a:cubicBezTo>
                    <a:pt x="238126" y="333596"/>
                    <a:pt x="238317" y="333691"/>
                    <a:pt x="238508" y="333787"/>
                  </a:cubicBezTo>
                  <a:cubicBezTo>
                    <a:pt x="238699" y="333787"/>
                    <a:pt x="238890" y="333882"/>
                    <a:pt x="239177" y="333977"/>
                  </a:cubicBezTo>
                  <a:cubicBezTo>
                    <a:pt x="240706" y="334645"/>
                    <a:pt x="242140" y="335504"/>
                    <a:pt x="243478" y="336553"/>
                  </a:cubicBezTo>
                  <a:cubicBezTo>
                    <a:pt x="250836" y="342372"/>
                    <a:pt x="255615" y="353056"/>
                    <a:pt x="264981" y="353724"/>
                  </a:cubicBezTo>
                  <a:cubicBezTo>
                    <a:pt x="265841" y="353820"/>
                    <a:pt x="266797" y="353820"/>
                    <a:pt x="267657" y="353820"/>
                  </a:cubicBezTo>
                  <a:cubicBezTo>
                    <a:pt x="268517" y="353820"/>
                    <a:pt x="274060" y="353724"/>
                    <a:pt x="278839" y="353724"/>
                  </a:cubicBezTo>
                  <a:cubicBezTo>
                    <a:pt x="283617" y="353724"/>
                    <a:pt x="289256" y="353820"/>
                    <a:pt x="290021" y="353820"/>
                  </a:cubicBezTo>
                  <a:cubicBezTo>
                    <a:pt x="290976" y="353820"/>
                    <a:pt x="291836" y="353820"/>
                    <a:pt x="292792" y="353724"/>
                  </a:cubicBezTo>
                  <a:cubicBezTo>
                    <a:pt x="302158" y="353056"/>
                    <a:pt x="306841" y="342372"/>
                    <a:pt x="314200" y="336553"/>
                  </a:cubicBezTo>
                  <a:cubicBezTo>
                    <a:pt x="315538" y="335504"/>
                    <a:pt x="316972" y="334645"/>
                    <a:pt x="318596" y="333977"/>
                  </a:cubicBezTo>
                  <a:cubicBezTo>
                    <a:pt x="318787" y="333882"/>
                    <a:pt x="318979" y="333787"/>
                    <a:pt x="319265" y="333787"/>
                  </a:cubicBezTo>
                  <a:cubicBezTo>
                    <a:pt x="319456" y="333691"/>
                    <a:pt x="319648" y="333596"/>
                    <a:pt x="319743" y="333596"/>
                  </a:cubicBezTo>
                  <a:cubicBezTo>
                    <a:pt x="320221" y="333405"/>
                    <a:pt x="320603" y="333310"/>
                    <a:pt x="321081" y="333214"/>
                  </a:cubicBezTo>
                  <a:cubicBezTo>
                    <a:pt x="321081" y="333214"/>
                    <a:pt x="321177" y="333214"/>
                    <a:pt x="321272" y="333214"/>
                  </a:cubicBezTo>
                  <a:cubicBezTo>
                    <a:pt x="321463" y="333119"/>
                    <a:pt x="321654" y="333119"/>
                    <a:pt x="321846" y="333119"/>
                  </a:cubicBezTo>
                  <a:cubicBezTo>
                    <a:pt x="322706" y="332928"/>
                    <a:pt x="323566" y="332928"/>
                    <a:pt x="324426" y="332928"/>
                  </a:cubicBezTo>
                  <a:cubicBezTo>
                    <a:pt x="332836" y="332928"/>
                    <a:pt x="339813" y="339510"/>
                    <a:pt x="340195" y="347905"/>
                  </a:cubicBezTo>
                  <a:lnTo>
                    <a:pt x="340195" y="380912"/>
                  </a:lnTo>
                  <a:cubicBezTo>
                    <a:pt x="340004" y="389498"/>
                    <a:pt x="333027" y="396366"/>
                    <a:pt x="324426" y="396366"/>
                  </a:cubicBezTo>
                  <a:cubicBezTo>
                    <a:pt x="320794" y="396366"/>
                    <a:pt x="317545" y="395126"/>
                    <a:pt x="314869" y="393123"/>
                  </a:cubicBezTo>
                  <a:cubicBezTo>
                    <a:pt x="305885" y="387208"/>
                    <a:pt x="299864" y="374997"/>
                    <a:pt x="294417" y="374807"/>
                  </a:cubicBezTo>
                  <a:lnTo>
                    <a:pt x="278839" y="374902"/>
                  </a:lnTo>
                  <a:lnTo>
                    <a:pt x="263261" y="374807"/>
                  </a:lnTo>
                  <a:cubicBezTo>
                    <a:pt x="257813" y="374997"/>
                    <a:pt x="251792" y="387208"/>
                    <a:pt x="242809" y="393123"/>
                  </a:cubicBezTo>
                  <a:cubicBezTo>
                    <a:pt x="240228" y="395126"/>
                    <a:pt x="236883" y="396366"/>
                    <a:pt x="233347" y="396366"/>
                  </a:cubicBezTo>
                  <a:cubicBezTo>
                    <a:pt x="224746" y="396366"/>
                    <a:pt x="217769" y="389498"/>
                    <a:pt x="217482" y="380912"/>
                  </a:cubicBezTo>
                  <a:lnTo>
                    <a:pt x="217482" y="347905"/>
                  </a:lnTo>
                  <a:cubicBezTo>
                    <a:pt x="217960" y="339510"/>
                    <a:pt x="224841" y="332928"/>
                    <a:pt x="233347" y="332928"/>
                  </a:cubicBezTo>
                  <a:close/>
                  <a:moveTo>
                    <a:pt x="277214" y="0"/>
                  </a:moveTo>
                  <a:cubicBezTo>
                    <a:pt x="277596" y="0"/>
                    <a:pt x="278074" y="0"/>
                    <a:pt x="278552" y="0"/>
                  </a:cubicBezTo>
                  <a:cubicBezTo>
                    <a:pt x="278648" y="0"/>
                    <a:pt x="278648" y="0"/>
                    <a:pt x="278744" y="0"/>
                  </a:cubicBezTo>
                  <a:cubicBezTo>
                    <a:pt x="278744" y="0"/>
                    <a:pt x="278839" y="0"/>
                    <a:pt x="278839" y="0"/>
                  </a:cubicBezTo>
                  <a:cubicBezTo>
                    <a:pt x="278935" y="0"/>
                    <a:pt x="278935" y="0"/>
                    <a:pt x="278935" y="0"/>
                  </a:cubicBezTo>
                  <a:cubicBezTo>
                    <a:pt x="279030" y="0"/>
                    <a:pt x="279126" y="0"/>
                    <a:pt x="279222" y="0"/>
                  </a:cubicBezTo>
                  <a:cubicBezTo>
                    <a:pt x="279604" y="0"/>
                    <a:pt x="280082" y="0"/>
                    <a:pt x="280560" y="0"/>
                  </a:cubicBezTo>
                  <a:cubicBezTo>
                    <a:pt x="387453" y="0"/>
                    <a:pt x="407531" y="76166"/>
                    <a:pt x="404758" y="105659"/>
                  </a:cubicBezTo>
                  <a:cubicBezTo>
                    <a:pt x="402464" y="129330"/>
                    <a:pt x="396727" y="160159"/>
                    <a:pt x="396727" y="160159"/>
                  </a:cubicBezTo>
                  <a:cubicBezTo>
                    <a:pt x="396727" y="160159"/>
                    <a:pt x="408009" y="165313"/>
                    <a:pt x="408009" y="186120"/>
                  </a:cubicBezTo>
                  <a:cubicBezTo>
                    <a:pt x="404089" y="238234"/>
                    <a:pt x="383246" y="215708"/>
                    <a:pt x="379039" y="238616"/>
                  </a:cubicBezTo>
                  <a:cubicBezTo>
                    <a:pt x="371868" y="276603"/>
                    <a:pt x="338213" y="304092"/>
                    <a:pt x="317179" y="313541"/>
                  </a:cubicBezTo>
                  <a:cubicBezTo>
                    <a:pt x="304941" y="319077"/>
                    <a:pt x="292225" y="321845"/>
                    <a:pt x="278935" y="322131"/>
                  </a:cubicBezTo>
                  <a:cubicBezTo>
                    <a:pt x="278935" y="322131"/>
                    <a:pt x="278935" y="322131"/>
                    <a:pt x="278839" y="322131"/>
                  </a:cubicBezTo>
                  <a:cubicBezTo>
                    <a:pt x="278839" y="322131"/>
                    <a:pt x="278744" y="322131"/>
                    <a:pt x="278744" y="322131"/>
                  </a:cubicBezTo>
                  <a:cubicBezTo>
                    <a:pt x="265454" y="321845"/>
                    <a:pt x="252738" y="319077"/>
                    <a:pt x="240499" y="313541"/>
                  </a:cubicBezTo>
                  <a:cubicBezTo>
                    <a:pt x="219561" y="304092"/>
                    <a:pt x="185810" y="276603"/>
                    <a:pt x="178734" y="238616"/>
                  </a:cubicBezTo>
                  <a:cubicBezTo>
                    <a:pt x="174432" y="215708"/>
                    <a:pt x="153684" y="238234"/>
                    <a:pt x="149669" y="186120"/>
                  </a:cubicBezTo>
                  <a:cubicBezTo>
                    <a:pt x="149669" y="165313"/>
                    <a:pt x="161046" y="160159"/>
                    <a:pt x="161046" y="160159"/>
                  </a:cubicBezTo>
                  <a:cubicBezTo>
                    <a:pt x="161046" y="160159"/>
                    <a:pt x="155214" y="129330"/>
                    <a:pt x="153015" y="105659"/>
                  </a:cubicBezTo>
                  <a:cubicBezTo>
                    <a:pt x="150147" y="76166"/>
                    <a:pt x="170225" y="0"/>
                    <a:pt x="2772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文本框 121"/>
            <p:cNvSpPr txBox="1"/>
            <p:nvPr/>
          </p:nvSpPr>
          <p:spPr>
            <a:xfrm>
              <a:off x="2307107" y="5268231"/>
              <a:ext cx="648441" cy="31123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800" dirty="0">
                  <a:latin typeface="+mn-ea"/>
                </a:rPr>
                <a:t>快车司机</a:t>
              </a:r>
              <a:endParaRPr lang="en-US" altLang="zh-CN" sz="800" dirty="0">
                <a:latin typeface="+mn-ea"/>
              </a:endParaRPr>
            </a:p>
            <a:p>
              <a:pPr algn="ctr"/>
              <a:r>
                <a:rPr lang="zh-CN" altLang="en-US" sz="800" dirty="0">
                  <a:latin typeface="+mn-ea"/>
                </a:rPr>
                <a:t>陈先生</a:t>
              </a:r>
              <a:endParaRPr lang="en-US" altLang="zh-CN" sz="800" dirty="0">
                <a:latin typeface="+mn-ea"/>
              </a:endParaRPr>
            </a:p>
          </p:txBody>
        </p:sp>
      </p:grpSp>
      <p:grpSp>
        <p:nvGrpSpPr>
          <p:cNvPr id="123" name="组合 122"/>
          <p:cNvGrpSpPr/>
          <p:nvPr/>
        </p:nvGrpSpPr>
        <p:grpSpPr>
          <a:xfrm>
            <a:off x="9467395" y="2269404"/>
            <a:ext cx="772287" cy="633834"/>
            <a:chOff x="2307107" y="4996776"/>
            <a:chExt cx="648441" cy="582692"/>
          </a:xfrm>
        </p:grpSpPr>
        <p:sp>
          <p:nvSpPr>
            <p:cNvPr id="124" name="man-with-bow_56788"/>
            <p:cNvSpPr/>
            <p:nvPr/>
          </p:nvSpPr>
          <p:spPr>
            <a:xfrm>
              <a:off x="2462876" y="4996776"/>
              <a:ext cx="279562" cy="283309"/>
            </a:xfrm>
            <a:custGeom>
              <a:avLst/>
              <a:gdLst>
                <a:gd name="connsiteX0" fmla="*/ 188888 w 557678"/>
                <a:gd name="connsiteY0" fmla="*/ 367011 h 607780"/>
                <a:gd name="connsiteX1" fmla="*/ 199785 w 557678"/>
                <a:gd name="connsiteY1" fmla="*/ 373977 h 607780"/>
                <a:gd name="connsiteX2" fmla="*/ 278839 w 557678"/>
                <a:gd name="connsiteY2" fmla="*/ 490974 h 607780"/>
                <a:gd name="connsiteX3" fmla="*/ 357893 w 557678"/>
                <a:gd name="connsiteY3" fmla="*/ 373977 h 607780"/>
                <a:gd name="connsiteX4" fmla="*/ 368886 w 557678"/>
                <a:gd name="connsiteY4" fmla="*/ 367011 h 607780"/>
                <a:gd name="connsiteX5" fmla="*/ 374908 w 557678"/>
                <a:gd name="connsiteY5" fmla="*/ 368729 h 607780"/>
                <a:gd name="connsiteX6" fmla="*/ 557678 w 557678"/>
                <a:gd name="connsiteY6" fmla="*/ 480572 h 607780"/>
                <a:gd name="connsiteX7" fmla="*/ 557678 w 557678"/>
                <a:gd name="connsiteY7" fmla="*/ 607780 h 607780"/>
                <a:gd name="connsiteX8" fmla="*/ 278839 w 557678"/>
                <a:gd name="connsiteY8" fmla="*/ 607780 h 607780"/>
                <a:gd name="connsiteX9" fmla="*/ 0 w 557678"/>
                <a:gd name="connsiteY9" fmla="*/ 607780 h 607780"/>
                <a:gd name="connsiteX10" fmla="*/ 0 w 557678"/>
                <a:gd name="connsiteY10" fmla="*/ 480572 h 607780"/>
                <a:gd name="connsiteX11" fmla="*/ 182770 w 557678"/>
                <a:gd name="connsiteY11" fmla="*/ 368729 h 607780"/>
                <a:gd name="connsiteX12" fmla="*/ 188888 w 557678"/>
                <a:gd name="connsiteY12" fmla="*/ 367011 h 607780"/>
                <a:gd name="connsiteX13" fmla="*/ 233347 w 557678"/>
                <a:gd name="connsiteY13" fmla="*/ 332928 h 607780"/>
                <a:gd name="connsiteX14" fmla="*/ 235832 w 557678"/>
                <a:gd name="connsiteY14" fmla="*/ 333119 h 607780"/>
                <a:gd name="connsiteX15" fmla="*/ 236501 w 557678"/>
                <a:gd name="connsiteY15" fmla="*/ 333214 h 607780"/>
                <a:gd name="connsiteX16" fmla="*/ 236692 w 557678"/>
                <a:gd name="connsiteY16" fmla="*/ 333214 h 607780"/>
                <a:gd name="connsiteX17" fmla="*/ 237934 w 557678"/>
                <a:gd name="connsiteY17" fmla="*/ 333596 h 607780"/>
                <a:gd name="connsiteX18" fmla="*/ 238508 w 557678"/>
                <a:gd name="connsiteY18" fmla="*/ 333787 h 607780"/>
                <a:gd name="connsiteX19" fmla="*/ 239177 w 557678"/>
                <a:gd name="connsiteY19" fmla="*/ 333977 h 607780"/>
                <a:gd name="connsiteX20" fmla="*/ 243478 w 557678"/>
                <a:gd name="connsiteY20" fmla="*/ 336553 h 607780"/>
                <a:gd name="connsiteX21" fmla="*/ 264981 w 557678"/>
                <a:gd name="connsiteY21" fmla="*/ 353724 h 607780"/>
                <a:gd name="connsiteX22" fmla="*/ 267657 w 557678"/>
                <a:gd name="connsiteY22" fmla="*/ 353820 h 607780"/>
                <a:gd name="connsiteX23" fmla="*/ 278839 w 557678"/>
                <a:gd name="connsiteY23" fmla="*/ 353724 h 607780"/>
                <a:gd name="connsiteX24" fmla="*/ 290021 w 557678"/>
                <a:gd name="connsiteY24" fmla="*/ 353820 h 607780"/>
                <a:gd name="connsiteX25" fmla="*/ 292792 w 557678"/>
                <a:gd name="connsiteY25" fmla="*/ 353724 h 607780"/>
                <a:gd name="connsiteX26" fmla="*/ 314200 w 557678"/>
                <a:gd name="connsiteY26" fmla="*/ 336553 h 607780"/>
                <a:gd name="connsiteX27" fmla="*/ 318596 w 557678"/>
                <a:gd name="connsiteY27" fmla="*/ 333977 h 607780"/>
                <a:gd name="connsiteX28" fmla="*/ 319265 w 557678"/>
                <a:gd name="connsiteY28" fmla="*/ 333787 h 607780"/>
                <a:gd name="connsiteX29" fmla="*/ 319743 w 557678"/>
                <a:gd name="connsiteY29" fmla="*/ 333596 h 607780"/>
                <a:gd name="connsiteX30" fmla="*/ 321081 w 557678"/>
                <a:gd name="connsiteY30" fmla="*/ 333214 h 607780"/>
                <a:gd name="connsiteX31" fmla="*/ 321272 w 557678"/>
                <a:gd name="connsiteY31" fmla="*/ 333214 h 607780"/>
                <a:gd name="connsiteX32" fmla="*/ 321846 w 557678"/>
                <a:gd name="connsiteY32" fmla="*/ 333119 h 607780"/>
                <a:gd name="connsiteX33" fmla="*/ 324426 w 557678"/>
                <a:gd name="connsiteY33" fmla="*/ 332928 h 607780"/>
                <a:gd name="connsiteX34" fmla="*/ 340195 w 557678"/>
                <a:gd name="connsiteY34" fmla="*/ 347905 h 607780"/>
                <a:gd name="connsiteX35" fmla="*/ 340195 w 557678"/>
                <a:gd name="connsiteY35" fmla="*/ 380912 h 607780"/>
                <a:gd name="connsiteX36" fmla="*/ 324426 w 557678"/>
                <a:gd name="connsiteY36" fmla="*/ 396366 h 607780"/>
                <a:gd name="connsiteX37" fmla="*/ 314869 w 557678"/>
                <a:gd name="connsiteY37" fmla="*/ 393123 h 607780"/>
                <a:gd name="connsiteX38" fmla="*/ 294417 w 557678"/>
                <a:gd name="connsiteY38" fmla="*/ 374807 h 607780"/>
                <a:gd name="connsiteX39" fmla="*/ 278839 w 557678"/>
                <a:gd name="connsiteY39" fmla="*/ 374902 h 607780"/>
                <a:gd name="connsiteX40" fmla="*/ 263261 w 557678"/>
                <a:gd name="connsiteY40" fmla="*/ 374807 h 607780"/>
                <a:gd name="connsiteX41" fmla="*/ 242809 w 557678"/>
                <a:gd name="connsiteY41" fmla="*/ 393123 h 607780"/>
                <a:gd name="connsiteX42" fmla="*/ 233347 w 557678"/>
                <a:gd name="connsiteY42" fmla="*/ 396366 h 607780"/>
                <a:gd name="connsiteX43" fmla="*/ 217482 w 557678"/>
                <a:gd name="connsiteY43" fmla="*/ 380912 h 607780"/>
                <a:gd name="connsiteX44" fmla="*/ 217482 w 557678"/>
                <a:gd name="connsiteY44" fmla="*/ 347905 h 607780"/>
                <a:gd name="connsiteX45" fmla="*/ 233347 w 557678"/>
                <a:gd name="connsiteY45" fmla="*/ 332928 h 607780"/>
                <a:gd name="connsiteX46" fmla="*/ 277214 w 557678"/>
                <a:gd name="connsiteY46" fmla="*/ 0 h 607780"/>
                <a:gd name="connsiteX47" fmla="*/ 278552 w 557678"/>
                <a:gd name="connsiteY47" fmla="*/ 0 h 607780"/>
                <a:gd name="connsiteX48" fmla="*/ 278744 w 557678"/>
                <a:gd name="connsiteY48" fmla="*/ 0 h 607780"/>
                <a:gd name="connsiteX49" fmla="*/ 278839 w 557678"/>
                <a:gd name="connsiteY49" fmla="*/ 0 h 607780"/>
                <a:gd name="connsiteX50" fmla="*/ 278935 w 557678"/>
                <a:gd name="connsiteY50" fmla="*/ 0 h 607780"/>
                <a:gd name="connsiteX51" fmla="*/ 279222 w 557678"/>
                <a:gd name="connsiteY51" fmla="*/ 0 h 607780"/>
                <a:gd name="connsiteX52" fmla="*/ 280560 w 557678"/>
                <a:gd name="connsiteY52" fmla="*/ 0 h 607780"/>
                <a:gd name="connsiteX53" fmla="*/ 404758 w 557678"/>
                <a:gd name="connsiteY53" fmla="*/ 105659 h 607780"/>
                <a:gd name="connsiteX54" fmla="*/ 396727 w 557678"/>
                <a:gd name="connsiteY54" fmla="*/ 160159 h 607780"/>
                <a:gd name="connsiteX55" fmla="*/ 408009 w 557678"/>
                <a:gd name="connsiteY55" fmla="*/ 186120 h 607780"/>
                <a:gd name="connsiteX56" fmla="*/ 379039 w 557678"/>
                <a:gd name="connsiteY56" fmla="*/ 238616 h 607780"/>
                <a:gd name="connsiteX57" fmla="*/ 317179 w 557678"/>
                <a:gd name="connsiteY57" fmla="*/ 313541 h 607780"/>
                <a:gd name="connsiteX58" fmla="*/ 278935 w 557678"/>
                <a:gd name="connsiteY58" fmla="*/ 322131 h 607780"/>
                <a:gd name="connsiteX59" fmla="*/ 278839 w 557678"/>
                <a:gd name="connsiteY59" fmla="*/ 322131 h 607780"/>
                <a:gd name="connsiteX60" fmla="*/ 278744 w 557678"/>
                <a:gd name="connsiteY60" fmla="*/ 322131 h 607780"/>
                <a:gd name="connsiteX61" fmla="*/ 240499 w 557678"/>
                <a:gd name="connsiteY61" fmla="*/ 313541 h 607780"/>
                <a:gd name="connsiteX62" fmla="*/ 178734 w 557678"/>
                <a:gd name="connsiteY62" fmla="*/ 238616 h 607780"/>
                <a:gd name="connsiteX63" fmla="*/ 149669 w 557678"/>
                <a:gd name="connsiteY63" fmla="*/ 186120 h 607780"/>
                <a:gd name="connsiteX64" fmla="*/ 161046 w 557678"/>
                <a:gd name="connsiteY64" fmla="*/ 160159 h 607780"/>
                <a:gd name="connsiteX65" fmla="*/ 153015 w 557678"/>
                <a:gd name="connsiteY65" fmla="*/ 105659 h 607780"/>
                <a:gd name="connsiteX66" fmla="*/ 277214 w 557678"/>
                <a:gd name="connsiteY66" fmla="*/ 0 h 607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557678" h="607780">
                  <a:moveTo>
                    <a:pt x="188888" y="367011"/>
                  </a:moveTo>
                  <a:cubicBezTo>
                    <a:pt x="193667" y="367011"/>
                    <a:pt x="197873" y="369874"/>
                    <a:pt x="199785" y="373977"/>
                  </a:cubicBezTo>
                  <a:cubicBezTo>
                    <a:pt x="218808" y="405851"/>
                    <a:pt x="254177" y="489256"/>
                    <a:pt x="278839" y="490974"/>
                  </a:cubicBezTo>
                  <a:cubicBezTo>
                    <a:pt x="303502" y="489256"/>
                    <a:pt x="338870" y="405851"/>
                    <a:pt x="357893" y="373977"/>
                  </a:cubicBezTo>
                  <a:cubicBezTo>
                    <a:pt x="359900" y="369874"/>
                    <a:pt x="364011" y="367011"/>
                    <a:pt x="368886" y="367011"/>
                  </a:cubicBezTo>
                  <a:cubicBezTo>
                    <a:pt x="371085" y="367011"/>
                    <a:pt x="372996" y="367870"/>
                    <a:pt x="374908" y="368729"/>
                  </a:cubicBezTo>
                  <a:cubicBezTo>
                    <a:pt x="382269" y="371878"/>
                    <a:pt x="557678" y="427132"/>
                    <a:pt x="557678" y="480572"/>
                  </a:cubicBezTo>
                  <a:lnTo>
                    <a:pt x="557678" y="607780"/>
                  </a:lnTo>
                  <a:lnTo>
                    <a:pt x="278839" y="607780"/>
                  </a:lnTo>
                  <a:lnTo>
                    <a:pt x="0" y="607780"/>
                  </a:lnTo>
                  <a:lnTo>
                    <a:pt x="0" y="480572"/>
                  </a:lnTo>
                  <a:cubicBezTo>
                    <a:pt x="0" y="421120"/>
                    <a:pt x="175314" y="371687"/>
                    <a:pt x="182770" y="368729"/>
                  </a:cubicBezTo>
                  <a:cubicBezTo>
                    <a:pt x="184682" y="367870"/>
                    <a:pt x="186593" y="367011"/>
                    <a:pt x="188888" y="367011"/>
                  </a:cubicBezTo>
                  <a:close/>
                  <a:moveTo>
                    <a:pt x="233347" y="332928"/>
                  </a:moveTo>
                  <a:cubicBezTo>
                    <a:pt x="234207" y="332928"/>
                    <a:pt x="235067" y="332928"/>
                    <a:pt x="235832" y="333119"/>
                  </a:cubicBezTo>
                  <a:cubicBezTo>
                    <a:pt x="236023" y="333119"/>
                    <a:pt x="236310" y="333119"/>
                    <a:pt x="236501" y="333214"/>
                  </a:cubicBezTo>
                  <a:cubicBezTo>
                    <a:pt x="236501" y="333214"/>
                    <a:pt x="236596" y="333214"/>
                    <a:pt x="236692" y="333214"/>
                  </a:cubicBezTo>
                  <a:cubicBezTo>
                    <a:pt x="237074" y="333310"/>
                    <a:pt x="237552" y="333405"/>
                    <a:pt x="237934" y="333596"/>
                  </a:cubicBezTo>
                  <a:cubicBezTo>
                    <a:pt x="238126" y="333596"/>
                    <a:pt x="238317" y="333691"/>
                    <a:pt x="238508" y="333787"/>
                  </a:cubicBezTo>
                  <a:cubicBezTo>
                    <a:pt x="238699" y="333787"/>
                    <a:pt x="238890" y="333882"/>
                    <a:pt x="239177" y="333977"/>
                  </a:cubicBezTo>
                  <a:cubicBezTo>
                    <a:pt x="240706" y="334645"/>
                    <a:pt x="242140" y="335504"/>
                    <a:pt x="243478" y="336553"/>
                  </a:cubicBezTo>
                  <a:cubicBezTo>
                    <a:pt x="250836" y="342372"/>
                    <a:pt x="255615" y="353056"/>
                    <a:pt x="264981" y="353724"/>
                  </a:cubicBezTo>
                  <a:cubicBezTo>
                    <a:pt x="265841" y="353820"/>
                    <a:pt x="266797" y="353820"/>
                    <a:pt x="267657" y="353820"/>
                  </a:cubicBezTo>
                  <a:cubicBezTo>
                    <a:pt x="268517" y="353820"/>
                    <a:pt x="274060" y="353724"/>
                    <a:pt x="278839" y="353724"/>
                  </a:cubicBezTo>
                  <a:cubicBezTo>
                    <a:pt x="283617" y="353724"/>
                    <a:pt x="289256" y="353820"/>
                    <a:pt x="290021" y="353820"/>
                  </a:cubicBezTo>
                  <a:cubicBezTo>
                    <a:pt x="290976" y="353820"/>
                    <a:pt x="291836" y="353820"/>
                    <a:pt x="292792" y="353724"/>
                  </a:cubicBezTo>
                  <a:cubicBezTo>
                    <a:pt x="302158" y="353056"/>
                    <a:pt x="306841" y="342372"/>
                    <a:pt x="314200" y="336553"/>
                  </a:cubicBezTo>
                  <a:cubicBezTo>
                    <a:pt x="315538" y="335504"/>
                    <a:pt x="316972" y="334645"/>
                    <a:pt x="318596" y="333977"/>
                  </a:cubicBezTo>
                  <a:cubicBezTo>
                    <a:pt x="318787" y="333882"/>
                    <a:pt x="318979" y="333787"/>
                    <a:pt x="319265" y="333787"/>
                  </a:cubicBezTo>
                  <a:cubicBezTo>
                    <a:pt x="319456" y="333691"/>
                    <a:pt x="319648" y="333596"/>
                    <a:pt x="319743" y="333596"/>
                  </a:cubicBezTo>
                  <a:cubicBezTo>
                    <a:pt x="320221" y="333405"/>
                    <a:pt x="320603" y="333310"/>
                    <a:pt x="321081" y="333214"/>
                  </a:cubicBezTo>
                  <a:cubicBezTo>
                    <a:pt x="321081" y="333214"/>
                    <a:pt x="321177" y="333214"/>
                    <a:pt x="321272" y="333214"/>
                  </a:cubicBezTo>
                  <a:cubicBezTo>
                    <a:pt x="321463" y="333119"/>
                    <a:pt x="321654" y="333119"/>
                    <a:pt x="321846" y="333119"/>
                  </a:cubicBezTo>
                  <a:cubicBezTo>
                    <a:pt x="322706" y="332928"/>
                    <a:pt x="323566" y="332928"/>
                    <a:pt x="324426" y="332928"/>
                  </a:cubicBezTo>
                  <a:cubicBezTo>
                    <a:pt x="332836" y="332928"/>
                    <a:pt x="339813" y="339510"/>
                    <a:pt x="340195" y="347905"/>
                  </a:cubicBezTo>
                  <a:lnTo>
                    <a:pt x="340195" y="380912"/>
                  </a:lnTo>
                  <a:cubicBezTo>
                    <a:pt x="340004" y="389498"/>
                    <a:pt x="333027" y="396366"/>
                    <a:pt x="324426" y="396366"/>
                  </a:cubicBezTo>
                  <a:cubicBezTo>
                    <a:pt x="320794" y="396366"/>
                    <a:pt x="317545" y="395126"/>
                    <a:pt x="314869" y="393123"/>
                  </a:cubicBezTo>
                  <a:cubicBezTo>
                    <a:pt x="305885" y="387208"/>
                    <a:pt x="299864" y="374997"/>
                    <a:pt x="294417" y="374807"/>
                  </a:cubicBezTo>
                  <a:lnTo>
                    <a:pt x="278839" y="374902"/>
                  </a:lnTo>
                  <a:lnTo>
                    <a:pt x="263261" y="374807"/>
                  </a:lnTo>
                  <a:cubicBezTo>
                    <a:pt x="257813" y="374997"/>
                    <a:pt x="251792" y="387208"/>
                    <a:pt x="242809" y="393123"/>
                  </a:cubicBezTo>
                  <a:cubicBezTo>
                    <a:pt x="240228" y="395126"/>
                    <a:pt x="236883" y="396366"/>
                    <a:pt x="233347" y="396366"/>
                  </a:cubicBezTo>
                  <a:cubicBezTo>
                    <a:pt x="224746" y="396366"/>
                    <a:pt x="217769" y="389498"/>
                    <a:pt x="217482" y="380912"/>
                  </a:cubicBezTo>
                  <a:lnTo>
                    <a:pt x="217482" y="347905"/>
                  </a:lnTo>
                  <a:cubicBezTo>
                    <a:pt x="217960" y="339510"/>
                    <a:pt x="224841" y="332928"/>
                    <a:pt x="233347" y="332928"/>
                  </a:cubicBezTo>
                  <a:close/>
                  <a:moveTo>
                    <a:pt x="277214" y="0"/>
                  </a:moveTo>
                  <a:cubicBezTo>
                    <a:pt x="277596" y="0"/>
                    <a:pt x="278074" y="0"/>
                    <a:pt x="278552" y="0"/>
                  </a:cubicBezTo>
                  <a:cubicBezTo>
                    <a:pt x="278648" y="0"/>
                    <a:pt x="278648" y="0"/>
                    <a:pt x="278744" y="0"/>
                  </a:cubicBezTo>
                  <a:cubicBezTo>
                    <a:pt x="278744" y="0"/>
                    <a:pt x="278839" y="0"/>
                    <a:pt x="278839" y="0"/>
                  </a:cubicBezTo>
                  <a:cubicBezTo>
                    <a:pt x="278935" y="0"/>
                    <a:pt x="278935" y="0"/>
                    <a:pt x="278935" y="0"/>
                  </a:cubicBezTo>
                  <a:cubicBezTo>
                    <a:pt x="279030" y="0"/>
                    <a:pt x="279126" y="0"/>
                    <a:pt x="279222" y="0"/>
                  </a:cubicBezTo>
                  <a:cubicBezTo>
                    <a:pt x="279604" y="0"/>
                    <a:pt x="280082" y="0"/>
                    <a:pt x="280560" y="0"/>
                  </a:cubicBezTo>
                  <a:cubicBezTo>
                    <a:pt x="387453" y="0"/>
                    <a:pt x="407531" y="76166"/>
                    <a:pt x="404758" y="105659"/>
                  </a:cubicBezTo>
                  <a:cubicBezTo>
                    <a:pt x="402464" y="129330"/>
                    <a:pt x="396727" y="160159"/>
                    <a:pt x="396727" y="160159"/>
                  </a:cubicBezTo>
                  <a:cubicBezTo>
                    <a:pt x="396727" y="160159"/>
                    <a:pt x="408009" y="165313"/>
                    <a:pt x="408009" y="186120"/>
                  </a:cubicBezTo>
                  <a:cubicBezTo>
                    <a:pt x="404089" y="238234"/>
                    <a:pt x="383246" y="215708"/>
                    <a:pt x="379039" y="238616"/>
                  </a:cubicBezTo>
                  <a:cubicBezTo>
                    <a:pt x="371868" y="276603"/>
                    <a:pt x="338213" y="304092"/>
                    <a:pt x="317179" y="313541"/>
                  </a:cubicBezTo>
                  <a:cubicBezTo>
                    <a:pt x="304941" y="319077"/>
                    <a:pt x="292225" y="321845"/>
                    <a:pt x="278935" y="322131"/>
                  </a:cubicBezTo>
                  <a:cubicBezTo>
                    <a:pt x="278935" y="322131"/>
                    <a:pt x="278935" y="322131"/>
                    <a:pt x="278839" y="322131"/>
                  </a:cubicBezTo>
                  <a:cubicBezTo>
                    <a:pt x="278839" y="322131"/>
                    <a:pt x="278744" y="322131"/>
                    <a:pt x="278744" y="322131"/>
                  </a:cubicBezTo>
                  <a:cubicBezTo>
                    <a:pt x="265454" y="321845"/>
                    <a:pt x="252738" y="319077"/>
                    <a:pt x="240499" y="313541"/>
                  </a:cubicBezTo>
                  <a:cubicBezTo>
                    <a:pt x="219561" y="304092"/>
                    <a:pt x="185810" y="276603"/>
                    <a:pt x="178734" y="238616"/>
                  </a:cubicBezTo>
                  <a:cubicBezTo>
                    <a:pt x="174432" y="215708"/>
                    <a:pt x="153684" y="238234"/>
                    <a:pt x="149669" y="186120"/>
                  </a:cubicBezTo>
                  <a:cubicBezTo>
                    <a:pt x="149669" y="165313"/>
                    <a:pt x="161046" y="160159"/>
                    <a:pt x="161046" y="160159"/>
                  </a:cubicBezTo>
                  <a:cubicBezTo>
                    <a:pt x="161046" y="160159"/>
                    <a:pt x="155214" y="129330"/>
                    <a:pt x="153015" y="105659"/>
                  </a:cubicBezTo>
                  <a:cubicBezTo>
                    <a:pt x="150147" y="76166"/>
                    <a:pt x="170225" y="0"/>
                    <a:pt x="2772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文本框 124"/>
            <p:cNvSpPr txBox="1"/>
            <p:nvPr/>
          </p:nvSpPr>
          <p:spPr>
            <a:xfrm>
              <a:off x="2307107" y="5268231"/>
              <a:ext cx="648441" cy="31123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800" dirty="0">
                  <a:latin typeface="+mn-ea"/>
                </a:rPr>
                <a:t>专车司机</a:t>
              </a:r>
              <a:endParaRPr lang="en-US" altLang="zh-CN" sz="800" dirty="0">
                <a:latin typeface="+mn-ea"/>
              </a:endParaRPr>
            </a:p>
            <a:p>
              <a:pPr algn="ctr"/>
              <a:r>
                <a:rPr lang="zh-CN" altLang="en-US" sz="800" dirty="0">
                  <a:latin typeface="+mn-ea"/>
                </a:rPr>
                <a:t>杨先生</a:t>
              </a:r>
              <a:endParaRPr lang="en-US" altLang="zh-CN" sz="800" dirty="0">
                <a:latin typeface="+mn-ea"/>
              </a:endParaRPr>
            </a:p>
          </p:txBody>
        </p:sp>
      </p:grpSp>
      <p:grpSp>
        <p:nvGrpSpPr>
          <p:cNvPr id="126" name="组合 125"/>
          <p:cNvGrpSpPr/>
          <p:nvPr/>
        </p:nvGrpSpPr>
        <p:grpSpPr>
          <a:xfrm>
            <a:off x="9290296" y="3023467"/>
            <a:ext cx="849130" cy="674345"/>
            <a:chOff x="2307107" y="4996776"/>
            <a:chExt cx="712961" cy="619934"/>
          </a:xfrm>
        </p:grpSpPr>
        <p:sp>
          <p:nvSpPr>
            <p:cNvPr id="127" name="man-with-bow_56788"/>
            <p:cNvSpPr/>
            <p:nvPr/>
          </p:nvSpPr>
          <p:spPr>
            <a:xfrm>
              <a:off x="2462876" y="4996776"/>
              <a:ext cx="279562" cy="283309"/>
            </a:xfrm>
            <a:custGeom>
              <a:avLst/>
              <a:gdLst>
                <a:gd name="connsiteX0" fmla="*/ 188888 w 557678"/>
                <a:gd name="connsiteY0" fmla="*/ 367011 h 607780"/>
                <a:gd name="connsiteX1" fmla="*/ 199785 w 557678"/>
                <a:gd name="connsiteY1" fmla="*/ 373977 h 607780"/>
                <a:gd name="connsiteX2" fmla="*/ 278839 w 557678"/>
                <a:gd name="connsiteY2" fmla="*/ 490974 h 607780"/>
                <a:gd name="connsiteX3" fmla="*/ 357893 w 557678"/>
                <a:gd name="connsiteY3" fmla="*/ 373977 h 607780"/>
                <a:gd name="connsiteX4" fmla="*/ 368886 w 557678"/>
                <a:gd name="connsiteY4" fmla="*/ 367011 h 607780"/>
                <a:gd name="connsiteX5" fmla="*/ 374908 w 557678"/>
                <a:gd name="connsiteY5" fmla="*/ 368729 h 607780"/>
                <a:gd name="connsiteX6" fmla="*/ 557678 w 557678"/>
                <a:gd name="connsiteY6" fmla="*/ 480572 h 607780"/>
                <a:gd name="connsiteX7" fmla="*/ 557678 w 557678"/>
                <a:gd name="connsiteY7" fmla="*/ 607780 h 607780"/>
                <a:gd name="connsiteX8" fmla="*/ 278839 w 557678"/>
                <a:gd name="connsiteY8" fmla="*/ 607780 h 607780"/>
                <a:gd name="connsiteX9" fmla="*/ 0 w 557678"/>
                <a:gd name="connsiteY9" fmla="*/ 607780 h 607780"/>
                <a:gd name="connsiteX10" fmla="*/ 0 w 557678"/>
                <a:gd name="connsiteY10" fmla="*/ 480572 h 607780"/>
                <a:gd name="connsiteX11" fmla="*/ 182770 w 557678"/>
                <a:gd name="connsiteY11" fmla="*/ 368729 h 607780"/>
                <a:gd name="connsiteX12" fmla="*/ 188888 w 557678"/>
                <a:gd name="connsiteY12" fmla="*/ 367011 h 607780"/>
                <a:gd name="connsiteX13" fmla="*/ 233347 w 557678"/>
                <a:gd name="connsiteY13" fmla="*/ 332928 h 607780"/>
                <a:gd name="connsiteX14" fmla="*/ 235832 w 557678"/>
                <a:gd name="connsiteY14" fmla="*/ 333119 h 607780"/>
                <a:gd name="connsiteX15" fmla="*/ 236501 w 557678"/>
                <a:gd name="connsiteY15" fmla="*/ 333214 h 607780"/>
                <a:gd name="connsiteX16" fmla="*/ 236692 w 557678"/>
                <a:gd name="connsiteY16" fmla="*/ 333214 h 607780"/>
                <a:gd name="connsiteX17" fmla="*/ 237934 w 557678"/>
                <a:gd name="connsiteY17" fmla="*/ 333596 h 607780"/>
                <a:gd name="connsiteX18" fmla="*/ 238508 w 557678"/>
                <a:gd name="connsiteY18" fmla="*/ 333787 h 607780"/>
                <a:gd name="connsiteX19" fmla="*/ 239177 w 557678"/>
                <a:gd name="connsiteY19" fmla="*/ 333977 h 607780"/>
                <a:gd name="connsiteX20" fmla="*/ 243478 w 557678"/>
                <a:gd name="connsiteY20" fmla="*/ 336553 h 607780"/>
                <a:gd name="connsiteX21" fmla="*/ 264981 w 557678"/>
                <a:gd name="connsiteY21" fmla="*/ 353724 h 607780"/>
                <a:gd name="connsiteX22" fmla="*/ 267657 w 557678"/>
                <a:gd name="connsiteY22" fmla="*/ 353820 h 607780"/>
                <a:gd name="connsiteX23" fmla="*/ 278839 w 557678"/>
                <a:gd name="connsiteY23" fmla="*/ 353724 h 607780"/>
                <a:gd name="connsiteX24" fmla="*/ 290021 w 557678"/>
                <a:gd name="connsiteY24" fmla="*/ 353820 h 607780"/>
                <a:gd name="connsiteX25" fmla="*/ 292792 w 557678"/>
                <a:gd name="connsiteY25" fmla="*/ 353724 h 607780"/>
                <a:gd name="connsiteX26" fmla="*/ 314200 w 557678"/>
                <a:gd name="connsiteY26" fmla="*/ 336553 h 607780"/>
                <a:gd name="connsiteX27" fmla="*/ 318596 w 557678"/>
                <a:gd name="connsiteY27" fmla="*/ 333977 h 607780"/>
                <a:gd name="connsiteX28" fmla="*/ 319265 w 557678"/>
                <a:gd name="connsiteY28" fmla="*/ 333787 h 607780"/>
                <a:gd name="connsiteX29" fmla="*/ 319743 w 557678"/>
                <a:gd name="connsiteY29" fmla="*/ 333596 h 607780"/>
                <a:gd name="connsiteX30" fmla="*/ 321081 w 557678"/>
                <a:gd name="connsiteY30" fmla="*/ 333214 h 607780"/>
                <a:gd name="connsiteX31" fmla="*/ 321272 w 557678"/>
                <a:gd name="connsiteY31" fmla="*/ 333214 h 607780"/>
                <a:gd name="connsiteX32" fmla="*/ 321846 w 557678"/>
                <a:gd name="connsiteY32" fmla="*/ 333119 h 607780"/>
                <a:gd name="connsiteX33" fmla="*/ 324426 w 557678"/>
                <a:gd name="connsiteY33" fmla="*/ 332928 h 607780"/>
                <a:gd name="connsiteX34" fmla="*/ 340195 w 557678"/>
                <a:gd name="connsiteY34" fmla="*/ 347905 h 607780"/>
                <a:gd name="connsiteX35" fmla="*/ 340195 w 557678"/>
                <a:gd name="connsiteY35" fmla="*/ 380912 h 607780"/>
                <a:gd name="connsiteX36" fmla="*/ 324426 w 557678"/>
                <a:gd name="connsiteY36" fmla="*/ 396366 h 607780"/>
                <a:gd name="connsiteX37" fmla="*/ 314869 w 557678"/>
                <a:gd name="connsiteY37" fmla="*/ 393123 h 607780"/>
                <a:gd name="connsiteX38" fmla="*/ 294417 w 557678"/>
                <a:gd name="connsiteY38" fmla="*/ 374807 h 607780"/>
                <a:gd name="connsiteX39" fmla="*/ 278839 w 557678"/>
                <a:gd name="connsiteY39" fmla="*/ 374902 h 607780"/>
                <a:gd name="connsiteX40" fmla="*/ 263261 w 557678"/>
                <a:gd name="connsiteY40" fmla="*/ 374807 h 607780"/>
                <a:gd name="connsiteX41" fmla="*/ 242809 w 557678"/>
                <a:gd name="connsiteY41" fmla="*/ 393123 h 607780"/>
                <a:gd name="connsiteX42" fmla="*/ 233347 w 557678"/>
                <a:gd name="connsiteY42" fmla="*/ 396366 h 607780"/>
                <a:gd name="connsiteX43" fmla="*/ 217482 w 557678"/>
                <a:gd name="connsiteY43" fmla="*/ 380912 h 607780"/>
                <a:gd name="connsiteX44" fmla="*/ 217482 w 557678"/>
                <a:gd name="connsiteY44" fmla="*/ 347905 h 607780"/>
                <a:gd name="connsiteX45" fmla="*/ 233347 w 557678"/>
                <a:gd name="connsiteY45" fmla="*/ 332928 h 607780"/>
                <a:gd name="connsiteX46" fmla="*/ 277214 w 557678"/>
                <a:gd name="connsiteY46" fmla="*/ 0 h 607780"/>
                <a:gd name="connsiteX47" fmla="*/ 278552 w 557678"/>
                <a:gd name="connsiteY47" fmla="*/ 0 h 607780"/>
                <a:gd name="connsiteX48" fmla="*/ 278744 w 557678"/>
                <a:gd name="connsiteY48" fmla="*/ 0 h 607780"/>
                <a:gd name="connsiteX49" fmla="*/ 278839 w 557678"/>
                <a:gd name="connsiteY49" fmla="*/ 0 h 607780"/>
                <a:gd name="connsiteX50" fmla="*/ 278935 w 557678"/>
                <a:gd name="connsiteY50" fmla="*/ 0 h 607780"/>
                <a:gd name="connsiteX51" fmla="*/ 279222 w 557678"/>
                <a:gd name="connsiteY51" fmla="*/ 0 h 607780"/>
                <a:gd name="connsiteX52" fmla="*/ 280560 w 557678"/>
                <a:gd name="connsiteY52" fmla="*/ 0 h 607780"/>
                <a:gd name="connsiteX53" fmla="*/ 404758 w 557678"/>
                <a:gd name="connsiteY53" fmla="*/ 105659 h 607780"/>
                <a:gd name="connsiteX54" fmla="*/ 396727 w 557678"/>
                <a:gd name="connsiteY54" fmla="*/ 160159 h 607780"/>
                <a:gd name="connsiteX55" fmla="*/ 408009 w 557678"/>
                <a:gd name="connsiteY55" fmla="*/ 186120 h 607780"/>
                <a:gd name="connsiteX56" fmla="*/ 379039 w 557678"/>
                <a:gd name="connsiteY56" fmla="*/ 238616 h 607780"/>
                <a:gd name="connsiteX57" fmla="*/ 317179 w 557678"/>
                <a:gd name="connsiteY57" fmla="*/ 313541 h 607780"/>
                <a:gd name="connsiteX58" fmla="*/ 278935 w 557678"/>
                <a:gd name="connsiteY58" fmla="*/ 322131 h 607780"/>
                <a:gd name="connsiteX59" fmla="*/ 278839 w 557678"/>
                <a:gd name="connsiteY59" fmla="*/ 322131 h 607780"/>
                <a:gd name="connsiteX60" fmla="*/ 278744 w 557678"/>
                <a:gd name="connsiteY60" fmla="*/ 322131 h 607780"/>
                <a:gd name="connsiteX61" fmla="*/ 240499 w 557678"/>
                <a:gd name="connsiteY61" fmla="*/ 313541 h 607780"/>
                <a:gd name="connsiteX62" fmla="*/ 178734 w 557678"/>
                <a:gd name="connsiteY62" fmla="*/ 238616 h 607780"/>
                <a:gd name="connsiteX63" fmla="*/ 149669 w 557678"/>
                <a:gd name="connsiteY63" fmla="*/ 186120 h 607780"/>
                <a:gd name="connsiteX64" fmla="*/ 161046 w 557678"/>
                <a:gd name="connsiteY64" fmla="*/ 160159 h 607780"/>
                <a:gd name="connsiteX65" fmla="*/ 153015 w 557678"/>
                <a:gd name="connsiteY65" fmla="*/ 105659 h 607780"/>
                <a:gd name="connsiteX66" fmla="*/ 277214 w 557678"/>
                <a:gd name="connsiteY66" fmla="*/ 0 h 607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557678" h="607780">
                  <a:moveTo>
                    <a:pt x="188888" y="367011"/>
                  </a:moveTo>
                  <a:cubicBezTo>
                    <a:pt x="193667" y="367011"/>
                    <a:pt x="197873" y="369874"/>
                    <a:pt x="199785" y="373977"/>
                  </a:cubicBezTo>
                  <a:cubicBezTo>
                    <a:pt x="218808" y="405851"/>
                    <a:pt x="254177" y="489256"/>
                    <a:pt x="278839" y="490974"/>
                  </a:cubicBezTo>
                  <a:cubicBezTo>
                    <a:pt x="303502" y="489256"/>
                    <a:pt x="338870" y="405851"/>
                    <a:pt x="357893" y="373977"/>
                  </a:cubicBezTo>
                  <a:cubicBezTo>
                    <a:pt x="359900" y="369874"/>
                    <a:pt x="364011" y="367011"/>
                    <a:pt x="368886" y="367011"/>
                  </a:cubicBezTo>
                  <a:cubicBezTo>
                    <a:pt x="371085" y="367011"/>
                    <a:pt x="372996" y="367870"/>
                    <a:pt x="374908" y="368729"/>
                  </a:cubicBezTo>
                  <a:cubicBezTo>
                    <a:pt x="382269" y="371878"/>
                    <a:pt x="557678" y="427132"/>
                    <a:pt x="557678" y="480572"/>
                  </a:cubicBezTo>
                  <a:lnTo>
                    <a:pt x="557678" y="607780"/>
                  </a:lnTo>
                  <a:lnTo>
                    <a:pt x="278839" y="607780"/>
                  </a:lnTo>
                  <a:lnTo>
                    <a:pt x="0" y="607780"/>
                  </a:lnTo>
                  <a:lnTo>
                    <a:pt x="0" y="480572"/>
                  </a:lnTo>
                  <a:cubicBezTo>
                    <a:pt x="0" y="421120"/>
                    <a:pt x="175314" y="371687"/>
                    <a:pt x="182770" y="368729"/>
                  </a:cubicBezTo>
                  <a:cubicBezTo>
                    <a:pt x="184682" y="367870"/>
                    <a:pt x="186593" y="367011"/>
                    <a:pt x="188888" y="367011"/>
                  </a:cubicBezTo>
                  <a:close/>
                  <a:moveTo>
                    <a:pt x="233347" y="332928"/>
                  </a:moveTo>
                  <a:cubicBezTo>
                    <a:pt x="234207" y="332928"/>
                    <a:pt x="235067" y="332928"/>
                    <a:pt x="235832" y="333119"/>
                  </a:cubicBezTo>
                  <a:cubicBezTo>
                    <a:pt x="236023" y="333119"/>
                    <a:pt x="236310" y="333119"/>
                    <a:pt x="236501" y="333214"/>
                  </a:cubicBezTo>
                  <a:cubicBezTo>
                    <a:pt x="236501" y="333214"/>
                    <a:pt x="236596" y="333214"/>
                    <a:pt x="236692" y="333214"/>
                  </a:cubicBezTo>
                  <a:cubicBezTo>
                    <a:pt x="237074" y="333310"/>
                    <a:pt x="237552" y="333405"/>
                    <a:pt x="237934" y="333596"/>
                  </a:cubicBezTo>
                  <a:cubicBezTo>
                    <a:pt x="238126" y="333596"/>
                    <a:pt x="238317" y="333691"/>
                    <a:pt x="238508" y="333787"/>
                  </a:cubicBezTo>
                  <a:cubicBezTo>
                    <a:pt x="238699" y="333787"/>
                    <a:pt x="238890" y="333882"/>
                    <a:pt x="239177" y="333977"/>
                  </a:cubicBezTo>
                  <a:cubicBezTo>
                    <a:pt x="240706" y="334645"/>
                    <a:pt x="242140" y="335504"/>
                    <a:pt x="243478" y="336553"/>
                  </a:cubicBezTo>
                  <a:cubicBezTo>
                    <a:pt x="250836" y="342372"/>
                    <a:pt x="255615" y="353056"/>
                    <a:pt x="264981" y="353724"/>
                  </a:cubicBezTo>
                  <a:cubicBezTo>
                    <a:pt x="265841" y="353820"/>
                    <a:pt x="266797" y="353820"/>
                    <a:pt x="267657" y="353820"/>
                  </a:cubicBezTo>
                  <a:cubicBezTo>
                    <a:pt x="268517" y="353820"/>
                    <a:pt x="274060" y="353724"/>
                    <a:pt x="278839" y="353724"/>
                  </a:cubicBezTo>
                  <a:cubicBezTo>
                    <a:pt x="283617" y="353724"/>
                    <a:pt x="289256" y="353820"/>
                    <a:pt x="290021" y="353820"/>
                  </a:cubicBezTo>
                  <a:cubicBezTo>
                    <a:pt x="290976" y="353820"/>
                    <a:pt x="291836" y="353820"/>
                    <a:pt x="292792" y="353724"/>
                  </a:cubicBezTo>
                  <a:cubicBezTo>
                    <a:pt x="302158" y="353056"/>
                    <a:pt x="306841" y="342372"/>
                    <a:pt x="314200" y="336553"/>
                  </a:cubicBezTo>
                  <a:cubicBezTo>
                    <a:pt x="315538" y="335504"/>
                    <a:pt x="316972" y="334645"/>
                    <a:pt x="318596" y="333977"/>
                  </a:cubicBezTo>
                  <a:cubicBezTo>
                    <a:pt x="318787" y="333882"/>
                    <a:pt x="318979" y="333787"/>
                    <a:pt x="319265" y="333787"/>
                  </a:cubicBezTo>
                  <a:cubicBezTo>
                    <a:pt x="319456" y="333691"/>
                    <a:pt x="319648" y="333596"/>
                    <a:pt x="319743" y="333596"/>
                  </a:cubicBezTo>
                  <a:cubicBezTo>
                    <a:pt x="320221" y="333405"/>
                    <a:pt x="320603" y="333310"/>
                    <a:pt x="321081" y="333214"/>
                  </a:cubicBezTo>
                  <a:cubicBezTo>
                    <a:pt x="321081" y="333214"/>
                    <a:pt x="321177" y="333214"/>
                    <a:pt x="321272" y="333214"/>
                  </a:cubicBezTo>
                  <a:cubicBezTo>
                    <a:pt x="321463" y="333119"/>
                    <a:pt x="321654" y="333119"/>
                    <a:pt x="321846" y="333119"/>
                  </a:cubicBezTo>
                  <a:cubicBezTo>
                    <a:pt x="322706" y="332928"/>
                    <a:pt x="323566" y="332928"/>
                    <a:pt x="324426" y="332928"/>
                  </a:cubicBezTo>
                  <a:cubicBezTo>
                    <a:pt x="332836" y="332928"/>
                    <a:pt x="339813" y="339510"/>
                    <a:pt x="340195" y="347905"/>
                  </a:cubicBezTo>
                  <a:lnTo>
                    <a:pt x="340195" y="380912"/>
                  </a:lnTo>
                  <a:cubicBezTo>
                    <a:pt x="340004" y="389498"/>
                    <a:pt x="333027" y="396366"/>
                    <a:pt x="324426" y="396366"/>
                  </a:cubicBezTo>
                  <a:cubicBezTo>
                    <a:pt x="320794" y="396366"/>
                    <a:pt x="317545" y="395126"/>
                    <a:pt x="314869" y="393123"/>
                  </a:cubicBezTo>
                  <a:cubicBezTo>
                    <a:pt x="305885" y="387208"/>
                    <a:pt x="299864" y="374997"/>
                    <a:pt x="294417" y="374807"/>
                  </a:cubicBezTo>
                  <a:lnTo>
                    <a:pt x="278839" y="374902"/>
                  </a:lnTo>
                  <a:lnTo>
                    <a:pt x="263261" y="374807"/>
                  </a:lnTo>
                  <a:cubicBezTo>
                    <a:pt x="257813" y="374997"/>
                    <a:pt x="251792" y="387208"/>
                    <a:pt x="242809" y="393123"/>
                  </a:cubicBezTo>
                  <a:cubicBezTo>
                    <a:pt x="240228" y="395126"/>
                    <a:pt x="236883" y="396366"/>
                    <a:pt x="233347" y="396366"/>
                  </a:cubicBezTo>
                  <a:cubicBezTo>
                    <a:pt x="224746" y="396366"/>
                    <a:pt x="217769" y="389498"/>
                    <a:pt x="217482" y="380912"/>
                  </a:cubicBezTo>
                  <a:lnTo>
                    <a:pt x="217482" y="347905"/>
                  </a:lnTo>
                  <a:cubicBezTo>
                    <a:pt x="217960" y="339510"/>
                    <a:pt x="224841" y="332928"/>
                    <a:pt x="233347" y="332928"/>
                  </a:cubicBezTo>
                  <a:close/>
                  <a:moveTo>
                    <a:pt x="277214" y="0"/>
                  </a:moveTo>
                  <a:cubicBezTo>
                    <a:pt x="277596" y="0"/>
                    <a:pt x="278074" y="0"/>
                    <a:pt x="278552" y="0"/>
                  </a:cubicBezTo>
                  <a:cubicBezTo>
                    <a:pt x="278648" y="0"/>
                    <a:pt x="278648" y="0"/>
                    <a:pt x="278744" y="0"/>
                  </a:cubicBezTo>
                  <a:cubicBezTo>
                    <a:pt x="278744" y="0"/>
                    <a:pt x="278839" y="0"/>
                    <a:pt x="278839" y="0"/>
                  </a:cubicBezTo>
                  <a:cubicBezTo>
                    <a:pt x="278935" y="0"/>
                    <a:pt x="278935" y="0"/>
                    <a:pt x="278935" y="0"/>
                  </a:cubicBezTo>
                  <a:cubicBezTo>
                    <a:pt x="279030" y="0"/>
                    <a:pt x="279126" y="0"/>
                    <a:pt x="279222" y="0"/>
                  </a:cubicBezTo>
                  <a:cubicBezTo>
                    <a:pt x="279604" y="0"/>
                    <a:pt x="280082" y="0"/>
                    <a:pt x="280560" y="0"/>
                  </a:cubicBezTo>
                  <a:cubicBezTo>
                    <a:pt x="387453" y="0"/>
                    <a:pt x="407531" y="76166"/>
                    <a:pt x="404758" y="105659"/>
                  </a:cubicBezTo>
                  <a:cubicBezTo>
                    <a:pt x="402464" y="129330"/>
                    <a:pt x="396727" y="160159"/>
                    <a:pt x="396727" y="160159"/>
                  </a:cubicBezTo>
                  <a:cubicBezTo>
                    <a:pt x="396727" y="160159"/>
                    <a:pt x="408009" y="165313"/>
                    <a:pt x="408009" y="186120"/>
                  </a:cubicBezTo>
                  <a:cubicBezTo>
                    <a:pt x="404089" y="238234"/>
                    <a:pt x="383246" y="215708"/>
                    <a:pt x="379039" y="238616"/>
                  </a:cubicBezTo>
                  <a:cubicBezTo>
                    <a:pt x="371868" y="276603"/>
                    <a:pt x="338213" y="304092"/>
                    <a:pt x="317179" y="313541"/>
                  </a:cubicBezTo>
                  <a:cubicBezTo>
                    <a:pt x="304941" y="319077"/>
                    <a:pt x="292225" y="321845"/>
                    <a:pt x="278935" y="322131"/>
                  </a:cubicBezTo>
                  <a:cubicBezTo>
                    <a:pt x="278935" y="322131"/>
                    <a:pt x="278935" y="322131"/>
                    <a:pt x="278839" y="322131"/>
                  </a:cubicBezTo>
                  <a:cubicBezTo>
                    <a:pt x="278839" y="322131"/>
                    <a:pt x="278744" y="322131"/>
                    <a:pt x="278744" y="322131"/>
                  </a:cubicBezTo>
                  <a:cubicBezTo>
                    <a:pt x="265454" y="321845"/>
                    <a:pt x="252738" y="319077"/>
                    <a:pt x="240499" y="313541"/>
                  </a:cubicBezTo>
                  <a:cubicBezTo>
                    <a:pt x="219561" y="304092"/>
                    <a:pt x="185810" y="276603"/>
                    <a:pt x="178734" y="238616"/>
                  </a:cubicBezTo>
                  <a:cubicBezTo>
                    <a:pt x="174432" y="215708"/>
                    <a:pt x="153684" y="238234"/>
                    <a:pt x="149669" y="186120"/>
                  </a:cubicBezTo>
                  <a:cubicBezTo>
                    <a:pt x="149669" y="165313"/>
                    <a:pt x="161046" y="160159"/>
                    <a:pt x="161046" y="160159"/>
                  </a:cubicBezTo>
                  <a:cubicBezTo>
                    <a:pt x="161046" y="160159"/>
                    <a:pt x="155214" y="129330"/>
                    <a:pt x="153015" y="105659"/>
                  </a:cubicBezTo>
                  <a:cubicBezTo>
                    <a:pt x="150147" y="76166"/>
                    <a:pt x="170225" y="0"/>
                    <a:pt x="2772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文本框 127"/>
            <p:cNvSpPr txBox="1"/>
            <p:nvPr/>
          </p:nvSpPr>
          <p:spPr>
            <a:xfrm>
              <a:off x="2307107" y="5305473"/>
              <a:ext cx="712961" cy="31123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800" dirty="0">
                  <a:latin typeface="+mn-ea"/>
                </a:rPr>
                <a:t>专车</a:t>
              </a:r>
              <a:r>
                <a:rPr lang="en-US" altLang="zh-CN" sz="800" dirty="0">
                  <a:latin typeface="+mn-ea"/>
                </a:rPr>
                <a:t>/</a:t>
              </a:r>
              <a:r>
                <a:rPr lang="zh-CN" altLang="en-US" sz="800" dirty="0">
                  <a:latin typeface="+mn-ea"/>
                </a:rPr>
                <a:t>快车司机</a:t>
              </a:r>
              <a:endParaRPr lang="en-US" altLang="zh-CN" sz="800" dirty="0">
                <a:latin typeface="+mn-ea"/>
              </a:endParaRPr>
            </a:p>
            <a:p>
              <a:pPr algn="ctr"/>
              <a:r>
                <a:rPr lang="zh-CN" altLang="en-US" sz="800" dirty="0">
                  <a:latin typeface="+mn-ea"/>
                </a:rPr>
                <a:t>徐先生</a:t>
              </a:r>
              <a:endParaRPr lang="en-US" altLang="zh-CN" sz="800" dirty="0">
                <a:latin typeface="+mn-ea"/>
              </a:endParaRPr>
            </a:p>
          </p:txBody>
        </p:sp>
      </p:grpSp>
      <p:sp>
        <p:nvSpPr>
          <p:cNvPr id="131" name="文本占位符 4"/>
          <p:cNvSpPr txBox="1"/>
          <p:nvPr/>
        </p:nvSpPr>
        <p:spPr>
          <a:xfrm>
            <a:off x="1395464" y="5209312"/>
            <a:ext cx="831856" cy="2348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需求频次</a:t>
            </a:r>
            <a:endParaRPr kumimoji="0" lang="en-US" altLang="zh-CN" sz="7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2" name="文本占位符 4"/>
          <p:cNvSpPr txBox="1"/>
          <p:nvPr/>
        </p:nvSpPr>
        <p:spPr>
          <a:xfrm>
            <a:off x="2072179" y="5230704"/>
            <a:ext cx="3186757" cy="30450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普遍乐于主动与司机沟通需求，</a:t>
            </a:r>
            <a:r>
              <a:rPr lang="zh-CN" altLang="en-US" sz="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大部分</a:t>
            </a:r>
            <a:r>
              <a:rPr kumimoji="0" lang="zh-CN" altLang="en-US" sz="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用户在问卷中表示“经常”主动向司机提需求，互动意愿强烈</a:t>
            </a:r>
            <a:endParaRPr kumimoji="0" lang="en-US" altLang="zh-CN" sz="6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3" name="文本占位符 4"/>
          <p:cNvSpPr txBox="1"/>
          <p:nvPr/>
        </p:nvSpPr>
        <p:spPr>
          <a:xfrm>
            <a:off x="1392554" y="5621779"/>
            <a:ext cx="831856" cy="2348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寻常需求</a:t>
            </a:r>
            <a:endParaRPr kumimoji="0" lang="en-US" altLang="zh-CN" sz="7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4" name="文本占位符 4"/>
          <p:cNvSpPr txBox="1"/>
          <p:nvPr/>
        </p:nvSpPr>
        <p:spPr>
          <a:xfrm>
            <a:off x="2070361" y="5654056"/>
            <a:ext cx="3186757" cy="30450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核心需求集中在“环境舒适度”与“物理安全” 两方面，</a:t>
            </a:r>
            <a:r>
              <a:rPr lang="zh-CN" altLang="en-US" sz="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几乎所有</a:t>
            </a:r>
            <a:r>
              <a:rPr kumimoji="0" lang="zh-CN" altLang="en-US" sz="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乘客都提到过要求开关窗、调节空调温度，以及确认或更换路线</a:t>
            </a:r>
            <a:endParaRPr kumimoji="0" lang="en-US" altLang="zh-CN" sz="6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5" name="文本占位符 4"/>
          <p:cNvSpPr txBox="1"/>
          <p:nvPr/>
        </p:nvSpPr>
        <p:spPr>
          <a:xfrm>
            <a:off x="2061397" y="5887122"/>
            <a:ext cx="3094704" cy="30450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在特殊场景下的需求呈现个性化、碎片化特点，包括：更换目的地、中途上下车、借用餐巾纸</a:t>
            </a:r>
            <a:r>
              <a:rPr kumimoji="0" lang="en-US" altLang="zh-CN" sz="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sz="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充电宝、要求调低或关闭手机外放声音，以及携带宠物上车等</a:t>
            </a:r>
            <a:endParaRPr kumimoji="0" lang="en-US" altLang="zh-CN" sz="6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6" name="文本占位符 4"/>
          <p:cNvSpPr txBox="1"/>
          <p:nvPr/>
        </p:nvSpPr>
        <p:spPr>
          <a:xfrm>
            <a:off x="6919761" y="4435078"/>
            <a:ext cx="884262" cy="2348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年龄与性别构成</a:t>
            </a:r>
            <a:endParaRPr kumimoji="0" lang="en-US" altLang="zh-CN" sz="7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7" name="文本占位符 4"/>
          <p:cNvSpPr txBox="1"/>
          <p:nvPr/>
        </p:nvSpPr>
        <p:spPr>
          <a:xfrm>
            <a:off x="1392554" y="5442924"/>
            <a:ext cx="831856" cy="2348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7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路线问题</a:t>
            </a:r>
            <a:endParaRPr kumimoji="0" lang="en-US" altLang="zh-CN" sz="7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8" name="文本占位符 4"/>
          <p:cNvSpPr txBox="1"/>
          <p:nvPr/>
        </p:nvSpPr>
        <p:spPr>
          <a:xfrm>
            <a:off x="2070361" y="5505345"/>
            <a:ext cx="3137939" cy="19370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遇到司机路线与预期不一致时</a:t>
            </a:r>
            <a:r>
              <a:rPr kumimoji="0" lang="zh-CN" altLang="en-US" sz="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，用户会选择直接与司机沟通并协商</a:t>
            </a:r>
            <a:endParaRPr kumimoji="0" lang="en-US" altLang="zh-CN" sz="6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9" name="文本占位符 4"/>
          <p:cNvSpPr txBox="1"/>
          <p:nvPr/>
        </p:nvSpPr>
        <p:spPr>
          <a:xfrm>
            <a:off x="7670864" y="4474005"/>
            <a:ext cx="3200495" cy="19370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司机组以男性为主，年龄介于</a:t>
            </a:r>
            <a:r>
              <a:rPr kumimoji="0" lang="en-US" altLang="zh-CN" sz="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26</a:t>
            </a:r>
            <a:r>
              <a:rPr kumimoji="0" lang="zh-CN" altLang="en-US" sz="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至</a:t>
            </a:r>
            <a:r>
              <a:rPr kumimoji="0" lang="en-US" altLang="zh-CN" sz="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38</a:t>
            </a:r>
            <a:r>
              <a:rPr kumimoji="0" lang="zh-CN" altLang="en-US" sz="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岁之间，平均年龄约</a:t>
            </a:r>
            <a:r>
              <a:rPr kumimoji="0" lang="en-US" altLang="zh-CN" sz="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35</a:t>
            </a:r>
            <a:r>
              <a:rPr kumimoji="0" lang="zh-CN" altLang="en-US" sz="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岁</a:t>
            </a:r>
          </a:p>
        </p:txBody>
      </p:sp>
      <p:sp>
        <p:nvSpPr>
          <p:cNvPr id="141" name="文本占位符 4"/>
          <p:cNvSpPr txBox="1"/>
          <p:nvPr/>
        </p:nvSpPr>
        <p:spPr>
          <a:xfrm>
            <a:off x="6945281" y="4834942"/>
            <a:ext cx="640786" cy="2348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  <a:defRPr/>
            </a:pPr>
            <a:r>
              <a:rPr lang="zh-CN" altLang="en-US" sz="7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路线问题</a:t>
            </a:r>
            <a:endParaRPr lang="en-US" altLang="zh-CN" sz="7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2" name="文本占位符 4"/>
          <p:cNvSpPr txBox="1"/>
          <p:nvPr/>
        </p:nvSpPr>
        <p:spPr>
          <a:xfrm>
            <a:off x="6930327" y="5096757"/>
            <a:ext cx="834047" cy="2348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  <a:defRPr/>
            </a:pPr>
            <a:r>
              <a:rPr lang="zh-CN" altLang="en-US" sz="7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调整服务频次</a:t>
            </a:r>
          </a:p>
        </p:txBody>
      </p:sp>
      <p:sp>
        <p:nvSpPr>
          <p:cNvPr id="143" name="矩形: 圆角 142"/>
          <p:cNvSpPr/>
          <p:nvPr/>
        </p:nvSpPr>
        <p:spPr>
          <a:xfrm>
            <a:off x="6733829" y="4118920"/>
            <a:ext cx="3971376" cy="18708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定性用户画像</a:t>
            </a:r>
          </a:p>
        </p:txBody>
      </p:sp>
      <p:sp>
        <p:nvSpPr>
          <p:cNvPr id="144" name="文本占位符 4"/>
          <p:cNvSpPr txBox="1"/>
          <p:nvPr/>
        </p:nvSpPr>
        <p:spPr>
          <a:xfrm>
            <a:off x="7683067" y="4616786"/>
            <a:ext cx="3200495" cy="19370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本科</a:t>
            </a:r>
            <a:r>
              <a:rPr lang="zh-CN" altLang="en-US" sz="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学历占比较高</a:t>
            </a:r>
            <a:r>
              <a:rPr kumimoji="0" lang="zh-CN" altLang="en-US" sz="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，专车司机和快车司机占比相当，另</a:t>
            </a:r>
            <a:r>
              <a:rPr lang="zh-CN" altLang="en-US" sz="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有少数</a:t>
            </a:r>
            <a:r>
              <a:rPr kumimoji="0" lang="zh-CN" altLang="en-US" sz="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兼营专车与快车的司机</a:t>
            </a:r>
          </a:p>
        </p:txBody>
      </p:sp>
      <p:sp>
        <p:nvSpPr>
          <p:cNvPr id="145" name="文本占位符 4"/>
          <p:cNvSpPr txBox="1"/>
          <p:nvPr/>
        </p:nvSpPr>
        <p:spPr>
          <a:xfrm>
            <a:off x="7670865" y="4870798"/>
            <a:ext cx="3143610" cy="30450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在面对路线分歧时，</a:t>
            </a:r>
            <a:r>
              <a:rPr lang="zh-CN" altLang="en-US" sz="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大部分</a:t>
            </a:r>
            <a:r>
              <a:rPr kumimoji="0" lang="zh-CN" altLang="en-US" sz="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司机会优先尊重乘客意愿，按乘客指定路线行驶，</a:t>
            </a:r>
            <a:r>
              <a:rPr lang="zh-CN" altLang="en-US" sz="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少数司机会</a:t>
            </a:r>
            <a:r>
              <a:rPr kumimoji="0" lang="zh-CN" altLang="en-US" sz="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则遵循导航或平台规则</a:t>
            </a:r>
          </a:p>
        </p:txBody>
      </p:sp>
      <p:sp>
        <p:nvSpPr>
          <p:cNvPr id="146" name="文本占位符 4"/>
          <p:cNvSpPr txBox="1"/>
          <p:nvPr/>
        </p:nvSpPr>
        <p:spPr>
          <a:xfrm>
            <a:off x="7672027" y="5136573"/>
            <a:ext cx="3132363" cy="30450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大部分</a:t>
            </a:r>
            <a:r>
              <a:rPr kumimoji="0" lang="zh-CN" altLang="en-US" sz="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司机会“经常”根据乘客状态主动调整服务方式（如驾驶风格、临时需求），仅</a:t>
            </a:r>
            <a:r>
              <a:rPr lang="zh-CN" altLang="en-US" sz="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少部分司机</a:t>
            </a:r>
            <a:r>
              <a:rPr kumimoji="0" lang="en-US" altLang="zh-CN" sz="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“</a:t>
            </a:r>
            <a:r>
              <a:rPr kumimoji="0" lang="zh-CN" altLang="en-US" sz="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偶尔”调整</a:t>
            </a:r>
          </a:p>
        </p:txBody>
      </p:sp>
      <p:sp>
        <p:nvSpPr>
          <p:cNvPr id="147" name="文本占位符 4"/>
          <p:cNvSpPr txBox="1"/>
          <p:nvPr/>
        </p:nvSpPr>
        <p:spPr>
          <a:xfrm>
            <a:off x="7670864" y="5434708"/>
            <a:ext cx="3182776" cy="30450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所有司机均会主动提醒乘客系好安全带、下车携带随身物品，并在场站提醒检查证件等安全事项</a:t>
            </a:r>
          </a:p>
        </p:txBody>
      </p:sp>
      <p:sp>
        <p:nvSpPr>
          <p:cNvPr id="148" name="文本占位符 4"/>
          <p:cNvSpPr txBox="1"/>
          <p:nvPr/>
        </p:nvSpPr>
        <p:spPr>
          <a:xfrm>
            <a:off x="7653144" y="5842059"/>
            <a:ext cx="3132363" cy="30450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20000"/>
              </a:lnSpc>
              <a:buNone/>
              <a:defRPr/>
            </a:pPr>
            <a:r>
              <a:rPr kumimoji="0" lang="zh-CN" altLang="en-US" sz="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司机从业工龄比较分化，</a:t>
            </a:r>
            <a:r>
              <a:rPr lang="zh-CN" altLang="en-US" sz="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多数司从业时间在</a:t>
            </a:r>
            <a:r>
              <a:rPr lang="en-US" altLang="zh-CN" sz="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6-10</a:t>
            </a:r>
            <a:r>
              <a:rPr lang="zh-CN" altLang="en-US" sz="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年，</a:t>
            </a:r>
            <a:r>
              <a:rPr kumimoji="0" lang="zh-CN" altLang="en-US" sz="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有</a:t>
            </a:r>
            <a:r>
              <a:rPr lang="zh-CN" altLang="en-US" sz="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r>
              <a:rPr kumimoji="0" lang="zh-CN" altLang="en-US" sz="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司机从业仅</a:t>
            </a:r>
            <a:r>
              <a:rPr kumimoji="0" lang="en-US" altLang="zh-CN" sz="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sz="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年；每周工作时间至少</a:t>
            </a:r>
            <a:r>
              <a:rPr kumimoji="0" lang="en-US" altLang="zh-CN" sz="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kumimoji="0" lang="zh-CN" altLang="en-US" sz="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天，全职</a:t>
            </a:r>
            <a:r>
              <a:rPr lang="zh-CN" altLang="en-US" sz="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司机数量占多数</a:t>
            </a:r>
            <a:endParaRPr kumimoji="0" lang="zh-CN" altLang="en-US" sz="6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占位符 4"/>
          <p:cNvSpPr txBox="1"/>
          <p:nvPr/>
        </p:nvSpPr>
        <p:spPr>
          <a:xfrm>
            <a:off x="1358171" y="4946003"/>
            <a:ext cx="884262" cy="2348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乘车类型</a:t>
            </a:r>
            <a:endParaRPr kumimoji="0" lang="en-US" altLang="zh-CN" sz="7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占位符 4"/>
          <p:cNvSpPr txBox="1"/>
          <p:nvPr/>
        </p:nvSpPr>
        <p:spPr>
          <a:xfrm>
            <a:off x="2098528" y="4979112"/>
            <a:ext cx="3186757" cy="19370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快车与专车用户均有</a:t>
            </a:r>
            <a:endParaRPr kumimoji="0" lang="en-US" altLang="zh-CN" sz="6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D4493C8-C306-96E0-430C-BD11F33A96A0}"/>
              </a:ext>
            </a:extLst>
          </p:cNvPr>
          <p:cNvSpPr/>
          <p:nvPr/>
        </p:nvSpPr>
        <p:spPr>
          <a:xfrm>
            <a:off x="1178351" y="1743958"/>
            <a:ext cx="1913641" cy="5279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上车前阶段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1E24D33-F009-DA72-E8C1-2EA25FDE1161}"/>
              </a:ext>
            </a:extLst>
          </p:cNvPr>
          <p:cNvSpPr/>
          <p:nvPr/>
        </p:nvSpPr>
        <p:spPr>
          <a:xfrm>
            <a:off x="3396792" y="1743958"/>
            <a:ext cx="1913641" cy="5279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上车时阶段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86060FE-F043-7238-BB52-3196C4E6AA8C}"/>
              </a:ext>
            </a:extLst>
          </p:cNvPr>
          <p:cNvSpPr/>
          <p:nvPr/>
        </p:nvSpPr>
        <p:spPr>
          <a:xfrm>
            <a:off x="5615233" y="1743958"/>
            <a:ext cx="1913641" cy="5279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行驶阶段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F285846-5D14-71B5-1919-296EC9597FAA}"/>
              </a:ext>
            </a:extLst>
          </p:cNvPr>
          <p:cNvSpPr/>
          <p:nvPr/>
        </p:nvSpPr>
        <p:spPr>
          <a:xfrm>
            <a:off x="7833674" y="1743958"/>
            <a:ext cx="1913641" cy="5279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下车时</a:t>
            </a:r>
            <a:r>
              <a:rPr lang="en-US" altLang="zh-CN" sz="1200" dirty="0"/>
              <a:t>&amp;</a:t>
            </a:r>
            <a:r>
              <a:rPr lang="zh-CN" altLang="en-US" sz="1200" dirty="0"/>
              <a:t>下车后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10CAA9F-BDA8-10A0-002B-5A9520F1650C}"/>
              </a:ext>
            </a:extLst>
          </p:cNvPr>
          <p:cNvSpPr/>
          <p:nvPr/>
        </p:nvSpPr>
        <p:spPr>
          <a:xfrm>
            <a:off x="1247480" y="4436353"/>
            <a:ext cx="8499835" cy="5279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跨阶段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99DAE07-F27B-F93B-3E5A-9B9BC418EEF2}"/>
              </a:ext>
            </a:extLst>
          </p:cNvPr>
          <p:cNvSpPr/>
          <p:nvPr/>
        </p:nvSpPr>
        <p:spPr>
          <a:xfrm>
            <a:off x="1574278" y="3237063"/>
            <a:ext cx="1131217" cy="372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定位与接驾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C8D08F5-C43B-2EFC-86D8-0FEF3C9372A5}"/>
              </a:ext>
            </a:extLst>
          </p:cNvPr>
          <p:cNvSpPr/>
          <p:nvPr/>
        </p:nvSpPr>
        <p:spPr>
          <a:xfrm>
            <a:off x="1574278" y="2498100"/>
            <a:ext cx="1131217" cy="372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行前沟通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BBC0739-862A-6A4B-0583-86A77BB420B9}"/>
              </a:ext>
            </a:extLst>
          </p:cNvPr>
          <p:cNvSpPr/>
          <p:nvPr/>
        </p:nvSpPr>
        <p:spPr>
          <a:xfrm>
            <a:off x="3860275" y="2498100"/>
            <a:ext cx="1131217" cy="372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协助上车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71C3AB3-3E70-C560-7D1D-5209B088214D}"/>
              </a:ext>
            </a:extLst>
          </p:cNvPr>
          <p:cNvSpPr/>
          <p:nvPr/>
        </p:nvSpPr>
        <p:spPr>
          <a:xfrm>
            <a:off x="3855773" y="3292053"/>
            <a:ext cx="1131217" cy="372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行程确认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11CC8FA-C9E8-F91D-400F-714C60F85911}"/>
              </a:ext>
            </a:extLst>
          </p:cNvPr>
          <p:cNvSpPr/>
          <p:nvPr/>
        </p:nvSpPr>
        <p:spPr>
          <a:xfrm>
            <a:off x="6006444" y="2498100"/>
            <a:ext cx="1131217" cy="372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车辆环境舒适调整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4ACF7CD-206E-980D-F6F3-CFD38D4BFD33}"/>
              </a:ext>
            </a:extLst>
          </p:cNvPr>
          <p:cNvSpPr/>
          <p:nvPr/>
        </p:nvSpPr>
        <p:spPr>
          <a:xfrm>
            <a:off x="6006442" y="3756576"/>
            <a:ext cx="1131217" cy="372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临时性停车需求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D282A68-BF0C-67B4-4EE0-CF3C4877D952}"/>
              </a:ext>
            </a:extLst>
          </p:cNvPr>
          <p:cNvSpPr/>
          <p:nvPr/>
        </p:nvSpPr>
        <p:spPr>
          <a:xfrm>
            <a:off x="6006442" y="3152220"/>
            <a:ext cx="1131217" cy="372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驾驶行为规范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56974E4-5261-0618-D774-2B1F33B29774}"/>
              </a:ext>
            </a:extLst>
          </p:cNvPr>
          <p:cNvSpPr/>
          <p:nvPr/>
        </p:nvSpPr>
        <p:spPr>
          <a:xfrm>
            <a:off x="8144755" y="2498100"/>
            <a:ext cx="1131217" cy="372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停车位置沟通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CD1F1CB-6898-1C23-0827-069B34A5E965}"/>
              </a:ext>
            </a:extLst>
          </p:cNvPr>
          <p:cNvSpPr/>
          <p:nvPr/>
        </p:nvSpPr>
        <p:spPr>
          <a:xfrm>
            <a:off x="8144755" y="3066848"/>
            <a:ext cx="1131217" cy="372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安全提醒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2CED8D3-AF98-168A-3224-90DEBAE2FCFF}"/>
              </a:ext>
            </a:extLst>
          </p:cNvPr>
          <p:cNvSpPr/>
          <p:nvPr/>
        </p:nvSpPr>
        <p:spPr>
          <a:xfrm>
            <a:off x="8157113" y="3680110"/>
            <a:ext cx="1131217" cy="372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额外与服务评价</a:t>
            </a: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038559B0-F831-5000-1B02-8376FB6829AA}"/>
              </a:ext>
            </a:extLst>
          </p:cNvPr>
          <p:cNvCxnSpPr>
            <a:cxnSpLocks/>
            <a:stCxn id="12" idx="2"/>
            <a:endCxn id="10" idx="0"/>
          </p:cNvCxnSpPr>
          <p:nvPr/>
        </p:nvCxnSpPr>
        <p:spPr>
          <a:xfrm>
            <a:off x="2139887" y="2870460"/>
            <a:ext cx="0" cy="366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425C86A8-7B76-2371-83D8-5C8AC560F9B5}"/>
              </a:ext>
            </a:extLst>
          </p:cNvPr>
          <p:cNvCxnSpPr>
            <a:endCxn id="12" idx="1"/>
          </p:cNvCxnSpPr>
          <p:nvPr/>
        </p:nvCxnSpPr>
        <p:spPr>
          <a:xfrm rot="16200000" flipH="1">
            <a:off x="1245518" y="2355519"/>
            <a:ext cx="412421" cy="24509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8B533BDF-F379-D9F4-9D76-C8FE3A4DF995}"/>
              </a:ext>
            </a:extLst>
          </p:cNvPr>
          <p:cNvCxnSpPr>
            <a:endCxn id="13" idx="1"/>
          </p:cNvCxnSpPr>
          <p:nvPr/>
        </p:nvCxnSpPr>
        <p:spPr>
          <a:xfrm rot="16200000" flipH="1">
            <a:off x="3496165" y="2320170"/>
            <a:ext cx="412422" cy="31579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7CD3EA91-6AC9-430C-AAF2-5852BAF676A2}"/>
              </a:ext>
            </a:extLst>
          </p:cNvPr>
          <p:cNvCxnSpPr>
            <a:endCxn id="16" idx="1"/>
          </p:cNvCxnSpPr>
          <p:nvPr/>
        </p:nvCxnSpPr>
        <p:spPr>
          <a:xfrm rot="16200000" flipH="1">
            <a:off x="5662759" y="2340594"/>
            <a:ext cx="412423" cy="27494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连接符: 肘形 41">
            <a:extLst>
              <a:ext uri="{FF2B5EF4-FFF2-40B4-BE49-F238E27FC236}">
                <a16:creationId xmlns:a16="http://schemas.microsoft.com/office/drawing/2014/main" id="{9DFEBCD1-5035-B5BB-7E16-ADB11D2B0913}"/>
              </a:ext>
            </a:extLst>
          </p:cNvPr>
          <p:cNvCxnSpPr>
            <a:endCxn id="21" idx="1"/>
          </p:cNvCxnSpPr>
          <p:nvPr/>
        </p:nvCxnSpPr>
        <p:spPr>
          <a:xfrm rot="16200000" flipH="1">
            <a:off x="7848991" y="2388515"/>
            <a:ext cx="412425" cy="17910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7D167FA8-D8FA-B3B7-3C51-0EF7DC75C871}"/>
              </a:ext>
            </a:extLst>
          </p:cNvPr>
          <p:cNvCxnSpPr>
            <a:cxnSpLocks/>
            <a:stCxn id="13" idx="2"/>
            <a:endCxn id="15" idx="0"/>
          </p:cNvCxnSpPr>
          <p:nvPr/>
        </p:nvCxnSpPr>
        <p:spPr>
          <a:xfrm flipH="1">
            <a:off x="4421382" y="2870460"/>
            <a:ext cx="4502" cy="4215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7B22E1D9-15CD-129B-441D-136F5EE58916}"/>
              </a:ext>
            </a:extLst>
          </p:cNvPr>
          <p:cNvCxnSpPr>
            <a:cxnSpLocks/>
            <a:stCxn id="16" idx="2"/>
          </p:cNvCxnSpPr>
          <p:nvPr/>
        </p:nvCxnSpPr>
        <p:spPr>
          <a:xfrm flipH="1">
            <a:off x="6572052" y="2870460"/>
            <a:ext cx="1" cy="1963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6C6494C0-F77E-ED34-0F04-73C4F160B7D9}"/>
              </a:ext>
            </a:extLst>
          </p:cNvPr>
          <p:cNvCxnSpPr>
            <a:stCxn id="20" idx="2"/>
            <a:endCxn id="19" idx="0"/>
          </p:cNvCxnSpPr>
          <p:nvPr/>
        </p:nvCxnSpPr>
        <p:spPr>
          <a:xfrm>
            <a:off x="6572051" y="3524580"/>
            <a:ext cx="0" cy="2319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8D6B3B49-9A2E-EA75-1BE4-53ADE7648C5F}"/>
              </a:ext>
            </a:extLst>
          </p:cNvPr>
          <p:cNvCxnSpPr>
            <a:stCxn id="21" idx="2"/>
            <a:endCxn id="23" idx="0"/>
          </p:cNvCxnSpPr>
          <p:nvPr/>
        </p:nvCxnSpPr>
        <p:spPr>
          <a:xfrm>
            <a:off x="8710364" y="2870460"/>
            <a:ext cx="0" cy="1963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9EC94BE0-ECE7-36EB-932F-7B0C183BD8ED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8710364" y="3439208"/>
            <a:ext cx="0" cy="170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矩形 60">
            <a:extLst>
              <a:ext uri="{FF2B5EF4-FFF2-40B4-BE49-F238E27FC236}">
                <a16:creationId xmlns:a16="http://schemas.microsoft.com/office/drawing/2014/main" id="{3AC9D1E2-0C33-61AA-A7A4-D5F69894831E}"/>
              </a:ext>
            </a:extLst>
          </p:cNvPr>
          <p:cNvSpPr/>
          <p:nvPr/>
        </p:nvSpPr>
        <p:spPr>
          <a:xfrm>
            <a:off x="1641836" y="5189459"/>
            <a:ext cx="1131217" cy="372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驾驶风格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E8BCEF1A-F47F-8D9B-2DE7-7E9CAC7534BB}"/>
              </a:ext>
            </a:extLst>
          </p:cNvPr>
          <p:cNvSpPr/>
          <p:nvPr/>
        </p:nvSpPr>
        <p:spPr>
          <a:xfrm>
            <a:off x="4484016" y="5189459"/>
            <a:ext cx="1131217" cy="372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司机素质与品格</a:t>
            </a:r>
          </a:p>
        </p:txBody>
      </p: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BC0A3C6B-4EBE-0A6C-6A67-EEA0D3C530DF}"/>
              </a:ext>
            </a:extLst>
          </p:cNvPr>
          <p:cNvCxnSpPr>
            <a:endCxn id="61" idx="0"/>
          </p:cNvCxnSpPr>
          <p:nvPr/>
        </p:nvCxnSpPr>
        <p:spPr>
          <a:xfrm>
            <a:off x="2207444" y="4964254"/>
            <a:ext cx="1" cy="225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F84069EF-07C5-C961-3C55-2E37F10AED7E}"/>
              </a:ext>
            </a:extLst>
          </p:cNvPr>
          <p:cNvCxnSpPr>
            <a:endCxn id="62" idx="0"/>
          </p:cNvCxnSpPr>
          <p:nvPr/>
        </p:nvCxnSpPr>
        <p:spPr>
          <a:xfrm>
            <a:off x="5049624" y="4964254"/>
            <a:ext cx="1" cy="225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 69">
            <a:extLst>
              <a:ext uri="{FF2B5EF4-FFF2-40B4-BE49-F238E27FC236}">
                <a16:creationId xmlns:a16="http://schemas.microsoft.com/office/drawing/2014/main" id="{572C42B3-86D0-8642-9517-28DDB71BCF18}"/>
              </a:ext>
            </a:extLst>
          </p:cNvPr>
          <p:cNvSpPr/>
          <p:nvPr/>
        </p:nvSpPr>
        <p:spPr>
          <a:xfrm>
            <a:off x="7326196" y="5214062"/>
            <a:ext cx="1131217" cy="372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乘客个性化</a:t>
            </a:r>
          </a:p>
        </p:txBody>
      </p: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3544089B-1BE3-8029-5A10-70CF0817547A}"/>
              </a:ext>
            </a:extLst>
          </p:cNvPr>
          <p:cNvCxnSpPr/>
          <p:nvPr/>
        </p:nvCxnSpPr>
        <p:spPr>
          <a:xfrm>
            <a:off x="7891804" y="4962411"/>
            <a:ext cx="1" cy="225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02FB0520-4844-EBE7-DFFE-768C6491FB74}"/>
              </a:ext>
            </a:extLst>
          </p:cNvPr>
          <p:cNvSpPr txBox="1"/>
          <p:nvPr/>
        </p:nvSpPr>
        <p:spPr>
          <a:xfrm>
            <a:off x="669925" y="642025"/>
            <a:ext cx="2351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乘客的</a:t>
            </a:r>
            <a:r>
              <a:rPr lang="en-US" altLang="zh-CN" b="1" dirty="0"/>
              <a:t>User Journey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288830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37E06-ECB1-D51F-D937-8B23BF06B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A46BD6-0D3C-F602-A830-66944217551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69924" y="433637"/>
            <a:ext cx="10440000" cy="595063"/>
          </a:xfrm>
        </p:spPr>
        <p:txBody>
          <a:bodyPr/>
          <a:lstStyle/>
          <a:p>
            <a:r>
              <a:rPr lang="zh-CN" altLang="en-US" dirty="0"/>
              <a:t>上车前阶段</a:t>
            </a:r>
            <a:r>
              <a:rPr lang="en-US" altLang="zh-CN" dirty="0"/>
              <a:t>——</a:t>
            </a:r>
            <a:r>
              <a:rPr lang="zh-CN" altLang="en-US" dirty="0"/>
              <a:t>行前沟通</a:t>
            </a:r>
          </a:p>
        </p:txBody>
      </p:sp>
      <p:sp>
        <p:nvSpPr>
          <p:cNvPr id="16" name="文本占位符 4">
            <a:extLst>
              <a:ext uri="{FF2B5EF4-FFF2-40B4-BE49-F238E27FC236}">
                <a16:creationId xmlns:a16="http://schemas.microsoft.com/office/drawing/2014/main" id="{EF64A110-BAD2-B977-39DD-20B213A87307}"/>
              </a:ext>
            </a:extLst>
          </p:cNvPr>
          <p:cNvSpPr txBox="1"/>
          <p:nvPr/>
        </p:nvSpPr>
        <p:spPr>
          <a:xfrm>
            <a:off x="5183625" y="1395662"/>
            <a:ext cx="2290714" cy="3385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用户需求分析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3FC4AC86-D9F2-9C8E-0EAE-AFE5A21E7D82}"/>
              </a:ext>
            </a:extLst>
          </p:cNvPr>
          <p:cNvCxnSpPr/>
          <p:nvPr/>
        </p:nvCxnSpPr>
        <p:spPr>
          <a:xfrm>
            <a:off x="431787" y="1303200"/>
            <a:ext cx="11196000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F28A465E-A276-E0EA-B2FA-F95AFFEBD94A}"/>
              </a:ext>
            </a:extLst>
          </p:cNvPr>
          <p:cNvCxnSpPr/>
          <p:nvPr/>
        </p:nvCxnSpPr>
        <p:spPr>
          <a:xfrm>
            <a:off x="431787" y="1810163"/>
            <a:ext cx="11196000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2C9C4957-04DB-57B9-2C9C-ACA25277D8EA}"/>
              </a:ext>
            </a:extLst>
          </p:cNvPr>
          <p:cNvSpPr txBox="1"/>
          <p:nvPr/>
        </p:nvSpPr>
        <p:spPr>
          <a:xfrm>
            <a:off x="97877" y="2794788"/>
            <a:ext cx="36603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>
              <a:defRPr/>
            </a:pP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algn="ctr"/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行前沟通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6591A67-B160-2C52-BDBF-2CB4FE040C70}"/>
              </a:ext>
            </a:extLst>
          </p:cNvPr>
          <p:cNvSpPr txBox="1"/>
          <p:nvPr/>
        </p:nvSpPr>
        <p:spPr>
          <a:xfrm>
            <a:off x="497628" y="2164407"/>
            <a:ext cx="1525188" cy="4693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endParaRPr lang="en-US" altLang="zh-CN" sz="1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zh-CN" altLang="en-US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信息沟通</a:t>
            </a:r>
            <a:endParaRPr lang="en-US" altLang="zh-CN" sz="1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endParaRPr lang="en-US" altLang="zh-CN" sz="1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endParaRPr lang="en-US" altLang="zh-CN" sz="1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endParaRPr lang="en-US" altLang="zh-CN" sz="1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zh-CN" altLang="en-US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预约单</a:t>
            </a:r>
            <a:endParaRPr lang="en-US" altLang="zh-CN" sz="1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endParaRPr lang="en-US" altLang="zh-CN" sz="1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endParaRPr lang="en-US" altLang="zh-CN" sz="1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endParaRPr lang="en-US" altLang="zh-CN" sz="1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zh-CN" altLang="en-US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场站</a:t>
            </a:r>
            <a:endParaRPr lang="en-US" altLang="zh-CN" sz="1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代叫车</a:t>
            </a:r>
            <a:endParaRPr lang="en-US" altLang="zh-CN" sz="1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 fontAlgn="b">
              <a:spcBef>
                <a:spcPts val="600"/>
              </a:spcBef>
              <a:buFont typeface="Wingdings" panose="05000000000000000000" pitchFamily="2" charset="2"/>
              <a:buChar char="Ø"/>
              <a:defRPr/>
            </a:pPr>
            <a:endParaRPr lang="en-US" altLang="zh-CN" sz="1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 fontAlgn="b">
              <a:spcBef>
                <a:spcPts val="600"/>
              </a:spcBef>
              <a:buFont typeface="Wingdings" panose="05000000000000000000" pitchFamily="2" charset="2"/>
              <a:buChar char="Ø"/>
              <a:defRPr/>
            </a:pPr>
            <a:endParaRPr lang="en-US" altLang="zh-CN" sz="1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占位符 4">
            <a:extLst>
              <a:ext uri="{FF2B5EF4-FFF2-40B4-BE49-F238E27FC236}">
                <a16:creationId xmlns:a16="http://schemas.microsoft.com/office/drawing/2014/main" id="{E2642C9A-D7DF-3F16-DC2B-0446863049E3}"/>
              </a:ext>
            </a:extLst>
          </p:cNvPr>
          <p:cNvSpPr txBox="1"/>
          <p:nvPr/>
        </p:nvSpPr>
        <p:spPr>
          <a:xfrm>
            <a:off x="2143529" y="1384066"/>
            <a:ext cx="1697824" cy="3385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关键发现</a:t>
            </a:r>
          </a:p>
        </p:txBody>
      </p:sp>
      <p:sp>
        <p:nvSpPr>
          <p:cNvPr id="60" name="文本占位符 4">
            <a:extLst>
              <a:ext uri="{FF2B5EF4-FFF2-40B4-BE49-F238E27FC236}">
                <a16:creationId xmlns:a16="http://schemas.microsoft.com/office/drawing/2014/main" id="{80651552-75FB-7997-6EED-3C4C84A9A7B6}"/>
              </a:ext>
            </a:extLst>
          </p:cNvPr>
          <p:cNvSpPr txBox="1"/>
          <p:nvPr/>
        </p:nvSpPr>
        <p:spPr>
          <a:xfrm>
            <a:off x="9262073" y="1398077"/>
            <a:ext cx="2709470" cy="3385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司机</a:t>
            </a:r>
            <a:r>
              <a: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功能建议</a:t>
            </a: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FF740517-264B-CDE1-E76C-6CFD030CC01B}"/>
              </a:ext>
            </a:extLst>
          </p:cNvPr>
          <p:cNvCxnSpPr/>
          <p:nvPr/>
        </p:nvCxnSpPr>
        <p:spPr>
          <a:xfrm>
            <a:off x="3950617" y="1834362"/>
            <a:ext cx="0" cy="43200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474BB298-3380-4664-C6CF-991FBD149367}"/>
              </a:ext>
            </a:extLst>
          </p:cNvPr>
          <p:cNvCxnSpPr/>
          <p:nvPr/>
        </p:nvCxnSpPr>
        <p:spPr>
          <a:xfrm>
            <a:off x="9425901" y="1834362"/>
            <a:ext cx="0" cy="43200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占位符 4">
            <a:extLst>
              <a:ext uri="{FF2B5EF4-FFF2-40B4-BE49-F238E27FC236}">
                <a16:creationId xmlns:a16="http://schemas.microsoft.com/office/drawing/2014/main" id="{632B80FD-98A6-15E6-2AD1-784A528FD72F}"/>
              </a:ext>
            </a:extLst>
          </p:cNvPr>
          <p:cNvSpPr txBox="1"/>
          <p:nvPr/>
        </p:nvSpPr>
        <p:spPr>
          <a:xfrm>
            <a:off x="220457" y="1374187"/>
            <a:ext cx="1697824" cy="3385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场景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2758AB33-2418-2D64-0CE6-59F56118C3A8}"/>
              </a:ext>
            </a:extLst>
          </p:cNvPr>
          <p:cNvCxnSpPr/>
          <p:nvPr/>
        </p:nvCxnSpPr>
        <p:spPr>
          <a:xfrm>
            <a:off x="1678754" y="1810163"/>
            <a:ext cx="0" cy="43200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25">
            <a:extLst>
              <a:ext uri="{FF2B5EF4-FFF2-40B4-BE49-F238E27FC236}">
                <a16:creationId xmlns:a16="http://schemas.microsoft.com/office/drawing/2014/main" id="{5BB5D526-A959-683C-4E63-53EDB56FE484}"/>
              </a:ext>
            </a:extLst>
          </p:cNvPr>
          <p:cNvCxnSpPr/>
          <p:nvPr/>
        </p:nvCxnSpPr>
        <p:spPr>
          <a:xfrm>
            <a:off x="431787" y="6170268"/>
            <a:ext cx="11196000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B8E580D7-960D-9260-E2CB-96A45E6C2645}"/>
              </a:ext>
            </a:extLst>
          </p:cNvPr>
          <p:cNvCxnSpPr/>
          <p:nvPr/>
        </p:nvCxnSpPr>
        <p:spPr>
          <a:xfrm>
            <a:off x="545759" y="5031725"/>
            <a:ext cx="1133212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68E64D27-60E3-3160-A68F-567A01D43129}"/>
              </a:ext>
            </a:extLst>
          </p:cNvPr>
          <p:cNvCxnSpPr/>
          <p:nvPr/>
        </p:nvCxnSpPr>
        <p:spPr>
          <a:xfrm>
            <a:off x="672399" y="2948706"/>
            <a:ext cx="1133212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3074336A-86E3-577F-932A-4D0AFBBB238A}"/>
              </a:ext>
            </a:extLst>
          </p:cNvPr>
          <p:cNvSpPr txBox="1"/>
          <p:nvPr/>
        </p:nvSpPr>
        <p:spPr>
          <a:xfrm>
            <a:off x="1752462" y="3113153"/>
            <a:ext cx="1966625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050" dirty="0"/>
              <a:t>预约单因为航班延误取消，司机空等</a:t>
            </a:r>
            <a:endParaRPr lang="en-US" altLang="zh-CN" sz="1050" dirty="0"/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050" dirty="0"/>
              <a:t>行李较多要求进场接站，愿意额外线下付费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1BE5632-D1A5-E2FA-A9A0-509454450883}"/>
              </a:ext>
            </a:extLst>
          </p:cNvPr>
          <p:cNvSpPr txBox="1"/>
          <p:nvPr/>
        </p:nvSpPr>
        <p:spPr>
          <a:xfrm>
            <a:off x="1736904" y="4023954"/>
            <a:ext cx="2226662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50" dirty="0"/>
              <a:t>存在多个停车点，协商接驾地点</a:t>
            </a:r>
            <a:endParaRPr lang="en-US" altLang="zh-CN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50" dirty="0"/>
              <a:t>乘客要求去出发层接驾</a:t>
            </a:r>
            <a:endParaRPr lang="en-US" altLang="zh-CN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50" dirty="0"/>
              <a:t>需要人找车，不是车找人 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7408086-B012-A18C-AD86-986ECD4A9970}"/>
              </a:ext>
            </a:extLst>
          </p:cNvPr>
          <p:cNvSpPr txBox="1"/>
          <p:nvPr/>
        </p:nvSpPr>
        <p:spPr>
          <a:xfrm>
            <a:off x="1746539" y="5309062"/>
            <a:ext cx="2217027" cy="654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050" dirty="0"/>
              <a:t>需要确认地点反复沟通</a:t>
            </a:r>
            <a:endParaRPr lang="en-US" altLang="zh-CN" sz="1050" dirty="0"/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050" dirty="0"/>
              <a:t>特殊需求沟通，如何老人</a:t>
            </a:r>
            <a:r>
              <a:rPr lang="en-US" altLang="zh-CN" sz="1050" dirty="0"/>
              <a:t>&amp;</a:t>
            </a:r>
            <a:r>
              <a:rPr lang="zh-CN" altLang="en-US" sz="1050" dirty="0"/>
              <a:t>儿童</a:t>
            </a:r>
            <a:endParaRPr lang="en-US" altLang="zh-CN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zh-CN" altLang="en-US" sz="1050" dirty="0"/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EB228B5C-5216-90C4-93F7-EECDB4DC2330}"/>
              </a:ext>
            </a:extLst>
          </p:cNvPr>
          <p:cNvCxnSpPr/>
          <p:nvPr/>
        </p:nvCxnSpPr>
        <p:spPr>
          <a:xfrm>
            <a:off x="545759" y="3964339"/>
            <a:ext cx="1133212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36544ED1-96FC-DFAE-1BFC-ECEC309DEA7B}"/>
              </a:ext>
            </a:extLst>
          </p:cNvPr>
          <p:cNvSpPr txBox="1"/>
          <p:nvPr/>
        </p:nvSpPr>
        <p:spPr>
          <a:xfrm>
            <a:off x="1831373" y="2076863"/>
            <a:ext cx="1966625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050" dirty="0"/>
              <a:t>大多数乘客喜欢发送信息沟通</a:t>
            </a:r>
            <a:endParaRPr lang="en-US" altLang="zh-CN" sz="1050" dirty="0"/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050" dirty="0"/>
              <a:t>通过信息主动发送自己需求与状态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5B6ED1E-24DC-8E16-DD8C-B78C63245BA1}"/>
              </a:ext>
            </a:extLst>
          </p:cNvPr>
          <p:cNvSpPr txBox="1"/>
          <p:nvPr/>
        </p:nvSpPr>
        <p:spPr>
          <a:xfrm>
            <a:off x="3976758" y="1927778"/>
            <a:ext cx="17137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行程基础信息确认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CF1B7F3-61EB-CE2F-844E-950F85FEBC54}"/>
              </a:ext>
            </a:extLst>
          </p:cNvPr>
          <p:cNvSpPr txBox="1"/>
          <p:nvPr/>
        </p:nvSpPr>
        <p:spPr>
          <a:xfrm>
            <a:off x="5620403" y="1926201"/>
            <a:ext cx="18647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上车点精准位置对接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608AAC5-5FD6-5AC8-87C2-D78BEA39F84F}"/>
              </a:ext>
            </a:extLst>
          </p:cNvPr>
          <p:cNvSpPr txBox="1"/>
          <p:nvPr/>
        </p:nvSpPr>
        <p:spPr>
          <a:xfrm>
            <a:off x="7485151" y="1939582"/>
            <a:ext cx="19806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行程特殊情况提前告知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EC86B056-42FB-A319-711B-9344A42D8BB7}"/>
              </a:ext>
            </a:extLst>
          </p:cNvPr>
          <p:cNvSpPr txBox="1"/>
          <p:nvPr/>
        </p:nvSpPr>
        <p:spPr>
          <a:xfrm>
            <a:off x="4059076" y="2225632"/>
            <a:ext cx="14528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/>
              <a:t>司机告知状态，马上赶来，正在送一单等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D968610-A407-43C9-36B7-7185372B9D06}"/>
              </a:ext>
            </a:extLst>
          </p:cNvPr>
          <p:cNvSpPr txBox="1"/>
          <p:nvPr/>
        </p:nvSpPr>
        <p:spPr>
          <a:xfrm>
            <a:off x="2017935" y="1817484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信息透明原则：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B02E0B8C-2149-4854-3DF6-97C65B81D291}"/>
              </a:ext>
            </a:extLst>
          </p:cNvPr>
          <p:cNvSpPr txBox="1"/>
          <p:nvPr/>
        </p:nvSpPr>
        <p:spPr>
          <a:xfrm>
            <a:off x="5557350" y="2219844"/>
            <a:ext cx="177518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/>
              <a:t>上车地点文字说明或者拍照</a:t>
            </a:r>
            <a:endParaRPr lang="en-US" altLang="zh-C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/>
              <a:t>接车地点说明或者拍照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703F8723-712E-B661-FC5B-0FA54E108848}"/>
              </a:ext>
            </a:extLst>
          </p:cNvPr>
          <p:cNvSpPr txBox="1"/>
          <p:nvPr/>
        </p:nvSpPr>
        <p:spPr>
          <a:xfrm>
            <a:off x="7332529" y="2225632"/>
            <a:ext cx="213323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/>
              <a:t>行李相关，如行李较多等</a:t>
            </a:r>
            <a:endParaRPr lang="en-US" altLang="zh-C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/>
              <a:t>宠物相关，宠物类型，大小</a:t>
            </a:r>
            <a:endParaRPr lang="en-US" altLang="zh-C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/>
              <a:t>同行人相关，如老人孩子，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1F7FAA61-9240-D5F0-6A1A-0295661F11C5}"/>
              </a:ext>
            </a:extLst>
          </p:cNvPr>
          <p:cNvSpPr txBox="1"/>
          <p:nvPr/>
        </p:nvSpPr>
        <p:spPr>
          <a:xfrm>
            <a:off x="9458358" y="1896678"/>
            <a:ext cx="27209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100" dirty="0"/>
              <a:t>跟车辆状态变化自动告知乘客状态</a:t>
            </a:r>
            <a:endParaRPr lang="en-US" altLang="zh-CN" sz="1100" dirty="0"/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100" dirty="0"/>
              <a:t>自动识别乘客发送过来文字与图片，根据自己车辆精准停车接驾</a:t>
            </a:r>
            <a:endParaRPr lang="en-US" altLang="zh-CN" sz="1100" dirty="0"/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100" dirty="0"/>
              <a:t>自动告知特殊情况能够提供的服务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2B25952F-03D6-30B9-E29A-D13D52C4148E}"/>
              </a:ext>
            </a:extLst>
          </p:cNvPr>
          <p:cNvSpPr txBox="1"/>
          <p:nvPr/>
        </p:nvSpPr>
        <p:spPr>
          <a:xfrm>
            <a:off x="9412953" y="3087346"/>
            <a:ext cx="2720938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100" dirty="0"/>
              <a:t>提醒乘客发送航班号，根据航班与高铁等状态变化智能通知司机</a:t>
            </a:r>
            <a:endParaRPr lang="en-US" altLang="zh-CN" sz="1100" dirty="0"/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100" dirty="0"/>
              <a:t>  </a:t>
            </a:r>
            <a:r>
              <a:rPr lang="en-US" altLang="zh-CN" sz="1100" dirty="0"/>
              <a:t>agent</a:t>
            </a:r>
            <a:r>
              <a:rPr lang="zh-CN" altLang="en-US" sz="1100" dirty="0"/>
              <a:t>告知场站本地服务平台，并发送位置信息给本地服务平台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F11E2FDB-8875-B021-6687-280FA22FB2EB}"/>
              </a:ext>
            </a:extLst>
          </p:cNvPr>
          <p:cNvSpPr txBox="1"/>
          <p:nvPr/>
        </p:nvSpPr>
        <p:spPr>
          <a:xfrm>
            <a:off x="4045439" y="3121399"/>
            <a:ext cx="20505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司机需要提前知道航班号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32401D56-0293-A069-8FA1-E740B418489C}"/>
              </a:ext>
            </a:extLst>
          </p:cNvPr>
          <p:cNvSpPr txBox="1"/>
          <p:nvPr/>
        </p:nvSpPr>
        <p:spPr>
          <a:xfrm>
            <a:off x="6449058" y="3112921"/>
            <a:ext cx="26661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行李多，希望提供一条龙接机服务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583F9E14-ECA2-BB52-D1CA-FBD2882C9AD8}"/>
              </a:ext>
            </a:extLst>
          </p:cNvPr>
          <p:cNvSpPr txBox="1"/>
          <p:nvPr/>
        </p:nvSpPr>
        <p:spPr>
          <a:xfrm>
            <a:off x="6762192" y="3355123"/>
            <a:ext cx="174278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100" dirty="0"/>
              <a:t>人生地不熟</a:t>
            </a:r>
            <a:endParaRPr lang="en-US" altLang="zh-CN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100" dirty="0"/>
              <a:t>老人，妇儒，老外等</a:t>
            </a:r>
            <a:endParaRPr lang="en-US" altLang="zh-CN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100" dirty="0"/>
              <a:t>愿意额外付费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B86E9224-A0A9-C2C7-E196-02AA0CC02930}"/>
              </a:ext>
            </a:extLst>
          </p:cNvPr>
          <p:cNvSpPr txBox="1"/>
          <p:nvPr/>
        </p:nvSpPr>
        <p:spPr>
          <a:xfrm>
            <a:off x="4035542" y="4082384"/>
            <a:ext cx="20505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乘客不熟悉规定接驾地点</a:t>
            </a: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FC21DD87-5D92-ECDB-0175-C09AC9744AA8}"/>
              </a:ext>
            </a:extLst>
          </p:cNvPr>
          <p:cNvSpPr txBox="1"/>
          <p:nvPr/>
        </p:nvSpPr>
        <p:spPr>
          <a:xfrm>
            <a:off x="3919461" y="4384099"/>
            <a:ext cx="295096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050" dirty="0"/>
              <a:t>乘客场站内认路能力没那么高，反复沟通</a:t>
            </a:r>
            <a:endParaRPr lang="en-US" altLang="zh-CN" sz="10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050" dirty="0"/>
              <a:t>走错接车点，如南广场停车，去了北广场</a:t>
            </a: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E49AECE4-F7BA-1BB1-D5D3-892D1F870C71}"/>
              </a:ext>
            </a:extLst>
          </p:cNvPr>
          <p:cNvSpPr txBox="1"/>
          <p:nvPr/>
        </p:nvSpPr>
        <p:spPr>
          <a:xfrm>
            <a:off x="6762192" y="4037542"/>
            <a:ext cx="22044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司机与乘客约定更快接驾点</a:t>
            </a: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12AAD6B9-C482-F336-0E07-0B3980F5DB4A}"/>
              </a:ext>
            </a:extLst>
          </p:cNvPr>
          <p:cNvSpPr txBox="1"/>
          <p:nvPr/>
        </p:nvSpPr>
        <p:spPr>
          <a:xfrm>
            <a:off x="6857499" y="4343994"/>
            <a:ext cx="251561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100" dirty="0"/>
              <a:t>司机发起，停车场堵车</a:t>
            </a:r>
            <a:endParaRPr lang="en-US" altLang="zh-CN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100" dirty="0"/>
              <a:t>乘客发起，出发层，但有的出发层不能空车驶入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00570785-184D-CAA5-46F0-401706821A2D}"/>
              </a:ext>
            </a:extLst>
          </p:cNvPr>
          <p:cNvSpPr txBox="1"/>
          <p:nvPr/>
        </p:nvSpPr>
        <p:spPr>
          <a:xfrm>
            <a:off x="9438849" y="4110418"/>
            <a:ext cx="2720938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100" dirty="0"/>
              <a:t>手机端</a:t>
            </a:r>
            <a:r>
              <a:rPr lang="en-US" altLang="zh-CN" sz="1100" dirty="0"/>
              <a:t>Agent</a:t>
            </a:r>
            <a:r>
              <a:rPr lang="zh-CN" altLang="en-US" sz="1100" dirty="0"/>
              <a:t>提供指路服务，结合手机位置与车辆位置，提供提示</a:t>
            </a:r>
            <a:endParaRPr lang="en-US" altLang="zh-CN" sz="1100" dirty="0"/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100" dirty="0"/>
              <a:t>在安全合规条件下，智能变更接驾地点（难度大）</a:t>
            </a: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7F1504B1-A655-7077-F802-4D8C9883CCF7}"/>
              </a:ext>
            </a:extLst>
          </p:cNvPr>
          <p:cNvSpPr txBox="1"/>
          <p:nvPr/>
        </p:nvSpPr>
        <p:spPr>
          <a:xfrm>
            <a:off x="4045438" y="5198330"/>
            <a:ext cx="26661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乘客不放心，反复电话和信息沟通</a:t>
            </a: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F71A5AAF-32A3-88C0-CDC5-06632162E377}"/>
              </a:ext>
            </a:extLst>
          </p:cNvPr>
          <p:cNvSpPr txBox="1"/>
          <p:nvPr/>
        </p:nvSpPr>
        <p:spPr>
          <a:xfrm>
            <a:off x="4779027" y="5482261"/>
            <a:ext cx="162736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/>
              <a:t>地点与到达时间确认</a:t>
            </a:r>
            <a:endParaRPr lang="en-US" altLang="zh-C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/>
              <a:t>上车人的特征描述</a:t>
            </a:r>
            <a:endParaRPr lang="en-US" altLang="zh-C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/>
              <a:t>上没上车</a:t>
            </a:r>
            <a:endParaRPr lang="en-US" altLang="zh-C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zh-CN" altLang="en-US" sz="1100" dirty="0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54C3D328-F549-B23F-6665-3E8CE7218F93}"/>
              </a:ext>
            </a:extLst>
          </p:cNvPr>
          <p:cNvSpPr txBox="1"/>
          <p:nvPr/>
        </p:nvSpPr>
        <p:spPr>
          <a:xfrm>
            <a:off x="6857499" y="5462338"/>
            <a:ext cx="162736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/>
              <a:t>下车地点要求等描述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CE8549DD-7BFB-279D-A87B-601212432A38}"/>
              </a:ext>
            </a:extLst>
          </p:cNvPr>
          <p:cNvSpPr txBox="1"/>
          <p:nvPr/>
        </p:nvSpPr>
        <p:spPr>
          <a:xfrm>
            <a:off x="9373114" y="5333744"/>
            <a:ext cx="272093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100" dirty="0"/>
              <a:t>需要理解客户语音与文字需求并及时反馈自身状态</a:t>
            </a:r>
            <a:endParaRPr lang="en-US" altLang="zh-CN" sz="1100" dirty="0"/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100" dirty="0"/>
              <a:t>提醒费用已线上支付，不用额外支付</a:t>
            </a:r>
          </a:p>
        </p:txBody>
      </p:sp>
    </p:spTree>
    <p:extLst>
      <p:ext uri="{BB962C8B-B14F-4D97-AF65-F5344CB8AC3E}">
        <p14:creationId xmlns:p14="http://schemas.microsoft.com/office/powerpoint/2010/main" val="2734796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114DF-49E6-0242-6B83-97B603CCA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CC84BE-1DFE-4752-4661-B3AF5169813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69924" y="433637"/>
            <a:ext cx="10440000" cy="595063"/>
          </a:xfrm>
        </p:spPr>
        <p:txBody>
          <a:bodyPr/>
          <a:lstStyle/>
          <a:p>
            <a:r>
              <a:rPr lang="zh-CN" altLang="en-US" dirty="0"/>
              <a:t>上车前阶段</a:t>
            </a:r>
            <a:r>
              <a:rPr lang="en-US" altLang="zh-CN" dirty="0"/>
              <a:t>——</a:t>
            </a:r>
            <a:r>
              <a:rPr lang="zh-CN" altLang="en-US" dirty="0"/>
              <a:t>行前沟通</a:t>
            </a:r>
          </a:p>
        </p:txBody>
      </p:sp>
      <p:sp>
        <p:nvSpPr>
          <p:cNvPr id="16" name="文本占位符 4">
            <a:extLst>
              <a:ext uri="{FF2B5EF4-FFF2-40B4-BE49-F238E27FC236}">
                <a16:creationId xmlns:a16="http://schemas.microsoft.com/office/drawing/2014/main" id="{A877D56E-9B64-D9F8-A213-152983F6C3B2}"/>
              </a:ext>
            </a:extLst>
          </p:cNvPr>
          <p:cNvSpPr txBox="1"/>
          <p:nvPr/>
        </p:nvSpPr>
        <p:spPr>
          <a:xfrm>
            <a:off x="5183625" y="1395662"/>
            <a:ext cx="2290714" cy="3385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用户需求分析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44831A77-DF45-5FCF-DC8C-9B5185F65206}"/>
              </a:ext>
            </a:extLst>
          </p:cNvPr>
          <p:cNvCxnSpPr/>
          <p:nvPr/>
        </p:nvCxnSpPr>
        <p:spPr>
          <a:xfrm>
            <a:off x="431787" y="1303200"/>
            <a:ext cx="11196000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554ED62B-FDBE-48CC-1CD2-83EC7D2A99CE}"/>
              </a:ext>
            </a:extLst>
          </p:cNvPr>
          <p:cNvCxnSpPr/>
          <p:nvPr/>
        </p:nvCxnSpPr>
        <p:spPr>
          <a:xfrm>
            <a:off x="431787" y="1810163"/>
            <a:ext cx="11196000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3FBB5F35-75F4-3F6E-40F0-30ED8CC98366}"/>
              </a:ext>
            </a:extLst>
          </p:cNvPr>
          <p:cNvSpPr txBox="1"/>
          <p:nvPr/>
        </p:nvSpPr>
        <p:spPr>
          <a:xfrm>
            <a:off x="97877" y="2794788"/>
            <a:ext cx="36603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>
              <a:defRPr/>
            </a:pP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algn="ctr"/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行前沟通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19E03BE-6E18-F7A1-6AB3-8E7829C2EFD1}"/>
              </a:ext>
            </a:extLst>
          </p:cNvPr>
          <p:cNvSpPr txBox="1"/>
          <p:nvPr/>
        </p:nvSpPr>
        <p:spPr>
          <a:xfrm>
            <a:off x="600163" y="1682798"/>
            <a:ext cx="1525188" cy="3954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fontAlgn="b">
              <a:spcBef>
                <a:spcPts val="600"/>
              </a:spcBef>
              <a:buFont typeface="Wingdings" panose="05000000000000000000" pitchFamily="2" charset="2"/>
              <a:buChar char="Ø"/>
              <a:defRPr/>
            </a:pP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 fontAlgn="b">
              <a:spcBef>
                <a:spcPts val="600"/>
              </a:spcBef>
              <a:buFont typeface="Wingdings" panose="05000000000000000000" pitchFamily="2" charset="2"/>
              <a:buChar char="Ø"/>
              <a:defRPr/>
            </a:pP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11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带儿童</a:t>
            </a: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11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带宠物</a:t>
            </a: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11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单独送物品</a:t>
            </a: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占位符 4">
            <a:extLst>
              <a:ext uri="{FF2B5EF4-FFF2-40B4-BE49-F238E27FC236}">
                <a16:creationId xmlns:a16="http://schemas.microsoft.com/office/drawing/2014/main" id="{37F2550F-6C9C-8126-6C1B-E6060A975142}"/>
              </a:ext>
            </a:extLst>
          </p:cNvPr>
          <p:cNvSpPr txBox="1"/>
          <p:nvPr/>
        </p:nvSpPr>
        <p:spPr>
          <a:xfrm>
            <a:off x="2143529" y="1384066"/>
            <a:ext cx="1697824" cy="3385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关键发现</a:t>
            </a:r>
          </a:p>
        </p:txBody>
      </p:sp>
      <p:sp>
        <p:nvSpPr>
          <p:cNvPr id="60" name="文本占位符 4">
            <a:extLst>
              <a:ext uri="{FF2B5EF4-FFF2-40B4-BE49-F238E27FC236}">
                <a16:creationId xmlns:a16="http://schemas.microsoft.com/office/drawing/2014/main" id="{AD5FA774-9064-F87F-64C2-CF6859C5D5F5}"/>
              </a:ext>
            </a:extLst>
          </p:cNvPr>
          <p:cNvSpPr txBox="1"/>
          <p:nvPr/>
        </p:nvSpPr>
        <p:spPr>
          <a:xfrm>
            <a:off x="9262073" y="1398077"/>
            <a:ext cx="2709470" cy="3385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司机</a:t>
            </a:r>
            <a:r>
              <a: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功能建议</a:t>
            </a: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E9637E44-7B03-655F-E4D5-0C67D2F97CFA}"/>
              </a:ext>
            </a:extLst>
          </p:cNvPr>
          <p:cNvCxnSpPr/>
          <p:nvPr/>
        </p:nvCxnSpPr>
        <p:spPr>
          <a:xfrm>
            <a:off x="3733800" y="1834362"/>
            <a:ext cx="0" cy="43200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7C153DB8-55E8-1D35-B32C-4C9D3178DA4B}"/>
              </a:ext>
            </a:extLst>
          </p:cNvPr>
          <p:cNvCxnSpPr/>
          <p:nvPr/>
        </p:nvCxnSpPr>
        <p:spPr>
          <a:xfrm>
            <a:off x="9425901" y="1834362"/>
            <a:ext cx="0" cy="43200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占位符 4">
            <a:extLst>
              <a:ext uri="{FF2B5EF4-FFF2-40B4-BE49-F238E27FC236}">
                <a16:creationId xmlns:a16="http://schemas.microsoft.com/office/drawing/2014/main" id="{D740586F-CA3B-F182-2174-692E48780390}"/>
              </a:ext>
            </a:extLst>
          </p:cNvPr>
          <p:cNvSpPr txBox="1"/>
          <p:nvPr/>
        </p:nvSpPr>
        <p:spPr>
          <a:xfrm>
            <a:off x="320111" y="1389551"/>
            <a:ext cx="1697824" cy="3385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中高场景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7151E251-F2DB-0436-1C05-21580D11E2A0}"/>
              </a:ext>
            </a:extLst>
          </p:cNvPr>
          <p:cNvCxnSpPr/>
          <p:nvPr/>
        </p:nvCxnSpPr>
        <p:spPr>
          <a:xfrm>
            <a:off x="1933280" y="1810163"/>
            <a:ext cx="0" cy="43200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25">
            <a:extLst>
              <a:ext uri="{FF2B5EF4-FFF2-40B4-BE49-F238E27FC236}">
                <a16:creationId xmlns:a16="http://schemas.microsoft.com/office/drawing/2014/main" id="{271B87F6-6583-A4E5-2FC0-D4F27866310D}"/>
              </a:ext>
            </a:extLst>
          </p:cNvPr>
          <p:cNvCxnSpPr/>
          <p:nvPr/>
        </p:nvCxnSpPr>
        <p:spPr>
          <a:xfrm>
            <a:off x="431787" y="6170268"/>
            <a:ext cx="11196000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0C241A9E-5345-134B-376C-07223ECF26E3}"/>
              </a:ext>
            </a:extLst>
          </p:cNvPr>
          <p:cNvCxnSpPr/>
          <p:nvPr/>
        </p:nvCxnSpPr>
        <p:spPr>
          <a:xfrm>
            <a:off x="631235" y="4606653"/>
            <a:ext cx="1133212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EB79B046-5250-A5DB-A462-7DD078B882F8}"/>
              </a:ext>
            </a:extLst>
          </p:cNvPr>
          <p:cNvCxnSpPr/>
          <p:nvPr/>
        </p:nvCxnSpPr>
        <p:spPr>
          <a:xfrm>
            <a:off x="673516" y="3126472"/>
            <a:ext cx="1133212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D33AEE34-62C8-FD75-CD1D-2510DB2AEC62}"/>
              </a:ext>
            </a:extLst>
          </p:cNvPr>
          <p:cNvSpPr txBox="1"/>
          <p:nvPr/>
        </p:nvSpPr>
        <p:spPr>
          <a:xfrm>
            <a:off x="1933280" y="2163974"/>
            <a:ext cx="1773159" cy="1054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050" dirty="0"/>
              <a:t>期望型需求</a:t>
            </a:r>
            <a:r>
              <a:rPr lang="en-US" altLang="zh-CN" sz="1050" dirty="0"/>
              <a:t>-</a:t>
            </a:r>
            <a:r>
              <a:rPr lang="zh-CN" altLang="en-US" sz="1050" dirty="0"/>
              <a:t>有乘客提出可以提供儿童安全座椅，但要求较高</a:t>
            </a:r>
            <a:endParaRPr lang="en-US" altLang="zh-CN" sz="1050" dirty="0"/>
          </a:p>
          <a:p>
            <a:pPr>
              <a:spcBef>
                <a:spcPts val="600"/>
              </a:spcBef>
            </a:pPr>
            <a:endParaRPr lang="en-US" altLang="zh-CN" sz="1050" dirty="0"/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zh-CN" altLang="en-US" sz="105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E81D8E0-5C5F-DAEA-9343-EB948E6A8825}"/>
              </a:ext>
            </a:extLst>
          </p:cNvPr>
          <p:cNvSpPr txBox="1"/>
          <p:nvPr/>
        </p:nvSpPr>
        <p:spPr>
          <a:xfrm>
            <a:off x="2017935" y="5107039"/>
            <a:ext cx="1773159" cy="654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050" dirty="0"/>
              <a:t>需要确认地点反复沟通</a:t>
            </a:r>
            <a:endParaRPr lang="en-US" altLang="zh-CN" sz="1050" dirty="0"/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050" dirty="0"/>
              <a:t>特殊需求沟通</a:t>
            </a:r>
            <a:endParaRPr lang="en-US" altLang="zh-CN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zh-CN" altLang="en-US" sz="105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A8955D9-5332-7146-51FD-6EC6A210EAAA}"/>
              </a:ext>
            </a:extLst>
          </p:cNvPr>
          <p:cNvSpPr txBox="1"/>
          <p:nvPr/>
        </p:nvSpPr>
        <p:spPr>
          <a:xfrm>
            <a:off x="1960641" y="3529108"/>
            <a:ext cx="1790715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050" dirty="0"/>
              <a:t>带较大宠物，沟通是否可以乘坐，避免上车后拒载</a:t>
            </a:r>
            <a:endParaRPr lang="en-US" altLang="zh-CN" sz="1050" dirty="0"/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05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F71C0BC-F30B-9EC3-2E4B-DCAD31CFC522}"/>
              </a:ext>
            </a:extLst>
          </p:cNvPr>
          <p:cNvSpPr txBox="1"/>
          <p:nvPr/>
        </p:nvSpPr>
        <p:spPr>
          <a:xfrm>
            <a:off x="9560174" y="1741600"/>
            <a:ext cx="25971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/>
              <a:t>匹配驾驶安全评分较高司机</a:t>
            </a:r>
            <a:endParaRPr lang="en-US" altLang="zh-CN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/>
              <a:t>上车后语音提醒用户照看好孩子，注意安全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/>
              <a:t>行驶更加平稳</a:t>
            </a:r>
            <a:endParaRPr lang="en-US" altLang="zh-CN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12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98583C8-13EF-5404-1F26-AF288ABAD128}"/>
              </a:ext>
            </a:extLst>
          </p:cNvPr>
          <p:cNvSpPr txBox="1"/>
          <p:nvPr/>
        </p:nvSpPr>
        <p:spPr>
          <a:xfrm>
            <a:off x="4792910" y="2111253"/>
            <a:ext cx="24737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乘客非常看重幼童的乘车安全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099041E-C7BA-1260-624B-8F7BBBADCA64}"/>
              </a:ext>
            </a:extLst>
          </p:cNvPr>
          <p:cNvSpPr txBox="1"/>
          <p:nvPr/>
        </p:nvSpPr>
        <p:spPr>
          <a:xfrm>
            <a:off x="9550005" y="3442228"/>
            <a:ext cx="2597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/>
              <a:t>信息提醒乘客与宠物后排就坐</a:t>
            </a:r>
            <a:endParaRPr lang="en-US" altLang="zh-CN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/>
              <a:t>对有大型宠物的乘客，进行提醒，要跟司机提前沟通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64BC938-EAE7-C0D2-1A92-17112529DA99}"/>
              </a:ext>
            </a:extLst>
          </p:cNvPr>
          <p:cNvSpPr txBox="1"/>
          <p:nvPr/>
        </p:nvSpPr>
        <p:spPr>
          <a:xfrm>
            <a:off x="4092518" y="3318534"/>
            <a:ext cx="14350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司机对宠物态度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3A2626A-9787-CA4B-68AB-9DDB93EB4440}"/>
              </a:ext>
            </a:extLst>
          </p:cNvPr>
          <p:cNvSpPr txBox="1"/>
          <p:nvPr/>
        </p:nvSpPr>
        <p:spPr>
          <a:xfrm>
            <a:off x="3841216" y="3595533"/>
            <a:ext cx="3153427" cy="823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有宠物一定要提前沟通，即使选择宠物模式</a:t>
            </a:r>
            <a:endParaRPr lang="en-US" altLang="zh-CN" sz="11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小型宠物，小猫，小狗还可以</a:t>
            </a:r>
            <a:endParaRPr lang="en-US" altLang="zh-CN" sz="11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大型宠物，即使在平台标注有宠物也会拒载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52D5C6C-6F45-54D8-4941-1E8CC54BB8FC}"/>
              </a:ext>
            </a:extLst>
          </p:cNvPr>
          <p:cNvSpPr txBox="1"/>
          <p:nvPr/>
        </p:nvSpPr>
        <p:spPr>
          <a:xfrm>
            <a:off x="7817451" y="3290805"/>
            <a:ext cx="12811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乘客担心拒载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34B7C39-8BC8-7838-90C1-90F306C0BAC5}"/>
              </a:ext>
            </a:extLst>
          </p:cNvPr>
          <p:cNvSpPr txBox="1"/>
          <p:nvPr/>
        </p:nvSpPr>
        <p:spPr>
          <a:xfrm>
            <a:off x="7837004" y="3684490"/>
            <a:ext cx="14863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/>
              <a:t>大型宠物，如金毛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876D4909-12F4-B588-514E-2566D4B4DD01}"/>
              </a:ext>
            </a:extLst>
          </p:cNvPr>
          <p:cNvSpPr txBox="1"/>
          <p:nvPr/>
        </p:nvSpPr>
        <p:spPr>
          <a:xfrm>
            <a:off x="3925870" y="4756609"/>
            <a:ext cx="9733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忘掉物品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05E4457-EF03-BF2B-9455-9CF24CEC7D78}"/>
              </a:ext>
            </a:extLst>
          </p:cNvPr>
          <p:cNvSpPr txBox="1"/>
          <p:nvPr/>
        </p:nvSpPr>
        <p:spPr>
          <a:xfrm>
            <a:off x="4210282" y="5107039"/>
            <a:ext cx="922047" cy="5699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忘掉行李</a:t>
            </a:r>
            <a:endParaRPr lang="en-US" altLang="zh-CN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紧急文件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8FD1FEA-43FF-F5A1-6233-F97C85B4492F}"/>
              </a:ext>
            </a:extLst>
          </p:cNvPr>
          <p:cNvSpPr txBox="1"/>
          <p:nvPr/>
        </p:nvSpPr>
        <p:spPr>
          <a:xfrm>
            <a:off x="7002734" y="4770973"/>
            <a:ext cx="9733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反复沟通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8C58015E-572D-A528-1C2F-920DAC887901}"/>
              </a:ext>
            </a:extLst>
          </p:cNvPr>
          <p:cNvSpPr txBox="1"/>
          <p:nvPr/>
        </p:nvSpPr>
        <p:spPr>
          <a:xfrm>
            <a:off x="7287146" y="5150489"/>
            <a:ext cx="1063112" cy="5699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发送方沟通</a:t>
            </a:r>
            <a:endParaRPr lang="en-US" altLang="zh-CN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接受方沟通</a:t>
            </a:r>
            <a:endParaRPr lang="en-US" altLang="zh-CN" sz="1100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A22626E6-DEF1-FBA4-0454-A95EC1888C88}"/>
              </a:ext>
            </a:extLst>
          </p:cNvPr>
          <p:cNvSpPr txBox="1"/>
          <p:nvPr/>
        </p:nvSpPr>
        <p:spPr>
          <a:xfrm>
            <a:off x="9525845" y="5086719"/>
            <a:ext cx="2597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/>
              <a:t>提供物品模式</a:t>
            </a:r>
            <a:endParaRPr lang="en-US" altLang="zh-CN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/>
              <a:t>取消中途所有服务与提醒</a:t>
            </a:r>
          </a:p>
        </p:txBody>
      </p:sp>
    </p:spTree>
    <p:extLst>
      <p:ext uri="{BB962C8B-B14F-4D97-AF65-F5344CB8AC3E}">
        <p14:creationId xmlns:p14="http://schemas.microsoft.com/office/powerpoint/2010/main" val="3605725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38FA2-1787-D050-90A8-A3D5F67FD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504D42-4E3F-F4A0-C14B-2516973283E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69924" y="433637"/>
            <a:ext cx="10440000" cy="595063"/>
          </a:xfrm>
        </p:spPr>
        <p:txBody>
          <a:bodyPr/>
          <a:lstStyle/>
          <a:p>
            <a:r>
              <a:rPr lang="zh-CN" altLang="en-US" dirty="0"/>
              <a:t>上车前阶段</a:t>
            </a:r>
            <a:r>
              <a:rPr lang="en-US" altLang="zh-CN" dirty="0"/>
              <a:t>——</a:t>
            </a:r>
            <a:r>
              <a:rPr lang="zh-CN" altLang="en-US" dirty="0"/>
              <a:t>定位与接驾</a:t>
            </a:r>
          </a:p>
        </p:txBody>
      </p:sp>
      <p:sp>
        <p:nvSpPr>
          <p:cNvPr id="16" name="文本占位符 4">
            <a:extLst>
              <a:ext uri="{FF2B5EF4-FFF2-40B4-BE49-F238E27FC236}">
                <a16:creationId xmlns:a16="http://schemas.microsoft.com/office/drawing/2014/main" id="{54EE3425-8412-8E68-5AEE-7A373262F520}"/>
              </a:ext>
            </a:extLst>
          </p:cNvPr>
          <p:cNvSpPr txBox="1"/>
          <p:nvPr/>
        </p:nvSpPr>
        <p:spPr>
          <a:xfrm>
            <a:off x="5183625" y="1395662"/>
            <a:ext cx="2290714" cy="3385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用户需求分析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B5FB2ED3-D86E-77F1-1F17-E968F006E09A}"/>
              </a:ext>
            </a:extLst>
          </p:cNvPr>
          <p:cNvCxnSpPr/>
          <p:nvPr/>
        </p:nvCxnSpPr>
        <p:spPr>
          <a:xfrm>
            <a:off x="431787" y="1303200"/>
            <a:ext cx="11196000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019BA519-63EB-4356-3468-7BA76815F652}"/>
              </a:ext>
            </a:extLst>
          </p:cNvPr>
          <p:cNvCxnSpPr/>
          <p:nvPr/>
        </p:nvCxnSpPr>
        <p:spPr>
          <a:xfrm>
            <a:off x="431787" y="1810163"/>
            <a:ext cx="11196000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D770884B-400E-9705-D817-E09A18E0D277}"/>
              </a:ext>
            </a:extLst>
          </p:cNvPr>
          <p:cNvSpPr txBox="1"/>
          <p:nvPr/>
        </p:nvSpPr>
        <p:spPr>
          <a:xfrm>
            <a:off x="97877" y="2794788"/>
            <a:ext cx="36603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>
              <a:defRPr/>
            </a:pP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algn="ctr"/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定位与接驾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8EF5799-87C1-67AE-DDA7-67C163AA5A6A}"/>
              </a:ext>
            </a:extLst>
          </p:cNvPr>
          <p:cNvSpPr txBox="1"/>
          <p:nvPr/>
        </p:nvSpPr>
        <p:spPr>
          <a:xfrm>
            <a:off x="533969" y="2407730"/>
            <a:ext cx="1525188" cy="3708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zh-CN" altLang="en-US" sz="11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定位不准</a:t>
            </a: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zh-CN" altLang="en-US" sz="11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接驾时间较长</a:t>
            </a: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11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提前叫车等待</a:t>
            </a: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占位符 4">
            <a:extLst>
              <a:ext uri="{FF2B5EF4-FFF2-40B4-BE49-F238E27FC236}">
                <a16:creationId xmlns:a16="http://schemas.microsoft.com/office/drawing/2014/main" id="{64990B42-F3CD-C74B-97CF-292770107F1A}"/>
              </a:ext>
            </a:extLst>
          </p:cNvPr>
          <p:cNvSpPr txBox="1"/>
          <p:nvPr/>
        </p:nvSpPr>
        <p:spPr>
          <a:xfrm>
            <a:off x="2143529" y="1384066"/>
            <a:ext cx="1697824" cy="3385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关键发现</a:t>
            </a:r>
          </a:p>
        </p:txBody>
      </p:sp>
      <p:sp>
        <p:nvSpPr>
          <p:cNvPr id="60" name="文本占位符 4">
            <a:extLst>
              <a:ext uri="{FF2B5EF4-FFF2-40B4-BE49-F238E27FC236}">
                <a16:creationId xmlns:a16="http://schemas.microsoft.com/office/drawing/2014/main" id="{87B2E7E9-A78B-060C-D759-D4995B8F6910}"/>
              </a:ext>
            </a:extLst>
          </p:cNvPr>
          <p:cNvSpPr txBox="1"/>
          <p:nvPr/>
        </p:nvSpPr>
        <p:spPr>
          <a:xfrm>
            <a:off x="9262073" y="1398077"/>
            <a:ext cx="2709470" cy="3385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司机</a:t>
            </a:r>
            <a:r>
              <a: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功能建议</a:t>
            </a:r>
          </a:p>
        </p:txBody>
      </p:sp>
      <p:sp>
        <p:nvSpPr>
          <p:cNvPr id="29" name="文本占位符 4">
            <a:extLst>
              <a:ext uri="{FF2B5EF4-FFF2-40B4-BE49-F238E27FC236}">
                <a16:creationId xmlns:a16="http://schemas.microsoft.com/office/drawing/2014/main" id="{FC80261C-8D85-EF92-D67C-9418AEF7400A}"/>
              </a:ext>
            </a:extLst>
          </p:cNvPr>
          <p:cNvSpPr txBox="1"/>
          <p:nvPr/>
        </p:nvSpPr>
        <p:spPr>
          <a:xfrm>
            <a:off x="320111" y="1389551"/>
            <a:ext cx="1697824" cy="3385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中高场景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766C3E2D-E33D-AA98-0D1D-FB7DA668661F}"/>
              </a:ext>
            </a:extLst>
          </p:cNvPr>
          <p:cNvCxnSpPr/>
          <p:nvPr/>
        </p:nvCxnSpPr>
        <p:spPr>
          <a:xfrm>
            <a:off x="1933280" y="1810163"/>
            <a:ext cx="0" cy="43200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25">
            <a:extLst>
              <a:ext uri="{FF2B5EF4-FFF2-40B4-BE49-F238E27FC236}">
                <a16:creationId xmlns:a16="http://schemas.microsoft.com/office/drawing/2014/main" id="{E3EAAFD0-9895-9844-16AA-79BA2421C1AE}"/>
              </a:ext>
            </a:extLst>
          </p:cNvPr>
          <p:cNvCxnSpPr/>
          <p:nvPr/>
        </p:nvCxnSpPr>
        <p:spPr>
          <a:xfrm>
            <a:off x="431787" y="6170268"/>
            <a:ext cx="11196000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D4AFD6C7-FF78-9961-4881-F49DECA7DDF7}"/>
              </a:ext>
            </a:extLst>
          </p:cNvPr>
          <p:cNvCxnSpPr/>
          <p:nvPr/>
        </p:nvCxnSpPr>
        <p:spPr>
          <a:xfrm>
            <a:off x="648280" y="4651876"/>
            <a:ext cx="1133212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6CBDA1DD-C891-E429-ACC0-A79917780DF2}"/>
              </a:ext>
            </a:extLst>
          </p:cNvPr>
          <p:cNvCxnSpPr/>
          <p:nvPr/>
        </p:nvCxnSpPr>
        <p:spPr>
          <a:xfrm>
            <a:off x="673516" y="3101049"/>
            <a:ext cx="1133212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751F3BBB-51CE-55B4-F7AC-1D71F42C9D33}"/>
              </a:ext>
            </a:extLst>
          </p:cNvPr>
          <p:cNvSpPr txBox="1"/>
          <p:nvPr/>
        </p:nvSpPr>
        <p:spPr>
          <a:xfrm>
            <a:off x="1933280" y="2163974"/>
            <a:ext cx="177315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050" dirty="0"/>
              <a:t>路两侧的定位偏差</a:t>
            </a:r>
            <a:endParaRPr lang="en-US" altLang="zh-CN" sz="1050" dirty="0"/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050" dirty="0"/>
              <a:t>近距离的定位偏差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827234F-232A-A250-DE7B-EAAE5EAAED42}"/>
              </a:ext>
            </a:extLst>
          </p:cNvPr>
          <p:cNvSpPr txBox="1"/>
          <p:nvPr/>
        </p:nvSpPr>
        <p:spPr>
          <a:xfrm>
            <a:off x="1992539" y="4869394"/>
            <a:ext cx="1773159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50" dirty="0"/>
              <a:t>提前叫车，等待时间过长，如女生、喝酒等</a:t>
            </a:r>
            <a:r>
              <a:rPr lang="en-US" altLang="zh-CN" sz="1050" dirty="0"/>
              <a:t>.</a:t>
            </a:r>
            <a:r>
              <a:rPr lang="zh-CN" altLang="en-US" sz="1050" dirty="0"/>
              <a:t>   </a:t>
            </a:r>
            <a:endParaRPr lang="en-US" altLang="zh-CN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50" dirty="0"/>
              <a:t>超过一定时间，司机有多选择</a:t>
            </a:r>
            <a:endParaRPr lang="en-US" altLang="zh-CN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zh-CN" altLang="en-US" sz="105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3663F49-CF53-9119-8A03-ED259B648410}"/>
              </a:ext>
            </a:extLst>
          </p:cNvPr>
          <p:cNvSpPr txBox="1"/>
          <p:nvPr/>
        </p:nvSpPr>
        <p:spPr>
          <a:xfrm>
            <a:off x="1985815" y="3495691"/>
            <a:ext cx="177315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050" dirty="0"/>
              <a:t>3-5</a:t>
            </a:r>
            <a:r>
              <a:rPr lang="zh-CN" altLang="en-US" sz="1050" dirty="0"/>
              <a:t>分钟以上要电话沟通，避免飞单</a:t>
            </a:r>
            <a:endParaRPr lang="en-US" altLang="zh-CN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zh-CN" altLang="en-US" sz="1050" dirty="0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10861E26-C801-A018-C56B-AA8F3FDF3A77}"/>
              </a:ext>
            </a:extLst>
          </p:cNvPr>
          <p:cNvCxnSpPr/>
          <p:nvPr/>
        </p:nvCxnSpPr>
        <p:spPr>
          <a:xfrm>
            <a:off x="4329008" y="1796438"/>
            <a:ext cx="0" cy="43200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A0F0422-3191-22F6-F89C-FF531D628D03}"/>
              </a:ext>
            </a:extLst>
          </p:cNvPr>
          <p:cNvCxnSpPr/>
          <p:nvPr/>
        </p:nvCxnSpPr>
        <p:spPr>
          <a:xfrm>
            <a:off x="9406976" y="1850268"/>
            <a:ext cx="0" cy="43200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D23DCD06-AFC9-B36F-5938-D0DD14C3F5E5}"/>
              </a:ext>
            </a:extLst>
          </p:cNvPr>
          <p:cNvSpPr txBox="1"/>
          <p:nvPr/>
        </p:nvSpPr>
        <p:spPr>
          <a:xfrm>
            <a:off x="4510313" y="1979308"/>
            <a:ext cx="18582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接驾时马路对面停车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F08562A-3B78-7F27-1FBF-CB646459CFA1}"/>
              </a:ext>
            </a:extLst>
          </p:cNvPr>
          <p:cNvSpPr txBox="1"/>
          <p:nvPr/>
        </p:nvSpPr>
        <p:spPr>
          <a:xfrm>
            <a:off x="4771117" y="3544455"/>
            <a:ext cx="2505814" cy="823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接驾时很近拥堵，接驾时间长</a:t>
            </a:r>
            <a:endParaRPr lang="en-US" altLang="zh-CN" sz="11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接驾距离较远，接驾时间长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安抚客户尽快到达，及预计时间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79FE8E7-A786-F7F6-6551-CDA4D43466F2}"/>
              </a:ext>
            </a:extLst>
          </p:cNvPr>
          <p:cNvSpPr txBox="1"/>
          <p:nvPr/>
        </p:nvSpPr>
        <p:spPr>
          <a:xfrm>
            <a:off x="4510313" y="3267456"/>
            <a:ext cx="33489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接驾时间超过</a:t>
            </a:r>
            <a:r>
              <a:rPr lang="en-US" altLang="zh-CN" sz="1200" b="1" dirty="0"/>
              <a:t>3-5</a:t>
            </a:r>
            <a:r>
              <a:rPr lang="zh-CN" altLang="en-US" sz="1200" b="1" dirty="0"/>
              <a:t>分钟，司机会主打电话沟通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F1AD2BF-3166-ECDB-570A-C3878B4062F0}"/>
              </a:ext>
            </a:extLst>
          </p:cNvPr>
          <p:cNvSpPr txBox="1"/>
          <p:nvPr/>
        </p:nvSpPr>
        <p:spPr>
          <a:xfrm>
            <a:off x="4664202" y="2321973"/>
            <a:ext cx="2596354" cy="569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路中有围挡，需要绕路</a:t>
            </a:r>
            <a:endParaRPr lang="en-US" altLang="zh-CN" sz="11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协商走到对面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72F2D4A-9DB6-FBAC-C14B-D70693C42975}"/>
              </a:ext>
            </a:extLst>
          </p:cNvPr>
          <p:cNvSpPr txBox="1"/>
          <p:nvPr/>
        </p:nvSpPr>
        <p:spPr>
          <a:xfrm>
            <a:off x="4510313" y="4814536"/>
            <a:ext cx="18966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个别用户习惯提前叫车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A1D144C-6E65-CA99-0989-8E86DAFE6B87}"/>
              </a:ext>
            </a:extLst>
          </p:cNvPr>
          <p:cNvSpPr txBox="1"/>
          <p:nvPr/>
        </p:nvSpPr>
        <p:spPr>
          <a:xfrm>
            <a:off x="6808311" y="4823616"/>
            <a:ext cx="26661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超过系统等待时间司机有多种选择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BAFCDF9-88EB-83B7-7E27-AEA3F735569F}"/>
              </a:ext>
            </a:extLst>
          </p:cNvPr>
          <p:cNvSpPr txBox="1"/>
          <p:nvPr/>
        </p:nvSpPr>
        <p:spPr>
          <a:xfrm>
            <a:off x="4712622" y="5160646"/>
            <a:ext cx="1601721" cy="822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司机反馈女性群体</a:t>
            </a:r>
            <a:endParaRPr lang="en-US" altLang="zh-CN" sz="11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聚会喝酒人员</a:t>
            </a:r>
            <a:endParaRPr lang="en-US" altLang="zh-CN" sz="11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个人习惯，车等人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CEB94A1-87E0-6943-8034-610779BE4F5B}"/>
              </a:ext>
            </a:extLst>
          </p:cNvPr>
          <p:cNvSpPr txBox="1"/>
          <p:nvPr/>
        </p:nvSpPr>
        <p:spPr>
          <a:xfrm>
            <a:off x="6827338" y="5142860"/>
            <a:ext cx="2453762" cy="823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司机有的选择超时取消，或沟通后取消</a:t>
            </a:r>
            <a:endParaRPr lang="en-US" altLang="zh-CN" sz="11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司机有的选择沟通后继续等待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E094AD3-AD19-4FF6-1118-34B6B1E56EEB}"/>
              </a:ext>
            </a:extLst>
          </p:cNvPr>
          <p:cNvSpPr txBox="1"/>
          <p:nvPr/>
        </p:nvSpPr>
        <p:spPr>
          <a:xfrm>
            <a:off x="9499619" y="4859758"/>
            <a:ext cx="25311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1200" dirty="0"/>
              <a:t>有提前叫车习惯用户，进行提前信息提醒</a:t>
            </a:r>
            <a:endParaRPr lang="en-US" altLang="zh-CN" sz="1200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zh-CN" sz="12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sz="1200" dirty="0"/>
              <a:t>Agent</a:t>
            </a:r>
            <a:r>
              <a:rPr lang="zh-CN" altLang="en-US" sz="1200" dirty="0"/>
              <a:t>超时自动语音沟通，根据回复情况及乘客习惯，判断是否继续等待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4BF6DB07-0EAC-53EB-0366-1523EE9CBA6C}"/>
              </a:ext>
            </a:extLst>
          </p:cNvPr>
          <p:cNvSpPr txBox="1"/>
          <p:nvPr/>
        </p:nvSpPr>
        <p:spPr>
          <a:xfrm>
            <a:off x="9629496" y="1917838"/>
            <a:ext cx="2392521" cy="1443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200" dirty="0"/>
              <a:t>提升定位精度</a:t>
            </a:r>
            <a:endParaRPr lang="en-US" altLang="zh-CN" sz="12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200" dirty="0"/>
              <a:t>理解精准地址的沟通，确定人找车，或者车找人</a:t>
            </a:r>
            <a:endParaRPr lang="en-US" altLang="zh-CN" sz="12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12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en-US" sz="1200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79A50A34-5B0D-F4B1-305D-BCF06AF6481D}"/>
              </a:ext>
            </a:extLst>
          </p:cNvPr>
          <p:cNvSpPr txBox="1"/>
          <p:nvPr/>
        </p:nvSpPr>
        <p:spPr>
          <a:xfrm>
            <a:off x="7213582" y="1985405"/>
            <a:ext cx="17043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近距离时沟通位置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3EB218B-939E-5D64-4B68-BA96F9359096}"/>
              </a:ext>
            </a:extLst>
          </p:cNvPr>
          <p:cNvSpPr txBox="1"/>
          <p:nvPr/>
        </p:nvSpPr>
        <p:spPr>
          <a:xfrm>
            <a:off x="7260556" y="2315406"/>
            <a:ext cx="2130045" cy="569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互相描述位置与地址特征，确定开过了，还是还没到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3DFA8AD2-BF77-9D28-451B-309ABC46B88B}"/>
              </a:ext>
            </a:extLst>
          </p:cNvPr>
          <p:cNvSpPr txBox="1"/>
          <p:nvPr/>
        </p:nvSpPr>
        <p:spPr>
          <a:xfrm>
            <a:off x="9415442" y="3471824"/>
            <a:ext cx="2776558" cy="6133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200" dirty="0"/>
              <a:t>接驾超过</a:t>
            </a:r>
            <a:r>
              <a:rPr lang="en-US" altLang="zh-CN" sz="1200" dirty="0"/>
              <a:t>5</a:t>
            </a:r>
            <a:r>
              <a:rPr lang="zh-CN" altLang="en-US" sz="1200" dirty="0"/>
              <a:t>分钟，需要</a:t>
            </a:r>
            <a:r>
              <a:rPr lang="en-US" altLang="zh-CN" sz="1200" dirty="0"/>
              <a:t>agent</a:t>
            </a:r>
            <a:r>
              <a:rPr lang="zh-CN" altLang="en-US" sz="1200" dirty="0"/>
              <a:t>沟通，提醒到达时间，安抚乘客</a:t>
            </a:r>
          </a:p>
        </p:txBody>
      </p:sp>
    </p:spTree>
    <p:extLst>
      <p:ext uri="{BB962C8B-B14F-4D97-AF65-F5344CB8AC3E}">
        <p14:creationId xmlns:p14="http://schemas.microsoft.com/office/powerpoint/2010/main" val="733216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41548-A684-296B-0CC5-7FCE9DF06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28CF69-9CCD-540E-DC9F-BF931C1ED3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69924" y="433637"/>
            <a:ext cx="10440000" cy="595063"/>
          </a:xfrm>
        </p:spPr>
        <p:txBody>
          <a:bodyPr/>
          <a:lstStyle/>
          <a:p>
            <a:r>
              <a:rPr lang="zh-CN" altLang="en-US" dirty="0"/>
              <a:t>上车前阶段</a:t>
            </a:r>
            <a:r>
              <a:rPr lang="en-US" altLang="zh-CN" dirty="0"/>
              <a:t>——</a:t>
            </a:r>
            <a:r>
              <a:rPr lang="zh-CN" altLang="en-US" dirty="0"/>
              <a:t>定位与接驾</a:t>
            </a:r>
          </a:p>
        </p:txBody>
      </p:sp>
      <p:sp>
        <p:nvSpPr>
          <p:cNvPr id="16" name="文本占位符 4">
            <a:extLst>
              <a:ext uri="{FF2B5EF4-FFF2-40B4-BE49-F238E27FC236}">
                <a16:creationId xmlns:a16="http://schemas.microsoft.com/office/drawing/2014/main" id="{5D1EE582-AB1F-0DDC-58CF-7B5696053D0E}"/>
              </a:ext>
            </a:extLst>
          </p:cNvPr>
          <p:cNvSpPr txBox="1"/>
          <p:nvPr/>
        </p:nvSpPr>
        <p:spPr>
          <a:xfrm>
            <a:off x="5183625" y="1395662"/>
            <a:ext cx="2290714" cy="3385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用户需求分析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752DC2EA-2045-20E3-787E-FB1D7924596E}"/>
              </a:ext>
            </a:extLst>
          </p:cNvPr>
          <p:cNvCxnSpPr/>
          <p:nvPr/>
        </p:nvCxnSpPr>
        <p:spPr>
          <a:xfrm>
            <a:off x="431787" y="1303200"/>
            <a:ext cx="11196000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3D00AB96-430F-1933-04A8-499078916996}"/>
              </a:ext>
            </a:extLst>
          </p:cNvPr>
          <p:cNvCxnSpPr/>
          <p:nvPr/>
        </p:nvCxnSpPr>
        <p:spPr>
          <a:xfrm>
            <a:off x="431787" y="1810163"/>
            <a:ext cx="11196000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AF18BD4E-D2E1-ED4A-F3E7-C7628C01726D}"/>
              </a:ext>
            </a:extLst>
          </p:cNvPr>
          <p:cNvSpPr txBox="1"/>
          <p:nvPr/>
        </p:nvSpPr>
        <p:spPr>
          <a:xfrm>
            <a:off x="97877" y="2794788"/>
            <a:ext cx="36603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>
              <a:defRPr/>
            </a:pP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algn="ctr"/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定位与接驾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510323A-112F-DCAE-B434-2E9CB999A207}"/>
              </a:ext>
            </a:extLst>
          </p:cNvPr>
          <p:cNvSpPr txBox="1"/>
          <p:nvPr/>
        </p:nvSpPr>
        <p:spPr>
          <a:xfrm>
            <a:off x="460351" y="1944702"/>
            <a:ext cx="1525188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11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交通管制地点不好接驾</a:t>
            </a: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11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接驾地点不好停车</a:t>
            </a: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占位符 4">
            <a:extLst>
              <a:ext uri="{FF2B5EF4-FFF2-40B4-BE49-F238E27FC236}">
                <a16:creationId xmlns:a16="http://schemas.microsoft.com/office/drawing/2014/main" id="{2264B443-3B36-9A84-17E9-B7ECEA1E6ABF}"/>
              </a:ext>
            </a:extLst>
          </p:cNvPr>
          <p:cNvSpPr txBox="1"/>
          <p:nvPr/>
        </p:nvSpPr>
        <p:spPr>
          <a:xfrm>
            <a:off x="2143529" y="1384066"/>
            <a:ext cx="1697824" cy="3385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关键发现</a:t>
            </a:r>
          </a:p>
        </p:txBody>
      </p:sp>
      <p:sp>
        <p:nvSpPr>
          <p:cNvPr id="60" name="文本占位符 4">
            <a:extLst>
              <a:ext uri="{FF2B5EF4-FFF2-40B4-BE49-F238E27FC236}">
                <a16:creationId xmlns:a16="http://schemas.microsoft.com/office/drawing/2014/main" id="{6D9AF691-51C7-1E9C-A75F-97914EA1865E}"/>
              </a:ext>
            </a:extLst>
          </p:cNvPr>
          <p:cNvSpPr txBox="1"/>
          <p:nvPr/>
        </p:nvSpPr>
        <p:spPr>
          <a:xfrm>
            <a:off x="9262073" y="1398077"/>
            <a:ext cx="2709470" cy="3385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司机</a:t>
            </a:r>
            <a:r>
              <a: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功能建议</a:t>
            </a: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228197D8-5AF1-F85A-9FE1-08DA73511685}"/>
              </a:ext>
            </a:extLst>
          </p:cNvPr>
          <p:cNvCxnSpPr/>
          <p:nvPr/>
        </p:nvCxnSpPr>
        <p:spPr>
          <a:xfrm>
            <a:off x="3733800" y="1834362"/>
            <a:ext cx="0" cy="43200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占位符 4">
            <a:extLst>
              <a:ext uri="{FF2B5EF4-FFF2-40B4-BE49-F238E27FC236}">
                <a16:creationId xmlns:a16="http://schemas.microsoft.com/office/drawing/2014/main" id="{EDB75216-5D5B-18F6-9778-37CD2080EA74}"/>
              </a:ext>
            </a:extLst>
          </p:cNvPr>
          <p:cNvSpPr txBox="1"/>
          <p:nvPr/>
        </p:nvSpPr>
        <p:spPr>
          <a:xfrm>
            <a:off x="320111" y="1389551"/>
            <a:ext cx="1697824" cy="3385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中高场景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3ED2C7D7-A8AA-8E3A-32C0-E5628B56840B}"/>
              </a:ext>
            </a:extLst>
          </p:cNvPr>
          <p:cNvCxnSpPr/>
          <p:nvPr/>
        </p:nvCxnSpPr>
        <p:spPr>
          <a:xfrm>
            <a:off x="1933280" y="1810163"/>
            <a:ext cx="0" cy="43200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25">
            <a:extLst>
              <a:ext uri="{FF2B5EF4-FFF2-40B4-BE49-F238E27FC236}">
                <a16:creationId xmlns:a16="http://schemas.microsoft.com/office/drawing/2014/main" id="{7C5419B1-E68E-F238-81FD-FD36B4279A73}"/>
              </a:ext>
            </a:extLst>
          </p:cNvPr>
          <p:cNvCxnSpPr/>
          <p:nvPr/>
        </p:nvCxnSpPr>
        <p:spPr>
          <a:xfrm>
            <a:off x="431787" y="6170268"/>
            <a:ext cx="11196000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31FC3140-B800-E020-0927-9C98A6D28361}"/>
              </a:ext>
            </a:extLst>
          </p:cNvPr>
          <p:cNvCxnSpPr/>
          <p:nvPr/>
        </p:nvCxnSpPr>
        <p:spPr>
          <a:xfrm>
            <a:off x="648280" y="3304616"/>
            <a:ext cx="1133212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F814CE5F-F5E9-62C0-F070-F38F5598B5F9}"/>
              </a:ext>
            </a:extLst>
          </p:cNvPr>
          <p:cNvSpPr txBox="1"/>
          <p:nvPr/>
        </p:nvSpPr>
        <p:spPr>
          <a:xfrm>
            <a:off x="1965406" y="2313611"/>
            <a:ext cx="1773159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050" dirty="0"/>
              <a:t>演唱会等交通管制地点后，约定停车地点无法到达</a:t>
            </a:r>
            <a:endParaRPr lang="en-US" altLang="zh-CN" sz="1050" dirty="0"/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050" dirty="0"/>
              <a:t>线下扫码下单打车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60A5AEA-199B-87D1-EB23-6BA6A95D9BF9}"/>
              </a:ext>
            </a:extLst>
          </p:cNvPr>
          <p:cNvSpPr txBox="1"/>
          <p:nvPr/>
        </p:nvSpPr>
        <p:spPr>
          <a:xfrm>
            <a:off x="1992539" y="4793594"/>
            <a:ext cx="1773159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zh-CN" altLang="en-US" sz="105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732818E-9586-4134-32B6-E2A87D965847}"/>
              </a:ext>
            </a:extLst>
          </p:cNvPr>
          <p:cNvSpPr txBox="1"/>
          <p:nvPr/>
        </p:nvSpPr>
        <p:spPr>
          <a:xfrm>
            <a:off x="2056476" y="4219279"/>
            <a:ext cx="1773159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050" dirty="0"/>
              <a:t>黄线无法停车</a:t>
            </a:r>
            <a:endParaRPr lang="en-US" altLang="zh-CN" sz="1050" dirty="0"/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050" dirty="0"/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0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停车位资源紧张</a:t>
            </a:r>
            <a:endParaRPr lang="en-US" altLang="zh-CN" sz="105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050" dirty="0"/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050" dirty="0"/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050" dirty="0"/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zh-CN" altLang="en-US" sz="1050" dirty="0"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BA6B279A-E5FC-E5CC-9361-055DA17494AA}"/>
              </a:ext>
            </a:extLst>
          </p:cNvPr>
          <p:cNvCxnSpPr/>
          <p:nvPr/>
        </p:nvCxnSpPr>
        <p:spPr>
          <a:xfrm>
            <a:off x="9295601" y="1845258"/>
            <a:ext cx="0" cy="43200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AB4FF35A-F1F0-4AE8-8A0C-262A4CC9E135}"/>
              </a:ext>
            </a:extLst>
          </p:cNvPr>
          <p:cNvSpPr txBox="1"/>
          <p:nvPr/>
        </p:nvSpPr>
        <p:spPr>
          <a:xfrm>
            <a:off x="7073560" y="1985060"/>
            <a:ext cx="21885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线下扫码下单打车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99E9E1F-5E3F-CFAB-BAE6-990403804DF0}"/>
              </a:ext>
            </a:extLst>
          </p:cNvPr>
          <p:cNvSpPr txBox="1"/>
          <p:nvPr/>
        </p:nvSpPr>
        <p:spPr>
          <a:xfrm>
            <a:off x="7170227" y="2283271"/>
            <a:ext cx="1883849" cy="10766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报销人员</a:t>
            </a:r>
            <a:endParaRPr lang="en-US" altLang="zh-CN" sz="11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扫码线上下单行程安全</a:t>
            </a:r>
            <a:endParaRPr lang="en-US" altLang="zh-CN" sz="11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1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11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5F1B176-EFA0-CFFB-3716-797EE5EA1A76}"/>
              </a:ext>
            </a:extLst>
          </p:cNvPr>
          <p:cNvSpPr txBox="1"/>
          <p:nvPr/>
        </p:nvSpPr>
        <p:spPr>
          <a:xfrm>
            <a:off x="4132585" y="1993446"/>
            <a:ext cx="26647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交通管制，约定地点无法达到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39F308C-D549-6B15-3214-90D6E8E3F53D}"/>
              </a:ext>
            </a:extLst>
          </p:cNvPr>
          <p:cNvSpPr txBox="1"/>
          <p:nvPr/>
        </p:nvSpPr>
        <p:spPr>
          <a:xfrm>
            <a:off x="4448318" y="2283271"/>
            <a:ext cx="922047" cy="823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演唱会</a:t>
            </a:r>
            <a:endParaRPr lang="en-US" altLang="zh-CN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运动会</a:t>
            </a:r>
            <a:endParaRPr lang="en-US" altLang="zh-CN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群体活动</a:t>
            </a:r>
            <a:endParaRPr lang="zh-CN" altLang="en-US" sz="160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174F856-3733-6C19-3374-ACA98DE6B9EF}"/>
              </a:ext>
            </a:extLst>
          </p:cNvPr>
          <p:cNvSpPr txBox="1"/>
          <p:nvPr/>
        </p:nvSpPr>
        <p:spPr>
          <a:xfrm>
            <a:off x="4167259" y="3635926"/>
            <a:ext cx="13965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违规无法停车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A083379-27E8-31C8-98EE-77E8FC6482C8}"/>
              </a:ext>
            </a:extLst>
          </p:cNvPr>
          <p:cNvSpPr txBox="1"/>
          <p:nvPr/>
        </p:nvSpPr>
        <p:spPr>
          <a:xfrm>
            <a:off x="7006931" y="3606490"/>
            <a:ext cx="18582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影响交通的无法停车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CC54EB6-B07A-1A09-6A2A-BCA28199BA40}"/>
              </a:ext>
            </a:extLst>
          </p:cNvPr>
          <p:cNvSpPr txBox="1"/>
          <p:nvPr/>
        </p:nvSpPr>
        <p:spPr>
          <a:xfrm>
            <a:off x="4301483" y="3956172"/>
            <a:ext cx="1178528" cy="5699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黄线</a:t>
            </a:r>
            <a:endParaRPr lang="en-US" altLang="zh-CN" sz="11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禁停标志等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388BA2F-A21E-A352-846C-1A8A726AA3BD}"/>
              </a:ext>
            </a:extLst>
          </p:cNvPr>
          <p:cNvSpPr txBox="1"/>
          <p:nvPr/>
        </p:nvSpPr>
        <p:spPr>
          <a:xfrm>
            <a:off x="7323688" y="3944061"/>
            <a:ext cx="1319592" cy="5699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繁华商业街</a:t>
            </a:r>
            <a:endParaRPr lang="en-US" altLang="zh-CN" sz="11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老旧小区门口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1E05388F-5857-E6C6-767C-E254806E6D2F}"/>
              </a:ext>
            </a:extLst>
          </p:cNvPr>
          <p:cNvSpPr txBox="1"/>
          <p:nvPr/>
        </p:nvSpPr>
        <p:spPr>
          <a:xfrm flipH="1">
            <a:off x="9489031" y="3716412"/>
            <a:ext cx="2522615" cy="1838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提前到达后发现无法停车，智能判断重新约定停车地点，并告知乘客</a:t>
            </a:r>
            <a:endParaRPr lang="en-US" altLang="zh-CN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告知乘客当前停车状态，即预计时间</a:t>
            </a:r>
            <a:endParaRPr lang="en-US" altLang="zh-CN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告知当前停车状态，判断条件是否准许，可能乘客配合找车</a:t>
            </a:r>
            <a:endParaRPr lang="en-US" altLang="zh-CN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1100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5FDE130A-158A-6DF8-A5C3-CD141F021D50}"/>
              </a:ext>
            </a:extLst>
          </p:cNvPr>
          <p:cNvSpPr txBox="1"/>
          <p:nvPr/>
        </p:nvSpPr>
        <p:spPr>
          <a:xfrm flipH="1">
            <a:off x="9447500" y="2147613"/>
            <a:ext cx="25226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/>
              <a:t>能够根据实际交通管制信息，约定新的地点</a:t>
            </a:r>
            <a:endParaRPr lang="en-US" altLang="zh-C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/>
              <a:t>支持线下扫码下单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893A1EC6-1F23-2594-D14C-9AD13F92C332}"/>
              </a:ext>
            </a:extLst>
          </p:cNvPr>
          <p:cNvSpPr txBox="1"/>
          <p:nvPr/>
        </p:nvSpPr>
        <p:spPr>
          <a:xfrm>
            <a:off x="4465083" y="5080801"/>
            <a:ext cx="4813754" cy="612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停车等待</a:t>
            </a:r>
            <a:r>
              <a:rPr lang="en-US" altLang="zh-CN" sz="1100" dirty="0"/>
              <a:t>1</a:t>
            </a:r>
            <a:r>
              <a:rPr lang="zh-CN" altLang="en-US" sz="1100" dirty="0"/>
              <a:t>小时，被取消，如迪斯尼等</a:t>
            </a:r>
            <a:endParaRPr lang="en-US" altLang="zh-CN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200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41CF728E-389C-E894-C575-FFBB0394046D}"/>
              </a:ext>
            </a:extLst>
          </p:cNvPr>
          <p:cNvSpPr txBox="1"/>
          <p:nvPr/>
        </p:nvSpPr>
        <p:spPr>
          <a:xfrm>
            <a:off x="4093145" y="4694868"/>
            <a:ext cx="27815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停车位资源紧张，无法进入等待区</a:t>
            </a:r>
          </a:p>
        </p:txBody>
      </p:sp>
    </p:spTree>
    <p:extLst>
      <p:ext uri="{BB962C8B-B14F-4D97-AF65-F5344CB8AC3E}">
        <p14:creationId xmlns:p14="http://schemas.microsoft.com/office/powerpoint/2010/main" val="1671597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2C49B-4070-0BCD-5630-2558F737F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B206C5-5EDC-C6C3-3E0D-E8BE80253A2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69924" y="433637"/>
            <a:ext cx="10440000" cy="595063"/>
          </a:xfrm>
        </p:spPr>
        <p:txBody>
          <a:bodyPr/>
          <a:lstStyle/>
          <a:p>
            <a:r>
              <a:rPr lang="zh-CN" altLang="en-US" dirty="0"/>
              <a:t>上车时阶段</a:t>
            </a:r>
            <a:r>
              <a:rPr lang="en-US" altLang="zh-CN" dirty="0"/>
              <a:t>——</a:t>
            </a:r>
            <a:r>
              <a:rPr lang="zh-CN" altLang="en-US" dirty="0"/>
              <a:t>协助上车</a:t>
            </a:r>
            <a:r>
              <a:rPr lang="en-US" altLang="zh-CN" dirty="0"/>
              <a:t>&amp;</a:t>
            </a:r>
            <a:r>
              <a:rPr lang="zh-CN" altLang="en-US" dirty="0"/>
              <a:t>行程确认</a:t>
            </a:r>
          </a:p>
        </p:txBody>
      </p:sp>
      <p:sp>
        <p:nvSpPr>
          <p:cNvPr id="16" name="文本占位符 4">
            <a:extLst>
              <a:ext uri="{FF2B5EF4-FFF2-40B4-BE49-F238E27FC236}">
                <a16:creationId xmlns:a16="http://schemas.microsoft.com/office/drawing/2014/main" id="{2252EB75-8CF4-D63C-01CD-C25BFE9C6FFE}"/>
              </a:ext>
            </a:extLst>
          </p:cNvPr>
          <p:cNvSpPr txBox="1"/>
          <p:nvPr/>
        </p:nvSpPr>
        <p:spPr>
          <a:xfrm>
            <a:off x="5183625" y="1395662"/>
            <a:ext cx="2290714" cy="3385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用户需求分析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1AE138D3-607E-E0C4-ABD1-BE1F67CD4E5D}"/>
              </a:ext>
            </a:extLst>
          </p:cNvPr>
          <p:cNvCxnSpPr/>
          <p:nvPr/>
        </p:nvCxnSpPr>
        <p:spPr>
          <a:xfrm>
            <a:off x="431787" y="1303200"/>
            <a:ext cx="11196000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B02AC91A-09B7-EB0F-C40D-7808BBBEA220}"/>
              </a:ext>
            </a:extLst>
          </p:cNvPr>
          <p:cNvCxnSpPr/>
          <p:nvPr/>
        </p:nvCxnSpPr>
        <p:spPr>
          <a:xfrm>
            <a:off x="431787" y="1810163"/>
            <a:ext cx="11196000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EED92E4A-118E-EB85-4EAF-A2BF78257595}"/>
              </a:ext>
            </a:extLst>
          </p:cNvPr>
          <p:cNvSpPr txBox="1"/>
          <p:nvPr/>
        </p:nvSpPr>
        <p:spPr>
          <a:xfrm>
            <a:off x="92021" y="2704718"/>
            <a:ext cx="36603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>
              <a:defRPr/>
            </a:pP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algn="ctr"/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协助上车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D0891FC-A692-0E24-1AF8-FED8CB889E4C}"/>
              </a:ext>
            </a:extLst>
          </p:cNvPr>
          <p:cNvSpPr txBox="1"/>
          <p:nvPr/>
        </p:nvSpPr>
        <p:spPr>
          <a:xfrm>
            <a:off x="460351" y="1944702"/>
            <a:ext cx="1525188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11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协助特殊人群与天气</a:t>
            </a: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11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协助行李较多者</a:t>
            </a: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11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协助开后备箱</a:t>
            </a: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占位符 4">
            <a:extLst>
              <a:ext uri="{FF2B5EF4-FFF2-40B4-BE49-F238E27FC236}">
                <a16:creationId xmlns:a16="http://schemas.microsoft.com/office/drawing/2014/main" id="{04E5ED83-4245-BE0B-9287-FA19F79078DA}"/>
              </a:ext>
            </a:extLst>
          </p:cNvPr>
          <p:cNvSpPr txBox="1"/>
          <p:nvPr/>
        </p:nvSpPr>
        <p:spPr>
          <a:xfrm>
            <a:off x="2143529" y="1384066"/>
            <a:ext cx="1697824" cy="3385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关键发现</a:t>
            </a:r>
          </a:p>
        </p:txBody>
      </p:sp>
      <p:sp>
        <p:nvSpPr>
          <p:cNvPr id="60" name="文本占位符 4">
            <a:extLst>
              <a:ext uri="{FF2B5EF4-FFF2-40B4-BE49-F238E27FC236}">
                <a16:creationId xmlns:a16="http://schemas.microsoft.com/office/drawing/2014/main" id="{B2E97B99-B3B1-4498-AD5D-EAD14CB61D3C}"/>
              </a:ext>
            </a:extLst>
          </p:cNvPr>
          <p:cNvSpPr txBox="1"/>
          <p:nvPr/>
        </p:nvSpPr>
        <p:spPr>
          <a:xfrm>
            <a:off x="9262073" y="1398077"/>
            <a:ext cx="2709470" cy="3385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司机</a:t>
            </a:r>
            <a:r>
              <a: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功能建议</a:t>
            </a: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275CF949-BB7F-90B2-470D-D5A0D83E7339}"/>
              </a:ext>
            </a:extLst>
          </p:cNvPr>
          <p:cNvCxnSpPr/>
          <p:nvPr/>
        </p:nvCxnSpPr>
        <p:spPr>
          <a:xfrm>
            <a:off x="3733800" y="1834362"/>
            <a:ext cx="0" cy="43200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占位符 4">
            <a:extLst>
              <a:ext uri="{FF2B5EF4-FFF2-40B4-BE49-F238E27FC236}">
                <a16:creationId xmlns:a16="http://schemas.microsoft.com/office/drawing/2014/main" id="{66009E05-AFEB-A757-20B6-529001A66F62}"/>
              </a:ext>
            </a:extLst>
          </p:cNvPr>
          <p:cNvSpPr txBox="1"/>
          <p:nvPr/>
        </p:nvSpPr>
        <p:spPr>
          <a:xfrm>
            <a:off x="320111" y="1389551"/>
            <a:ext cx="1697824" cy="3385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中高场景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E3D5043D-17D6-9B63-4933-6002DF2D9A7A}"/>
              </a:ext>
            </a:extLst>
          </p:cNvPr>
          <p:cNvCxnSpPr/>
          <p:nvPr/>
        </p:nvCxnSpPr>
        <p:spPr>
          <a:xfrm>
            <a:off x="1933280" y="1810163"/>
            <a:ext cx="0" cy="43200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25">
            <a:extLst>
              <a:ext uri="{FF2B5EF4-FFF2-40B4-BE49-F238E27FC236}">
                <a16:creationId xmlns:a16="http://schemas.microsoft.com/office/drawing/2014/main" id="{BAF857A8-E1FF-2531-8FEA-3A9482B2B01B}"/>
              </a:ext>
            </a:extLst>
          </p:cNvPr>
          <p:cNvCxnSpPr/>
          <p:nvPr/>
        </p:nvCxnSpPr>
        <p:spPr>
          <a:xfrm>
            <a:off x="431787" y="6170268"/>
            <a:ext cx="11196000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405C4788-679D-2288-DF0A-8E23674428BA}"/>
              </a:ext>
            </a:extLst>
          </p:cNvPr>
          <p:cNvCxnSpPr/>
          <p:nvPr/>
        </p:nvCxnSpPr>
        <p:spPr>
          <a:xfrm>
            <a:off x="637988" y="3260634"/>
            <a:ext cx="1133212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EA89D44D-92DA-1449-D000-2A927D1D92A4}"/>
              </a:ext>
            </a:extLst>
          </p:cNvPr>
          <p:cNvSpPr txBox="1"/>
          <p:nvPr/>
        </p:nvSpPr>
        <p:spPr>
          <a:xfrm>
            <a:off x="1965406" y="2313611"/>
            <a:ext cx="177315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zh-CN" altLang="en-US" sz="105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3660D6E-83AB-5478-2510-C500DCD7E3D5}"/>
              </a:ext>
            </a:extLst>
          </p:cNvPr>
          <p:cNvSpPr txBox="1"/>
          <p:nvPr/>
        </p:nvSpPr>
        <p:spPr>
          <a:xfrm>
            <a:off x="1901155" y="5140813"/>
            <a:ext cx="1773159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zh-CN" altLang="en-US" sz="105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829BC3F-DD18-4CA1-D281-EC53BE039199}"/>
              </a:ext>
            </a:extLst>
          </p:cNvPr>
          <p:cNvSpPr txBox="1"/>
          <p:nvPr/>
        </p:nvSpPr>
        <p:spPr>
          <a:xfrm>
            <a:off x="1944513" y="4005258"/>
            <a:ext cx="1773159" cy="730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050" dirty="0"/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050" dirty="0"/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zh-CN" altLang="en-US" sz="1050" dirty="0"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71C5A1A-D64B-71C9-FD8D-AE860A01060E}"/>
              </a:ext>
            </a:extLst>
          </p:cNvPr>
          <p:cNvCxnSpPr/>
          <p:nvPr/>
        </p:nvCxnSpPr>
        <p:spPr>
          <a:xfrm>
            <a:off x="9295601" y="1845258"/>
            <a:ext cx="0" cy="43200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178E463C-65ED-147E-68E8-4683CF228042}"/>
              </a:ext>
            </a:extLst>
          </p:cNvPr>
          <p:cNvSpPr txBox="1"/>
          <p:nvPr/>
        </p:nvSpPr>
        <p:spPr>
          <a:xfrm flipH="1">
            <a:off x="9466380" y="1881688"/>
            <a:ext cx="2522615" cy="1077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1100" dirty="0"/>
              <a:t>Agent</a:t>
            </a:r>
            <a:r>
              <a:rPr lang="zh-CN" altLang="en-US" sz="1100" dirty="0"/>
              <a:t>对于特殊地点与乘客标签及天气，专车司机提醒帮助拿行李</a:t>
            </a:r>
            <a:endParaRPr lang="en-US" altLang="zh-CN" sz="11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1100" dirty="0"/>
              <a:t>Agent </a:t>
            </a:r>
            <a:r>
              <a:rPr lang="zh-CN" altLang="en-US" sz="1100" dirty="0"/>
              <a:t>可智能开车门与关车门，或者支持司机语音开关后排车门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5F36E4D-D44E-D370-D7A8-B18E9F92367B}"/>
              </a:ext>
            </a:extLst>
          </p:cNvPr>
          <p:cNvCxnSpPr/>
          <p:nvPr/>
        </p:nvCxnSpPr>
        <p:spPr>
          <a:xfrm>
            <a:off x="466872" y="4247787"/>
            <a:ext cx="1133212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800E7901-E6F1-BEB5-2BF9-0A821BCD4F00}"/>
              </a:ext>
            </a:extLst>
          </p:cNvPr>
          <p:cNvSpPr txBox="1"/>
          <p:nvPr/>
        </p:nvSpPr>
        <p:spPr>
          <a:xfrm>
            <a:off x="2027997" y="4313612"/>
            <a:ext cx="162736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/>
              <a:t>有乘客不会开后备箱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4653EF5-DB45-2869-7307-F82914562555}"/>
              </a:ext>
            </a:extLst>
          </p:cNvPr>
          <p:cNvSpPr txBox="1"/>
          <p:nvPr/>
        </p:nvSpPr>
        <p:spPr>
          <a:xfrm>
            <a:off x="1992767" y="3479345"/>
            <a:ext cx="1627369" cy="5699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专车标准服务</a:t>
            </a:r>
            <a:endParaRPr lang="en-US" altLang="zh-CN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快车司机选择性服务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A913BDE-FB37-95CD-984E-CA3439647533}"/>
              </a:ext>
            </a:extLst>
          </p:cNvPr>
          <p:cNvSpPr txBox="1"/>
          <p:nvPr/>
        </p:nvSpPr>
        <p:spPr>
          <a:xfrm>
            <a:off x="1965406" y="1995039"/>
            <a:ext cx="1763630" cy="1077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专车会帮助搀扶，开车门等</a:t>
            </a:r>
            <a:endParaRPr lang="en-US" altLang="zh-CN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快车司机看个人修养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F581469-4B7A-6094-FAD2-35BF0C8C169E}"/>
              </a:ext>
            </a:extLst>
          </p:cNvPr>
          <p:cNvSpPr txBox="1"/>
          <p:nvPr/>
        </p:nvSpPr>
        <p:spPr>
          <a:xfrm flipH="1">
            <a:off x="9524419" y="4281058"/>
            <a:ext cx="2522615" cy="314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1100" dirty="0"/>
              <a:t>Agent</a:t>
            </a:r>
            <a:r>
              <a:rPr lang="zh-CN" altLang="en-US" sz="1100" dirty="0"/>
              <a:t>支持语音开闭后备箱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AB10147-C7E6-B158-8252-E5386A557409}"/>
              </a:ext>
            </a:extLst>
          </p:cNvPr>
          <p:cNvSpPr txBox="1"/>
          <p:nvPr/>
        </p:nvSpPr>
        <p:spPr>
          <a:xfrm>
            <a:off x="4955160" y="3616620"/>
            <a:ext cx="28200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未协助乘客，快车司机可能会被投诉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93F80B6-815D-846A-CC83-F10DDCD96DC8}"/>
              </a:ext>
            </a:extLst>
          </p:cNvPr>
          <p:cNvSpPr txBox="1"/>
          <p:nvPr/>
        </p:nvSpPr>
        <p:spPr>
          <a:xfrm>
            <a:off x="9524419" y="3336697"/>
            <a:ext cx="2171431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zh-CN" altLang="en-US" sz="1100" dirty="0"/>
              <a:t>对于行李较多车，对司机进行提醒帮助放置行李</a:t>
            </a:r>
            <a:endParaRPr lang="en-US" altLang="zh-CN" sz="1100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altLang="zh-CN" sz="1100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zh-CN" sz="1100" dirty="0"/>
              <a:t>Agent</a:t>
            </a:r>
            <a:r>
              <a:rPr lang="zh-CN" altLang="en-US" sz="1100" dirty="0"/>
              <a:t>支持语音开闭后备箱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zh-CN" altLang="en-US" sz="11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A5FAD41-0663-A242-A4CA-696C3BAC7C13}"/>
              </a:ext>
            </a:extLst>
          </p:cNvPr>
          <p:cNvSpPr txBox="1"/>
          <p:nvPr/>
        </p:nvSpPr>
        <p:spPr>
          <a:xfrm>
            <a:off x="5446086" y="2001048"/>
            <a:ext cx="1896673" cy="7546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特殊地点需要协助场景</a:t>
            </a:r>
            <a:endParaRPr lang="en-US" altLang="zh-CN" sz="12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医院门口</a:t>
            </a:r>
            <a:endParaRPr lang="en-US" altLang="zh-CN" sz="11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机场高铁等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D0BFD71-7674-8627-0ABF-8888D62E25EC}"/>
              </a:ext>
            </a:extLst>
          </p:cNvPr>
          <p:cNvSpPr txBox="1"/>
          <p:nvPr/>
        </p:nvSpPr>
        <p:spPr>
          <a:xfrm>
            <a:off x="4033386" y="2011143"/>
            <a:ext cx="12811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需要帮助人群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75B44EE-EFB2-07CA-EA5A-B06DA5404CB3}"/>
              </a:ext>
            </a:extLst>
          </p:cNvPr>
          <p:cNvSpPr txBox="1"/>
          <p:nvPr/>
        </p:nvSpPr>
        <p:spPr>
          <a:xfrm>
            <a:off x="4264738" y="2241227"/>
            <a:ext cx="639919" cy="10766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病人</a:t>
            </a:r>
            <a:endParaRPr lang="en-US" altLang="zh-CN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老人</a:t>
            </a:r>
            <a:endParaRPr lang="en-US" altLang="zh-CN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孩子</a:t>
            </a:r>
            <a:endParaRPr lang="en-US" altLang="zh-CN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11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7467297-600E-B3D4-F488-CDADFA0DB290}"/>
              </a:ext>
            </a:extLst>
          </p:cNvPr>
          <p:cNvSpPr txBox="1"/>
          <p:nvPr/>
        </p:nvSpPr>
        <p:spPr>
          <a:xfrm>
            <a:off x="7287345" y="1998066"/>
            <a:ext cx="1896673" cy="2023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特殊天气需要协助场景</a:t>
            </a:r>
            <a:endParaRPr lang="en-US" altLang="zh-CN" sz="12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雨天如暴雨，帮助撑伞避免淋湿</a:t>
            </a:r>
            <a:endParaRPr lang="en-US" altLang="zh-CN" sz="11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大雪天</a:t>
            </a:r>
            <a:endParaRPr lang="en-US" altLang="zh-CN" sz="11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1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1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1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11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3401F79-E0BB-9196-D135-C276BEE66B74}"/>
              </a:ext>
            </a:extLst>
          </p:cNvPr>
          <p:cNvSpPr txBox="1"/>
          <p:nvPr/>
        </p:nvSpPr>
        <p:spPr>
          <a:xfrm>
            <a:off x="4197396" y="4389985"/>
            <a:ext cx="14350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乘车较少的乘客</a:t>
            </a:r>
            <a:endParaRPr lang="en-US" altLang="zh-CN" sz="1200" b="1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F025A2D-A404-2FA6-A995-C9179D2C3EB0}"/>
              </a:ext>
            </a:extLst>
          </p:cNvPr>
          <p:cNvSpPr txBox="1"/>
          <p:nvPr/>
        </p:nvSpPr>
        <p:spPr>
          <a:xfrm>
            <a:off x="6161408" y="4402346"/>
            <a:ext cx="29053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后备箱的开启位置不好找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539EABD8-272B-D11A-1B1C-509582811E17}"/>
              </a:ext>
            </a:extLst>
          </p:cNvPr>
          <p:cNvCxnSpPr/>
          <p:nvPr/>
        </p:nvCxnSpPr>
        <p:spPr>
          <a:xfrm>
            <a:off x="363724" y="5427664"/>
            <a:ext cx="1133212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25">
            <a:extLst>
              <a:ext uri="{FF2B5EF4-FFF2-40B4-BE49-F238E27FC236}">
                <a16:creationId xmlns:a16="http://schemas.microsoft.com/office/drawing/2014/main" id="{4D353A42-7DF5-2A8E-4B1B-BEFC1DF41946}"/>
              </a:ext>
            </a:extLst>
          </p:cNvPr>
          <p:cNvCxnSpPr/>
          <p:nvPr/>
        </p:nvCxnSpPr>
        <p:spPr>
          <a:xfrm>
            <a:off x="363724" y="4736227"/>
            <a:ext cx="11196000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4BF851D4-6CBD-9D7F-8FF0-50E7499B8503}"/>
              </a:ext>
            </a:extLst>
          </p:cNvPr>
          <p:cNvSpPr txBox="1"/>
          <p:nvPr/>
        </p:nvSpPr>
        <p:spPr>
          <a:xfrm>
            <a:off x="86440" y="4745919"/>
            <a:ext cx="36603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>
              <a:defRPr/>
            </a:pP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algn="ctr"/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行程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algn="ctr"/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确认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algn="ctr"/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95AD26A5-6659-A28B-9E2F-8021A5CFAB6D}"/>
              </a:ext>
            </a:extLst>
          </p:cNvPr>
          <p:cNvSpPr txBox="1"/>
          <p:nvPr/>
        </p:nvSpPr>
        <p:spPr>
          <a:xfrm>
            <a:off x="468296" y="5618429"/>
            <a:ext cx="106311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11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目的地确认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8FA104C6-857D-CB53-37A8-47A00CF7EE27}"/>
              </a:ext>
            </a:extLst>
          </p:cNvPr>
          <p:cNvSpPr txBox="1"/>
          <p:nvPr/>
        </p:nvSpPr>
        <p:spPr>
          <a:xfrm>
            <a:off x="457566" y="4990391"/>
            <a:ext cx="9220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11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身份确认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1C9AEC35-B39C-BB66-502A-D407FF07FD4A}"/>
              </a:ext>
            </a:extLst>
          </p:cNvPr>
          <p:cNvSpPr txBox="1"/>
          <p:nvPr/>
        </p:nvSpPr>
        <p:spPr>
          <a:xfrm>
            <a:off x="2029200" y="4822546"/>
            <a:ext cx="1204176" cy="5699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司机主动询问</a:t>
            </a:r>
            <a:endParaRPr lang="en-US" altLang="zh-CN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乘客主动告知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80419964-8319-BDD6-7EE1-FEE7C825C6B5}"/>
              </a:ext>
            </a:extLst>
          </p:cNvPr>
          <p:cNvSpPr txBox="1"/>
          <p:nvPr/>
        </p:nvSpPr>
        <p:spPr>
          <a:xfrm>
            <a:off x="2011493" y="5528294"/>
            <a:ext cx="1644094" cy="569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多人打车 </a:t>
            </a:r>
            <a:r>
              <a:rPr lang="en-US" altLang="zh-CN" sz="1100" dirty="0"/>
              <a:t>/ </a:t>
            </a:r>
            <a:r>
              <a:rPr lang="zh-CN" altLang="en-US" sz="1100" dirty="0"/>
              <a:t>扎堆打车地方确认目的地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3B7FA799-E70F-B14F-3017-B31199D4674F}"/>
              </a:ext>
            </a:extLst>
          </p:cNvPr>
          <p:cNvSpPr txBox="1"/>
          <p:nvPr/>
        </p:nvSpPr>
        <p:spPr>
          <a:xfrm>
            <a:off x="4195856" y="4792102"/>
            <a:ext cx="3281668" cy="6133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200" b="1" dirty="0"/>
              <a:t>存在一些不主动司机，不主动询问也不发车</a:t>
            </a:r>
            <a:endParaRPr lang="en-US" altLang="zh-CN" sz="1200" b="1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200" b="1" dirty="0"/>
              <a:t>大多数平台都是手机尾号后</a:t>
            </a:r>
            <a:r>
              <a:rPr lang="en-US" altLang="zh-CN" sz="1200" b="1" dirty="0"/>
              <a:t>4</a:t>
            </a:r>
            <a:r>
              <a:rPr lang="zh-CN" altLang="en-US" sz="1200" b="1" dirty="0"/>
              <a:t>位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E01666B1-C3AC-AC83-7BF7-038F7F78C43B}"/>
              </a:ext>
            </a:extLst>
          </p:cNvPr>
          <p:cNvSpPr txBox="1"/>
          <p:nvPr/>
        </p:nvSpPr>
        <p:spPr>
          <a:xfrm>
            <a:off x="4202518" y="5465448"/>
            <a:ext cx="6892046" cy="61337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200" b="1" dirty="0"/>
              <a:t>打车人群密集的地点（如商场、写字楼、车站）</a:t>
            </a:r>
            <a:endParaRPr lang="en-US" altLang="zh-CN" sz="1200" b="1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200" b="1" dirty="0"/>
              <a:t>属于尾号确认之外的补充身份核实场景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C4CC6A83-E81A-5D37-793D-3AE0F2F57636}"/>
              </a:ext>
            </a:extLst>
          </p:cNvPr>
          <p:cNvSpPr txBox="1"/>
          <p:nvPr/>
        </p:nvSpPr>
        <p:spPr>
          <a:xfrm flipH="1">
            <a:off x="9524418" y="4963749"/>
            <a:ext cx="2522615" cy="314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100" dirty="0"/>
              <a:t>提醒司机询问手机尾号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0A5FAA94-0E5C-B39B-1241-45C335AB5AAF}"/>
              </a:ext>
            </a:extLst>
          </p:cNvPr>
          <p:cNvSpPr txBox="1"/>
          <p:nvPr/>
        </p:nvSpPr>
        <p:spPr>
          <a:xfrm flipH="1">
            <a:off x="9535787" y="5524076"/>
            <a:ext cx="2522615" cy="569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100" dirty="0"/>
              <a:t>打车人群比较多的接驾地点增加目的地二次确认</a:t>
            </a:r>
          </a:p>
        </p:txBody>
      </p:sp>
    </p:spTree>
    <p:extLst>
      <p:ext uri="{BB962C8B-B14F-4D97-AF65-F5344CB8AC3E}">
        <p14:creationId xmlns:p14="http://schemas.microsoft.com/office/powerpoint/2010/main" val="3301731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B5C14-6F4A-05DF-E96E-B8C3A14CD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288DD0-07A6-1150-EDB6-0FF947747A9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69924" y="433637"/>
            <a:ext cx="10440000" cy="595063"/>
          </a:xfrm>
        </p:spPr>
        <p:txBody>
          <a:bodyPr/>
          <a:lstStyle/>
          <a:p>
            <a:r>
              <a:rPr lang="zh-CN" altLang="en-US" dirty="0"/>
              <a:t>上车时阶段</a:t>
            </a:r>
            <a:r>
              <a:rPr lang="en-US" altLang="zh-CN" dirty="0"/>
              <a:t>——</a:t>
            </a:r>
            <a:r>
              <a:rPr lang="zh-CN" altLang="en-US" dirty="0"/>
              <a:t>行程确认</a:t>
            </a:r>
          </a:p>
        </p:txBody>
      </p:sp>
      <p:sp>
        <p:nvSpPr>
          <p:cNvPr id="16" name="文本占位符 4">
            <a:extLst>
              <a:ext uri="{FF2B5EF4-FFF2-40B4-BE49-F238E27FC236}">
                <a16:creationId xmlns:a16="http://schemas.microsoft.com/office/drawing/2014/main" id="{5F32F933-03F0-4B10-C933-BDE7A7BB0E7C}"/>
              </a:ext>
            </a:extLst>
          </p:cNvPr>
          <p:cNvSpPr txBox="1"/>
          <p:nvPr/>
        </p:nvSpPr>
        <p:spPr>
          <a:xfrm>
            <a:off x="5183625" y="1395662"/>
            <a:ext cx="2290714" cy="3385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用户需求分析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9767A7B4-1525-14A4-1C79-47BC467C00C0}"/>
              </a:ext>
            </a:extLst>
          </p:cNvPr>
          <p:cNvCxnSpPr/>
          <p:nvPr/>
        </p:nvCxnSpPr>
        <p:spPr>
          <a:xfrm>
            <a:off x="431787" y="1303200"/>
            <a:ext cx="11196000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4B9724D6-C287-BB89-7422-50DBEB851783}"/>
              </a:ext>
            </a:extLst>
          </p:cNvPr>
          <p:cNvCxnSpPr/>
          <p:nvPr/>
        </p:nvCxnSpPr>
        <p:spPr>
          <a:xfrm>
            <a:off x="431787" y="1810163"/>
            <a:ext cx="11196000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103DE44B-DDAA-3810-23BD-713812F1F10F}"/>
              </a:ext>
            </a:extLst>
          </p:cNvPr>
          <p:cNvSpPr txBox="1"/>
          <p:nvPr/>
        </p:nvSpPr>
        <p:spPr>
          <a:xfrm>
            <a:off x="100836" y="3107151"/>
            <a:ext cx="36603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>
              <a:defRPr/>
            </a:pP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algn="ctr"/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行程确认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D77FF1F-8571-71E4-4552-ECF242026118}"/>
              </a:ext>
            </a:extLst>
          </p:cNvPr>
          <p:cNvSpPr txBox="1"/>
          <p:nvPr/>
        </p:nvSpPr>
        <p:spPr>
          <a:xfrm>
            <a:off x="432154" y="2252879"/>
            <a:ext cx="1525188" cy="2970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11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路线到达时间确认</a:t>
            </a: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endParaRPr lang="en-US" altLang="zh-CN" sz="1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 fontAlgn="b"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11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费用确认</a:t>
            </a: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占位符 4">
            <a:extLst>
              <a:ext uri="{FF2B5EF4-FFF2-40B4-BE49-F238E27FC236}">
                <a16:creationId xmlns:a16="http://schemas.microsoft.com/office/drawing/2014/main" id="{942E0FE1-D29E-47D0-7369-A17FF334BDE0}"/>
              </a:ext>
            </a:extLst>
          </p:cNvPr>
          <p:cNvSpPr txBox="1"/>
          <p:nvPr/>
        </p:nvSpPr>
        <p:spPr>
          <a:xfrm>
            <a:off x="2143529" y="1384066"/>
            <a:ext cx="1697824" cy="3385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关键发现</a:t>
            </a:r>
          </a:p>
        </p:txBody>
      </p:sp>
      <p:sp>
        <p:nvSpPr>
          <p:cNvPr id="60" name="文本占位符 4">
            <a:extLst>
              <a:ext uri="{FF2B5EF4-FFF2-40B4-BE49-F238E27FC236}">
                <a16:creationId xmlns:a16="http://schemas.microsoft.com/office/drawing/2014/main" id="{8055DFBC-D002-36B0-6FF9-FD3C72169395}"/>
              </a:ext>
            </a:extLst>
          </p:cNvPr>
          <p:cNvSpPr txBox="1"/>
          <p:nvPr/>
        </p:nvSpPr>
        <p:spPr>
          <a:xfrm>
            <a:off x="9262073" y="1398077"/>
            <a:ext cx="2709470" cy="3385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司机</a:t>
            </a:r>
            <a:r>
              <a: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功能建议</a:t>
            </a: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04C67ED1-9C70-627F-0425-B844496CFDCF}"/>
              </a:ext>
            </a:extLst>
          </p:cNvPr>
          <p:cNvCxnSpPr/>
          <p:nvPr/>
        </p:nvCxnSpPr>
        <p:spPr>
          <a:xfrm>
            <a:off x="3733800" y="1834362"/>
            <a:ext cx="0" cy="43200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占位符 4">
            <a:extLst>
              <a:ext uri="{FF2B5EF4-FFF2-40B4-BE49-F238E27FC236}">
                <a16:creationId xmlns:a16="http://schemas.microsoft.com/office/drawing/2014/main" id="{9E3DDAAF-4986-8476-70D8-847C10B4776C}"/>
              </a:ext>
            </a:extLst>
          </p:cNvPr>
          <p:cNvSpPr txBox="1"/>
          <p:nvPr/>
        </p:nvSpPr>
        <p:spPr>
          <a:xfrm>
            <a:off x="320111" y="1389551"/>
            <a:ext cx="1697824" cy="3385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中高场景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0F5D524F-D235-E766-2AF4-8791EE9C3D99}"/>
              </a:ext>
            </a:extLst>
          </p:cNvPr>
          <p:cNvCxnSpPr/>
          <p:nvPr/>
        </p:nvCxnSpPr>
        <p:spPr>
          <a:xfrm>
            <a:off x="1933280" y="1810163"/>
            <a:ext cx="0" cy="43200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25">
            <a:extLst>
              <a:ext uri="{FF2B5EF4-FFF2-40B4-BE49-F238E27FC236}">
                <a16:creationId xmlns:a16="http://schemas.microsoft.com/office/drawing/2014/main" id="{80C71760-DD2B-7584-F12F-F6130D21E6EF}"/>
              </a:ext>
            </a:extLst>
          </p:cNvPr>
          <p:cNvCxnSpPr/>
          <p:nvPr/>
        </p:nvCxnSpPr>
        <p:spPr>
          <a:xfrm>
            <a:off x="431787" y="6170268"/>
            <a:ext cx="11196000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6DC71AA0-4D24-5DF4-F731-22CD66602F9C}"/>
              </a:ext>
            </a:extLst>
          </p:cNvPr>
          <p:cNvCxnSpPr/>
          <p:nvPr/>
        </p:nvCxnSpPr>
        <p:spPr>
          <a:xfrm>
            <a:off x="476464" y="4471539"/>
            <a:ext cx="1133212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B8AFB850-AEB7-7D29-4F71-7502CFE05C2A}"/>
              </a:ext>
            </a:extLst>
          </p:cNvPr>
          <p:cNvSpPr txBox="1"/>
          <p:nvPr/>
        </p:nvSpPr>
        <p:spPr>
          <a:xfrm>
            <a:off x="1965406" y="2511321"/>
            <a:ext cx="177315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zh-CN" altLang="en-US" sz="105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0B31191-B47B-16BD-ED85-AA3CB86B8AAB}"/>
              </a:ext>
            </a:extLst>
          </p:cNvPr>
          <p:cNvSpPr txBox="1"/>
          <p:nvPr/>
        </p:nvSpPr>
        <p:spPr>
          <a:xfrm>
            <a:off x="1901155" y="5140813"/>
            <a:ext cx="1773159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zh-CN" altLang="en-US" sz="105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7784EC-B705-BF99-7519-753DD2A0F259}"/>
              </a:ext>
            </a:extLst>
          </p:cNvPr>
          <p:cNvSpPr txBox="1"/>
          <p:nvPr/>
        </p:nvSpPr>
        <p:spPr>
          <a:xfrm>
            <a:off x="1944513" y="4005258"/>
            <a:ext cx="1773159" cy="730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050" dirty="0"/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050" dirty="0"/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zh-CN" altLang="en-US" sz="1050" dirty="0"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B8FA4130-CD59-F141-2651-30EB84BDDFEF}"/>
              </a:ext>
            </a:extLst>
          </p:cNvPr>
          <p:cNvCxnSpPr/>
          <p:nvPr/>
        </p:nvCxnSpPr>
        <p:spPr>
          <a:xfrm>
            <a:off x="9295601" y="1845258"/>
            <a:ext cx="0" cy="43200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D3E7B114-3A0F-53D0-C7D3-8DFA0CA2338E}"/>
              </a:ext>
            </a:extLst>
          </p:cNvPr>
          <p:cNvSpPr txBox="1"/>
          <p:nvPr/>
        </p:nvSpPr>
        <p:spPr>
          <a:xfrm>
            <a:off x="2016291" y="4726570"/>
            <a:ext cx="172227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zh-CN" altLang="en-US" sz="11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21B84E2-763D-11CA-6903-9C2FFDE1ACED}"/>
              </a:ext>
            </a:extLst>
          </p:cNvPr>
          <p:cNvSpPr txBox="1"/>
          <p:nvPr/>
        </p:nvSpPr>
        <p:spPr>
          <a:xfrm>
            <a:off x="1904380" y="2108177"/>
            <a:ext cx="1763630" cy="1839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多人乘车，中途下车</a:t>
            </a:r>
            <a:endParaRPr lang="en-US" altLang="zh-CN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司机确认按导航路线行驶时</a:t>
            </a:r>
            <a:r>
              <a:rPr lang="en-US" altLang="zh-CN" sz="1100" dirty="0"/>
              <a:t>ok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乘客特殊要求，不走高架</a:t>
            </a:r>
            <a:endParaRPr lang="en-US" altLang="zh-CN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提醒比预定时间延长的情形，安全与效率平衡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6D02BC-BBAB-5AA0-4861-9E86E35467EF}"/>
              </a:ext>
            </a:extLst>
          </p:cNvPr>
          <p:cNvSpPr txBox="1"/>
          <p:nvPr/>
        </p:nvSpPr>
        <p:spPr>
          <a:xfrm flipH="1">
            <a:off x="9389954" y="4507644"/>
            <a:ext cx="2522615" cy="1584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100" dirty="0"/>
              <a:t>对于司机额外成本可以通过系统合理定价解决，无回程单、回程额外高速费</a:t>
            </a:r>
            <a:endParaRPr lang="en-US" altLang="zh-CN" sz="11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100" dirty="0"/>
              <a:t>系统额外定价需透明，并在订单中客户</a:t>
            </a:r>
            <a:endParaRPr lang="en-US" altLang="zh-CN" sz="11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100" dirty="0"/>
              <a:t>本次行程可能收费项目的语音提示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A4999C3-62AF-24BC-1980-0B6B4C3798DA}"/>
              </a:ext>
            </a:extLst>
          </p:cNvPr>
          <p:cNvSpPr txBox="1"/>
          <p:nvPr/>
        </p:nvSpPr>
        <p:spPr>
          <a:xfrm>
            <a:off x="5456074" y="2151470"/>
            <a:ext cx="1281120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确认导航路线</a:t>
            </a:r>
            <a:endParaRPr lang="en-US" altLang="zh-CN" sz="1200" b="1" dirty="0"/>
          </a:p>
          <a:p>
            <a:r>
              <a:rPr lang="en-US" altLang="zh-CN" sz="1100" b="1" dirty="0"/>
              <a:t>     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4F6B1F6-2D1B-855B-7B13-F0640DE351D3}"/>
              </a:ext>
            </a:extLst>
          </p:cNvPr>
          <p:cNvSpPr txBox="1"/>
          <p:nvPr/>
        </p:nvSpPr>
        <p:spPr>
          <a:xfrm>
            <a:off x="4034304" y="2158689"/>
            <a:ext cx="9733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中途下车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1165610-1531-8F92-9CDB-191E6CA08274}"/>
              </a:ext>
            </a:extLst>
          </p:cNvPr>
          <p:cNvSpPr txBox="1"/>
          <p:nvPr/>
        </p:nvSpPr>
        <p:spPr>
          <a:xfrm>
            <a:off x="4190834" y="2476701"/>
            <a:ext cx="1063112" cy="5688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添加途经点</a:t>
            </a:r>
            <a:endParaRPr lang="en-US" altLang="zh-CN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客户指路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38EE6C2-C199-3EA3-C67A-01817817167C}"/>
              </a:ext>
            </a:extLst>
          </p:cNvPr>
          <p:cNvSpPr txBox="1"/>
          <p:nvPr/>
        </p:nvSpPr>
        <p:spPr>
          <a:xfrm>
            <a:off x="7268635" y="2122567"/>
            <a:ext cx="1896673" cy="109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200" b="1" dirty="0"/>
              <a:t>乘客特殊路线要求</a:t>
            </a:r>
            <a:endParaRPr lang="en-US" altLang="zh-CN" sz="12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1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1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11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AB6C5C0-05FA-B9D7-FBB1-8E6F0FE04777}"/>
              </a:ext>
            </a:extLst>
          </p:cNvPr>
          <p:cNvSpPr txBox="1"/>
          <p:nvPr/>
        </p:nvSpPr>
        <p:spPr>
          <a:xfrm>
            <a:off x="4125593" y="4635689"/>
            <a:ext cx="12811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dirty="0"/>
              <a:t>司机加价场景</a:t>
            </a:r>
            <a:endParaRPr lang="en-US" altLang="zh-CN" sz="12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8F10DE2-EFC7-47B9-2904-39E3526F8414}"/>
              </a:ext>
            </a:extLst>
          </p:cNvPr>
          <p:cNvSpPr txBox="1"/>
          <p:nvPr/>
        </p:nvSpPr>
        <p:spPr>
          <a:xfrm>
            <a:off x="6746565" y="5750183"/>
            <a:ext cx="25442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200" dirty="0"/>
              <a:t>正常服务中不包含高速费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DD57503-0A77-2632-8383-304712F6394F}"/>
              </a:ext>
            </a:extLst>
          </p:cNvPr>
          <p:cNvSpPr txBox="1"/>
          <p:nvPr/>
        </p:nvSpPr>
        <p:spPr>
          <a:xfrm>
            <a:off x="5682699" y="2454882"/>
            <a:ext cx="1724542" cy="1076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客户赶时间，通过自己手机导航寻找更快路线，如差旅</a:t>
            </a:r>
            <a:endParaRPr lang="en-US" altLang="zh-CN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110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A3CC84F-C194-5801-ECBE-4B0BE9F20BDE}"/>
              </a:ext>
            </a:extLst>
          </p:cNvPr>
          <p:cNvSpPr txBox="1"/>
          <p:nvPr/>
        </p:nvSpPr>
        <p:spPr>
          <a:xfrm>
            <a:off x="7463746" y="2407470"/>
            <a:ext cx="1524200" cy="1076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不走高架，如醉酒担心呕吐，沿途上厕所</a:t>
            </a:r>
            <a:endParaRPr lang="en-US" altLang="zh-CN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11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DA0C3DC-5ADA-3B08-9D6E-1F7C949ED831}"/>
              </a:ext>
            </a:extLst>
          </p:cNvPr>
          <p:cNvSpPr txBox="1"/>
          <p:nvPr/>
        </p:nvSpPr>
        <p:spPr>
          <a:xfrm flipH="1">
            <a:off x="9352284" y="2189005"/>
            <a:ext cx="2522615" cy="2092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100" dirty="0"/>
              <a:t>支持语音添加途经点，并重新规划</a:t>
            </a:r>
            <a:endParaRPr lang="en-US" altLang="zh-CN" sz="11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100" dirty="0"/>
              <a:t>对于目的地特殊地点与商务人士</a:t>
            </a:r>
            <a:endParaRPr lang="en-US" altLang="zh-CN" sz="11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100" dirty="0"/>
              <a:t>导航路线两种推荐，更快或更省钱</a:t>
            </a:r>
            <a:endParaRPr lang="en-US" altLang="zh-CN" sz="11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100" dirty="0"/>
              <a:t>导航支持不走高架模式</a:t>
            </a:r>
            <a:endParaRPr lang="en-US" altLang="zh-CN" sz="11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100" dirty="0"/>
              <a:t>根据各种导致可能延误的场景进行延迟提醒</a:t>
            </a:r>
            <a:endParaRPr lang="en-US" altLang="zh-CN" sz="11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zh-CN" sz="11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zh-CN" altLang="en-US" sz="11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B01CCDE-0EB7-202D-00ED-67DDDE155265}"/>
              </a:ext>
            </a:extLst>
          </p:cNvPr>
          <p:cNvSpPr txBox="1"/>
          <p:nvPr/>
        </p:nvSpPr>
        <p:spPr>
          <a:xfrm>
            <a:off x="4041203" y="3274409"/>
            <a:ext cx="22044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各种场景下提醒可能的延误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391503A-5C9B-AB96-80F3-26864347A86F}"/>
              </a:ext>
            </a:extLst>
          </p:cNvPr>
          <p:cNvSpPr txBox="1"/>
          <p:nvPr/>
        </p:nvSpPr>
        <p:spPr>
          <a:xfrm>
            <a:off x="4363208" y="3569425"/>
            <a:ext cx="1768433" cy="5699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老人与孩子更平稳驾驶</a:t>
            </a:r>
            <a:endParaRPr lang="en-US" altLang="zh-CN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轮椅乘客</a:t>
            </a:r>
            <a:endParaRPr lang="en-US" altLang="zh-CN" sz="11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DB4CB36-E2A0-4F2D-3B28-2C95682E2827}"/>
              </a:ext>
            </a:extLst>
          </p:cNvPr>
          <p:cNvSpPr txBox="1"/>
          <p:nvPr/>
        </p:nvSpPr>
        <p:spPr>
          <a:xfrm>
            <a:off x="6603935" y="3569425"/>
            <a:ext cx="1475030" cy="569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高峰时段</a:t>
            </a:r>
            <a:endParaRPr lang="en-US" altLang="zh-CN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特殊天气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DBB78C7-9AB6-3A21-0CAC-E4FEF4541AEA}"/>
              </a:ext>
            </a:extLst>
          </p:cNvPr>
          <p:cNvSpPr txBox="1"/>
          <p:nvPr/>
        </p:nvSpPr>
        <p:spPr>
          <a:xfrm>
            <a:off x="7972469" y="3559938"/>
            <a:ext cx="1475030" cy="316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指定路线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62DCEDB-0B26-EC04-B1BA-088E5AFACFB0}"/>
              </a:ext>
            </a:extLst>
          </p:cNvPr>
          <p:cNvSpPr txBox="1"/>
          <p:nvPr/>
        </p:nvSpPr>
        <p:spPr>
          <a:xfrm>
            <a:off x="2011527" y="4982261"/>
            <a:ext cx="973343" cy="889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/>
              <a:t>司机加价</a:t>
            </a:r>
            <a:endParaRPr lang="en-US" altLang="zh-CN" sz="12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/>
              <a:t>高速费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12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55046CC-DD01-02FF-6C3F-B4A0B5A4E536}"/>
              </a:ext>
            </a:extLst>
          </p:cNvPr>
          <p:cNvSpPr txBox="1"/>
          <p:nvPr/>
        </p:nvSpPr>
        <p:spPr>
          <a:xfrm>
            <a:off x="4363208" y="4957220"/>
            <a:ext cx="20985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/>
              <a:t>特惠时较远且无回程单，回程服务费</a:t>
            </a:r>
            <a:endParaRPr lang="en-US" altLang="zh-CN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/>
              <a:t>回程高速费</a:t>
            </a:r>
            <a:endParaRPr lang="en-US" altLang="zh-CN" sz="12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A1840D45-3556-CF47-599E-4D7408B5686A}"/>
              </a:ext>
            </a:extLst>
          </p:cNvPr>
          <p:cNvSpPr txBox="1"/>
          <p:nvPr/>
        </p:nvSpPr>
        <p:spPr>
          <a:xfrm>
            <a:off x="6760762" y="4603807"/>
            <a:ext cx="17860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dirty="0"/>
              <a:t>乘客加价态度分情况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529DFDA-0925-8CE7-BA87-A0020D5CEC9C}"/>
              </a:ext>
            </a:extLst>
          </p:cNvPr>
          <p:cNvSpPr txBox="1"/>
          <p:nvPr/>
        </p:nvSpPr>
        <p:spPr>
          <a:xfrm>
            <a:off x="7132775" y="4935958"/>
            <a:ext cx="20985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/>
              <a:t>大多数比较反感临时加价</a:t>
            </a:r>
            <a:endParaRPr lang="en-US" altLang="zh-CN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/>
              <a:t>少量客户接受</a:t>
            </a:r>
            <a:endParaRPr lang="en-US" altLang="zh-CN" sz="1200" dirty="0"/>
          </a:p>
        </p:txBody>
      </p:sp>
    </p:spTree>
    <p:extLst>
      <p:ext uri="{BB962C8B-B14F-4D97-AF65-F5344CB8AC3E}">
        <p14:creationId xmlns:p14="http://schemas.microsoft.com/office/powerpoint/2010/main" val="3499496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669924" y="433637"/>
            <a:ext cx="10440000" cy="595063"/>
          </a:xfrm>
        </p:spPr>
        <p:txBody>
          <a:bodyPr/>
          <a:lstStyle/>
          <a:p>
            <a:r>
              <a:rPr lang="zh-CN" altLang="en-US" dirty="0"/>
              <a:t>行驶阶段</a:t>
            </a:r>
            <a:r>
              <a:rPr lang="en-US" altLang="zh-CN" dirty="0"/>
              <a:t>——</a:t>
            </a:r>
            <a:r>
              <a:rPr lang="zh-CN" altLang="en-US" dirty="0"/>
              <a:t>车内环境舒适调整旅程</a:t>
            </a:r>
          </a:p>
        </p:txBody>
      </p:sp>
      <p:sp>
        <p:nvSpPr>
          <p:cNvPr id="16" name="文本占位符 4"/>
          <p:cNvSpPr txBox="1"/>
          <p:nvPr/>
        </p:nvSpPr>
        <p:spPr>
          <a:xfrm>
            <a:off x="5183625" y="1395662"/>
            <a:ext cx="2290714" cy="3385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用户需求分析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431787" y="1303200"/>
            <a:ext cx="11196000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431787" y="1810163"/>
            <a:ext cx="11196000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97877" y="2794788"/>
            <a:ext cx="36603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>
              <a:defRPr/>
            </a:pP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algn="ctr"/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车内环境舒适调整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53775" y="2240651"/>
            <a:ext cx="1525188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座舱与空间舒适调整</a:t>
            </a: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特殊乘客需求</a:t>
            </a: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降噪场景</a:t>
            </a: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占位符 4"/>
          <p:cNvSpPr txBox="1"/>
          <p:nvPr/>
        </p:nvSpPr>
        <p:spPr>
          <a:xfrm>
            <a:off x="2143529" y="1384066"/>
            <a:ext cx="1697824" cy="3385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关键发现</a:t>
            </a:r>
          </a:p>
        </p:txBody>
      </p:sp>
      <p:sp>
        <p:nvSpPr>
          <p:cNvPr id="60" name="文本占位符 4"/>
          <p:cNvSpPr txBox="1"/>
          <p:nvPr/>
        </p:nvSpPr>
        <p:spPr>
          <a:xfrm>
            <a:off x="9425902" y="1390273"/>
            <a:ext cx="2682668" cy="3385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司机</a:t>
            </a:r>
            <a:r>
              <a: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功能建议</a:t>
            </a:r>
          </a:p>
        </p:txBody>
      </p:sp>
      <p:cxnSp>
        <p:nvCxnSpPr>
          <p:cNvPr id="49" name="直接连接符 48"/>
          <p:cNvCxnSpPr/>
          <p:nvPr/>
        </p:nvCxnSpPr>
        <p:spPr>
          <a:xfrm>
            <a:off x="3733800" y="1834362"/>
            <a:ext cx="0" cy="43200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9425901" y="1834362"/>
            <a:ext cx="0" cy="43200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占位符 4"/>
          <p:cNvSpPr txBox="1"/>
          <p:nvPr/>
        </p:nvSpPr>
        <p:spPr>
          <a:xfrm>
            <a:off x="483782" y="1390273"/>
            <a:ext cx="1697824" cy="3385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高频场景</a:t>
            </a:r>
          </a:p>
        </p:txBody>
      </p:sp>
      <p:cxnSp>
        <p:nvCxnSpPr>
          <p:cNvPr id="34" name="直接连接符 33"/>
          <p:cNvCxnSpPr/>
          <p:nvPr/>
        </p:nvCxnSpPr>
        <p:spPr>
          <a:xfrm>
            <a:off x="1933280" y="1810163"/>
            <a:ext cx="0" cy="43200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25"/>
          <p:cNvCxnSpPr/>
          <p:nvPr/>
        </p:nvCxnSpPr>
        <p:spPr>
          <a:xfrm>
            <a:off x="431787" y="6170268"/>
            <a:ext cx="11196000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FCB75BF8-188E-B1E4-0F4E-E6EDC6BF53A9}"/>
              </a:ext>
            </a:extLst>
          </p:cNvPr>
          <p:cNvSpPr txBox="1"/>
          <p:nvPr/>
        </p:nvSpPr>
        <p:spPr>
          <a:xfrm>
            <a:off x="3882832" y="2116297"/>
            <a:ext cx="1643399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000" dirty="0"/>
              <a:t>儿童座椅</a:t>
            </a:r>
            <a:endParaRPr lang="en-US" altLang="zh-CN" sz="1000" dirty="0"/>
          </a:p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000" dirty="0"/>
              <a:t>晕车前排就坐</a:t>
            </a:r>
            <a:endParaRPr lang="en-US" altLang="zh-CN" sz="10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2DD2A1C-95F3-249B-8021-A7B2D72791DA}"/>
              </a:ext>
            </a:extLst>
          </p:cNvPr>
          <p:cNvSpPr txBox="1"/>
          <p:nvPr/>
        </p:nvSpPr>
        <p:spPr>
          <a:xfrm>
            <a:off x="3963567" y="1868245"/>
            <a:ext cx="9220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100" b="1" dirty="0"/>
              <a:t>特征需求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D568AEE-F23E-069A-B53F-D1115E28989C}"/>
              </a:ext>
            </a:extLst>
          </p:cNvPr>
          <p:cNvSpPr txBox="1"/>
          <p:nvPr/>
        </p:nvSpPr>
        <p:spPr>
          <a:xfrm>
            <a:off x="2080085" y="1851421"/>
            <a:ext cx="1625646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1050" dirty="0"/>
              <a:t>以期待型需求为主：</a:t>
            </a:r>
            <a:endParaRPr lang="en-US" altLang="zh-CN" sz="1050" dirty="0"/>
          </a:p>
          <a:p>
            <a:pPr>
              <a:spcBef>
                <a:spcPts val="600"/>
              </a:spcBef>
            </a:pPr>
            <a:r>
              <a:rPr lang="en-US" altLang="zh-CN" sz="1050" dirty="0"/>
              <a:t>1.</a:t>
            </a:r>
            <a:r>
              <a:rPr lang="zh-CN" altLang="en-US" sz="1050" dirty="0"/>
              <a:t>期待更舒适，更灵活，更丰富</a:t>
            </a:r>
            <a:endParaRPr lang="en-US" altLang="zh-CN" sz="1050" dirty="0"/>
          </a:p>
          <a:p>
            <a:pPr>
              <a:spcBef>
                <a:spcPts val="600"/>
              </a:spcBef>
            </a:pPr>
            <a:r>
              <a:rPr lang="en-US" altLang="zh-CN" sz="1050" dirty="0"/>
              <a:t>2.</a:t>
            </a:r>
            <a:r>
              <a:rPr lang="zh-CN" altLang="en-US" sz="1050" dirty="0"/>
              <a:t>最低要求整洁干净</a:t>
            </a:r>
            <a:endParaRPr lang="en-US" altLang="zh-CN" sz="1050" dirty="0"/>
          </a:p>
          <a:p>
            <a:pPr>
              <a:spcBef>
                <a:spcPts val="600"/>
              </a:spcBef>
            </a:pPr>
            <a:r>
              <a:rPr lang="en-US" altLang="zh-CN" sz="1050" dirty="0"/>
              <a:t>3</a:t>
            </a:r>
            <a:endParaRPr lang="zh-CN" altLang="en-US" sz="105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BB3670F-677D-DCCB-BA89-50B1BCB525A3}"/>
              </a:ext>
            </a:extLst>
          </p:cNvPr>
          <p:cNvSpPr txBox="1"/>
          <p:nvPr/>
        </p:nvSpPr>
        <p:spPr>
          <a:xfrm>
            <a:off x="5925664" y="1868245"/>
            <a:ext cx="134524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100" b="1" dirty="0"/>
              <a:t>位置与空间需求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5B1A58E-F8C1-A79D-17AD-267414D40ACA}"/>
              </a:ext>
            </a:extLst>
          </p:cNvPr>
          <p:cNvSpPr txBox="1"/>
          <p:nvPr/>
        </p:nvSpPr>
        <p:spPr>
          <a:xfrm>
            <a:off x="5596240" y="2114321"/>
            <a:ext cx="2057212" cy="526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000" dirty="0"/>
              <a:t>后排座椅角度调整</a:t>
            </a:r>
            <a:endParaRPr lang="en-US" altLang="zh-CN" sz="1000" dirty="0"/>
          </a:p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000" dirty="0"/>
              <a:t>前排乘坐副驾座椅空间调整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E5387B6-DB4A-9912-CA12-6C3B7B7819EC}"/>
              </a:ext>
            </a:extLst>
          </p:cNvPr>
          <p:cNvSpPr txBox="1"/>
          <p:nvPr/>
        </p:nvSpPr>
        <p:spPr>
          <a:xfrm>
            <a:off x="7787628" y="1868245"/>
            <a:ext cx="106311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100" b="1" dirty="0"/>
              <a:t>智能化需求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5A76ACE-7DC3-2492-EB72-2F0FAAA706ED}"/>
              </a:ext>
            </a:extLst>
          </p:cNvPr>
          <p:cNvSpPr txBox="1"/>
          <p:nvPr/>
        </p:nvSpPr>
        <p:spPr>
          <a:xfrm>
            <a:off x="7587448" y="2145045"/>
            <a:ext cx="193873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+mj-lt"/>
              <a:buAutoNum type="arabicPeriod"/>
            </a:pPr>
            <a:r>
              <a:rPr lang="zh-CN" altLang="en-US" sz="1000" dirty="0"/>
              <a:t>座椅按摩、通风、加热</a:t>
            </a:r>
            <a:endParaRPr lang="en-US" altLang="zh-CN" sz="10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1D8FEFE-15FC-8D0A-B4E0-EBFE6305138B}"/>
              </a:ext>
            </a:extLst>
          </p:cNvPr>
          <p:cNvSpPr txBox="1"/>
          <p:nvPr/>
        </p:nvSpPr>
        <p:spPr>
          <a:xfrm>
            <a:off x="9511036" y="1944369"/>
            <a:ext cx="2469370" cy="1054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050" dirty="0"/>
              <a:t>根据乘车人特征的上车后缺省空调温度智能设置</a:t>
            </a:r>
            <a:endParaRPr lang="en-US" altLang="zh-CN" sz="1050" dirty="0"/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050" dirty="0"/>
              <a:t>根据外部气候环境智能设置缺省温度</a:t>
            </a:r>
            <a:endParaRPr lang="en-US" altLang="zh-CN" sz="1050" dirty="0"/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050" dirty="0"/>
              <a:t>乘客可自由语音控制空调</a:t>
            </a:r>
            <a:endParaRPr lang="en-US" altLang="zh-CN" sz="105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8DF411A-6F0D-1636-E1E9-09011505C1E3}"/>
              </a:ext>
            </a:extLst>
          </p:cNvPr>
          <p:cNvSpPr txBox="1"/>
          <p:nvPr/>
        </p:nvSpPr>
        <p:spPr>
          <a:xfrm>
            <a:off x="2028459" y="3475774"/>
            <a:ext cx="164214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dirty="0"/>
              <a:t>特殊乘客：</a:t>
            </a:r>
            <a:endParaRPr lang="en-US" altLang="zh-CN" sz="1050" dirty="0"/>
          </a:p>
          <a:p>
            <a:r>
              <a:rPr lang="en-US" altLang="zh-CN" sz="1050" dirty="0"/>
              <a:t>1.</a:t>
            </a:r>
            <a:r>
              <a:rPr lang="zh-CN" altLang="en-US" sz="1050" dirty="0"/>
              <a:t>醉酒乘客</a:t>
            </a:r>
            <a:endParaRPr lang="en-US" altLang="zh-CN" sz="1050" dirty="0"/>
          </a:p>
          <a:p>
            <a:pPr>
              <a:spcBef>
                <a:spcPts val="600"/>
              </a:spcBef>
            </a:pPr>
            <a:r>
              <a:rPr lang="en-US" altLang="zh-CN" sz="1050" dirty="0"/>
              <a:t>2.</a:t>
            </a:r>
            <a:r>
              <a:rPr lang="zh-CN" altLang="en-US" sz="1050" dirty="0"/>
              <a:t>宠物乘客</a:t>
            </a:r>
            <a:endParaRPr lang="en-US" altLang="zh-CN" sz="1050" dirty="0"/>
          </a:p>
          <a:p>
            <a:pPr>
              <a:spcBef>
                <a:spcPts val="600"/>
              </a:spcBef>
            </a:pPr>
            <a:r>
              <a:rPr lang="en-US" altLang="zh-CN" sz="1050" dirty="0"/>
              <a:t>3.</a:t>
            </a:r>
            <a:r>
              <a:rPr lang="zh-CN" altLang="en-US" sz="1050" dirty="0"/>
              <a:t>老年行动不便乘客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9549AD8-8D39-BD2F-4151-BB056804CB7F}"/>
              </a:ext>
            </a:extLst>
          </p:cNvPr>
          <p:cNvSpPr txBox="1"/>
          <p:nvPr/>
        </p:nvSpPr>
        <p:spPr>
          <a:xfrm>
            <a:off x="7812309" y="3101049"/>
            <a:ext cx="134524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100" b="1" dirty="0"/>
              <a:t>抽烟的乘客吸烟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9F9D5F1-1B6B-2E20-C542-3F02C204580E}"/>
              </a:ext>
            </a:extLst>
          </p:cNvPr>
          <p:cNvSpPr txBox="1"/>
          <p:nvPr/>
        </p:nvSpPr>
        <p:spPr>
          <a:xfrm>
            <a:off x="3848869" y="3126472"/>
            <a:ext cx="134524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100" b="1" dirty="0"/>
              <a:t>对专车香薰敏感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3C335E0-5BA2-02A9-45C0-A561953969F6}"/>
              </a:ext>
            </a:extLst>
          </p:cNvPr>
          <p:cNvSpPr txBox="1"/>
          <p:nvPr/>
        </p:nvSpPr>
        <p:spPr>
          <a:xfrm>
            <a:off x="5587607" y="3126473"/>
            <a:ext cx="20505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100" b="1" dirty="0"/>
              <a:t>觉得空气质量不佳要求通风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C53728DC-4B16-C078-60A0-BD5F18A1F18B}"/>
              </a:ext>
            </a:extLst>
          </p:cNvPr>
          <p:cNvSpPr txBox="1"/>
          <p:nvPr/>
        </p:nvSpPr>
        <p:spPr>
          <a:xfrm>
            <a:off x="9511036" y="3075041"/>
            <a:ext cx="2494606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050" dirty="0"/>
              <a:t>支持语音对香薰的开闭及浓度的调整</a:t>
            </a:r>
            <a:endParaRPr lang="en-US" altLang="zh-CN" sz="1050" dirty="0"/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050" dirty="0"/>
              <a:t>对于儿童与敏感体质缺省关闭香薰</a:t>
            </a:r>
            <a:endParaRPr lang="en-US" altLang="zh-CN" sz="1050" dirty="0"/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050" dirty="0"/>
              <a:t>乘客可自由语音控制空气净化</a:t>
            </a:r>
            <a:endParaRPr lang="en-US" altLang="zh-CN" sz="1050" dirty="0"/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050" dirty="0"/>
              <a:t>主动识别吸烟或者有吸烟习惯的乘客，语音提醒不要车内禁止吸烟（优化话术）</a:t>
            </a:r>
            <a:endParaRPr lang="en-US" altLang="zh-CN" sz="1050" dirty="0"/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050" dirty="0"/>
              <a:t>接完上一单，智能加大空气净化与空调强力通风</a:t>
            </a:r>
            <a:endParaRPr lang="en-US" altLang="zh-CN" sz="1050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80E0FD81-A600-FF75-ED2A-1E5331347B36}"/>
              </a:ext>
            </a:extLst>
          </p:cNvPr>
          <p:cNvSpPr txBox="1"/>
          <p:nvPr/>
        </p:nvSpPr>
        <p:spPr>
          <a:xfrm>
            <a:off x="3893150" y="3402235"/>
            <a:ext cx="1643399" cy="526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000" dirty="0"/>
              <a:t>儿童</a:t>
            </a:r>
            <a:endParaRPr lang="en-US" altLang="zh-CN" sz="1000" dirty="0"/>
          </a:p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000" dirty="0"/>
              <a:t>特殊体质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C0EF5238-89A7-A14E-FAD4-E4BDAA21D4DA}"/>
              </a:ext>
            </a:extLst>
          </p:cNvPr>
          <p:cNvSpPr txBox="1"/>
          <p:nvPr/>
        </p:nvSpPr>
        <p:spPr>
          <a:xfrm>
            <a:off x="5603834" y="3398511"/>
            <a:ext cx="2119697" cy="757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000" dirty="0"/>
              <a:t>上一个乘客留下的气味</a:t>
            </a:r>
            <a:endParaRPr lang="en-US" altLang="zh-CN" sz="1000" dirty="0"/>
          </a:p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000" dirty="0"/>
              <a:t>车与司机本身的味道</a:t>
            </a:r>
            <a:r>
              <a:rPr lang="en-US" altLang="zh-CN" sz="1000" dirty="0"/>
              <a:t>(</a:t>
            </a:r>
            <a:r>
              <a:rPr lang="zh-CN" altLang="en-US" sz="1000" dirty="0"/>
              <a:t>司机睡车里等情形等）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D0369412-8D69-24BD-F02A-670BFA4D3C2B}"/>
              </a:ext>
            </a:extLst>
          </p:cNvPr>
          <p:cNvSpPr txBox="1"/>
          <p:nvPr/>
        </p:nvSpPr>
        <p:spPr>
          <a:xfrm>
            <a:off x="7657997" y="3429000"/>
            <a:ext cx="2027632" cy="526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000" dirty="0"/>
              <a:t>开窗抽烟</a:t>
            </a:r>
            <a:endParaRPr lang="en-US" altLang="zh-CN" sz="1000" dirty="0"/>
          </a:p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000" dirty="0"/>
              <a:t>停车抽烟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5EA95182-B2DE-B711-04BF-7F93A807A976}"/>
              </a:ext>
            </a:extLst>
          </p:cNvPr>
          <p:cNvSpPr txBox="1"/>
          <p:nvPr/>
        </p:nvSpPr>
        <p:spPr>
          <a:xfrm>
            <a:off x="1971485" y="5124451"/>
            <a:ext cx="168539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spcBef>
                <a:spcPts val="600"/>
              </a:spcBef>
              <a:buFont typeface="+mj-lt"/>
              <a:buAutoNum type="arabicPeriod"/>
            </a:pPr>
            <a:r>
              <a:rPr lang="zh-CN" altLang="en-US" sz="1050" dirty="0"/>
              <a:t>降噪为主，少量音乐</a:t>
            </a:r>
            <a:endParaRPr lang="en-US" altLang="zh-CN" sz="1050" dirty="0"/>
          </a:p>
          <a:p>
            <a:pPr marL="228600" indent="-228600">
              <a:spcBef>
                <a:spcPts val="600"/>
              </a:spcBef>
              <a:buFont typeface="+mj-lt"/>
              <a:buAutoNum type="arabicPeriod"/>
            </a:pPr>
            <a:r>
              <a:rPr lang="zh-CN" altLang="en-US" sz="1050" dirty="0"/>
              <a:t>司乘均有诉求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8244641C-E4EC-AECB-6A6F-ADE903A2EBEE}"/>
              </a:ext>
            </a:extLst>
          </p:cNvPr>
          <p:cNvSpPr txBox="1"/>
          <p:nvPr/>
        </p:nvSpPr>
        <p:spPr>
          <a:xfrm>
            <a:off x="3981783" y="4740998"/>
            <a:ext cx="12041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100" b="1" dirty="0"/>
              <a:t>乘客需要降噪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9BE8BF58-51D6-F621-CA91-B925AF4A27ED}"/>
              </a:ext>
            </a:extLst>
          </p:cNvPr>
          <p:cNvSpPr txBox="1"/>
          <p:nvPr/>
        </p:nvSpPr>
        <p:spPr>
          <a:xfrm>
            <a:off x="6885337" y="4746523"/>
            <a:ext cx="12041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100" b="1" dirty="0"/>
              <a:t>司机需要降噪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D328A7A9-C919-35A4-B785-522C3B77F958}"/>
              </a:ext>
            </a:extLst>
          </p:cNvPr>
          <p:cNvSpPr txBox="1"/>
          <p:nvPr/>
        </p:nvSpPr>
        <p:spPr>
          <a:xfrm>
            <a:off x="6869098" y="5196718"/>
            <a:ext cx="14863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100" dirty="0"/>
              <a:t>乘客要求播放音乐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D96E3B31-D2C6-6417-8E2B-C8C891FDD9F4}"/>
              </a:ext>
            </a:extLst>
          </p:cNvPr>
          <p:cNvSpPr txBox="1"/>
          <p:nvPr/>
        </p:nvSpPr>
        <p:spPr>
          <a:xfrm>
            <a:off x="3802799" y="4931060"/>
            <a:ext cx="3066299" cy="988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000" dirty="0"/>
              <a:t>存在司机播放音乐，打电话的情况</a:t>
            </a:r>
            <a:endParaRPr lang="en-US" altLang="zh-CN" sz="1000" dirty="0"/>
          </a:p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000" dirty="0"/>
              <a:t>导航声音过大</a:t>
            </a:r>
            <a:endParaRPr lang="en-US" altLang="zh-CN" sz="1000" dirty="0"/>
          </a:p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000" dirty="0"/>
              <a:t>乘客很疲劳需要非常安静</a:t>
            </a:r>
            <a:endParaRPr lang="en-US" altLang="zh-CN" sz="1000" dirty="0"/>
          </a:p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000" dirty="0"/>
              <a:t>睡眠时隔绝路燥，需要降噪耳机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FB23BDD9-C681-0A29-CDEA-6A120BE4D3CD}"/>
              </a:ext>
            </a:extLst>
          </p:cNvPr>
          <p:cNvSpPr txBox="1"/>
          <p:nvPr/>
        </p:nvSpPr>
        <p:spPr>
          <a:xfrm>
            <a:off x="9460420" y="4959895"/>
            <a:ext cx="230377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100" dirty="0"/>
              <a:t>可提供安静乘坐模式，音乐，导航声音全程关闭，全程不主动沟通，关闭主动服务</a:t>
            </a:r>
            <a:endParaRPr lang="en-US" altLang="zh-CN" sz="1100" dirty="0"/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100" dirty="0"/>
              <a:t>乘客可自由控制音量与音乐播放内容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2C9E09AA-ABC5-DB16-4C3F-8B8AA9F7998B}"/>
              </a:ext>
            </a:extLst>
          </p:cNvPr>
          <p:cNvSpPr txBox="1"/>
          <p:nvPr/>
        </p:nvSpPr>
        <p:spPr>
          <a:xfrm>
            <a:off x="6938096" y="4921689"/>
            <a:ext cx="1928368" cy="295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000" dirty="0"/>
              <a:t>乘车人太吵影响驾驶安全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D9C4337A-88A7-41D3-2240-1850B210592E}"/>
              </a:ext>
            </a:extLst>
          </p:cNvPr>
          <p:cNvSpPr txBox="1"/>
          <p:nvPr/>
        </p:nvSpPr>
        <p:spPr>
          <a:xfrm>
            <a:off x="6928356" y="5458328"/>
            <a:ext cx="1628458" cy="295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000" dirty="0"/>
              <a:t>个别乘客想听音乐</a:t>
            </a:r>
          </a:p>
        </p:txBody>
      </p: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801FC9D8-63A1-CAF6-B496-FA1B696E38A6}"/>
              </a:ext>
            </a:extLst>
          </p:cNvPr>
          <p:cNvCxnSpPr/>
          <p:nvPr/>
        </p:nvCxnSpPr>
        <p:spPr>
          <a:xfrm>
            <a:off x="669924" y="3067755"/>
            <a:ext cx="113321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326B72CD-2E87-45DE-0E40-4C1BA9B4024A}"/>
              </a:ext>
            </a:extLst>
          </p:cNvPr>
          <p:cNvCxnSpPr/>
          <p:nvPr/>
        </p:nvCxnSpPr>
        <p:spPr>
          <a:xfrm>
            <a:off x="776443" y="4746388"/>
            <a:ext cx="113321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>
            <a:extLst>
              <a:ext uri="{FF2B5EF4-FFF2-40B4-BE49-F238E27FC236}">
                <a16:creationId xmlns:a16="http://schemas.microsoft.com/office/drawing/2014/main" id="{3469BFEF-7A39-207C-BA58-1D2531EBACC9}"/>
              </a:ext>
            </a:extLst>
          </p:cNvPr>
          <p:cNvSpPr/>
          <p:nvPr/>
        </p:nvSpPr>
        <p:spPr>
          <a:xfrm>
            <a:off x="5026679" y="2747239"/>
            <a:ext cx="1823073" cy="2512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录音与原话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9225B874-3B2E-121C-5E62-9C89108A02C1}"/>
              </a:ext>
            </a:extLst>
          </p:cNvPr>
          <p:cNvSpPr/>
          <p:nvPr/>
        </p:nvSpPr>
        <p:spPr>
          <a:xfrm>
            <a:off x="5115023" y="4328281"/>
            <a:ext cx="1823073" cy="2512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录音与原话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138DF3E2-49A4-A2F3-FD38-8468609C17FD}"/>
              </a:ext>
            </a:extLst>
          </p:cNvPr>
          <p:cNvSpPr/>
          <p:nvPr/>
        </p:nvSpPr>
        <p:spPr>
          <a:xfrm>
            <a:off x="5146303" y="5856369"/>
            <a:ext cx="1823073" cy="2512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录音与原话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C26DF-DF2F-4E52-D88A-C4E81495E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9802A6-42DF-4647-B4CA-253E48ECFB4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69924" y="433637"/>
            <a:ext cx="10440000" cy="595063"/>
          </a:xfrm>
        </p:spPr>
        <p:txBody>
          <a:bodyPr/>
          <a:lstStyle/>
          <a:p>
            <a:r>
              <a:rPr lang="zh-CN" altLang="en-US" dirty="0"/>
              <a:t>行驶阶段</a:t>
            </a:r>
            <a:r>
              <a:rPr lang="en-US" altLang="zh-CN" dirty="0"/>
              <a:t>——</a:t>
            </a:r>
            <a:r>
              <a:rPr lang="zh-CN" altLang="en-US" dirty="0"/>
              <a:t>车内环境舒适调整旅程</a:t>
            </a:r>
          </a:p>
        </p:txBody>
      </p:sp>
      <p:sp>
        <p:nvSpPr>
          <p:cNvPr id="16" name="文本占位符 4">
            <a:extLst>
              <a:ext uri="{FF2B5EF4-FFF2-40B4-BE49-F238E27FC236}">
                <a16:creationId xmlns:a16="http://schemas.microsoft.com/office/drawing/2014/main" id="{96E36911-48E8-0A37-C996-19BA6A7B965E}"/>
              </a:ext>
            </a:extLst>
          </p:cNvPr>
          <p:cNvSpPr txBox="1"/>
          <p:nvPr/>
        </p:nvSpPr>
        <p:spPr>
          <a:xfrm>
            <a:off x="5183625" y="1395662"/>
            <a:ext cx="2290714" cy="3385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用户需求分析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C46E8B07-B527-4030-4425-065D9B464F82}"/>
              </a:ext>
            </a:extLst>
          </p:cNvPr>
          <p:cNvCxnSpPr/>
          <p:nvPr/>
        </p:nvCxnSpPr>
        <p:spPr>
          <a:xfrm>
            <a:off x="431787" y="1303200"/>
            <a:ext cx="11196000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69D8DF54-AAD9-8403-3335-475B4D9DD5BE}"/>
              </a:ext>
            </a:extLst>
          </p:cNvPr>
          <p:cNvCxnSpPr/>
          <p:nvPr/>
        </p:nvCxnSpPr>
        <p:spPr>
          <a:xfrm>
            <a:off x="431787" y="1810163"/>
            <a:ext cx="11196000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F33CE81E-F119-679B-4598-9D43B516C61B}"/>
              </a:ext>
            </a:extLst>
          </p:cNvPr>
          <p:cNvSpPr txBox="1"/>
          <p:nvPr/>
        </p:nvSpPr>
        <p:spPr>
          <a:xfrm>
            <a:off x="97877" y="2794788"/>
            <a:ext cx="36603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>
              <a:defRPr/>
            </a:pP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algn="ctr"/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车内环境舒适调整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CDA0404-FC53-6879-275B-24E4FF48C437}"/>
              </a:ext>
            </a:extLst>
          </p:cNvPr>
          <p:cNvSpPr txBox="1"/>
          <p:nvPr/>
        </p:nvSpPr>
        <p:spPr>
          <a:xfrm>
            <a:off x="575241" y="2623806"/>
            <a:ext cx="1525188" cy="340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11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温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度调整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空气质量问题</a:t>
            </a: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噪音管理场景</a:t>
            </a: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 fontAlgn="b">
              <a:spcBef>
                <a:spcPts val="600"/>
              </a:spcBef>
              <a:buFont typeface="Wingdings" panose="05000000000000000000" pitchFamily="2" charset="2"/>
              <a:buChar char="Ø"/>
              <a:defRPr/>
            </a:pPr>
            <a:endParaRPr lang="en-US" altLang="zh-CN" sz="1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占位符 4">
            <a:extLst>
              <a:ext uri="{FF2B5EF4-FFF2-40B4-BE49-F238E27FC236}">
                <a16:creationId xmlns:a16="http://schemas.microsoft.com/office/drawing/2014/main" id="{C53B0A95-D663-0B69-0FE0-89FDB6540245}"/>
              </a:ext>
            </a:extLst>
          </p:cNvPr>
          <p:cNvSpPr txBox="1"/>
          <p:nvPr/>
        </p:nvSpPr>
        <p:spPr>
          <a:xfrm>
            <a:off x="2143529" y="1384066"/>
            <a:ext cx="1697824" cy="3385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关键发现</a:t>
            </a:r>
          </a:p>
        </p:txBody>
      </p:sp>
      <p:sp>
        <p:nvSpPr>
          <p:cNvPr id="60" name="文本占位符 4">
            <a:extLst>
              <a:ext uri="{FF2B5EF4-FFF2-40B4-BE49-F238E27FC236}">
                <a16:creationId xmlns:a16="http://schemas.microsoft.com/office/drawing/2014/main" id="{4107CC05-6F37-05E9-9A50-91229AF29B07}"/>
              </a:ext>
            </a:extLst>
          </p:cNvPr>
          <p:cNvSpPr txBox="1"/>
          <p:nvPr/>
        </p:nvSpPr>
        <p:spPr>
          <a:xfrm>
            <a:off x="9262073" y="1398077"/>
            <a:ext cx="2709470" cy="3385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司机</a:t>
            </a:r>
            <a:r>
              <a: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功能建议</a:t>
            </a: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F90A64B4-1CA6-2044-DCB6-C7032CB4F812}"/>
              </a:ext>
            </a:extLst>
          </p:cNvPr>
          <p:cNvCxnSpPr/>
          <p:nvPr/>
        </p:nvCxnSpPr>
        <p:spPr>
          <a:xfrm>
            <a:off x="3733800" y="1834362"/>
            <a:ext cx="0" cy="43200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9A61B4D1-10D4-A4BB-FB3C-BF6FBC58A959}"/>
              </a:ext>
            </a:extLst>
          </p:cNvPr>
          <p:cNvCxnSpPr/>
          <p:nvPr/>
        </p:nvCxnSpPr>
        <p:spPr>
          <a:xfrm>
            <a:off x="9425901" y="1834362"/>
            <a:ext cx="0" cy="43200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占位符 4">
            <a:extLst>
              <a:ext uri="{FF2B5EF4-FFF2-40B4-BE49-F238E27FC236}">
                <a16:creationId xmlns:a16="http://schemas.microsoft.com/office/drawing/2014/main" id="{B48275C1-A006-A2C9-0A88-53DCDA3BD3E5}"/>
              </a:ext>
            </a:extLst>
          </p:cNvPr>
          <p:cNvSpPr txBox="1"/>
          <p:nvPr/>
        </p:nvSpPr>
        <p:spPr>
          <a:xfrm>
            <a:off x="483782" y="1390273"/>
            <a:ext cx="1697824" cy="3385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高频场景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07EC8152-8CD9-CF0B-5C62-BFA75AC9D295}"/>
              </a:ext>
            </a:extLst>
          </p:cNvPr>
          <p:cNvCxnSpPr/>
          <p:nvPr/>
        </p:nvCxnSpPr>
        <p:spPr>
          <a:xfrm>
            <a:off x="1933280" y="1810163"/>
            <a:ext cx="0" cy="43200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25">
            <a:extLst>
              <a:ext uri="{FF2B5EF4-FFF2-40B4-BE49-F238E27FC236}">
                <a16:creationId xmlns:a16="http://schemas.microsoft.com/office/drawing/2014/main" id="{3B484E3B-6B7D-8376-0D0A-0C44CD75EEF3}"/>
              </a:ext>
            </a:extLst>
          </p:cNvPr>
          <p:cNvCxnSpPr/>
          <p:nvPr/>
        </p:nvCxnSpPr>
        <p:spPr>
          <a:xfrm>
            <a:off x="431787" y="6170268"/>
            <a:ext cx="11196000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66D5A9C4-B0B9-4E66-DACF-B53828381523}"/>
              </a:ext>
            </a:extLst>
          </p:cNvPr>
          <p:cNvSpPr txBox="1"/>
          <p:nvPr/>
        </p:nvSpPr>
        <p:spPr>
          <a:xfrm>
            <a:off x="3882832" y="2116297"/>
            <a:ext cx="1643399" cy="526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000" dirty="0"/>
              <a:t>老年乘客要求高温</a:t>
            </a:r>
            <a:endParaRPr lang="en-US" altLang="zh-CN" sz="1000" dirty="0"/>
          </a:p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000" dirty="0"/>
              <a:t>年轻人偏好低温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23FBEDD-C33C-D662-D8CB-CEB11417EA48}"/>
              </a:ext>
            </a:extLst>
          </p:cNvPr>
          <p:cNvSpPr txBox="1"/>
          <p:nvPr/>
        </p:nvSpPr>
        <p:spPr>
          <a:xfrm>
            <a:off x="3963567" y="1868245"/>
            <a:ext cx="106311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100" b="1" dirty="0"/>
              <a:t>特征化差异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66BE822-27D5-2ED0-9740-61957663EA20}"/>
              </a:ext>
            </a:extLst>
          </p:cNvPr>
          <p:cNvSpPr txBox="1"/>
          <p:nvPr/>
        </p:nvSpPr>
        <p:spPr>
          <a:xfrm>
            <a:off x="2052197" y="2005325"/>
            <a:ext cx="1643399" cy="9694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 dirty="0"/>
              <a:t>温度调整存在矛盾</a:t>
            </a:r>
            <a:endParaRPr lang="en-US" altLang="zh-CN" sz="1050" dirty="0"/>
          </a:p>
          <a:p>
            <a:pPr>
              <a:spcBef>
                <a:spcPts val="600"/>
              </a:spcBef>
            </a:pPr>
            <a:r>
              <a:rPr lang="en-US" altLang="zh-CN" sz="1050" dirty="0"/>
              <a:t>1.</a:t>
            </a:r>
            <a:r>
              <a:rPr lang="zh-CN" altLang="en-US" sz="1050" dirty="0"/>
              <a:t>乘客与司机诉求不一致</a:t>
            </a:r>
            <a:endParaRPr lang="en-US" altLang="zh-CN" sz="1050" dirty="0"/>
          </a:p>
          <a:p>
            <a:pPr>
              <a:spcBef>
                <a:spcPts val="600"/>
              </a:spcBef>
            </a:pPr>
            <a:r>
              <a:rPr lang="en-US" altLang="zh-CN" sz="1050" dirty="0"/>
              <a:t>2.</a:t>
            </a:r>
            <a:r>
              <a:rPr lang="zh-CN" altLang="en-US" sz="1050" dirty="0"/>
              <a:t>不同乘客的需求不同</a:t>
            </a:r>
            <a:endParaRPr lang="en-US" altLang="zh-CN" sz="1050" dirty="0"/>
          </a:p>
          <a:p>
            <a:pPr>
              <a:spcBef>
                <a:spcPts val="600"/>
              </a:spcBef>
            </a:pPr>
            <a:r>
              <a:rPr lang="en-US" altLang="zh-CN" sz="1050" dirty="0"/>
              <a:t>3.</a:t>
            </a:r>
            <a:r>
              <a:rPr lang="zh-CN" altLang="en-US" sz="1050" dirty="0"/>
              <a:t>需求更多控制权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1467ABE-FEF1-365D-1372-E03EFD44BAA3}"/>
              </a:ext>
            </a:extLst>
          </p:cNvPr>
          <p:cNvSpPr txBox="1"/>
          <p:nvPr/>
        </p:nvSpPr>
        <p:spPr>
          <a:xfrm>
            <a:off x="5925664" y="1868245"/>
            <a:ext cx="12041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100" b="1" dirty="0"/>
              <a:t>司乘需求差异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D584769-00C0-8116-7F8A-7C802C2EE5F1}"/>
              </a:ext>
            </a:extLst>
          </p:cNvPr>
          <p:cNvSpPr txBox="1"/>
          <p:nvPr/>
        </p:nvSpPr>
        <p:spPr>
          <a:xfrm>
            <a:off x="5695898" y="2116297"/>
            <a:ext cx="1987869" cy="756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000" dirty="0"/>
              <a:t>快车司机想省钱</a:t>
            </a:r>
            <a:endParaRPr lang="en-US" altLang="zh-CN" sz="1000" dirty="0"/>
          </a:p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000" dirty="0"/>
              <a:t>乘客想获得最佳温度</a:t>
            </a:r>
            <a:endParaRPr lang="en-US" altLang="zh-CN" sz="1000" dirty="0"/>
          </a:p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endParaRPr lang="zh-CN" altLang="en-US" sz="10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47386E2-FD9A-1E2B-2B70-5301FA665291}"/>
              </a:ext>
            </a:extLst>
          </p:cNvPr>
          <p:cNvSpPr txBox="1"/>
          <p:nvPr/>
        </p:nvSpPr>
        <p:spPr>
          <a:xfrm>
            <a:off x="7787628" y="1868245"/>
            <a:ext cx="12041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100" b="1" dirty="0"/>
              <a:t>司乘频次差异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35C9E68-6103-672B-7756-0147BE9278E6}"/>
              </a:ext>
            </a:extLst>
          </p:cNvPr>
          <p:cNvSpPr txBox="1"/>
          <p:nvPr/>
        </p:nvSpPr>
        <p:spPr>
          <a:xfrm>
            <a:off x="7587449" y="2116297"/>
            <a:ext cx="1938731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+mj-lt"/>
              <a:buAutoNum type="arabicPeriod"/>
            </a:pPr>
            <a:r>
              <a:rPr lang="zh-CN" altLang="en-US" sz="1000" dirty="0"/>
              <a:t>司机觉得麻烦</a:t>
            </a:r>
            <a:endParaRPr lang="en-US" altLang="zh-CN" sz="1000" dirty="0"/>
          </a:p>
          <a:p>
            <a:pPr marL="285750" indent="-285750">
              <a:spcBef>
                <a:spcPts val="600"/>
              </a:spcBef>
              <a:buFont typeface="+mj-lt"/>
              <a:buAutoNum type="arabicPeriod"/>
            </a:pPr>
            <a:r>
              <a:rPr lang="zh-CN" altLang="en-US" sz="1000" dirty="0"/>
              <a:t>司机调整不合适，乘客频繁调整温度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55CBBB2-3428-ABC1-8B89-3EF3A6E5F913}"/>
              </a:ext>
            </a:extLst>
          </p:cNvPr>
          <p:cNvSpPr txBox="1"/>
          <p:nvPr/>
        </p:nvSpPr>
        <p:spPr>
          <a:xfrm>
            <a:off x="9511036" y="1944369"/>
            <a:ext cx="2469370" cy="1054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050" dirty="0"/>
              <a:t>根据乘车人特征的上车后缺省空调温度智能设置</a:t>
            </a:r>
            <a:endParaRPr lang="en-US" altLang="zh-CN" sz="1050" dirty="0"/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050" dirty="0"/>
              <a:t>根据外部气候环境智能设置缺省温度</a:t>
            </a:r>
            <a:endParaRPr lang="en-US" altLang="zh-CN" sz="1050" dirty="0"/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050" dirty="0"/>
              <a:t>乘客可自由语音控制空调</a:t>
            </a:r>
            <a:endParaRPr lang="en-US" altLang="zh-CN" sz="105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CFAD5C4-6C87-F7CE-B612-57742269A4DD}"/>
              </a:ext>
            </a:extLst>
          </p:cNvPr>
          <p:cNvSpPr txBox="1"/>
          <p:nvPr/>
        </p:nvSpPr>
        <p:spPr>
          <a:xfrm>
            <a:off x="2028459" y="3475774"/>
            <a:ext cx="164214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dirty="0"/>
              <a:t>乘客对空气质量有非常在意</a:t>
            </a:r>
            <a:endParaRPr lang="en-US" altLang="zh-CN" sz="1050" dirty="0"/>
          </a:p>
          <a:p>
            <a:pPr>
              <a:spcBef>
                <a:spcPts val="600"/>
              </a:spcBef>
            </a:pPr>
            <a:r>
              <a:rPr lang="en-US" altLang="zh-CN" sz="1050" dirty="0"/>
              <a:t>1.</a:t>
            </a:r>
            <a:r>
              <a:rPr lang="zh-CN" altLang="en-US" sz="1050" dirty="0"/>
              <a:t>寻求更多控制权</a:t>
            </a:r>
            <a:endParaRPr lang="en-US" altLang="zh-CN" sz="1050" dirty="0"/>
          </a:p>
          <a:p>
            <a:pPr>
              <a:spcBef>
                <a:spcPts val="600"/>
              </a:spcBef>
            </a:pPr>
            <a:r>
              <a:rPr lang="en-US" altLang="zh-CN" sz="1050" dirty="0"/>
              <a:t>2.</a:t>
            </a:r>
            <a:r>
              <a:rPr lang="zh-CN" altLang="en-US" sz="1050" dirty="0"/>
              <a:t>普遍抱怨空气质量不好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1FC65D18-E481-4410-2AA1-57931ED88D9B}"/>
              </a:ext>
            </a:extLst>
          </p:cNvPr>
          <p:cNvSpPr txBox="1"/>
          <p:nvPr/>
        </p:nvSpPr>
        <p:spPr>
          <a:xfrm>
            <a:off x="7812309" y="3101049"/>
            <a:ext cx="134524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100" b="1" dirty="0"/>
              <a:t>抽烟的乘客吸烟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FCDCAE58-73F0-3C0B-A68B-A8E12222BD61}"/>
              </a:ext>
            </a:extLst>
          </p:cNvPr>
          <p:cNvSpPr txBox="1"/>
          <p:nvPr/>
        </p:nvSpPr>
        <p:spPr>
          <a:xfrm>
            <a:off x="3848869" y="3126472"/>
            <a:ext cx="134524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100" b="1" dirty="0"/>
              <a:t>对专车香薰敏感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F5F696A9-2B25-0F7E-9B89-DA53A8C365E9}"/>
              </a:ext>
            </a:extLst>
          </p:cNvPr>
          <p:cNvSpPr txBox="1"/>
          <p:nvPr/>
        </p:nvSpPr>
        <p:spPr>
          <a:xfrm>
            <a:off x="5587607" y="3126473"/>
            <a:ext cx="20505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100" b="1" dirty="0"/>
              <a:t>觉得空气质量不佳要求通风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2090A5EE-5E35-96D3-E790-828E80D85264}"/>
              </a:ext>
            </a:extLst>
          </p:cNvPr>
          <p:cNvSpPr txBox="1"/>
          <p:nvPr/>
        </p:nvSpPr>
        <p:spPr>
          <a:xfrm>
            <a:off x="9511036" y="3075041"/>
            <a:ext cx="2494606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050" dirty="0"/>
              <a:t>支持语音对香薰的开闭及浓度的调整</a:t>
            </a:r>
            <a:endParaRPr lang="en-US" altLang="zh-CN" sz="1050" dirty="0"/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050" dirty="0"/>
              <a:t>对于儿童与敏感体质缺省关闭香薰</a:t>
            </a:r>
            <a:endParaRPr lang="en-US" altLang="zh-CN" sz="1050" dirty="0"/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050" dirty="0"/>
              <a:t>乘客可自由语音控制空气净化</a:t>
            </a:r>
            <a:endParaRPr lang="en-US" altLang="zh-CN" sz="1050" dirty="0"/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050" dirty="0"/>
              <a:t>主动识别吸烟或者有吸烟习惯的乘客，语音提醒不要车内禁止吸烟（优化话术）</a:t>
            </a:r>
            <a:endParaRPr lang="en-US" altLang="zh-CN" sz="1050" dirty="0"/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050" dirty="0"/>
              <a:t>接完上一单，智能加大空气净化与空调强力通风</a:t>
            </a:r>
            <a:endParaRPr lang="en-US" altLang="zh-CN" sz="1050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5F593711-2EE2-C22D-E906-EBE057C0CB7E}"/>
              </a:ext>
            </a:extLst>
          </p:cNvPr>
          <p:cNvSpPr txBox="1"/>
          <p:nvPr/>
        </p:nvSpPr>
        <p:spPr>
          <a:xfrm>
            <a:off x="3893150" y="3402235"/>
            <a:ext cx="1643399" cy="526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000" dirty="0"/>
              <a:t>儿童</a:t>
            </a:r>
            <a:endParaRPr lang="en-US" altLang="zh-CN" sz="1000" dirty="0"/>
          </a:p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000" dirty="0"/>
              <a:t>特殊体质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48D528CD-2981-9219-6A99-418BA24F7C49}"/>
              </a:ext>
            </a:extLst>
          </p:cNvPr>
          <p:cNvSpPr txBox="1"/>
          <p:nvPr/>
        </p:nvSpPr>
        <p:spPr>
          <a:xfrm>
            <a:off x="5603834" y="3398511"/>
            <a:ext cx="2119697" cy="757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000" dirty="0"/>
              <a:t>上一个乘客留下的气味</a:t>
            </a:r>
            <a:endParaRPr lang="en-US" altLang="zh-CN" sz="1000" dirty="0"/>
          </a:p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000" dirty="0"/>
              <a:t>车与司机本身的味道</a:t>
            </a:r>
            <a:r>
              <a:rPr lang="en-US" altLang="zh-CN" sz="1000" dirty="0"/>
              <a:t>(</a:t>
            </a:r>
            <a:r>
              <a:rPr lang="zh-CN" altLang="en-US" sz="1000" dirty="0"/>
              <a:t>司机睡车里等情形等）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1EE2AC43-1E99-94FF-9055-AF774A866FCE}"/>
              </a:ext>
            </a:extLst>
          </p:cNvPr>
          <p:cNvSpPr txBox="1"/>
          <p:nvPr/>
        </p:nvSpPr>
        <p:spPr>
          <a:xfrm>
            <a:off x="7852648" y="3436819"/>
            <a:ext cx="2027632" cy="526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000" dirty="0"/>
              <a:t>开窗抽烟</a:t>
            </a:r>
            <a:endParaRPr lang="en-US" altLang="zh-CN" sz="1000" dirty="0"/>
          </a:p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000" dirty="0"/>
              <a:t>停车抽烟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D99F48A6-2A06-7295-89B4-727CC2F1C02E}"/>
              </a:ext>
            </a:extLst>
          </p:cNvPr>
          <p:cNvSpPr txBox="1"/>
          <p:nvPr/>
        </p:nvSpPr>
        <p:spPr>
          <a:xfrm>
            <a:off x="1971485" y="5124451"/>
            <a:ext cx="168539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spcBef>
                <a:spcPts val="600"/>
              </a:spcBef>
              <a:buFont typeface="+mj-lt"/>
              <a:buAutoNum type="arabicPeriod"/>
            </a:pPr>
            <a:r>
              <a:rPr lang="zh-CN" altLang="en-US" sz="1050" dirty="0"/>
              <a:t>降噪为主，少量音乐</a:t>
            </a:r>
            <a:endParaRPr lang="en-US" altLang="zh-CN" sz="1050" dirty="0"/>
          </a:p>
          <a:p>
            <a:pPr marL="228600" indent="-228600">
              <a:spcBef>
                <a:spcPts val="600"/>
              </a:spcBef>
              <a:buFont typeface="+mj-lt"/>
              <a:buAutoNum type="arabicPeriod"/>
            </a:pPr>
            <a:r>
              <a:rPr lang="zh-CN" altLang="en-US" sz="1050" dirty="0"/>
              <a:t>司乘均有诉求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B5FFBF82-5BAD-6852-DE2A-6331C0A033FD}"/>
              </a:ext>
            </a:extLst>
          </p:cNvPr>
          <p:cNvSpPr txBox="1"/>
          <p:nvPr/>
        </p:nvSpPr>
        <p:spPr>
          <a:xfrm>
            <a:off x="3981783" y="4740998"/>
            <a:ext cx="12041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100" b="1" dirty="0"/>
              <a:t>乘客需要降噪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DDEE5F39-4503-1DDC-86AF-C6DDB4D44E37}"/>
              </a:ext>
            </a:extLst>
          </p:cNvPr>
          <p:cNvSpPr txBox="1"/>
          <p:nvPr/>
        </p:nvSpPr>
        <p:spPr>
          <a:xfrm>
            <a:off x="6885337" y="4746523"/>
            <a:ext cx="12041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100" b="1" dirty="0"/>
              <a:t>司机需要降噪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AFD5F6AE-968B-A5BC-CF20-FCBC1ADABCC7}"/>
              </a:ext>
            </a:extLst>
          </p:cNvPr>
          <p:cNvSpPr txBox="1"/>
          <p:nvPr/>
        </p:nvSpPr>
        <p:spPr>
          <a:xfrm>
            <a:off x="6869098" y="5196718"/>
            <a:ext cx="14863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100" b="1" dirty="0"/>
              <a:t>乘客要求播放音乐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99B891B-225F-D1C5-3052-9BAC96FE0C7D}"/>
              </a:ext>
            </a:extLst>
          </p:cNvPr>
          <p:cNvSpPr txBox="1"/>
          <p:nvPr/>
        </p:nvSpPr>
        <p:spPr>
          <a:xfrm>
            <a:off x="3802799" y="4931060"/>
            <a:ext cx="3066299" cy="988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000" dirty="0"/>
              <a:t>存在司机播放音乐，打电话的情况</a:t>
            </a:r>
            <a:endParaRPr lang="en-US" altLang="zh-CN" sz="1000" dirty="0"/>
          </a:p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000" dirty="0"/>
              <a:t>导航声音过大</a:t>
            </a:r>
            <a:endParaRPr lang="en-US" altLang="zh-CN" sz="1000" dirty="0"/>
          </a:p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000" dirty="0"/>
              <a:t>乘客很疲劳需要非常安静</a:t>
            </a:r>
            <a:endParaRPr lang="en-US" altLang="zh-CN" sz="1000" dirty="0"/>
          </a:p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000" dirty="0"/>
              <a:t>睡眠时隔绝路燥，需要降噪耳机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EDAE29F4-C968-89CD-28DB-74E59639E4CC}"/>
              </a:ext>
            </a:extLst>
          </p:cNvPr>
          <p:cNvSpPr txBox="1"/>
          <p:nvPr/>
        </p:nvSpPr>
        <p:spPr>
          <a:xfrm>
            <a:off x="9494429" y="4876570"/>
            <a:ext cx="2303773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050" dirty="0"/>
              <a:t>可提供安静乘坐模式，音乐，导航声音全程关闭，除安全类信息全程不主动沟通，关闭主动服务</a:t>
            </a:r>
            <a:endParaRPr lang="en-US" altLang="zh-CN" sz="1050" dirty="0"/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050" dirty="0"/>
              <a:t>乘客可自由控制音量与音乐播放内容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4743000A-CF89-8277-DEF2-79E17A197C06}"/>
              </a:ext>
            </a:extLst>
          </p:cNvPr>
          <p:cNvSpPr txBox="1"/>
          <p:nvPr/>
        </p:nvSpPr>
        <p:spPr>
          <a:xfrm>
            <a:off x="6938096" y="4921689"/>
            <a:ext cx="1928368" cy="295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000" dirty="0"/>
              <a:t>乘车人太吵影响驾驶安全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899746AA-E964-6636-88A5-2E3C91BC811F}"/>
              </a:ext>
            </a:extLst>
          </p:cNvPr>
          <p:cNvSpPr txBox="1"/>
          <p:nvPr/>
        </p:nvSpPr>
        <p:spPr>
          <a:xfrm>
            <a:off x="6928356" y="5458328"/>
            <a:ext cx="1628458" cy="295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000" dirty="0"/>
              <a:t>个别乘客想听音乐</a:t>
            </a:r>
          </a:p>
        </p:txBody>
      </p: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6D19CCBC-8BE6-C698-818B-028DA8304743}"/>
              </a:ext>
            </a:extLst>
          </p:cNvPr>
          <p:cNvCxnSpPr/>
          <p:nvPr/>
        </p:nvCxnSpPr>
        <p:spPr>
          <a:xfrm>
            <a:off x="669924" y="3067755"/>
            <a:ext cx="1133212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D0A40884-3F6A-263E-01F9-0E7CFF936599}"/>
              </a:ext>
            </a:extLst>
          </p:cNvPr>
          <p:cNvCxnSpPr/>
          <p:nvPr/>
        </p:nvCxnSpPr>
        <p:spPr>
          <a:xfrm>
            <a:off x="776443" y="4746388"/>
            <a:ext cx="1133212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>
            <a:extLst>
              <a:ext uri="{FF2B5EF4-FFF2-40B4-BE49-F238E27FC236}">
                <a16:creationId xmlns:a16="http://schemas.microsoft.com/office/drawing/2014/main" id="{89C876D6-233B-5553-61D4-E74A272130EA}"/>
              </a:ext>
            </a:extLst>
          </p:cNvPr>
          <p:cNvSpPr/>
          <p:nvPr/>
        </p:nvSpPr>
        <p:spPr>
          <a:xfrm>
            <a:off x="5026679" y="2747239"/>
            <a:ext cx="1823073" cy="2512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录音与原话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8537A1E7-CB1F-8EE9-B3F9-302B13755273}"/>
              </a:ext>
            </a:extLst>
          </p:cNvPr>
          <p:cNvSpPr/>
          <p:nvPr/>
        </p:nvSpPr>
        <p:spPr>
          <a:xfrm>
            <a:off x="5115023" y="4328281"/>
            <a:ext cx="1823073" cy="2512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录音与原话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DFE9869A-58A1-380D-A74E-A6D6596084D8}"/>
              </a:ext>
            </a:extLst>
          </p:cNvPr>
          <p:cNvSpPr/>
          <p:nvPr/>
        </p:nvSpPr>
        <p:spPr>
          <a:xfrm>
            <a:off x="5146303" y="5856369"/>
            <a:ext cx="1823073" cy="2512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录音与原话</a:t>
            </a:r>
          </a:p>
        </p:txBody>
      </p:sp>
    </p:spTree>
    <p:extLst>
      <p:ext uri="{BB962C8B-B14F-4D97-AF65-F5344CB8AC3E}">
        <p14:creationId xmlns:p14="http://schemas.microsoft.com/office/powerpoint/2010/main" val="2904033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E8280-85A2-AA18-4B33-A591E2647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65C0B1-5A51-A833-72F7-D66BF4984A6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69924" y="433637"/>
            <a:ext cx="10440000" cy="595063"/>
          </a:xfrm>
        </p:spPr>
        <p:txBody>
          <a:bodyPr/>
          <a:lstStyle/>
          <a:p>
            <a:r>
              <a:rPr lang="zh-CN" altLang="en-US" dirty="0"/>
              <a:t>行驶阶段</a:t>
            </a:r>
            <a:r>
              <a:rPr lang="en-US" altLang="zh-CN" dirty="0"/>
              <a:t>——</a:t>
            </a:r>
            <a:r>
              <a:rPr lang="zh-CN" altLang="en-US" dirty="0"/>
              <a:t>临时停车需求</a:t>
            </a:r>
          </a:p>
        </p:txBody>
      </p:sp>
      <p:sp>
        <p:nvSpPr>
          <p:cNvPr id="16" name="文本占位符 4">
            <a:extLst>
              <a:ext uri="{FF2B5EF4-FFF2-40B4-BE49-F238E27FC236}">
                <a16:creationId xmlns:a16="http://schemas.microsoft.com/office/drawing/2014/main" id="{1794FF22-E543-083B-41CC-A9B4271D1108}"/>
              </a:ext>
            </a:extLst>
          </p:cNvPr>
          <p:cNvSpPr txBox="1"/>
          <p:nvPr/>
        </p:nvSpPr>
        <p:spPr>
          <a:xfrm>
            <a:off x="5183625" y="1395662"/>
            <a:ext cx="2290714" cy="3385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用户需求分析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9A8095F6-C19F-53E3-8A2A-758F64F2AB54}"/>
              </a:ext>
            </a:extLst>
          </p:cNvPr>
          <p:cNvCxnSpPr/>
          <p:nvPr/>
        </p:nvCxnSpPr>
        <p:spPr>
          <a:xfrm>
            <a:off x="431787" y="1303200"/>
            <a:ext cx="11196000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205E3D5-28BE-6790-18E9-AFBE7D3A6F64}"/>
              </a:ext>
            </a:extLst>
          </p:cNvPr>
          <p:cNvCxnSpPr/>
          <p:nvPr/>
        </p:nvCxnSpPr>
        <p:spPr>
          <a:xfrm>
            <a:off x="431787" y="1810163"/>
            <a:ext cx="11196000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BE8FCAF9-4A21-09DD-C181-B38F2177B160}"/>
              </a:ext>
            </a:extLst>
          </p:cNvPr>
          <p:cNvSpPr txBox="1"/>
          <p:nvPr/>
        </p:nvSpPr>
        <p:spPr>
          <a:xfrm>
            <a:off x="97877" y="2794788"/>
            <a:ext cx="36603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>
              <a:defRPr/>
            </a:pP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algn="ctr"/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临时停车需求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F0941CC-33B0-7EFF-246D-C2DC654AEB64}"/>
              </a:ext>
            </a:extLst>
          </p:cNvPr>
          <p:cNvSpPr txBox="1"/>
          <p:nvPr/>
        </p:nvSpPr>
        <p:spPr>
          <a:xfrm>
            <a:off x="424655" y="2348986"/>
            <a:ext cx="1525188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服务相关停靠，如身体不适</a:t>
            </a: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购买停靠</a:t>
            </a: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占位符 4">
            <a:extLst>
              <a:ext uri="{FF2B5EF4-FFF2-40B4-BE49-F238E27FC236}">
                <a16:creationId xmlns:a16="http://schemas.microsoft.com/office/drawing/2014/main" id="{E9D94FE5-0860-8750-7778-3CB98189129C}"/>
              </a:ext>
            </a:extLst>
          </p:cNvPr>
          <p:cNvSpPr txBox="1"/>
          <p:nvPr/>
        </p:nvSpPr>
        <p:spPr>
          <a:xfrm>
            <a:off x="2143529" y="1384066"/>
            <a:ext cx="1697824" cy="3385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关键发现</a:t>
            </a:r>
          </a:p>
        </p:txBody>
      </p:sp>
      <p:sp>
        <p:nvSpPr>
          <p:cNvPr id="60" name="文本占位符 4">
            <a:extLst>
              <a:ext uri="{FF2B5EF4-FFF2-40B4-BE49-F238E27FC236}">
                <a16:creationId xmlns:a16="http://schemas.microsoft.com/office/drawing/2014/main" id="{1F581F79-AD84-AA95-EA25-D1356C09C5E7}"/>
              </a:ext>
            </a:extLst>
          </p:cNvPr>
          <p:cNvSpPr txBox="1"/>
          <p:nvPr/>
        </p:nvSpPr>
        <p:spPr>
          <a:xfrm>
            <a:off x="9262073" y="1398077"/>
            <a:ext cx="2709470" cy="3385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司机</a:t>
            </a:r>
            <a:r>
              <a: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功能建议</a:t>
            </a: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B1C94534-F0FB-853E-42D3-D18F003D69C2}"/>
              </a:ext>
            </a:extLst>
          </p:cNvPr>
          <p:cNvCxnSpPr/>
          <p:nvPr/>
        </p:nvCxnSpPr>
        <p:spPr>
          <a:xfrm>
            <a:off x="3733800" y="1834362"/>
            <a:ext cx="0" cy="43200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99440944-195A-5926-C103-BD0774585473}"/>
              </a:ext>
            </a:extLst>
          </p:cNvPr>
          <p:cNvCxnSpPr/>
          <p:nvPr/>
        </p:nvCxnSpPr>
        <p:spPr>
          <a:xfrm>
            <a:off x="9425901" y="1834362"/>
            <a:ext cx="0" cy="43200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占位符 4">
            <a:extLst>
              <a:ext uri="{FF2B5EF4-FFF2-40B4-BE49-F238E27FC236}">
                <a16:creationId xmlns:a16="http://schemas.microsoft.com/office/drawing/2014/main" id="{4F18677B-F48E-9BB7-0A86-FB4A9E8569A5}"/>
              </a:ext>
            </a:extLst>
          </p:cNvPr>
          <p:cNvSpPr txBox="1"/>
          <p:nvPr/>
        </p:nvSpPr>
        <p:spPr>
          <a:xfrm>
            <a:off x="483782" y="1390273"/>
            <a:ext cx="1697824" cy="3385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高频场景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99B5CAE2-8E32-CECC-A2F7-58BFEC801867}"/>
              </a:ext>
            </a:extLst>
          </p:cNvPr>
          <p:cNvCxnSpPr/>
          <p:nvPr/>
        </p:nvCxnSpPr>
        <p:spPr>
          <a:xfrm>
            <a:off x="1933280" y="1810163"/>
            <a:ext cx="0" cy="43200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25">
            <a:extLst>
              <a:ext uri="{FF2B5EF4-FFF2-40B4-BE49-F238E27FC236}">
                <a16:creationId xmlns:a16="http://schemas.microsoft.com/office/drawing/2014/main" id="{B6144F2F-B2D5-B49C-D4A6-D2431194F124}"/>
              </a:ext>
            </a:extLst>
          </p:cNvPr>
          <p:cNvCxnSpPr/>
          <p:nvPr/>
        </p:nvCxnSpPr>
        <p:spPr>
          <a:xfrm>
            <a:off x="431787" y="6170268"/>
            <a:ext cx="11196000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4059D907-9116-D5A0-56AB-688F2E1E6A63}"/>
              </a:ext>
            </a:extLst>
          </p:cNvPr>
          <p:cNvSpPr txBox="1"/>
          <p:nvPr/>
        </p:nvSpPr>
        <p:spPr>
          <a:xfrm>
            <a:off x="5756749" y="1913552"/>
            <a:ext cx="9220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100" b="1" dirty="0"/>
              <a:t>临时接人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0A1F245-68A5-BF66-B545-1D121E317533}"/>
              </a:ext>
            </a:extLst>
          </p:cNvPr>
          <p:cNvSpPr txBox="1"/>
          <p:nvPr/>
        </p:nvSpPr>
        <p:spPr>
          <a:xfrm>
            <a:off x="3989933" y="1944369"/>
            <a:ext cx="9733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身体不适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DBB6F63-777A-C651-7AB9-60E60E61F469}"/>
              </a:ext>
            </a:extLst>
          </p:cNvPr>
          <p:cNvSpPr txBox="1"/>
          <p:nvPr/>
        </p:nvSpPr>
        <p:spPr>
          <a:xfrm>
            <a:off x="9511036" y="1944369"/>
            <a:ext cx="246937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050" dirty="0"/>
              <a:t>根据乘客状态，如醉酒晕车，不适，可按需路边停车</a:t>
            </a:r>
            <a:endParaRPr lang="en-US" altLang="zh-CN" sz="1050" dirty="0"/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050" dirty="0"/>
              <a:t>停车地点选择安全点</a:t>
            </a:r>
            <a:endParaRPr lang="en-US" altLang="zh-CN" sz="1050" dirty="0"/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050" dirty="0"/>
              <a:t>乘客身体需要急救，系统立即拨打</a:t>
            </a:r>
            <a:r>
              <a:rPr lang="en-US" altLang="zh-CN" sz="1050" dirty="0"/>
              <a:t>120</a:t>
            </a:r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endParaRPr lang="en-US" altLang="zh-CN" sz="1050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D5837F2B-1604-4F7D-C72F-894315213847}"/>
              </a:ext>
            </a:extLst>
          </p:cNvPr>
          <p:cNvSpPr txBox="1"/>
          <p:nvPr/>
        </p:nvSpPr>
        <p:spPr>
          <a:xfrm>
            <a:off x="1923402" y="4509014"/>
            <a:ext cx="1685392" cy="1531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050" dirty="0"/>
              <a:t>路边便利店买烟，买口罩</a:t>
            </a:r>
            <a:endParaRPr lang="en-US" altLang="zh-CN" sz="1050" dirty="0"/>
          </a:p>
          <a:p>
            <a:pPr marL="228600" indent="-2286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050" dirty="0"/>
              <a:t>购买特产</a:t>
            </a:r>
            <a:endParaRPr lang="en-US" altLang="zh-CN" sz="1050" dirty="0"/>
          </a:p>
          <a:p>
            <a:pPr marL="228600" indent="-2286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050" dirty="0"/>
              <a:t>客户提出特殊购物需求</a:t>
            </a:r>
            <a:endParaRPr lang="en-US" altLang="zh-CN" sz="1050" dirty="0"/>
          </a:p>
          <a:p>
            <a:pPr marL="228600" indent="-2286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050" dirty="0"/>
          </a:p>
          <a:p>
            <a:pPr marL="228600" indent="-2286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zh-CN" altLang="en-US" sz="105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6440729-7BCD-D4BA-DB0D-652762107567}"/>
              </a:ext>
            </a:extLst>
          </p:cNvPr>
          <p:cNvSpPr txBox="1"/>
          <p:nvPr/>
        </p:nvSpPr>
        <p:spPr>
          <a:xfrm>
            <a:off x="3947158" y="3819014"/>
            <a:ext cx="28200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平台目前对临时买东西情形没有规范</a:t>
            </a:r>
          </a:p>
        </p:txBody>
      </p: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7BA861F7-76CB-38D4-B5C1-0F81D9A6BE5A}"/>
              </a:ext>
            </a:extLst>
          </p:cNvPr>
          <p:cNvCxnSpPr/>
          <p:nvPr/>
        </p:nvCxnSpPr>
        <p:spPr>
          <a:xfrm>
            <a:off x="748037" y="3595007"/>
            <a:ext cx="1133212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 69">
            <a:extLst>
              <a:ext uri="{FF2B5EF4-FFF2-40B4-BE49-F238E27FC236}">
                <a16:creationId xmlns:a16="http://schemas.microsoft.com/office/drawing/2014/main" id="{1E35A684-E628-BF80-D017-D08554D6AC02}"/>
              </a:ext>
            </a:extLst>
          </p:cNvPr>
          <p:cNvSpPr/>
          <p:nvPr/>
        </p:nvSpPr>
        <p:spPr>
          <a:xfrm>
            <a:off x="7019673" y="5860117"/>
            <a:ext cx="1823073" cy="2512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录音与原话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B4115CC-786E-8B85-05E8-C077B29D46FF}"/>
              </a:ext>
            </a:extLst>
          </p:cNvPr>
          <p:cNvSpPr txBox="1"/>
          <p:nvPr/>
        </p:nvSpPr>
        <p:spPr>
          <a:xfrm>
            <a:off x="4082367" y="4204267"/>
            <a:ext cx="2937306" cy="823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100" dirty="0"/>
              <a:t>司机灵活掌握，路边看到就停，或者熟悉路线知道哪里有停</a:t>
            </a:r>
            <a:endParaRPr lang="en-US" altLang="zh-CN" sz="1100" dirty="0"/>
          </a:p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100" dirty="0"/>
              <a:t>或者司机自己也有需求也会停</a:t>
            </a:r>
            <a:endParaRPr lang="en-US" altLang="zh-CN" sz="11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F337D7B-795C-DD7C-1207-7602AAE3C06E}"/>
              </a:ext>
            </a:extLst>
          </p:cNvPr>
          <p:cNvSpPr txBox="1"/>
          <p:nvPr/>
        </p:nvSpPr>
        <p:spPr>
          <a:xfrm>
            <a:off x="9610793" y="4117567"/>
            <a:ext cx="2469370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050" dirty="0"/>
              <a:t>可提供选择性停靠服务</a:t>
            </a:r>
            <a:endParaRPr lang="en-US" altLang="zh-CN" sz="1050" dirty="0"/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050" dirty="0"/>
              <a:t>可根据客户需求提供最佳</a:t>
            </a:r>
            <a:r>
              <a:rPr lang="en-US" altLang="zh-CN" sz="1050" dirty="0"/>
              <a:t>POI</a:t>
            </a:r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050" dirty="0"/>
              <a:t>时间较长的临停需求可收费</a:t>
            </a:r>
            <a:endParaRPr lang="en-US" altLang="zh-CN" sz="1050" dirty="0"/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endParaRPr lang="en-US" altLang="zh-CN" sz="105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121A674-4188-19AC-6481-DEE28C62428F}"/>
              </a:ext>
            </a:extLst>
          </p:cNvPr>
          <p:cNvSpPr txBox="1"/>
          <p:nvPr/>
        </p:nvSpPr>
        <p:spPr>
          <a:xfrm>
            <a:off x="2008121" y="2335370"/>
            <a:ext cx="1838965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50" dirty="0"/>
              <a:t>司机希望乘客在车外呕吐</a:t>
            </a:r>
            <a:endParaRPr lang="en-US" altLang="zh-CN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50" dirty="0"/>
              <a:t>（即使车内有呕吐带）</a:t>
            </a:r>
            <a:endParaRPr lang="en-US" altLang="zh-CN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50" dirty="0"/>
              <a:t>临时接人</a:t>
            </a:r>
            <a:endParaRPr lang="en-US" altLang="zh-CN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50" dirty="0"/>
              <a:t>急救场景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2C5E3E5-E088-3C4B-AAC8-4D41ACF987CA}"/>
              </a:ext>
            </a:extLst>
          </p:cNvPr>
          <p:cNvSpPr txBox="1"/>
          <p:nvPr/>
        </p:nvSpPr>
        <p:spPr>
          <a:xfrm>
            <a:off x="7049190" y="4226079"/>
            <a:ext cx="2419279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100" dirty="0"/>
              <a:t>司机也不希望太长时间，影响自己下一单</a:t>
            </a:r>
            <a:endParaRPr lang="en-US" altLang="zh-CN" sz="11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100" dirty="0"/>
              <a:t>但大多数司机都是希望拒绝的</a:t>
            </a:r>
            <a:endParaRPr lang="en-US" altLang="zh-CN" sz="11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100" dirty="0"/>
              <a:t>停靠按一般等待计时计价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zh-CN" altLang="en-US" sz="11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1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110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A7A5074-0372-1DC2-7F36-1E096E9A7F18}"/>
              </a:ext>
            </a:extLst>
          </p:cNvPr>
          <p:cNvSpPr txBox="1"/>
          <p:nvPr/>
        </p:nvSpPr>
        <p:spPr>
          <a:xfrm>
            <a:off x="4056698" y="2262666"/>
            <a:ext cx="1477622" cy="822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醉酒呕吐</a:t>
            </a:r>
            <a:endParaRPr lang="en-US" altLang="zh-CN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晕车呕吐</a:t>
            </a:r>
            <a:endParaRPr lang="en-US" altLang="zh-CN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身体不适车外休息</a:t>
            </a:r>
            <a:endParaRPr lang="en-US" altLang="zh-CN" sz="110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EF2AEDB2-0451-888E-A0C6-C3A093B470E1}"/>
              </a:ext>
            </a:extLst>
          </p:cNvPr>
          <p:cNvSpPr txBox="1"/>
          <p:nvPr/>
        </p:nvSpPr>
        <p:spPr>
          <a:xfrm>
            <a:off x="6980518" y="3819014"/>
            <a:ext cx="23583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没有额外收费，司机是拒绝的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BCAC1AC-9E7C-4B7C-A105-649C60F06821}"/>
              </a:ext>
            </a:extLst>
          </p:cNvPr>
          <p:cNvSpPr txBox="1"/>
          <p:nvPr/>
        </p:nvSpPr>
        <p:spPr>
          <a:xfrm>
            <a:off x="5966430" y="2284611"/>
            <a:ext cx="1477622" cy="316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上车人在路测等待</a:t>
            </a:r>
            <a:endParaRPr lang="en-US" altLang="zh-CN" sz="1100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BFA404BE-F2B7-83B8-4202-6F8ACED71ABE}"/>
              </a:ext>
            </a:extLst>
          </p:cNvPr>
          <p:cNvSpPr txBox="1"/>
          <p:nvPr/>
        </p:nvSpPr>
        <p:spPr>
          <a:xfrm>
            <a:off x="7776522" y="1923643"/>
            <a:ext cx="9220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100" b="1" dirty="0"/>
              <a:t>急救场景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7D502E45-F683-1C9B-F132-1989FE198392}"/>
              </a:ext>
            </a:extLst>
          </p:cNvPr>
          <p:cNvSpPr txBox="1"/>
          <p:nvPr/>
        </p:nvSpPr>
        <p:spPr>
          <a:xfrm>
            <a:off x="7940548" y="2241830"/>
            <a:ext cx="1477622" cy="569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司机掌握急救知识，拨打</a:t>
            </a:r>
            <a:r>
              <a:rPr lang="en-US" altLang="zh-CN" sz="1100" dirty="0"/>
              <a:t>120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B9C96554-C9A8-0BE1-AB53-BF213C52DA80}"/>
              </a:ext>
            </a:extLst>
          </p:cNvPr>
          <p:cNvSpPr txBox="1"/>
          <p:nvPr/>
        </p:nvSpPr>
        <p:spPr>
          <a:xfrm>
            <a:off x="5792877" y="2730726"/>
            <a:ext cx="12041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100" b="1" dirty="0"/>
              <a:t>安全地点临停</a:t>
            </a:r>
          </a:p>
        </p:txBody>
      </p:sp>
    </p:spTree>
    <p:extLst>
      <p:ext uri="{BB962C8B-B14F-4D97-AF65-F5344CB8AC3E}">
        <p14:creationId xmlns:p14="http://schemas.microsoft.com/office/powerpoint/2010/main" val="3928226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D1346-15E6-9243-B7C6-E8DBEF4DB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768353-3AE2-DF95-F93D-31719B6C44D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69924" y="433637"/>
            <a:ext cx="10440000" cy="595063"/>
          </a:xfrm>
        </p:spPr>
        <p:txBody>
          <a:bodyPr/>
          <a:lstStyle/>
          <a:p>
            <a:r>
              <a:rPr lang="zh-CN" altLang="en-US" dirty="0"/>
              <a:t>到达阶段</a:t>
            </a:r>
            <a:r>
              <a:rPr lang="en-US" altLang="zh-CN" dirty="0"/>
              <a:t>——</a:t>
            </a:r>
            <a:r>
              <a:rPr lang="zh-CN" altLang="en-US" dirty="0"/>
              <a:t>停车位置沟通</a:t>
            </a:r>
          </a:p>
        </p:txBody>
      </p:sp>
      <p:sp>
        <p:nvSpPr>
          <p:cNvPr id="16" name="文本占位符 4">
            <a:extLst>
              <a:ext uri="{FF2B5EF4-FFF2-40B4-BE49-F238E27FC236}">
                <a16:creationId xmlns:a16="http://schemas.microsoft.com/office/drawing/2014/main" id="{46CD8942-A72F-F923-79BD-7698512C6CDB}"/>
              </a:ext>
            </a:extLst>
          </p:cNvPr>
          <p:cNvSpPr txBox="1"/>
          <p:nvPr/>
        </p:nvSpPr>
        <p:spPr>
          <a:xfrm>
            <a:off x="5183625" y="1395662"/>
            <a:ext cx="2290714" cy="3385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用户需求分析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FEDDE477-9DB3-A4A9-BD47-66C965D8472B}"/>
              </a:ext>
            </a:extLst>
          </p:cNvPr>
          <p:cNvCxnSpPr/>
          <p:nvPr/>
        </p:nvCxnSpPr>
        <p:spPr>
          <a:xfrm>
            <a:off x="431787" y="1303200"/>
            <a:ext cx="11196000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8F95CB90-56C5-9107-44DB-4B428C603FAC}"/>
              </a:ext>
            </a:extLst>
          </p:cNvPr>
          <p:cNvCxnSpPr/>
          <p:nvPr/>
        </p:nvCxnSpPr>
        <p:spPr>
          <a:xfrm>
            <a:off x="431787" y="1810163"/>
            <a:ext cx="11196000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259BC600-806B-919B-30D3-7BE3011BE841}"/>
              </a:ext>
            </a:extLst>
          </p:cNvPr>
          <p:cNvSpPr txBox="1"/>
          <p:nvPr/>
        </p:nvSpPr>
        <p:spPr>
          <a:xfrm>
            <a:off x="97877" y="2794788"/>
            <a:ext cx="36603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>
              <a:defRPr/>
            </a:pP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algn="ctr"/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停车位置沟通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CB2A347-C899-4900-D528-705E560331A8}"/>
              </a:ext>
            </a:extLst>
          </p:cNvPr>
          <p:cNvSpPr txBox="1"/>
          <p:nvPr/>
        </p:nvSpPr>
        <p:spPr>
          <a:xfrm>
            <a:off x="425035" y="2186095"/>
            <a:ext cx="1525188" cy="3524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定位偏差修正与确认</a:t>
            </a: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禁停区域协调</a:t>
            </a: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小区门口或者进小区</a:t>
            </a: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占位符 4">
            <a:extLst>
              <a:ext uri="{FF2B5EF4-FFF2-40B4-BE49-F238E27FC236}">
                <a16:creationId xmlns:a16="http://schemas.microsoft.com/office/drawing/2014/main" id="{5B3D2ED3-C68E-2CA2-B54C-9DB48CF5FCBF}"/>
              </a:ext>
            </a:extLst>
          </p:cNvPr>
          <p:cNvSpPr txBox="1"/>
          <p:nvPr/>
        </p:nvSpPr>
        <p:spPr>
          <a:xfrm>
            <a:off x="2143529" y="1384066"/>
            <a:ext cx="1697824" cy="3385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关键发现</a:t>
            </a:r>
          </a:p>
        </p:txBody>
      </p:sp>
      <p:sp>
        <p:nvSpPr>
          <p:cNvPr id="60" name="文本占位符 4">
            <a:extLst>
              <a:ext uri="{FF2B5EF4-FFF2-40B4-BE49-F238E27FC236}">
                <a16:creationId xmlns:a16="http://schemas.microsoft.com/office/drawing/2014/main" id="{ADB97B59-6BE1-501B-A509-FFB63E996DBF}"/>
              </a:ext>
            </a:extLst>
          </p:cNvPr>
          <p:cNvSpPr txBox="1"/>
          <p:nvPr/>
        </p:nvSpPr>
        <p:spPr>
          <a:xfrm>
            <a:off x="9262073" y="1398077"/>
            <a:ext cx="2709470" cy="3385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司机</a:t>
            </a:r>
            <a:r>
              <a: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功能建议</a:t>
            </a: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80F8693C-FDBB-2827-AA8F-E4DF0EAA49A3}"/>
              </a:ext>
            </a:extLst>
          </p:cNvPr>
          <p:cNvCxnSpPr/>
          <p:nvPr/>
        </p:nvCxnSpPr>
        <p:spPr>
          <a:xfrm>
            <a:off x="3733800" y="1834362"/>
            <a:ext cx="0" cy="43200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B1F5429C-359D-C5EE-E665-5310144FDFA4}"/>
              </a:ext>
            </a:extLst>
          </p:cNvPr>
          <p:cNvCxnSpPr/>
          <p:nvPr/>
        </p:nvCxnSpPr>
        <p:spPr>
          <a:xfrm>
            <a:off x="9425901" y="1834362"/>
            <a:ext cx="0" cy="43200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占位符 4">
            <a:extLst>
              <a:ext uri="{FF2B5EF4-FFF2-40B4-BE49-F238E27FC236}">
                <a16:creationId xmlns:a16="http://schemas.microsoft.com/office/drawing/2014/main" id="{A7C1B29A-0B8B-EC84-D612-0207DD2353B5}"/>
              </a:ext>
            </a:extLst>
          </p:cNvPr>
          <p:cNvSpPr txBox="1"/>
          <p:nvPr/>
        </p:nvSpPr>
        <p:spPr>
          <a:xfrm>
            <a:off x="483782" y="1390273"/>
            <a:ext cx="1697824" cy="3385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高频场景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93D01638-C8FF-3B02-9F34-96A1274D79C0}"/>
              </a:ext>
            </a:extLst>
          </p:cNvPr>
          <p:cNvCxnSpPr/>
          <p:nvPr/>
        </p:nvCxnSpPr>
        <p:spPr>
          <a:xfrm>
            <a:off x="1933280" y="1810163"/>
            <a:ext cx="0" cy="43200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25">
            <a:extLst>
              <a:ext uri="{FF2B5EF4-FFF2-40B4-BE49-F238E27FC236}">
                <a16:creationId xmlns:a16="http://schemas.microsoft.com/office/drawing/2014/main" id="{039956EE-3A8A-B4DC-6EA6-B6FBED754CBC}"/>
              </a:ext>
            </a:extLst>
          </p:cNvPr>
          <p:cNvCxnSpPr/>
          <p:nvPr/>
        </p:nvCxnSpPr>
        <p:spPr>
          <a:xfrm>
            <a:off x="431787" y="6170268"/>
            <a:ext cx="11196000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970F1917-DFB9-0E80-986D-419358551BA4}"/>
              </a:ext>
            </a:extLst>
          </p:cNvPr>
          <p:cNvSpPr txBox="1"/>
          <p:nvPr/>
        </p:nvSpPr>
        <p:spPr>
          <a:xfrm>
            <a:off x="6333647" y="1941524"/>
            <a:ext cx="12811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修正沟通方式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20B64DA-8629-FADE-D617-0839F31726C0}"/>
              </a:ext>
            </a:extLst>
          </p:cNvPr>
          <p:cNvSpPr txBox="1"/>
          <p:nvPr/>
        </p:nvSpPr>
        <p:spPr>
          <a:xfrm>
            <a:off x="3989933" y="1944369"/>
            <a:ext cx="22044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最终停车位置小幅修正场景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AF670DA-71A6-4830-D122-B6F2129C0C58}"/>
              </a:ext>
            </a:extLst>
          </p:cNvPr>
          <p:cNvSpPr txBox="1"/>
          <p:nvPr/>
        </p:nvSpPr>
        <p:spPr>
          <a:xfrm>
            <a:off x="9512947" y="2173948"/>
            <a:ext cx="2469370" cy="654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050" dirty="0"/>
              <a:t>能够接收客户语音指令集合路面特征进行微调最终停泊位置</a:t>
            </a:r>
            <a:endParaRPr lang="en-US" altLang="zh-CN" sz="1050" dirty="0"/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050" dirty="0"/>
              <a:t>支持语音设置修正详细地址</a:t>
            </a:r>
            <a:endParaRPr lang="en-US" altLang="zh-CN" sz="105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25280104-B263-5A71-7DA2-DC900C3EEF19}"/>
              </a:ext>
            </a:extLst>
          </p:cNvPr>
          <p:cNvSpPr txBox="1"/>
          <p:nvPr/>
        </p:nvSpPr>
        <p:spPr>
          <a:xfrm>
            <a:off x="3952466" y="3534666"/>
            <a:ext cx="22044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终点定位地点无法停车场景</a:t>
            </a:r>
          </a:p>
        </p:txBody>
      </p: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6CDDB8F4-E15B-6FD6-9429-2CE15877234F}"/>
              </a:ext>
            </a:extLst>
          </p:cNvPr>
          <p:cNvCxnSpPr/>
          <p:nvPr/>
        </p:nvCxnSpPr>
        <p:spPr>
          <a:xfrm>
            <a:off x="748037" y="3237031"/>
            <a:ext cx="1133212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 69">
            <a:extLst>
              <a:ext uri="{FF2B5EF4-FFF2-40B4-BE49-F238E27FC236}">
                <a16:creationId xmlns:a16="http://schemas.microsoft.com/office/drawing/2014/main" id="{83ED7D9B-B29C-1A9A-6B60-6AC123C92BED}"/>
              </a:ext>
            </a:extLst>
          </p:cNvPr>
          <p:cNvSpPr/>
          <p:nvPr/>
        </p:nvSpPr>
        <p:spPr>
          <a:xfrm>
            <a:off x="7019673" y="5860117"/>
            <a:ext cx="1823073" cy="2512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录音与原话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5D4FECB-8B1B-2D1D-DFB1-43B55489C388}"/>
              </a:ext>
            </a:extLst>
          </p:cNvPr>
          <p:cNvSpPr txBox="1"/>
          <p:nvPr/>
        </p:nvSpPr>
        <p:spPr>
          <a:xfrm>
            <a:off x="9547190" y="3674589"/>
            <a:ext cx="2469370" cy="654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050" dirty="0"/>
              <a:t>终点定位避开紧停标志区域</a:t>
            </a:r>
            <a:endParaRPr lang="en-US" altLang="zh-CN" sz="1050" dirty="0"/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050" dirty="0"/>
              <a:t>根据客户语音指令，智能寻找附件最近最方便的停车点</a:t>
            </a:r>
            <a:endParaRPr lang="en-US" altLang="zh-CN" sz="105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0784193-87FD-161B-8D89-55978E9313D5}"/>
              </a:ext>
            </a:extLst>
          </p:cNvPr>
          <p:cNvSpPr txBox="1"/>
          <p:nvPr/>
        </p:nvSpPr>
        <p:spPr>
          <a:xfrm>
            <a:off x="1950223" y="2195291"/>
            <a:ext cx="1838965" cy="7895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50" dirty="0"/>
              <a:t>停车位置经常会小幅修正</a:t>
            </a:r>
            <a:endParaRPr lang="en-US" altLang="zh-CN" sz="105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场站结构复杂提前沟通</a:t>
            </a:r>
            <a:endParaRPr lang="en-US" altLang="zh-CN" sz="105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105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08E0793-3434-1564-164B-EB8014EDF284}"/>
              </a:ext>
            </a:extLst>
          </p:cNvPr>
          <p:cNvSpPr txBox="1"/>
          <p:nvPr/>
        </p:nvSpPr>
        <p:spPr>
          <a:xfrm>
            <a:off x="6891431" y="3551667"/>
            <a:ext cx="22044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沟通微调可停靠的停车地点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9C7B2B2-CD98-8A52-707D-C814961ECE8F}"/>
              </a:ext>
            </a:extLst>
          </p:cNvPr>
          <p:cNvSpPr txBox="1"/>
          <p:nvPr/>
        </p:nvSpPr>
        <p:spPr>
          <a:xfrm>
            <a:off x="6619237" y="2331881"/>
            <a:ext cx="1477622" cy="568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更多语音沟通</a:t>
            </a:r>
            <a:endParaRPr lang="en-US" altLang="zh-CN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少量用手指的</a:t>
            </a:r>
            <a:endParaRPr lang="en-US" altLang="zh-CN" sz="1100" dirty="0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49CE665C-11FE-CAF2-836F-2EA55F238642}"/>
              </a:ext>
            </a:extLst>
          </p:cNvPr>
          <p:cNvCxnSpPr/>
          <p:nvPr/>
        </p:nvCxnSpPr>
        <p:spPr>
          <a:xfrm>
            <a:off x="551709" y="4618626"/>
            <a:ext cx="1133212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AF3FC980-A070-44D3-F664-1654FD8A30BE}"/>
              </a:ext>
            </a:extLst>
          </p:cNvPr>
          <p:cNvSpPr txBox="1"/>
          <p:nvPr/>
        </p:nvSpPr>
        <p:spPr>
          <a:xfrm>
            <a:off x="4253173" y="2256829"/>
            <a:ext cx="1319592" cy="10766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往前一点</a:t>
            </a:r>
            <a:endParaRPr lang="en-US" altLang="zh-CN" sz="11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前面那个路口</a:t>
            </a:r>
            <a:endParaRPr lang="en-US" altLang="zh-CN" sz="11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那个牌子下面</a:t>
            </a:r>
            <a:endParaRPr lang="en-US" altLang="zh-CN" sz="1100" dirty="0"/>
          </a:p>
          <a:p>
            <a:pPr>
              <a:lnSpc>
                <a:spcPct val="150000"/>
              </a:lnSpc>
            </a:pPr>
            <a:endParaRPr lang="zh-CN" altLang="en-US" sz="11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183718B-C1F4-111A-24FE-4985C3AAC2B0}"/>
              </a:ext>
            </a:extLst>
          </p:cNvPr>
          <p:cNvSpPr txBox="1"/>
          <p:nvPr/>
        </p:nvSpPr>
        <p:spPr>
          <a:xfrm>
            <a:off x="4359999" y="3846085"/>
            <a:ext cx="1319592" cy="822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黄线区域</a:t>
            </a:r>
            <a:endParaRPr lang="en-US" altLang="zh-CN" sz="11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禁停标志区域</a:t>
            </a:r>
            <a:endParaRPr lang="en-US" altLang="zh-CN" sz="11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11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92092FD-55F4-ADCC-4CD0-8CE62CDE5A7F}"/>
              </a:ext>
            </a:extLst>
          </p:cNvPr>
          <p:cNvSpPr txBox="1"/>
          <p:nvPr/>
        </p:nvSpPr>
        <p:spPr>
          <a:xfrm>
            <a:off x="7243508" y="3857776"/>
            <a:ext cx="1601721" cy="5688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让乘客更方便下车</a:t>
            </a:r>
            <a:endParaRPr lang="en-US" altLang="zh-CN" sz="11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让乘客少走路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9FBDF6F-F42C-FCD7-13D3-8E789761145F}"/>
              </a:ext>
            </a:extLst>
          </p:cNvPr>
          <p:cNvSpPr txBox="1"/>
          <p:nvPr/>
        </p:nvSpPr>
        <p:spPr>
          <a:xfrm>
            <a:off x="1936792" y="3793099"/>
            <a:ext cx="171857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50" dirty="0"/>
              <a:t>容易与客户发生争执，产生投诉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D78A5D9-2756-9296-E4FE-962F1765C31D}"/>
              </a:ext>
            </a:extLst>
          </p:cNvPr>
          <p:cNvSpPr txBox="1"/>
          <p:nvPr/>
        </p:nvSpPr>
        <p:spPr>
          <a:xfrm>
            <a:off x="7944787" y="1961676"/>
            <a:ext cx="14350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场站停车点场景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F9262B8-E454-3183-6F15-F88838200162}"/>
              </a:ext>
            </a:extLst>
          </p:cNvPr>
          <p:cNvSpPr txBox="1"/>
          <p:nvPr/>
        </p:nvSpPr>
        <p:spPr>
          <a:xfrm>
            <a:off x="8223710" y="2342993"/>
            <a:ext cx="12021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/>
              <a:t>哪个广场</a:t>
            </a:r>
            <a:endParaRPr lang="en-US" altLang="zh-CN" sz="1100" dirty="0"/>
          </a:p>
          <a:p>
            <a:r>
              <a:rPr lang="zh-CN" altLang="en-US" sz="1100" dirty="0"/>
              <a:t>哪个层（达到、出发）</a:t>
            </a:r>
            <a:endParaRPr lang="en-US" altLang="zh-CN" sz="1100" dirty="0"/>
          </a:p>
          <a:p>
            <a:r>
              <a:rPr lang="zh-CN" altLang="en-US" sz="1100" dirty="0"/>
              <a:t>哪个口（几号）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737EA1E-CFF8-CF19-2087-5F68DA0D4895}"/>
              </a:ext>
            </a:extLst>
          </p:cNvPr>
          <p:cNvSpPr txBox="1"/>
          <p:nvPr/>
        </p:nvSpPr>
        <p:spPr>
          <a:xfrm>
            <a:off x="1928176" y="5052229"/>
            <a:ext cx="1718579" cy="790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50" dirty="0"/>
              <a:t>专车可按客户需求进入小区</a:t>
            </a:r>
            <a:endParaRPr lang="en-US" altLang="zh-CN" sz="105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50" dirty="0"/>
              <a:t>快车大多到小区门口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9AFA83D-3C11-D756-8CA3-F0784EB779E7}"/>
              </a:ext>
            </a:extLst>
          </p:cNvPr>
          <p:cNvSpPr txBox="1"/>
          <p:nvPr/>
        </p:nvSpPr>
        <p:spPr>
          <a:xfrm>
            <a:off x="3936953" y="4834928"/>
            <a:ext cx="23583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行车不便小区，司机都不爱去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95FA85B-6F1F-9F4D-17C6-508233309F4C}"/>
              </a:ext>
            </a:extLst>
          </p:cNvPr>
          <p:cNvSpPr txBox="1"/>
          <p:nvPr/>
        </p:nvSpPr>
        <p:spPr>
          <a:xfrm>
            <a:off x="4133463" y="5193259"/>
            <a:ext cx="2620236" cy="569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老小区，可能需要倒出来，耽误时间</a:t>
            </a:r>
            <a:endParaRPr lang="en-US" altLang="zh-CN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快车司机没这项服务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18AA783-4F7F-E634-EB78-CDDDA350E8B5}"/>
              </a:ext>
            </a:extLst>
          </p:cNvPr>
          <p:cNvSpPr txBox="1"/>
          <p:nvPr/>
        </p:nvSpPr>
        <p:spPr>
          <a:xfrm>
            <a:off x="6814487" y="4864903"/>
            <a:ext cx="9733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高端小区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A48CABE-1F9B-EEA5-09A6-ED3E47246754}"/>
              </a:ext>
            </a:extLst>
          </p:cNvPr>
          <p:cNvSpPr txBox="1"/>
          <p:nvPr/>
        </p:nvSpPr>
        <p:spPr>
          <a:xfrm>
            <a:off x="7150860" y="5169970"/>
            <a:ext cx="2620236" cy="314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还需要保安协调放行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4041605-8A22-0BD3-D65C-AA67ABC719F1}"/>
              </a:ext>
            </a:extLst>
          </p:cNvPr>
          <p:cNvSpPr txBox="1"/>
          <p:nvPr/>
        </p:nvSpPr>
        <p:spPr>
          <a:xfrm>
            <a:off x="9502173" y="5052148"/>
            <a:ext cx="2469370" cy="654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050" dirty="0"/>
              <a:t>提前跟客户语音沟通，是否需要送到小区楼下</a:t>
            </a:r>
            <a:endParaRPr lang="en-US" altLang="zh-CN" sz="1050" dirty="0"/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endParaRPr lang="en-US" altLang="zh-CN" sz="1050" dirty="0"/>
          </a:p>
        </p:txBody>
      </p:sp>
    </p:spTree>
    <p:extLst>
      <p:ext uri="{BB962C8B-B14F-4D97-AF65-F5344CB8AC3E}">
        <p14:creationId xmlns:p14="http://schemas.microsoft.com/office/powerpoint/2010/main" val="3719361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62F1D-BB39-2C8F-0D5B-4230D8877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0BA979-97B3-6AEE-C99E-5A1080F1D9A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69924" y="433637"/>
            <a:ext cx="10440000" cy="595063"/>
          </a:xfrm>
        </p:spPr>
        <p:txBody>
          <a:bodyPr/>
          <a:lstStyle/>
          <a:p>
            <a:r>
              <a:rPr lang="zh-CN" altLang="en-US" dirty="0"/>
              <a:t>到达阶段</a:t>
            </a:r>
            <a:r>
              <a:rPr lang="en-US" altLang="zh-CN" dirty="0"/>
              <a:t>——</a:t>
            </a:r>
            <a:r>
              <a:rPr lang="zh-CN" altLang="en-US" dirty="0"/>
              <a:t>安全提醒</a:t>
            </a:r>
          </a:p>
        </p:txBody>
      </p:sp>
      <p:sp>
        <p:nvSpPr>
          <p:cNvPr id="16" name="文本占位符 4">
            <a:extLst>
              <a:ext uri="{FF2B5EF4-FFF2-40B4-BE49-F238E27FC236}">
                <a16:creationId xmlns:a16="http://schemas.microsoft.com/office/drawing/2014/main" id="{48629EE7-111E-7DE8-AA61-01E5FBBD0A22}"/>
              </a:ext>
            </a:extLst>
          </p:cNvPr>
          <p:cNvSpPr txBox="1"/>
          <p:nvPr/>
        </p:nvSpPr>
        <p:spPr>
          <a:xfrm>
            <a:off x="5183625" y="1395662"/>
            <a:ext cx="2290714" cy="3385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用户需求分析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40FED661-1BFE-00D6-660B-E9EA31F3FE9C}"/>
              </a:ext>
            </a:extLst>
          </p:cNvPr>
          <p:cNvCxnSpPr/>
          <p:nvPr/>
        </p:nvCxnSpPr>
        <p:spPr>
          <a:xfrm>
            <a:off x="431787" y="1303200"/>
            <a:ext cx="11196000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A4BC52DE-6E6D-EDE1-A9C1-2E70F55614BF}"/>
              </a:ext>
            </a:extLst>
          </p:cNvPr>
          <p:cNvCxnSpPr/>
          <p:nvPr/>
        </p:nvCxnSpPr>
        <p:spPr>
          <a:xfrm>
            <a:off x="431787" y="1810163"/>
            <a:ext cx="11196000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3A5A7BCF-62F1-752E-31DA-B6A477F00C92}"/>
              </a:ext>
            </a:extLst>
          </p:cNvPr>
          <p:cNvSpPr txBox="1"/>
          <p:nvPr/>
        </p:nvSpPr>
        <p:spPr>
          <a:xfrm>
            <a:off x="97877" y="2794788"/>
            <a:ext cx="36603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>
              <a:defRPr/>
            </a:pP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algn="ctr"/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安全提醒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C20BABA-E74E-9A14-AE9F-B6010BD92CBE}"/>
              </a:ext>
            </a:extLst>
          </p:cNvPr>
          <p:cNvSpPr txBox="1"/>
          <p:nvPr/>
        </p:nvSpPr>
        <p:spPr>
          <a:xfrm>
            <a:off x="425035" y="2186095"/>
            <a:ext cx="1525188" cy="3708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开门刹等安全提醒</a:t>
            </a: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遗留物品与行李提醒</a:t>
            </a: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特殊乘客安全提醒</a:t>
            </a: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占位符 4">
            <a:extLst>
              <a:ext uri="{FF2B5EF4-FFF2-40B4-BE49-F238E27FC236}">
                <a16:creationId xmlns:a16="http://schemas.microsoft.com/office/drawing/2014/main" id="{11D99126-7D5C-B24A-B173-2C1495D866DB}"/>
              </a:ext>
            </a:extLst>
          </p:cNvPr>
          <p:cNvSpPr txBox="1"/>
          <p:nvPr/>
        </p:nvSpPr>
        <p:spPr>
          <a:xfrm>
            <a:off x="2143529" y="1384066"/>
            <a:ext cx="1697824" cy="3385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关键发现</a:t>
            </a:r>
          </a:p>
        </p:txBody>
      </p:sp>
      <p:sp>
        <p:nvSpPr>
          <p:cNvPr id="60" name="文本占位符 4">
            <a:extLst>
              <a:ext uri="{FF2B5EF4-FFF2-40B4-BE49-F238E27FC236}">
                <a16:creationId xmlns:a16="http://schemas.microsoft.com/office/drawing/2014/main" id="{297C0E61-56BD-5318-7BA1-89E9E3E031BF}"/>
              </a:ext>
            </a:extLst>
          </p:cNvPr>
          <p:cNvSpPr txBox="1"/>
          <p:nvPr/>
        </p:nvSpPr>
        <p:spPr>
          <a:xfrm>
            <a:off x="9262073" y="1398077"/>
            <a:ext cx="2709470" cy="3385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司机</a:t>
            </a:r>
            <a:r>
              <a: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功能建议</a:t>
            </a: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06E84148-2363-1C0F-17DB-87B0F4DC33D5}"/>
              </a:ext>
            </a:extLst>
          </p:cNvPr>
          <p:cNvCxnSpPr/>
          <p:nvPr/>
        </p:nvCxnSpPr>
        <p:spPr>
          <a:xfrm>
            <a:off x="3733800" y="1834362"/>
            <a:ext cx="0" cy="43200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9878F902-E41C-4697-E6F0-C9009780D456}"/>
              </a:ext>
            </a:extLst>
          </p:cNvPr>
          <p:cNvCxnSpPr/>
          <p:nvPr/>
        </p:nvCxnSpPr>
        <p:spPr>
          <a:xfrm>
            <a:off x="9425901" y="1834362"/>
            <a:ext cx="0" cy="43200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占位符 4">
            <a:extLst>
              <a:ext uri="{FF2B5EF4-FFF2-40B4-BE49-F238E27FC236}">
                <a16:creationId xmlns:a16="http://schemas.microsoft.com/office/drawing/2014/main" id="{A9945258-0FEB-AD1C-DFC6-4056DCC6FEA2}"/>
              </a:ext>
            </a:extLst>
          </p:cNvPr>
          <p:cNvSpPr txBox="1"/>
          <p:nvPr/>
        </p:nvSpPr>
        <p:spPr>
          <a:xfrm>
            <a:off x="483782" y="1390273"/>
            <a:ext cx="1697824" cy="3385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高频场景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7B0E34B3-D968-4D9F-A48C-6588F870B4CD}"/>
              </a:ext>
            </a:extLst>
          </p:cNvPr>
          <p:cNvCxnSpPr/>
          <p:nvPr/>
        </p:nvCxnSpPr>
        <p:spPr>
          <a:xfrm>
            <a:off x="1933280" y="1810163"/>
            <a:ext cx="0" cy="43200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25">
            <a:extLst>
              <a:ext uri="{FF2B5EF4-FFF2-40B4-BE49-F238E27FC236}">
                <a16:creationId xmlns:a16="http://schemas.microsoft.com/office/drawing/2014/main" id="{0D56E540-E60D-2C47-60DC-BBABFA571695}"/>
              </a:ext>
            </a:extLst>
          </p:cNvPr>
          <p:cNvCxnSpPr/>
          <p:nvPr/>
        </p:nvCxnSpPr>
        <p:spPr>
          <a:xfrm>
            <a:off x="431787" y="6170268"/>
            <a:ext cx="11196000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0E8E70A6-B845-D47D-1CEB-8F8349A5C671}"/>
              </a:ext>
            </a:extLst>
          </p:cNvPr>
          <p:cNvSpPr txBox="1"/>
          <p:nvPr/>
        </p:nvSpPr>
        <p:spPr>
          <a:xfrm>
            <a:off x="6057346" y="1951051"/>
            <a:ext cx="15888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恶劣天气下车提醒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354347B-E656-A01A-2A97-91ADB1ACA474}"/>
              </a:ext>
            </a:extLst>
          </p:cNvPr>
          <p:cNvSpPr txBox="1"/>
          <p:nvPr/>
        </p:nvSpPr>
        <p:spPr>
          <a:xfrm>
            <a:off x="3989933" y="1944369"/>
            <a:ext cx="15888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特殊路段提醒场景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F8585DD-495F-BD62-F50F-5FCC79578FB2}"/>
              </a:ext>
            </a:extLst>
          </p:cNvPr>
          <p:cNvSpPr txBox="1"/>
          <p:nvPr/>
        </p:nvSpPr>
        <p:spPr>
          <a:xfrm>
            <a:off x="3952466" y="3534666"/>
            <a:ext cx="9733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车内物品</a:t>
            </a:r>
          </a:p>
        </p:txBody>
      </p: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55A3A21C-0FE0-4B62-31EE-CF4F4AAEDC32}"/>
              </a:ext>
            </a:extLst>
          </p:cNvPr>
          <p:cNvCxnSpPr/>
          <p:nvPr/>
        </p:nvCxnSpPr>
        <p:spPr>
          <a:xfrm>
            <a:off x="748037" y="3237031"/>
            <a:ext cx="1133212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 69">
            <a:extLst>
              <a:ext uri="{FF2B5EF4-FFF2-40B4-BE49-F238E27FC236}">
                <a16:creationId xmlns:a16="http://schemas.microsoft.com/office/drawing/2014/main" id="{64BB656F-3ED3-DD2C-9AC1-655AAA336AAD}"/>
              </a:ext>
            </a:extLst>
          </p:cNvPr>
          <p:cNvSpPr/>
          <p:nvPr/>
        </p:nvSpPr>
        <p:spPr>
          <a:xfrm>
            <a:off x="7019673" y="5860117"/>
            <a:ext cx="1823073" cy="2512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录音与原话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210E1AD-EA22-B85D-1FB6-E79409DD5B8D}"/>
              </a:ext>
            </a:extLst>
          </p:cNvPr>
          <p:cNvSpPr txBox="1"/>
          <p:nvPr/>
        </p:nvSpPr>
        <p:spPr>
          <a:xfrm>
            <a:off x="1950223" y="2195291"/>
            <a:ext cx="1165704" cy="5471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50" dirty="0"/>
              <a:t>后方来车提醒</a:t>
            </a:r>
            <a:endParaRPr lang="en-US" altLang="zh-CN" sz="105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105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DB64B4BA-1273-DD82-52F1-AB47F0981979}"/>
              </a:ext>
            </a:extLst>
          </p:cNvPr>
          <p:cNvSpPr txBox="1"/>
          <p:nvPr/>
        </p:nvSpPr>
        <p:spPr>
          <a:xfrm>
            <a:off x="6891431" y="3551667"/>
            <a:ext cx="14350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后备箱行李提醒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471460A9-FEBC-CE77-977E-FD2B1C3071EA}"/>
              </a:ext>
            </a:extLst>
          </p:cNvPr>
          <p:cNvCxnSpPr/>
          <p:nvPr/>
        </p:nvCxnSpPr>
        <p:spPr>
          <a:xfrm>
            <a:off x="551709" y="4618626"/>
            <a:ext cx="1133212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B24F8D27-D4C5-1C23-D641-00D7D211C9B2}"/>
              </a:ext>
            </a:extLst>
          </p:cNvPr>
          <p:cNvSpPr txBox="1"/>
          <p:nvPr/>
        </p:nvSpPr>
        <p:spPr>
          <a:xfrm>
            <a:off x="1936792" y="3793099"/>
            <a:ext cx="1718579" cy="548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50" dirty="0"/>
              <a:t>车内物品遗落提醒</a:t>
            </a:r>
            <a:endParaRPr lang="en-US" altLang="zh-CN" sz="105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50" dirty="0"/>
              <a:t>后备箱行李提醒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D7B1071-E06E-1454-88CB-1F7B397B86CE}"/>
              </a:ext>
            </a:extLst>
          </p:cNvPr>
          <p:cNvSpPr txBox="1"/>
          <p:nvPr/>
        </p:nvSpPr>
        <p:spPr>
          <a:xfrm>
            <a:off x="4007257" y="4822616"/>
            <a:ext cx="15888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特殊群体下车提醒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5BB1FEF-0315-4E30-5B75-785F23B0231B}"/>
              </a:ext>
            </a:extLst>
          </p:cNvPr>
          <p:cNvSpPr txBox="1"/>
          <p:nvPr/>
        </p:nvSpPr>
        <p:spPr>
          <a:xfrm>
            <a:off x="9502173" y="5052148"/>
            <a:ext cx="246937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050" dirty="0"/>
              <a:t>下车时，针对特殊人群准备相应安全话术，进行提醒</a:t>
            </a:r>
            <a:endParaRPr lang="en-US" altLang="zh-CN" sz="105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53456F1-CC7E-5BA4-6690-18A60D6FDEE9}"/>
              </a:ext>
            </a:extLst>
          </p:cNvPr>
          <p:cNvSpPr txBox="1"/>
          <p:nvPr/>
        </p:nvSpPr>
        <p:spPr>
          <a:xfrm>
            <a:off x="4351674" y="2324020"/>
            <a:ext cx="1037463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100" dirty="0"/>
              <a:t>繁忙路段</a:t>
            </a:r>
            <a:endParaRPr lang="en-US" altLang="zh-CN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100" dirty="0"/>
              <a:t>夜间</a:t>
            </a:r>
            <a:endParaRPr lang="en-US" altLang="zh-CN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100" dirty="0"/>
              <a:t>电动车等</a:t>
            </a:r>
            <a:endParaRPr lang="en-US" altLang="zh-CN" sz="11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7D6C704-DABF-B8A7-73F4-E1F3B3048510}"/>
              </a:ext>
            </a:extLst>
          </p:cNvPr>
          <p:cNvSpPr txBox="1"/>
          <p:nvPr/>
        </p:nvSpPr>
        <p:spPr>
          <a:xfrm>
            <a:off x="6201925" y="2323966"/>
            <a:ext cx="160172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100" dirty="0"/>
              <a:t>雨雪天，注意路滑</a:t>
            </a:r>
            <a:endParaRPr lang="en-US" altLang="zh-CN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100" dirty="0"/>
              <a:t>冰雪路面</a:t>
            </a:r>
            <a:endParaRPr lang="en-US" altLang="zh-CN" sz="11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1861D33-2CD8-096C-BCF3-563FF8FF0201}"/>
              </a:ext>
            </a:extLst>
          </p:cNvPr>
          <p:cNvSpPr txBox="1"/>
          <p:nvPr/>
        </p:nvSpPr>
        <p:spPr>
          <a:xfrm>
            <a:off x="4287226" y="5180162"/>
            <a:ext cx="1601721" cy="823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醉酒，不下车报警</a:t>
            </a:r>
            <a:endParaRPr lang="en-US" altLang="zh-CN" sz="11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小孩</a:t>
            </a:r>
            <a:endParaRPr lang="en-US" altLang="zh-CN" sz="11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宠物等</a:t>
            </a:r>
            <a:endParaRPr lang="en-US" altLang="zh-CN" sz="11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5EDD50F-401B-A861-58F3-279CF6BDCB82}"/>
              </a:ext>
            </a:extLst>
          </p:cNvPr>
          <p:cNvSpPr txBox="1"/>
          <p:nvPr/>
        </p:nvSpPr>
        <p:spPr>
          <a:xfrm>
            <a:off x="4146163" y="3870043"/>
            <a:ext cx="217999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100" dirty="0"/>
              <a:t>司机不愿意无偿服务，认为遗落物品时乘客的责任</a:t>
            </a:r>
            <a:endParaRPr lang="en-US" altLang="zh-CN" sz="11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100" dirty="0"/>
              <a:t>贵重物品提醒</a:t>
            </a:r>
            <a:endParaRPr lang="en-US" altLang="zh-CN" sz="11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B46C8E4-914D-44DC-F01D-8C97D65DD785}"/>
              </a:ext>
            </a:extLst>
          </p:cNvPr>
          <p:cNvSpPr txBox="1"/>
          <p:nvPr/>
        </p:nvSpPr>
        <p:spPr>
          <a:xfrm>
            <a:off x="7124620" y="3882631"/>
            <a:ext cx="2179993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100" dirty="0"/>
              <a:t>提醒拿行李</a:t>
            </a:r>
            <a:endParaRPr lang="en-US" altLang="zh-CN" sz="11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100" dirty="0"/>
              <a:t>帮助拿行李</a:t>
            </a:r>
            <a:endParaRPr lang="en-US" altLang="zh-CN" sz="11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1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4BCD6AD-17A0-EC25-FE0D-877D20DD9AFE}"/>
              </a:ext>
            </a:extLst>
          </p:cNvPr>
          <p:cNvSpPr txBox="1"/>
          <p:nvPr/>
        </p:nvSpPr>
        <p:spPr>
          <a:xfrm>
            <a:off x="9518347" y="2173512"/>
            <a:ext cx="246937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050" dirty="0"/>
              <a:t>下车根据特殊路段与天气场景进行针对性提醒，避免开门刹</a:t>
            </a:r>
            <a:endParaRPr lang="en-US" altLang="zh-CN" sz="105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6F75E43-8C59-AC52-1301-A01F55A2D88C}"/>
              </a:ext>
            </a:extLst>
          </p:cNvPr>
          <p:cNvSpPr txBox="1"/>
          <p:nvPr/>
        </p:nvSpPr>
        <p:spPr>
          <a:xfrm>
            <a:off x="9518347" y="3745932"/>
            <a:ext cx="246937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050" dirty="0"/>
              <a:t>下车时语音提醒拿好车内物品与行李箱</a:t>
            </a:r>
            <a:endParaRPr lang="en-US" altLang="zh-CN" sz="105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97F90A8-D763-3FBA-3059-02D4A2FC2889}"/>
              </a:ext>
            </a:extLst>
          </p:cNvPr>
          <p:cNvSpPr txBox="1"/>
          <p:nvPr/>
        </p:nvSpPr>
        <p:spPr>
          <a:xfrm>
            <a:off x="1916338" y="5092538"/>
            <a:ext cx="1601721" cy="3160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特殊乘客提醒免责</a:t>
            </a:r>
            <a:endParaRPr lang="en-US" altLang="zh-CN" sz="1100" dirty="0"/>
          </a:p>
        </p:txBody>
      </p:sp>
    </p:spTree>
    <p:extLst>
      <p:ext uri="{BB962C8B-B14F-4D97-AF65-F5344CB8AC3E}">
        <p14:creationId xmlns:p14="http://schemas.microsoft.com/office/powerpoint/2010/main" val="27205477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79136-E789-2BD1-8C24-E9FE9FD63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E9C55E-FAC8-BFD4-2E53-5E638B41FC6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69924" y="433637"/>
            <a:ext cx="10440000" cy="595063"/>
          </a:xfrm>
        </p:spPr>
        <p:txBody>
          <a:bodyPr/>
          <a:lstStyle/>
          <a:p>
            <a:r>
              <a:rPr lang="zh-CN" altLang="en-US" dirty="0"/>
              <a:t>到达阶段</a:t>
            </a:r>
            <a:r>
              <a:rPr lang="en-US" altLang="zh-CN" dirty="0"/>
              <a:t>——</a:t>
            </a:r>
            <a:r>
              <a:rPr lang="zh-CN" altLang="en-US" dirty="0"/>
              <a:t>服务评价</a:t>
            </a:r>
          </a:p>
        </p:txBody>
      </p:sp>
      <p:sp>
        <p:nvSpPr>
          <p:cNvPr id="16" name="文本占位符 4">
            <a:extLst>
              <a:ext uri="{FF2B5EF4-FFF2-40B4-BE49-F238E27FC236}">
                <a16:creationId xmlns:a16="http://schemas.microsoft.com/office/drawing/2014/main" id="{352B4154-B52A-58FF-D9CB-7E3A14D8425F}"/>
              </a:ext>
            </a:extLst>
          </p:cNvPr>
          <p:cNvSpPr txBox="1"/>
          <p:nvPr/>
        </p:nvSpPr>
        <p:spPr>
          <a:xfrm>
            <a:off x="5183625" y="1395662"/>
            <a:ext cx="2290714" cy="3385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用户需求分析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5467F322-13FD-8B15-C805-97A634B9570C}"/>
              </a:ext>
            </a:extLst>
          </p:cNvPr>
          <p:cNvCxnSpPr/>
          <p:nvPr/>
        </p:nvCxnSpPr>
        <p:spPr>
          <a:xfrm>
            <a:off x="431787" y="1303200"/>
            <a:ext cx="11196000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7B474B0F-0193-DF30-B1BC-CFDB0823D67C}"/>
              </a:ext>
            </a:extLst>
          </p:cNvPr>
          <p:cNvCxnSpPr/>
          <p:nvPr/>
        </p:nvCxnSpPr>
        <p:spPr>
          <a:xfrm>
            <a:off x="431787" y="1810163"/>
            <a:ext cx="11196000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57FE888B-9699-57F2-F7DB-798C57DE4782}"/>
              </a:ext>
            </a:extLst>
          </p:cNvPr>
          <p:cNvSpPr txBox="1"/>
          <p:nvPr/>
        </p:nvSpPr>
        <p:spPr>
          <a:xfrm>
            <a:off x="97877" y="2794788"/>
            <a:ext cx="36603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>
              <a:defRPr/>
            </a:pP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algn="ctr"/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服务评价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B8F8794-1ED9-4E4D-E413-1685CBEAF69E}"/>
              </a:ext>
            </a:extLst>
          </p:cNvPr>
          <p:cNvSpPr txBox="1"/>
          <p:nvPr/>
        </p:nvSpPr>
        <p:spPr>
          <a:xfrm>
            <a:off x="425035" y="2186095"/>
            <a:ext cx="1525188" cy="3524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司机主动索要好评</a:t>
            </a: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客户服务后红包</a:t>
            </a: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有客户打车看评分</a:t>
            </a: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占位符 4">
            <a:extLst>
              <a:ext uri="{FF2B5EF4-FFF2-40B4-BE49-F238E27FC236}">
                <a16:creationId xmlns:a16="http://schemas.microsoft.com/office/drawing/2014/main" id="{7281299D-1563-5777-7EB4-BB200925B93E}"/>
              </a:ext>
            </a:extLst>
          </p:cNvPr>
          <p:cNvSpPr txBox="1"/>
          <p:nvPr/>
        </p:nvSpPr>
        <p:spPr>
          <a:xfrm>
            <a:off x="2143529" y="1384066"/>
            <a:ext cx="1697824" cy="3385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关键发现</a:t>
            </a:r>
          </a:p>
        </p:txBody>
      </p:sp>
      <p:sp>
        <p:nvSpPr>
          <p:cNvPr id="60" name="文本占位符 4">
            <a:extLst>
              <a:ext uri="{FF2B5EF4-FFF2-40B4-BE49-F238E27FC236}">
                <a16:creationId xmlns:a16="http://schemas.microsoft.com/office/drawing/2014/main" id="{611F8C17-4135-5F54-C6A2-AED7295B7FD1}"/>
              </a:ext>
            </a:extLst>
          </p:cNvPr>
          <p:cNvSpPr txBox="1"/>
          <p:nvPr/>
        </p:nvSpPr>
        <p:spPr>
          <a:xfrm>
            <a:off x="9262073" y="1398077"/>
            <a:ext cx="2709470" cy="3385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司机</a:t>
            </a:r>
            <a:r>
              <a: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功能建议</a:t>
            </a: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FDBFF9FD-615B-A4B1-19D6-E6A00E54B101}"/>
              </a:ext>
            </a:extLst>
          </p:cNvPr>
          <p:cNvCxnSpPr/>
          <p:nvPr/>
        </p:nvCxnSpPr>
        <p:spPr>
          <a:xfrm>
            <a:off x="3733800" y="1834362"/>
            <a:ext cx="0" cy="43200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5547DDFD-0D80-9E3E-4462-2FE2BFFA431A}"/>
              </a:ext>
            </a:extLst>
          </p:cNvPr>
          <p:cNvCxnSpPr/>
          <p:nvPr/>
        </p:nvCxnSpPr>
        <p:spPr>
          <a:xfrm>
            <a:off x="9425901" y="1834362"/>
            <a:ext cx="0" cy="43200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占位符 4">
            <a:extLst>
              <a:ext uri="{FF2B5EF4-FFF2-40B4-BE49-F238E27FC236}">
                <a16:creationId xmlns:a16="http://schemas.microsoft.com/office/drawing/2014/main" id="{8B24E77C-D415-0EA4-85D9-58F660D7039C}"/>
              </a:ext>
            </a:extLst>
          </p:cNvPr>
          <p:cNvSpPr txBox="1"/>
          <p:nvPr/>
        </p:nvSpPr>
        <p:spPr>
          <a:xfrm>
            <a:off x="483782" y="1390273"/>
            <a:ext cx="1697824" cy="3385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高频场景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B7236DB1-7D1F-1B73-8DEE-E7D7F5362380}"/>
              </a:ext>
            </a:extLst>
          </p:cNvPr>
          <p:cNvCxnSpPr/>
          <p:nvPr/>
        </p:nvCxnSpPr>
        <p:spPr>
          <a:xfrm>
            <a:off x="1933280" y="1810163"/>
            <a:ext cx="0" cy="43200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25">
            <a:extLst>
              <a:ext uri="{FF2B5EF4-FFF2-40B4-BE49-F238E27FC236}">
                <a16:creationId xmlns:a16="http://schemas.microsoft.com/office/drawing/2014/main" id="{833EFB8F-15E7-3ED5-0C40-F62BAC6379C5}"/>
              </a:ext>
            </a:extLst>
          </p:cNvPr>
          <p:cNvCxnSpPr/>
          <p:nvPr/>
        </p:nvCxnSpPr>
        <p:spPr>
          <a:xfrm>
            <a:off x="431787" y="6170268"/>
            <a:ext cx="11196000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8CCF9704-B12C-3F5C-91DB-00494637CD94}"/>
              </a:ext>
            </a:extLst>
          </p:cNvPr>
          <p:cNvSpPr txBox="1"/>
          <p:nvPr/>
        </p:nvSpPr>
        <p:spPr>
          <a:xfrm>
            <a:off x="3989933" y="1944369"/>
            <a:ext cx="17427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无特殊服务索要好评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5B83689A-1685-6B34-3ED8-ADD1DC958ABD}"/>
              </a:ext>
            </a:extLst>
          </p:cNvPr>
          <p:cNvSpPr txBox="1"/>
          <p:nvPr/>
        </p:nvSpPr>
        <p:spPr>
          <a:xfrm>
            <a:off x="3952466" y="3534666"/>
            <a:ext cx="15888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专业司机素质更高</a:t>
            </a:r>
          </a:p>
        </p:txBody>
      </p: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A9A8F48E-8544-8FE4-5773-F735168A35FB}"/>
              </a:ext>
            </a:extLst>
          </p:cNvPr>
          <p:cNvCxnSpPr/>
          <p:nvPr/>
        </p:nvCxnSpPr>
        <p:spPr>
          <a:xfrm>
            <a:off x="748037" y="3237031"/>
            <a:ext cx="1133212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 69">
            <a:extLst>
              <a:ext uri="{FF2B5EF4-FFF2-40B4-BE49-F238E27FC236}">
                <a16:creationId xmlns:a16="http://schemas.microsoft.com/office/drawing/2014/main" id="{06859285-9F83-A3DC-C4A3-73F67EF840C1}"/>
              </a:ext>
            </a:extLst>
          </p:cNvPr>
          <p:cNvSpPr/>
          <p:nvPr/>
        </p:nvSpPr>
        <p:spPr>
          <a:xfrm>
            <a:off x="7019673" y="5860117"/>
            <a:ext cx="1823073" cy="2512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录音与原话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66B7648-C0DD-423B-593F-15E0344EE4C0}"/>
              </a:ext>
            </a:extLst>
          </p:cNvPr>
          <p:cNvSpPr txBox="1"/>
          <p:nvPr/>
        </p:nvSpPr>
        <p:spPr>
          <a:xfrm>
            <a:off x="1950223" y="2195291"/>
            <a:ext cx="1704313" cy="3059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50" dirty="0"/>
              <a:t>乘客普遍反感索要好评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D9679D41-FA15-CA60-55E4-0C1A70CE1419}"/>
              </a:ext>
            </a:extLst>
          </p:cNvPr>
          <p:cNvSpPr txBox="1"/>
          <p:nvPr/>
        </p:nvSpPr>
        <p:spPr>
          <a:xfrm>
            <a:off x="6891431" y="3551667"/>
            <a:ext cx="1127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好评率更高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48CFC6D0-C995-12C3-7338-9AE701DA425A}"/>
              </a:ext>
            </a:extLst>
          </p:cNvPr>
          <p:cNvCxnSpPr/>
          <p:nvPr/>
        </p:nvCxnSpPr>
        <p:spPr>
          <a:xfrm>
            <a:off x="551709" y="4618626"/>
            <a:ext cx="1133212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3326610F-DC69-59A9-3BA0-6825818B5161}"/>
              </a:ext>
            </a:extLst>
          </p:cNvPr>
          <p:cNvSpPr txBox="1"/>
          <p:nvPr/>
        </p:nvSpPr>
        <p:spPr>
          <a:xfrm>
            <a:off x="1950222" y="3332503"/>
            <a:ext cx="1718579" cy="1275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50" dirty="0"/>
              <a:t>专车司机服务水平更高，人群素质更高，好评率更高</a:t>
            </a:r>
            <a:endParaRPr lang="en-US" altLang="zh-CN" sz="105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50" dirty="0"/>
              <a:t>司机非常在意客户红包，觉得是对自己认可</a:t>
            </a:r>
            <a:endParaRPr lang="en-US" altLang="zh-CN" sz="105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83C6A84-2B75-1D2E-3D57-424397FB69CA}"/>
              </a:ext>
            </a:extLst>
          </p:cNvPr>
          <p:cNvSpPr txBox="1"/>
          <p:nvPr/>
        </p:nvSpPr>
        <p:spPr>
          <a:xfrm>
            <a:off x="4007257" y="4822616"/>
            <a:ext cx="17427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打车后主动查看评分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9DE4E19-EBEC-4B02-7551-36A2B15DDBE1}"/>
              </a:ext>
            </a:extLst>
          </p:cNvPr>
          <p:cNvSpPr txBox="1"/>
          <p:nvPr/>
        </p:nvSpPr>
        <p:spPr>
          <a:xfrm>
            <a:off x="9502173" y="4886067"/>
            <a:ext cx="2469370" cy="1054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050" dirty="0"/>
              <a:t>对于差评建立审核机制，服务过程自动</a:t>
            </a:r>
            <a:r>
              <a:rPr lang="en-US" altLang="zh-CN" sz="1050" dirty="0"/>
              <a:t>review</a:t>
            </a:r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050" dirty="0"/>
              <a:t>建立服务勋章制度，建立人格化的</a:t>
            </a:r>
            <a:r>
              <a:rPr lang="en-US" altLang="zh-CN" sz="1050" dirty="0"/>
              <a:t>agent</a:t>
            </a:r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050" dirty="0"/>
              <a:t>服务自我进化机制</a:t>
            </a:r>
            <a:endParaRPr lang="en-US" altLang="zh-CN" sz="105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2034F7A-3D02-7577-1839-AF6BF4E7B751}"/>
              </a:ext>
            </a:extLst>
          </p:cNvPr>
          <p:cNvSpPr txBox="1"/>
          <p:nvPr/>
        </p:nvSpPr>
        <p:spPr>
          <a:xfrm>
            <a:off x="4351674" y="2324020"/>
            <a:ext cx="11785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100" dirty="0"/>
              <a:t>下车时索要</a:t>
            </a:r>
            <a:endParaRPr lang="en-US" altLang="zh-CN" sz="11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02072F9-C2B9-51D8-E740-49531F776B69}"/>
              </a:ext>
            </a:extLst>
          </p:cNvPr>
          <p:cNvSpPr txBox="1"/>
          <p:nvPr/>
        </p:nvSpPr>
        <p:spPr>
          <a:xfrm>
            <a:off x="4287226" y="5180162"/>
            <a:ext cx="2448106" cy="5688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特殊群体打车，如女性单独打车</a:t>
            </a:r>
            <a:endParaRPr lang="en-US" altLang="zh-CN" sz="11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1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0DC5337-99BF-C94F-6BBC-7844DE9C27E9}"/>
              </a:ext>
            </a:extLst>
          </p:cNvPr>
          <p:cNvSpPr txBox="1"/>
          <p:nvPr/>
        </p:nvSpPr>
        <p:spPr>
          <a:xfrm>
            <a:off x="4146163" y="3870043"/>
            <a:ext cx="2179993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100" dirty="0"/>
              <a:t>同理心强</a:t>
            </a:r>
            <a:endParaRPr lang="en-US" altLang="zh-CN" sz="11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100" dirty="0"/>
              <a:t>从业人员过去背景更好</a:t>
            </a:r>
            <a:endParaRPr lang="en-US" altLang="zh-CN" sz="11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1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54BB503-0131-C4FA-3D57-6F2DE17E74EB}"/>
              </a:ext>
            </a:extLst>
          </p:cNvPr>
          <p:cNvSpPr txBox="1"/>
          <p:nvPr/>
        </p:nvSpPr>
        <p:spPr>
          <a:xfrm>
            <a:off x="6841211" y="3876798"/>
            <a:ext cx="246340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100" dirty="0"/>
              <a:t>平台规定的专业相关服务要求</a:t>
            </a:r>
            <a:endParaRPr lang="en-US" altLang="zh-CN" sz="11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100" dirty="0"/>
              <a:t>乘客素质更高</a:t>
            </a:r>
            <a:endParaRPr lang="en-US" altLang="zh-CN" sz="11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37A6179-2E57-B13E-DB25-AD157DCB8783}"/>
              </a:ext>
            </a:extLst>
          </p:cNvPr>
          <p:cNvSpPr txBox="1"/>
          <p:nvPr/>
        </p:nvSpPr>
        <p:spPr>
          <a:xfrm>
            <a:off x="1916339" y="5092538"/>
            <a:ext cx="1738198" cy="569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打车后主动查看司机评分</a:t>
            </a:r>
            <a:endParaRPr lang="en-US" altLang="zh-CN" sz="11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8EF768D-3983-9F13-3CA9-2727771C09B9}"/>
              </a:ext>
            </a:extLst>
          </p:cNvPr>
          <p:cNvSpPr txBox="1"/>
          <p:nvPr/>
        </p:nvSpPr>
        <p:spPr>
          <a:xfrm>
            <a:off x="9547190" y="2237327"/>
            <a:ext cx="246937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050" dirty="0"/>
              <a:t>避免索要好评</a:t>
            </a:r>
            <a:endParaRPr lang="en-US" altLang="zh-CN" sz="105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9BBA7E5-140C-8D07-B331-534EC886E3B7}"/>
              </a:ext>
            </a:extLst>
          </p:cNvPr>
          <p:cNvSpPr txBox="1"/>
          <p:nvPr/>
        </p:nvSpPr>
        <p:spPr>
          <a:xfrm>
            <a:off x="9518347" y="3730819"/>
            <a:ext cx="246937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050" dirty="0"/>
              <a:t>专车与快车的</a:t>
            </a:r>
            <a:r>
              <a:rPr lang="en-US" altLang="zh-CN" sz="1050" dirty="0"/>
              <a:t>agent</a:t>
            </a:r>
            <a:r>
              <a:rPr lang="zh-CN" altLang="en-US" sz="1050" dirty="0"/>
              <a:t>建立不同服务评价机制</a:t>
            </a:r>
            <a:endParaRPr lang="en-US" altLang="zh-CN" sz="1050" dirty="0"/>
          </a:p>
        </p:txBody>
      </p:sp>
    </p:spTree>
    <p:extLst>
      <p:ext uri="{BB962C8B-B14F-4D97-AF65-F5344CB8AC3E}">
        <p14:creationId xmlns:p14="http://schemas.microsoft.com/office/powerpoint/2010/main" val="27460555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3FAE1-2363-3448-CBAA-F92922E55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0863E9-13A4-3CA5-F270-289446CE915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69924" y="433637"/>
            <a:ext cx="10440000" cy="595063"/>
          </a:xfrm>
        </p:spPr>
        <p:txBody>
          <a:bodyPr/>
          <a:lstStyle/>
          <a:p>
            <a:r>
              <a:rPr lang="zh-CN" altLang="en-US" dirty="0"/>
              <a:t>跨阶段</a:t>
            </a:r>
          </a:p>
        </p:txBody>
      </p:sp>
      <p:sp>
        <p:nvSpPr>
          <p:cNvPr id="16" name="文本占位符 4">
            <a:extLst>
              <a:ext uri="{FF2B5EF4-FFF2-40B4-BE49-F238E27FC236}">
                <a16:creationId xmlns:a16="http://schemas.microsoft.com/office/drawing/2014/main" id="{3AE6E755-21CA-F0F2-FCBF-BA349073A577}"/>
              </a:ext>
            </a:extLst>
          </p:cNvPr>
          <p:cNvSpPr txBox="1"/>
          <p:nvPr/>
        </p:nvSpPr>
        <p:spPr>
          <a:xfrm>
            <a:off x="5183625" y="1395662"/>
            <a:ext cx="2290714" cy="3385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用户需求分析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2BD297F0-C7DC-62E3-14E4-C1F557C87E04}"/>
              </a:ext>
            </a:extLst>
          </p:cNvPr>
          <p:cNvCxnSpPr/>
          <p:nvPr/>
        </p:nvCxnSpPr>
        <p:spPr>
          <a:xfrm>
            <a:off x="431787" y="1303200"/>
            <a:ext cx="11196000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3829A729-1475-4CA2-2C10-8CCB58D2CA12}"/>
              </a:ext>
            </a:extLst>
          </p:cNvPr>
          <p:cNvCxnSpPr/>
          <p:nvPr/>
        </p:nvCxnSpPr>
        <p:spPr>
          <a:xfrm>
            <a:off x="431787" y="1810163"/>
            <a:ext cx="11196000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5BD267CF-23B0-B5EB-AD75-7CE078750423}"/>
              </a:ext>
            </a:extLst>
          </p:cNvPr>
          <p:cNvSpPr txBox="1"/>
          <p:nvPr/>
        </p:nvSpPr>
        <p:spPr>
          <a:xfrm>
            <a:off x="97877" y="2794788"/>
            <a:ext cx="36603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>
              <a:defRPr/>
            </a:pP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algn="ctr"/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跨阶段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E1E8995-38D2-8664-C628-1D2FE691C591}"/>
              </a:ext>
            </a:extLst>
          </p:cNvPr>
          <p:cNvSpPr txBox="1"/>
          <p:nvPr/>
        </p:nvSpPr>
        <p:spPr>
          <a:xfrm>
            <a:off x="425035" y="2186095"/>
            <a:ext cx="152518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司机驾驶风格</a:t>
            </a: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司机素质与品格</a:t>
            </a: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乘客个性化</a:t>
            </a: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占位符 4">
            <a:extLst>
              <a:ext uri="{FF2B5EF4-FFF2-40B4-BE49-F238E27FC236}">
                <a16:creationId xmlns:a16="http://schemas.microsoft.com/office/drawing/2014/main" id="{30AEE326-4190-0C9F-F33B-1CE58841225A}"/>
              </a:ext>
            </a:extLst>
          </p:cNvPr>
          <p:cNvSpPr txBox="1"/>
          <p:nvPr/>
        </p:nvSpPr>
        <p:spPr>
          <a:xfrm>
            <a:off x="2143529" y="1384066"/>
            <a:ext cx="1697824" cy="3385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关键发现</a:t>
            </a:r>
          </a:p>
        </p:txBody>
      </p:sp>
      <p:sp>
        <p:nvSpPr>
          <p:cNvPr id="60" name="文本占位符 4">
            <a:extLst>
              <a:ext uri="{FF2B5EF4-FFF2-40B4-BE49-F238E27FC236}">
                <a16:creationId xmlns:a16="http://schemas.microsoft.com/office/drawing/2014/main" id="{FDF554F6-C1C0-3E1D-40A0-33ED867FEFCC}"/>
              </a:ext>
            </a:extLst>
          </p:cNvPr>
          <p:cNvSpPr txBox="1"/>
          <p:nvPr/>
        </p:nvSpPr>
        <p:spPr>
          <a:xfrm>
            <a:off x="9262073" y="1398077"/>
            <a:ext cx="2709470" cy="3385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司机</a:t>
            </a:r>
            <a:r>
              <a: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功能建议</a:t>
            </a: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96542679-5360-6F51-4F8A-A51020205AFB}"/>
              </a:ext>
            </a:extLst>
          </p:cNvPr>
          <p:cNvCxnSpPr/>
          <p:nvPr/>
        </p:nvCxnSpPr>
        <p:spPr>
          <a:xfrm>
            <a:off x="3733800" y="1834362"/>
            <a:ext cx="0" cy="43200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0ABD31AD-2007-6E53-E432-CB4A0F684844}"/>
              </a:ext>
            </a:extLst>
          </p:cNvPr>
          <p:cNvCxnSpPr/>
          <p:nvPr/>
        </p:nvCxnSpPr>
        <p:spPr>
          <a:xfrm>
            <a:off x="10037844" y="1834362"/>
            <a:ext cx="0" cy="43200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占位符 4">
            <a:extLst>
              <a:ext uri="{FF2B5EF4-FFF2-40B4-BE49-F238E27FC236}">
                <a16:creationId xmlns:a16="http://schemas.microsoft.com/office/drawing/2014/main" id="{F4DA284E-88D2-C091-5682-3C0E6D6FED85}"/>
              </a:ext>
            </a:extLst>
          </p:cNvPr>
          <p:cNvSpPr txBox="1"/>
          <p:nvPr/>
        </p:nvSpPr>
        <p:spPr>
          <a:xfrm>
            <a:off x="483782" y="1390273"/>
            <a:ext cx="1697824" cy="3385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高频场景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E76F1BF0-9C62-EABA-F818-8425F3D5B71B}"/>
              </a:ext>
            </a:extLst>
          </p:cNvPr>
          <p:cNvCxnSpPr/>
          <p:nvPr/>
        </p:nvCxnSpPr>
        <p:spPr>
          <a:xfrm>
            <a:off x="1933280" y="1810163"/>
            <a:ext cx="0" cy="43200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25">
            <a:extLst>
              <a:ext uri="{FF2B5EF4-FFF2-40B4-BE49-F238E27FC236}">
                <a16:creationId xmlns:a16="http://schemas.microsoft.com/office/drawing/2014/main" id="{E463419B-93B4-CDC1-244C-A1C47E8F3232}"/>
              </a:ext>
            </a:extLst>
          </p:cNvPr>
          <p:cNvCxnSpPr/>
          <p:nvPr/>
        </p:nvCxnSpPr>
        <p:spPr>
          <a:xfrm>
            <a:off x="431787" y="6170268"/>
            <a:ext cx="11196000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9983ED9A-1043-4EEC-D819-259F45015ACD}"/>
              </a:ext>
            </a:extLst>
          </p:cNvPr>
          <p:cNvSpPr txBox="1"/>
          <p:nvPr/>
        </p:nvSpPr>
        <p:spPr>
          <a:xfrm>
            <a:off x="3774780" y="1869514"/>
            <a:ext cx="8194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平稳型</a:t>
            </a:r>
          </a:p>
        </p:txBody>
      </p: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E98BA302-9ABE-7164-EC32-136C3FC8815B}"/>
              </a:ext>
            </a:extLst>
          </p:cNvPr>
          <p:cNvCxnSpPr/>
          <p:nvPr/>
        </p:nvCxnSpPr>
        <p:spPr>
          <a:xfrm>
            <a:off x="748037" y="3237031"/>
            <a:ext cx="1133212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27F8E3B8-1182-7424-6C69-CA02A24C4C49}"/>
              </a:ext>
            </a:extLst>
          </p:cNvPr>
          <p:cNvSpPr txBox="1"/>
          <p:nvPr/>
        </p:nvSpPr>
        <p:spPr>
          <a:xfrm>
            <a:off x="1968573" y="2029714"/>
            <a:ext cx="1724248" cy="1033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50" dirty="0"/>
              <a:t>平稳型（更受欢迎）</a:t>
            </a:r>
            <a:endParaRPr lang="en-US" altLang="zh-CN" sz="105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50" dirty="0"/>
              <a:t>激进型（不受欢迎）</a:t>
            </a:r>
            <a:endParaRPr lang="en-US" altLang="zh-CN" sz="105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50" dirty="0"/>
              <a:t>合规安全型（都需要遵守，但不能延迟太多）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0AFBBCE0-4FC0-4457-33C5-76908C24AB10}"/>
              </a:ext>
            </a:extLst>
          </p:cNvPr>
          <p:cNvCxnSpPr/>
          <p:nvPr/>
        </p:nvCxnSpPr>
        <p:spPr>
          <a:xfrm>
            <a:off x="551709" y="4618626"/>
            <a:ext cx="1133212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4B4B52F5-D21E-AE57-839F-79BB9E04A33E}"/>
              </a:ext>
            </a:extLst>
          </p:cNvPr>
          <p:cNvSpPr txBox="1"/>
          <p:nvPr/>
        </p:nvSpPr>
        <p:spPr>
          <a:xfrm>
            <a:off x="10078826" y="2115536"/>
            <a:ext cx="2067293" cy="1054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050" dirty="0"/>
              <a:t>缺省为平稳型</a:t>
            </a:r>
            <a:r>
              <a:rPr lang="en-US" altLang="zh-CN" sz="1050" dirty="0"/>
              <a:t>+</a:t>
            </a:r>
            <a:r>
              <a:rPr lang="zh-CN" altLang="en-US" sz="1050" dirty="0"/>
              <a:t>安全合规型</a:t>
            </a:r>
            <a:endParaRPr lang="en-US" altLang="zh-CN" sz="1050" dirty="0"/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050" dirty="0"/>
              <a:t>对于可能延迟要进行语音提醒，避免用户投诉（超过</a:t>
            </a:r>
            <a:r>
              <a:rPr lang="en-US" altLang="zh-CN" sz="1050" dirty="0"/>
              <a:t>5</a:t>
            </a:r>
            <a:r>
              <a:rPr lang="zh-CN" altLang="en-US" sz="1050" dirty="0"/>
              <a:t>分钟以上）</a:t>
            </a:r>
            <a:endParaRPr lang="en-US" altLang="zh-CN" sz="1050" dirty="0"/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endParaRPr lang="en-US" altLang="zh-CN" sz="105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D7BEEE7-2021-9F49-77A5-4BA6C9C77D88}"/>
              </a:ext>
            </a:extLst>
          </p:cNvPr>
          <p:cNvSpPr txBox="1"/>
          <p:nvPr/>
        </p:nvSpPr>
        <p:spPr>
          <a:xfrm>
            <a:off x="5964083" y="1876325"/>
            <a:ext cx="8194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激进型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0EF2AEC-7932-A809-4799-6679BD5ED90B}"/>
              </a:ext>
            </a:extLst>
          </p:cNvPr>
          <p:cNvSpPr txBox="1"/>
          <p:nvPr/>
        </p:nvSpPr>
        <p:spPr>
          <a:xfrm>
            <a:off x="7978636" y="1823427"/>
            <a:ext cx="1127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合规安全性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C4F4551-2481-E5B1-61EE-8F27DB7D41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4465" y="2107842"/>
            <a:ext cx="2103211" cy="1061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日常舒适需求</a:t>
            </a:r>
            <a: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：乘客反感颠簸（乘客因颠簸投诉）；</a:t>
            </a:r>
            <a:endParaRPr kumimoji="0" lang="en-US" altLang="zh-CN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sz="1050" b="1" dirty="0">
                <a:latin typeface="Arial" panose="020B0604020202020204" pitchFamily="34" charset="0"/>
              </a:rPr>
              <a:t>复杂路况谨慎</a:t>
            </a:r>
            <a:r>
              <a:rPr lang="zh-CN" altLang="zh-CN" sz="1050" dirty="0">
                <a:latin typeface="Arial" panose="020B0604020202020204" pitchFamily="34" charset="0"/>
              </a:rPr>
              <a:t>：雨雪天气“减速慢行”但保持平稳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zh-CN" altLang="en-US" sz="1050" b="1" dirty="0">
                <a:latin typeface="Arial" panose="020B0604020202020204" pitchFamily="34" charset="0"/>
              </a:rPr>
              <a:t>需要照顾的人群更喜欢</a:t>
            </a:r>
            <a:r>
              <a:rPr lang="zh-CN" altLang="en-US" sz="1050" dirty="0">
                <a:latin typeface="Arial" panose="020B0604020202020204" pitchFamily="34" charset="0"/>
              </a:rPr>
              <a:t>，如晕车，醉酒，有孩子等</a:t>
            </a:r>
            <a:endParaRPr kumimoji="0" lang="zh-CN" altLang="zh-CN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E841E991-AA2B-65DC-221C-DAE2B63A7C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9614" y="2198738"/>
            <a:ext cx="2255630" cy="900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日常体验破坏</a:t>
            </a:r>
            <a:r>
              <a:rPr kumimoji="0" lang="en-US" altLang="zh-CN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特殊乘客伤害</a:t>
            </a:r>
            <a: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：醉酒者（急转弯加重呕吐）、儿童（急刹易受伤）；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规则违反</a:t>
            </a:r>
            <a: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：闯红灯、急刹车（被投诉</a:t>
            </a:r>
            <a:r>
              <a:rPr lang="zh-CN" altLang="zh-CN" sz="1050" dirty="0">
                <a:latin typeface="Arial" panose="020B0604020202020204" pitchFamily="34" charset="0"/>
              </a:rPr>
              <a:t>‘危险驾驶’）；</a:t>
            </a:r>
          </a:p>
        </p:txBody>
      </p:sp>
      <p:sp>
        <p:nvSpPr>
          <p:cNvPr id="20" name="Rectangle 4">
            <a:extLst>
              <a:ext uri="{FF2B5EF4-FFF2-40B4-BE49-F238E27FC236}">
                <a16:creationId xmlns:a16="http://schemas.microsoft.com/office/drawing/2014/main" id="{C308E334-8536-D618-041A-610697B12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1524" y="2189475"/>
            <a:ext cx="2015339" cy="93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不延迟情况下受欢迎</a:t>
            </a:r>
            <a:endParaRPr kumimoji="0" lang="en-US" altLang="zh-CN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过度延误未沟通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：如“雨天降速晚到10分钟未被理解”（“乘客以‘未达时效承诺’投诉”）；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8E96C55-EB30-EDE9-F228-5268059C7C83}"/>
              </a:ext>
            </a:extLst>
          </p:cNvPr>
          <p:cNvSpPr txBox="1"/>
          <p:nvPr/>
        </p:nvSpPr>
        <p:spPr>
          <a:xfrm>
            <a:off x="1991204" y="3596036"/>
            <a:ext cx="1450322" cy="823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核心欢迎素质</a:t>
            </a:r>
            <a:endParaRPr lang="en-US" altLang="zh-CN" sz="11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场景化加分项</a:t>
            </a:r>
            <a:endParaRPr lang="en-US" altLang="zh-CN" sz="11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绝对禁忌</a:t>
            </a:r>
          </a:p>
        </p:txBody>
      </p:sp>
      <p:sp>
        <p:nvSpPr>
          <p:cNvPr id="24" name="文本框 22">
            <a:extLst>
              <a:ext uri="{FF2B5EF4-FFF2-40B4-BE49-F238E27FC236}">
                <a16:creationId xmlns:a16="http://schemas.microsoft.com/office/drawing/2014/main" id="{D8E96C55-EB30-EDE9-F228-5268059C7C83}"/>
              </a:ext>
            </a:extLst>
          </p:cNvPr>
          <p:cNvSpPr txBox="1"/>
          <p:nvPr/>
        </p:nvSpPr>
        <p:spPr>
          <a:xfrm>
            <a:off x="3754207" y="3328849"/>
            <a:ext cx="14503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核心欢迎素质</a:t>
            </a:r>
            <a:endParaRPr lang="en-US" altLang="zh-CN" sz="1200" b="1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44F2FCB-5BAB-D90D-7CCD-A47DB436E8BB}"/>
              </a:ext>
            </a:extLst>
          </p:cNvPr>
          <p:cNvSpPr txBox="1"/>
          <p:nvPr/>
        </p:nvSpPr>
        <p:spPr>
          <a:xfrm>
            <a:off x="3908920" y="3627935"/>
            <a:ext cx="1345240" cy="823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礼貌与尊重</a:t>
            </a:r>
            <a:endParaRPr lang="en-US" altLang="zh-CN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耐心</a:t>
            </a:r>
            <a:endParaRPr lang="en-US" altLang="zh-CN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责任心与专业性</a:t>
            </a:r>
          </a:p>
        </p:txBody>
      </p:sp>
      <p:sp>
        <p:nvSpPr>
          <p:cNvPr id="32" name="文本框 22">
            <a:extLst>
              <a:ext uri="{FF2B5EF4-FFF2-40B4-BE49-F238E27FC236}">
                <a16:creationId xmlns:a16="http://schemas.microsoft.com/office/drawing/2014/main" id="{C182D010-B762-29F8-15E4-ECAFBDC79136}"/>
              </a:ext>
            </a:extLst>
          </p:cNvPr>
          <p:cNvSpPr txBox="1"/>
          <p:nvPr/>
        </p:nvSpPr>
        <p:spPr>
          <a:xfrm>
            <a:off x="5724097" y="3348966"/>
            <a:ext cx="14503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场景化加分项</a:t>
            </a:r>
            <a:endParaRPr lang="en-US" altLang="zh-CN" sz="1200" b="1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7C5B36D-6DFB-6433-9744-A51C4094A1CD}"/>
              </a:ext>
            </a:extLst>
          </p:cNvPr>
          <p:cNvSpPr txBox="1"/>
          <p:nvPr/>
        </p:nvSpPr>
        <p:spPr>
          <a:xfrm>
            <a:off x="6023212" y="3620969"/>
            <a:ext cx="922047" cy="822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灵活应变</a:t>
            </a:r>
            <a:endParaRPr lang="en-US" altLang="zh-CN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人文关怀</a:t>
            </a:r>
            <a:endParaRPr lang="en-US" altLang="zh-CN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同理心</a:t>
            </a:r>
          </a:p>
        </p:txBody>
      </p:sp>
      <p:sp>
        <p:nvSpPr>
          <p:cNvPr id="37" name="文本框 22">
            <a:extLst>
              <a:ext uri="{FF2B5EF4-FFF2-40B4-BE49-F238E27FC236}">
                <a16:creationId xmlns:a16="http://schemas.microsoft.com/office/drawing/2014/main" id="{E7B4F424-F115-94AC-4BED-362086F1C051}"/>
              </a:ext>
            </a:extLst>
          </p:cNvPr>
          <p:cNvSpPr txBox="1"/>
          <p:nvPr/>
        </p:nvSpPr>
        <p:spPr>
          <a:xfrm>
            <a:off x="8035275" y="3333381"/>
            <a:ext cx="14503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绝对禁忌</a:t>
            </a:r>
            <a:endParaRPr lang="en-US" altLang="zh-CN" sz="1200" b="1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F014AA7-F6D1-0915-43CF-51354C3CBBA1}"/>
              </a:ext>
            </a:extLst>
          </p:cNvPr>
          <p:cNvSpPr txBox="1"/>
          <p:nvPr/>
        </p:nvSpPr>
        <p:spPr>
          <a:xfrm>
            <a:off x="7522634" y="3503095"/>
            <a:ext cx="2475604" cy="1166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/>
              <a:t>危险驾驶</a:t>
            </a:r>
            <a:endParaRPr lang="en-US" altLang="zh-CN" sz="12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/>
              <a:t>欺诈行为（绕路，贪利加价等）</a:t>
            </a:r>
            <a:endParaRPr lang="en-US" altLang="zh-CN" sz="12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/>
              <a:t>态度恶劣（大吼大叫等）</a:t>
            </a:r>
            <a:endParaRPr lang="en-US" altLang="zh-CN" sz="12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/>
              <a:t>不尊重隐私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E58DC84-C308-02B3-289D-C6E719BC7CB1}"/>
              </a:ext>
            </a:extLst>
          </p:cNvPr>
          <p:cNvSpPr txBox="1"/>
          <p:nvPr/>
        </p:nvSpPr>
        <p:spPr>
          <a:xfrm>
            <a:off x="10076277" y="3443095"/>
            <a:ext cx="2067293" cy="1054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050" dirty="0"/>
              <a:t>系统需要做到核心素质</a:t>
            </a:r>
            <a:endParaRPr lang="en-US" altLang="zh-CN" sz="1050" dirty="0"/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050" dirty="0"/>
              <a:t>系统在场景化需要重点发力，理解客户车内的场景，灵活应对</a:t>
            </a:r>
            <a:endParaRPr lang="en-US" altLang="zh-CN" sz="1050" dirty="0"/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050" dirty="0"/>
              <a:t>绝对避免禁忌事项</a:t>
            </a:r>
            <a:endParaRPr lang="en-US" altLang="zh-CN" sz="105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5DD24C8E-6196-0FA8-4D8E-AF72C610AC64}"/>
              </a:ext>
            </a:extLst>
          </p:cNvPr>
          <p:cNvSpPr txBox="1"/>
          <p:nvPr/>
        </p:nvSpPr>
        <p:spPr>
          <a:xfrm>
            <a:off x="2037132" y="4770096"/>
            <a:ext cx="1325022" cy="1331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内向社恐型</a:t>
            </a:r>
            <a:endParaRPr lang="en-US" altLang="zh-CN" sz="11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注重细节型</a:t>
            </a:r>
            <a:endParaRPr lang="en-US" altLang="zh-CN" sz="11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高效务实型</a:t>
            </a:r>
            <a:endParaRPr lang="en-US" altLang="zh-CN" sz="11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包容体谅型</a:t>
            </a:r>
            <a:endParaRPr lang="en-US" altLang="zh-CN" sz="11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/>
              <a:t>强势维权型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9B9D5C0-3BB9-0A4D-8930-E3C170181059}"/>
              </a:ext>
            </a:extLst>
          </p:cNvPr>
          <p:cNvSpPr txBox="1"/>
          <p:nvPr/>
        </p:nvSpPr>
        <p:spPr>
          <a:xfrm>
            <a:off x="3868083" y="4778620"/>
            <a:ext cx="6612672" cy="1331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100" b="1" dirty="0"/>
              <a:t>减少沟通、保持安静、不被打扰</a:t>
            </a:r>
            <a:r>
              <a:rPr lang="en-US" altLang="zh-CN" sz="1100" dirty="0"/>
              <a:t>——</a:t>
            </a:r>
            <a:r>
              <a:rPr lang="zh-CN" altLang="en-US" sz="1100" dirty="0"/>
              <a:t>摇手表示停止聊天，司机要有眼力见</a:t>
            </a:r>
            <a:endParaRPr lang="en-US" altLang="zh-CN" sz="11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100" b="1" dirty="0"/>
              <a:t>体验精致、细节到位</a:t>
            </a:r>
            <a:r>
              <a:rPr lang="en-US" altLang="zh-CN" sz="1100" dirty="0"/>
              <a:t>——</a:t>
            </a:r>
            <a:r>
              <a:rPr lang="zh-CN" altLang="en-US" sz="1100" dirty="0"/>
              <a:t>车辆整洁干净，备至物品充分（充电线，呕吐带，纸斤），驾驶细节</a:t>
            </a:r>
            <a:endParaRPr lang="en-US" altLang="zh-CN" sz="11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100" b="1" dirty="0"/>
              <a:t>安全、准时、高效到达目的地</a:t>
            </a:r>
            <a:r>
              <a:rPr lang="en-US" altLang="zh-CN" sz="1100" dirty="0"/>
              <a:t>——</a:t>
            </a:r>
            <a:r>
              <a:rPr lang="zh-CN" altLang="en-US" sz="1100" dirty="0"/>
              <a:t>司机龟速行驶、绕路、开错道等行为零容忍，最优路线</a:t>
            </a:r>
            <a:endParaRPr lang="en-US" altLang="zh-CN" sz="11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100" b="1" dirty="0"/>
              <a:t>互相理解、友好沟通</a:t>
            </a:r>
            <a:r>
              <a:rPr lang="en-US" altLang="zh-CN" sz="1100" dirty="0"/>
              <a:t>——</a:t>
            </a:r>
            <a:r>
              <a:rPr lang="zh-CN" altLang="en-US" sz="1100" dirty="0"/>
              <a:t>遇到问题能主动沟通、真诚致歉，不推卸责任</a:t>
            </a:r>
            <a:endParaRPr lang="en-US" altLang="zh-CN" sz="11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100" b="1" dirty="0"/>
              <a:t>遵守规则、保障自身权益</a:t>
            </a:r>
            <a:r>
              <a:rPr lang="en-US" altLang="zh-CN" sz="1100" dirty="0"/>
              <a:t>——</a:t>
            </a:r>
            <a:r>
              <a:rPr lang="zh-CN" altLang="en-US" sz="1100" dirty="0"/>
              <a:t>不会因司机的刁难而妥协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DA347CE-7508-E722-6BD8-934A6CFE5819}"/>
              </a:ext>
            </a:extLst>
          </p:cNvPr>
          <p:cNvSpPr txBox="1"/>
          <p:nvPr/>
        </p:nvSpPr>
        <p:spPr>
          <a:xfrm>
            <a:off x="4520221" y="4563752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核心诉求：</a:t>
            </a:r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15BC22FC-DA78-3DA6-C300-B350BE6EB2BA}"/>
              </a:ext>
            </a:extLst>
          </p:cNvPr>
          <p:cNvCxnSpPr>
            <a:cxnSpLocks/>
          </p:cNvCxnSpPr>
          <p:nvPr/>
        </p:nvCxnSpPr>
        <p:spPr>
          <a:xfrm>
            <a:off x="3140935" y="4939990"/>
            <a:ext cx="6521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FDC2CF7A-E59B-5663-94AF-F2595DAA9ADA}"/>
              </a:ext>
            </a:extLst>
          </p:cNvPr>
          <p:cNvCxnSpPr>
            <a:cxnSpLocks/>
          </p:cNvCxnSpPr>
          <p:nvPr/>
        </p:nvCxnSpPr>
        <p:spPr>
          <a:xfrm>
            <a:off x="3140935" y="5192749"/>
            <a:ext cx="6521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0E246AA4-9650-84B0-5047-F689AB26CACF}"/>
              </a:ext>
            </a:extLst>
          </p:cNvPr>
          <p:cNvCxnSpPr>
            <a:cxnSpLocks/>
          </p:cNvCxnSpPr>
          <p:nvPr/>
        </p:nvCxnSpPr>
        <p:spPr>
          <a:xfrm>
            <a:off x="3140935" y="5434357"/>
            <a:ext cx="6521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47F30F76-0FBB-F6BF-B6E7-9A090B94F1CF}"/>
              </a:ext>
            </a:extLst>
          </p:cNvPr>
          <p:cNvCxnSpPr>
            <a:cxnSpLocks/>
          </p:cNvCxnSpPr>
          <p:nvPr/>
        </p:nvCxnSpPr>
        <p:spPr>
          <a:xfrm>
            <a:off x="3140935" y="5709420"/>
            <a:ext cx="6521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8A2FFFE4-0EAB-21AC-34CC-699C82E70DB8}"/>
              </a:ext>
            </a:extLst>
          </p:cNvPr>
          <p:cNvCxnSpPr>
            <a:cxnSpLocks/>
          </p:cNvCxnSpPr>
          <p:nvPr/>
        </p:nvCxnSpPr>
        <p:spPr>
          <a:xfrm>
            <a:off x="3140935" y="5939877"/>
            <a:ext cx="6521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426A37AE-EC1E-835D-2AD4-7AEC2FC506E9}"/>
              </a:ext>
            </a:extLst>
          </p:cNvPr>
          <p:cNvSpPr txBox="1"/>
          <p:nvPr/>
        </p:nvSpPr>
        <p:spPr>
          <a:xfrm>
            <a:off x="1948789" y="4604666"/>
            <a:ext cx="17363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/>
              <a:t>以下个性，还存在复合型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BAF3FB95-CCA1-F726-F990-B4C9C802063A}"/>
              </a:ext>
            </a:extLst>
          </p:cNvPr>
          <p:cNvSpPr txBox="1"/>
          <p:nvPr/>
        </p:nvSpPr>
        <p:spPr>
          <a:xfrm>
            <a:off x="9996863" y="4978731"/>
            <a:ext cx="2067293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050" dirty="0"/>
              <a:t>乘客个性化标签，以更好提供服务</a:t>
            </a:r>
            <a:endParaRPr lang="en-US" altLang="zh-CN" sz="1050" dirty="0"/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050" dirty="0"/>
              <a:t>记录乘客习惯，以提供个性化服务</a:t>
            </a:r>
            <a:endParaRPr lang="en-US" altLang="zh-CN" sz="1050" dirty="0"/>
          </a:p>
        </p:txBody>
      </p:sp>
    </p:spTree>
    <p:extLst>
      <p:ext uri="{BB962C8B-B14F-4D97-AF65-F5344CB8AC3E}">
        <p14:creationId xmlns:p14="http://schemas.microsoft.com/office/powerpoint/2010/main" val="3356284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469991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}"/>
  <p:tag name="THINKCELLUNDODONOTDELETE" val="0"/>
  <p:tag name="ISLIDE.THEME" val="73b7c9ea-8de7-4122-a4ca-550f9828a6b1"/>
</p:tagLst>
</file>

<file path=ppt/theme/theme1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008FD4"/>
      </a:accent1>
      <a:accent2>
        <a:srgbClr val="4BC3FF"/>
      </a:accent2>
      <a:accent3>
        <a:srgbClr val="585858"/>
      </a:accent3>
      <a:accent4>
        <a:srgbClr val="6E737A"/>
      </a:accent4>
      <a:accent5>
        <a:srgbClr val="93989E"/>
      </a:accent5>
      <a:accent6>
        <a:srgbClr val="B7B8B9"/>
      </a:accent6>
      <a:hlink>
        <a:srgbClr val="4472C4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12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2916</TotalTime>
  <Words>3919</Words>
  <Application>Microsoft Office PowerPoint</Application>
  <PresentationFormat>宽屏</PresentationFormat>
  <Paragraphs>831</Paragraphs>
  <Slides>17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等线</vt:lpstr>
      <vt:lpstr>微软雅黑</vt:lpstr>
      <vt:lpstr>Arial</vt:lpstr>
      <vt:lpstr>Arial Black</vt:lpstr>
      <vt:lpstr>Calibri</vt:lpstr>
      <vt:lpstr>Impact</vt:lpstr>
      <vt:lpstr>Wingdings</vt:lpstr>
      <vt:lpstr>主题5</vt:lpstr>
      <vt:lpstr>PowerPoint 演示文稿</vt:lpstr>
      <vt:lpstr>项目执行概况 (定性)</vt:lpstr>
      <vt:lpstr>PowerPoint 演示文稿</vt:lpstr>
      <vt:lpstr>上车前阶段——行前沟通</vt:lpstr>
      <vt:lpstr>上车前阶段——行前沟通</vt:lpstr>
      <vt:lpstr>上车前阶段——定位与接驾</vt:lpstr>
      <vt:lpstr>上车前阶段——定位与接驾</vt:lpstr>
      <vt:lpstr>上车时阶段——协助上车&amp;行程确认</vt:lpstr>
      <vt:lpstr>上车时阶段——行程确认</vt:lpstr>
      <vt:lpstr>行驶阶段——车内环境舒适调整旅程</vt:lpstr>
      <vt:lpstr>行驶阶段——车内环境舒适调整旅程</vt:lpstr>
      <vt:lpstr>行驶阶段——临时停车需求</vt:lpstr>
      <vt:lpstr>到达阶段——停车位置沟通</vt:lpstr>
      <vt:lpstr>到达阶段——安全提醒</vt:lpstr>
      <vt:lpstr>到达阶段——服务评价</vt:lpstr>
      <vt:lpstr>跨阶段</vt:lpstr>
      <vt:lpstr>PowerPoint 演示文稿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hailong liu</cp:lastModifiedBy>
  <cp:revision>2215</cp:revision>
  <cp:lastPrinted>2019-03-18T16:00:00Z</cp:lastPrinted>
  <dcterms:created xsi:type="dcterms:W3CDTF">2019-03-18T16:00:00Z</dcterms:created>
  <dcterms:modified xsi:type="dcterms:W3CDTF">2026-03-04T09:02:07Z</dcterms:modified>
  <dc:description>﻿﻿﻿﻿​﻿⁢﻿﻿﻿﻿﻿﻿﻿﻿﻿﻿﻿﻿﻿‍​‌⁢﻿⁡﻿‍</dc:descript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ICV">
    <vt:lpwstr>D9BEB7119B5B45F0B14428D565C34882_13</vt:lpwstr>
  </property>
  <property fmtid="{D5CDD505-2E9C-101B-9397-08002B2CF9AE}" pid="4" name="KSOProductBuildVer">
    <vt:lpwstr>2052-12.1.0.24657</vt:lpwstr>
  </property>
</Properties>
</file>