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embeddedFontLst>
    <p:embeddedFont>
      <p:font typeface="Quattrocento Sans" charset="-122" pitchFamily="34"/>
      <p:regular r:id="rId30"/>
    </p:embeddedFont>
    <p:embeddedFont>
      <p:font typeface="Noto Sans SC" charset="-122" pitchFamily="34"/>
      <p:regular r:id="rId31"/>
    </p:embeddedFont>
    <p:embeddedFont>
      <p:font typeface="Hedvig Letters Sans" charset="-122" pitchFamily="34"/>
      <p:regular r:id="rId32"/>
    </p:embeddedFont>
    <p:embeddedFont>
      <p:font typeface="MiSans" charset="-122" pitchFamily="34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fud4chpjfx74/cover_bg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266950"/>
            <a:ext cx="2324100" cy="419100"/>
          </a:xfrm>
          <a:custGeom>
            <a:avLst/>
            <a:gdLst/>
            <a:ahLst/>
            <a:cxnLst/>
            <a:rect l="l" t="t" r="r" b="b"/>
            <a:pathLst>
              <a:path w="2324100" h="419100">
                <a:moveTo>
                  <a:pt x="0" y="0"/>
                </a:moveTo>
                <a:lnTo>
                  <a:pt x="2324100" y="0"/>
                </a:lnTo>
                <a:lnTo>
                  <a:pt x="2324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226695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234315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AUTO × DOUBAO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99085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13385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49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自动驾驶与座舱融合方案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6256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54864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52500" y="5753100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胡含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8669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012156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3"/>
          <p:cNvSpPr/>
          <p:nvPr/>
        </p:nvSpPr>
        <p:spPr>
          <a:xfrm>
            <a:off x="2438400" y="5486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438400" y="5753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2026年2月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2457450"/>
          </a:xfrm>
          <a:custGeom>
            <a:avLst/>
            <a:gdLst/>
            <a:ahLst/>
            <a:cxnLst/>
            <a:rect l="l" t="t" r="r" b="b"/>
            <a:pathLst>
              <a:path w="5581650" h="2457450">
                <a:moveTo>
                  <a:pt x="38100" y="0"/>
                </a:moveTo>
                <a:lnTo>
                  <a:pt x="5505444" y="0"/>
                </a:lnTo>
                <a:cubicBezTo>
                  <a:pt x="5547532" y="0"/>
                  <a:pt x="5581650" y="34118"/>
                  <a:pt x="5581650" y="76206"/>
                </a:cubicBezTo>
                <a:lnTo>
                  <a:pt x="5581650" y="2381244"/>
                </a:lnTo>
                <a:cubicBezTo>
                  <a:pt x="5581650" y="2423332"/>
                  <a:pt x="5547532" y="2457450"/>
                  <a:pt x="5505444" y="2457450"/>
                </a:cubicBez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457450"/>
          </a:xfrm>
          <a:custGeom>
            <a:avLst/>
            <a:gdLst/>
            <a:ahLst/>
            <a:cxnLst/>
            <a:rect l="l" t="t" r="r" b="b"/>
            <a:pathLst>
              <a:path w="38100" h="2457450">
                <a:moveTo>
                  <a:pt x="38100" y="0"/>
                </a:moveTo>
                <a:lnTo>
                  <a:pt x="38100" y="0"/>
                </a:lnTo>
                <a:lnTo>
                  <a:pt x="38100" y="2457450"/>
                </a:ln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246578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8" name="Text 6"/>
          <p:cNvSpPr/>
          <p:nvPr/>
        </p:nvSpPr>
        <p:spPr>
          <a:xfrm>
            <a:off x="931664" y="2656284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14500" y="2465784"/>
            <a:ext cx="410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产品形态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4500" y="2961084"/>
            <a:ext cx="4057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从工具到智能体的跃迁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38300"/>
            <a:ext cx="5581650" cy="2457450"/>
          </a:xfrm>
          <a:custGeom>
            <a:avLst/>
            <a:gdLst/>
            <a:ahLst/>
            <a:cxnLst/>
            <a:rect l="l" t="t" r="r" b="b"/>
            <a:pathLst>
              <a:path w="5581650" h="2457450">
                <a:moveTo>
                  <a:pt x="38100" y="0"/>
                </a:moveTo>
                <a:lnTo>
                  <a:pt x="5505444" y="0"/>
                </a:lnTo>
                <a:cubicBezTo>
                  <a:pt x="5547532" y="0"/>
                  <a:pt x="5581650" y="34118"/>
                  <a:pt x="5581650" y="76206"/>
                </a:cubicBezTo>
                <a:lnTo>
                  <a:pt x="5581650" y="2381244"/>
                </a:lnTo>
                <a:cubicBezTo>
                  <a:pt x="5581650" y="2423332"/>
                  <a:pt x="5547532" y="2457450"/>
                  <a:pt x="5505444" y="2457450"/>
                </a:cubicBez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229350" y="1638300"/>
            <a:ext cx="38100" cy="2457450"/>
          </a:xfrm>
          <a:custGeom>
            <a:avLst/>
            <a:gdLst/>
            <a:ahLst/>
            <a:cxnLst/>
            <a:rect l="l" t="t" r="r" b="b"/>
            <a:pathLst>
              <a:path w="38100" h="2457450">
                <a:moveTo>
                  <a:pt x="38100" y="0"/>
                </a:moveTo>
                <a:lnTo>
                  <a:pt x="38100" y="0"/>
                </a:lnTo>
                <a:lnTo>
                  <a:pt x="38100" y="2457450"/>
                </a:ln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231100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6728445" y="2501503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311003"/>
            <a:ext cx="410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典型场景1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43800" y="2806303"/>
            <a:ext cx="4057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周五下班看电影——复杂任务编排的端到端闭环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326731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2076446"/>
                </a:lnTo>
                <a:cubicBezTo>
                  <a:pt x="5581650" y="2118532"/>
                  <a:pt x="5547532" y="2152650"/>
                  <a:pt x="5505446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4326731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" y="499943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45" y="5189934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4999434"/>
            <a:ext cx="410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典型场景2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5494734"/>
            <a:ext cx="4057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周末出游——感知理解与自然交互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4326731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2076446"/>
                </a:lnTo>
                <a:cubicBezTo>
                  <a:pt x="5581650" y="2118532"/>
                  <a:pt x="5547532" y="2152650"/>
                  <a:pt x="5505446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229350" y="4326731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3200" y="499943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6" name="Text 24"/>
          <p:cNvSpPr/>
          <p:nvPr/>
        </p:nvSpPr>
        <p:spPr>
          <a:xfrm>
            <a:off x="6728445" y="5189934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4999434"/>
            <a:ext cx="410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43800" y="5494734"/>
            <a:ext cx="4057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分阶段实现路径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30000"/>
                </a:srgbClr>
              </a:gs>
              <a:gs pos="50000">
                <a:srgbClr val="1A1D21"/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24003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4" name="Text 2"/>
          <p:cNvSpPr/>
          <p:nvPr/>
        </p:nvSpPr>
        <p:spPr>
          <a:xfrm>
            <a:off x="701948" y="2724150"/>
            <a:ext cx="866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05000" y="26289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" name="Text 4"/>
          <p:cNvSpPr/>
          <p:nvPr/>
        </p:nvSpPr>
        <p:spPr>
          <a:xfrm>
            <a:off x="2247900" y="24765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47900" y="28575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产品形态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4076700"/>
            <a:ext cx="1007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从工具到智能体的跃迁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spc="59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舱驾融合：定义下一代出行智能体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707" y="1152293"/>
            <a:ext cx="892098" cy="37171"/>
          </a:xfrm>
          <a:custGeom>
            <a:avLst/>
            <a:gdLst/>
            <a:ahLst/>
            <a:cxnLst/>
            <a:rect l="l" t="t" r="r" b="b"/>
            <a:pathLst>
              <a:path w="892098" h="37171">
                <a:moveTo>
                  <a:pt x="0" y="0"/>
                </a:moveTo>
                <a:lnTo>
                  <a:pt x="892098" y="0"/>
                </a:lnTo>
                <a:lnTo>
                  <a:pt x="892098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90293" y="1375317"/>
            <a:ext cx="5129561" cy="1728439"/>
          </a:xfrm>
          <a:custGeom>
            <a:avLst/>
            <a:gdLst/>
            <a:ahLst/>
            <a:cxnLst/>
            <a:rect l="l" t="t" r="r" b="b"/>
            <a:pathLst>
              <a:path w="5129561" h="1728439">
                <a:moveTo>
                  <a:pt x="37171" y="0"/>
                </a:moveTo>
                <a:lnTo>
                  <a:pt x="5055221" y="0"/>
                </a:lnTo>
                <a:cubicBezTo>
                  <a:pt x="5096278" y="0"/>
                  <a:pt x="5129561" y="33283"/>
                  <a:pt x="5129561" y="74340"/>
                </a:cubicBezTo>
                <a:lnTo>
                  <a:pt x="5129561" y="1654099"/>
                </a:lnTo>
                <a:cubicBezTo>
                  <a:pt x="5129561" y="1695156"/>
                  <a:pt x="5096278" y="1728439"/>
                  <a:pt x="5055221" y="1728439"/>
                </a:cubicBez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0293" y="1375317"/>
            <a:ext cx="37171" cy="1728439"/>
          </a:xfrm>
          <a:custGeom>
            <a:avLst/>
            <a:gdLst/>
            <a:ahLst/>
            <a:cxnLst/>
            <a:rect l="l" t="t" r="r" b="b"/>
            <a:pathLst>
              <a:path w="37171" h="1728439">
                <a:moveTo>
                  <a:pt x="37171" y="0"/>
                </a:moveTo>
                <a:lnTo>
                  <a:pt x="37171" y="0"/>
                </a:lnTo>
                <a:lnTo>
                  <a:pt x="37171" y="1728439"/>
                </a:ln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94732" y="1561171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Shape 6"/>
          <p:cNvSpPr/>
          <p:nvPr/>
        </p:nvSpPr>
        <p:spPr>
          <a:xfrm>
            <a:off x="688820" y="1663390"/>
            <a:ext cx="188177" cy="167268"/>
          </a:xfrm>
          <a:custGeom>
            <a:avLst/>
            <a:gdLst/>
            <a:ahLst/>
            <a:cxnLst/>
            <a:rect l="l" t="t" r="r" b="b"/>
            <a:pathLst>
              <a:path w="188177" h="167268">
                <a:moveTo>
                  <a:pt x="125451" y="47044"/>
                </a:moveTo>
                <a:cubicBezTo>
                  <a:pt x="125451" y="78799"/>
                  <a:pt x="97355" y="104543"/>
                  <a:pt x="62726" y="104543"/>
                </a:cubicBezTo>
                <a:cubicBezTo>
                  <a:pt x="54003" y="104543"/>
                  <a:pt x="45705" y="102909"/>
                  <a:pt x="38158" y="99969"/>
                </a:cubicBezTo>
                <a:lnTo>
                  <a:pt x="11500" y="114082"/>
                </a:lnTo>
                <a:cubicBezTo>
                  <a:pt x="8461" y="115683"/>
                  <a:pt x="4737" y="115128"/>
                  <a:pt x="2287" y="112710"/>
                </a:cubicBezTo>
                <a:cubicBezTo>
                  <a:pt x="-163" y="110293"/>
                  <a:pt x="-719" y="106536"/>
                  <a:pt x="915" y="103497"/>
                </a:cubicBezTo>
                <a:lnTo>
                  <a:pt x="12545" y="81543"/>
                </a:lnTo>
                <a:cubicBezTo>
                  <a:pt x="4672" y="71938"/>
                  <a:pt x="0" y="59981"/>
                  <a:pt x="0" y="47044"/>
                </a:cubicBezTo>
                <a:cubicBezTo>
                  <a:pt x="0" y="15289"/>
                  <a:pt x="28096" y="-10454"/>
                  <a:pt x="62726" y="-10454"/>
                </a:cubicBezTo>
                <a:cubicBezTo>
                  <a:pt x="97355" y="-10454"/>
                  <a:pt x="125451" y="15289"/>
                  <a:pt x="125451" y="47044"/>
                </a:cubicBezTo>
                <a:close/>
                <a:moveTo>
                  <a:pt x="125451" y="167268"/>
                </a:moveTo>
                <a:cubicBezTo>
                  <a:pt x="94709" y="167268"/>
                  <a:pt x="69129" y="146980"/>
                  <a:pt x="63771" y="120224"/>
                </a:cubicBezTo>
                <a:cubicBezTo>
                  <a:pt x="102975" y="119734"/>
                  <a:pt x="137049" y="91834"/>
                  <a:pt x="140806" y="54003"/>
                </a:cubicBezTo>
                <a:cubicBezTo>
                  <a:pt x="168020" y="60275"/>
                  <a:pt x="188177" y="82850"/>
                  <a:pt x="188177" y="109770"/>
                </a:cubicBezTo>
                <a:cubicBezTo>
                  <a:pt x="188177" y="122707"/>
                  <a:pt x="183505" y="134664"/>
                  <a:pt x="175632" y="144269"/>
                </a:cubicBezTo>
                <a:lnTo>
                  <a:pt x="187262" y="166223"/>
                </a:lnTo>
                <a:cubicBezTo>
                  <a:pt x="188863" y="169261"/>
                  <a:pt x="188308" y="172985"/>
                  <a:pt x="185890" y="175436"/>
                </a:cubicBezTo>
                <a:cubicBezTo>
                  <a:pt x="183472" y="177886"/>
                  <a:pt x="179715" y="178441"/>
                  <a:pt x="176677" y="176808"/>
                </a:cubicBezTo>
                <a:lnTo>
                  <a:pt x="150019" y="162695"/>
                </a:lnTo>
                <a:cubicBezTo>
                  <a:pt x="142472" y="165635"/>
                  <a:pt x="134174" y="167268"/>
                  <a:pt x="125451" y="1672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7951" y="1598341"/>
            <a:ext cx="100361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交互维度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732" y="2095500"/>
            <a:ext cx="1932878" cy="20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从触屏/语音到自然语言对话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732" y="2434683"/>
            <a:ext cx="4813610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用户可以通过自然语言与车辆对话，无需记忆固定指令或操作复杂菜单。豆包理解上下文、推理意图，实现真正的人车自然交互。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293" y="3252439"/>
            <a:ext cx="5129561" cy="1728439"/>
          </a:xfrm>
          <a:custGeom>
            <a:avLst/>
            <a:gdLst/>
            <a:ahLst/>
            <a:cxnLst/>
            <a:rect l="l" t="t" r="r" b="b"/>
            <a:pathLst>
              <a:path w="5129561" h="1728439">
                <a:moveTo>
                  <a:pt x="37171" y="0"/>
                </a:moveTo>
                <a:lnTo>
                  <a:pt x="5055221" y="0"/>
                </a:lnTo>
                <a:cubicBezTo>
                  <a:pt x="5096278" y="0"/>
                  <a:pt x="5129561" y="33283"/>
                  <a:pt x="5129561" y="74340"/>
                </a:cubicBezTo>
                <a:lnTo>
                  <a:pt x="5129561" y="1654099"/>
                </a:lnTo>
                <a:cubicBezTo>
                  <a:pt x="5129561" y="1695156"/>
                  <a:pt x="5096278" y="1728439"/>
                  <a:pt x="5055221" y="1728439"/>
                </a:cubicBez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390293" y="3252439"/>
            <a:ext cx="37171" cy="1728439"/>
          </a:xfrm>
          <a:custGeom>
            <a:avLst/>
            <a:gdLst/>
            <a:ahLst/>
            <a:cxnLst/>
            <a:rect l="l" t="t" r="r" b="b"/>
            <a:pathLst>
              <a:path w="37171" h="1728439">
                <a:moveTo>
                  <a:pt x="37171" y="0"/>
                </a:moveTo>
                <a:lnTo>
                  <a:pt x="37171" y="0"/>
                </a:lnTo>
                <a:lnTo>
                  <a:pt x="37171" y="1728439"/>
                </a:ln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32" y="343829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274" y="3540512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39204" y="18295"/>
                </a:moveTo>
                <a:cubicBezTo>
                  <a:pt x="39204" y="8200"/>
                  <a:pt x="47404" y="0"/>
                  <a:pt x="57498" y="0"/>
                </a:cubicBezTo>
                <a:lnTo>
                  <a:pt x="65339" y="0"/>
                </a:lnTo>
                <a:cubicBezTo>
                  <a:pt x="71122" y="0"/>
                  <a:pt x="75793" y="4672"/>
                  <a:pt x="75793" y="10454"/>
                </a:cubicBezTo>
                <a:lnTo>
                  <a:pt x="75793" y="156814"/>
                </a:lnTo>
                <a:cubicBezTo>
                  <a:pt x="75793" y="162597"/>
                  <a:pt x="71122" y="167268"/>
                  <a:pt x="65339" y="167268"/>
                </a:cubicBezTo>
                <a:lnTo>
                  <a:pt x="54885" y="167268"/>
                </a:lnTo>
                <a:cubicBezTo>
                  <a:pt x="45149" y="167268"/>
                  <a:pt x="36949" y="160604"/>
                  <a:pt x="34630" y="151587"/>
                </a:cubicBezTo>
                <a:cubicBezTo>
                  <a:pt x="34401" y="151587"/>
                  <a:pt x="34205" y="151587"/>
                  <a:pt x="33976" y="151587"/>
                </a:cubicBezTo>
                <a:cubicBezTo>
                  <a:pt x="19536" y="151587"/>
                  <a:pt x="7841" y="139891"/>
                  <a:pt x="7841" y="125451"/>
                </a:cubicBezTo>
                <a:cubicBezTo>
                  <a:pt x="7841" y="119571"/>
                  <a:pt x="9801" y="114148"/>
                  <a:pt x="13068" y="109770"/>
                </a:cubicBezTo>
                <a:cubicBezTo>
                  <a:pt x="6730" y="105000"/>
                  <a:pt x="2614" y="97421"/>
                  <a:pt x="2614" y="88861"/>
                </a:cubicBezTo>
                <a:cubicBezTo>
                  <a:pt x="2614" y="78766"/>
                  <a:pt x="8363" y="69978"/>
                  <a:pt x="16727" y="65633"/>
                </a:cubicBezTo>
                <a:cubicBezTo>
                  <a:pt x="14407" y="61713"/>
                  <a:pt x="13068" y="57139"/>
                  <a:pt x="13068" y="52271"/>
                </a:cubicBezTo>
                <a:cubicBezTo>
                  <a:pt x="13068" y="37831"/>
                  <a:pt x="24764" y="26136"/>
                  <a:pt x="39204" y="26136"/>
                </a:cubicBezTo>
                <a:lnTo>
                  <a:pt x="39204" y="18295"/>
                </a:lnTo>
                <a:close/>
                <a:moveTo>
                  <a:pt x="128065" y="18295"/>
                </a:moveTo>
                <a:lnTo>
                  <a:pt x="128065" y="26136"/>
                </a:lnTo>
                <a:cubicBezTo>
                  <a:pt x="142505" y="26136"/>
                  <a:pt x="154200" y="37831"/>
                  <a:pt x="154200" y="52271"/>
                </a:cubicBezTo>
                <a:cubicBezTo>
                  <a:pt x="154200" y="57172"/>
                  <a:pt x="152861" y="61746"/>
                  <a:pt x="150541" y="65633"/>
                </a:cubicBezTo>
                <a:cubicBezTo>
                  <a:pt x="158938" y="69978"/>
                  <a:pt x="164655" y="78734"/>
                  <a:pt x="164655" y="88861"/>
                </a:cubicBezTo>
                <a:cubicBezTo>
                  <a:pt x="164655" y="97421"/>
                  <a:pt x="160538" y="105000"/>
                  <a:pt x="154200" y="109770"/>
                </a:cubicBezTo>
                <a:cubicBezTo>
                  <a:pt x="157467" y="114148"/>
                  <a:pt x="159428" y="119571"/>
                  <a:pt x="159428" y="125451"/>
                </a:cubicBezTo>
                <a:cubicBezTo>
                  <a:pt x="159428" y="139891"/>
                  <a:pt x="147732" y="151587"/>
                  <a:pt x="133292" y="151587"/>
                </a:cubicBezTo>
                <a:cubicBezTo>
                  <a:pt x="133063" y="151587"/>
                  <a:pt x="132867" y="151587"/>
                  <a:pt x="132639" y="151587"/>
                </a:cubicBezTo>
                <a:cubicBezTo>
                  <a:pt x="130319" y="160604"/>
                  <a:pt x="122119" y="167268"/>
                  <a:pt x="112383" y="167268"/>
                </a:cubicBezTo>
                <a:lnTo>
                  <a:pt x="101929" y="167268"/>
                </a:lnTo>
                <a:cubicBezTo>
                  <a:pt x="96147" y="167268"/>
                  <a:pt x="91475" y="162597"/>
                  <a:pt x="91475" y="156814"/>
                </a:cubicBezTo>
                <a:lnTo>
                  <a:pt x="91475" y="10454"/>
                </a:lnTo>
                <a:cubicBezTo>
                  <a:pt x="91475" y="4672"/>
                  <a:pt x="96147" y="0"/>
                  <a:pt x="101929" y="0"/>
                </a:cubicBezTo>
                <a:lnTo>
                  <a:pt x="109770" y="0"/>
                </a:lnTo>
                <a:cubicBezTo>
                  <a:pt x="119865" y="0"/>
                  <a:pt x="128065" y="8200"/>
                  <a:pt x="128065" y="182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7951" y="3475463"/>
            <a:ext cx="100361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决策维度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732" y="3972622"/>
            <a:ext cx="1561171" cy="20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从单点功能到任务编排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732" y="4311805"/>
            <a:ext cx="4813610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不再局限于导航、空调等单点控制，豆包能够拆解复杂任务，自动编排多步骤行动，协调座舱与智驾系统协同工作。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0293" y="5129561"/>
            <a:ext cx="5129561" cy="1728439"/>
          </a:xfrm>
          <a:custGeom>
            <a:avLst/>
            <a:gdLst/>
            <a:ahLst/>
            <a:cxnLst/>
            <a:rect l="l" t="t" r="r" b="b"/>
            <a:pathLst>
              <a:path w="5129561" h="1728439">
                <a:moveTo>
                  <a:pt x="37171" y="0"/>
                </a:moveTo>
                <a:lnTo>
                  <a:pt x="5055221" y="0"/>
                </a:lnTo>
                <a:cubicBezTo>
                  <a:pt x="5096278" y="0"/>
                  <a:pt x="5129561" y="33283"/>
                  <a:pt x="5129561" y="74340"/>
                </a:cubicBezTo>
                <a:lnTo>
                  <a:pt x="5129561" y="1654099"/>
                </a:lnTo>
                <a:cubicBezTo>
                  <a:pt x="5129561" y="1695156"/>
                  <a:pt x="5096278" y="1728439"/>
                  <a:pt x="5055221" y="1728439"/>
                </a:cubicBez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90293" y="5129561"/>
            <a:ext cx="37171" cy="1728439"/>
          </a:xfrm>
          <a:custGeom>
            <a:avLst/>
            <a:gdLst/>
            <a:ahLst/>
            <a:cxnLst/>
            <a:rect l="l" t="t" r="r" b="b"/>
            <a:pathLst>
              <a:path w="37171" h="1728439">
                <a:moveTo>
                  <a:pt x="37171" y="0"/>
                </a:moveTo>
                <a:lnTo>
                  <a:pt x="37171" y="0"/>
                </a:lnTo>
                <a:lnTo>
                  <a:pt x="37171" y="1728439"/>
                </a:lnTo>
                <a:lnTo>
                  <a:pt x="37171" y="1728439"/>
                </a:lnTo>
                <a:cubicBezTo>
                  <a:pt x="16642" y="1728439"/>
                  <a:pt x="0" y="1711797"/>
                  <a:pt x="0" y="1691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32" y="5315415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Shape 20"/>
          <p:cNvSpPr/>
          <p:nvPr/>
        </p:nvSpPr>
        <p:spPr>
          <a:xfrm>
            <a:off x="678366" y="5417634"/>
            <a:ext cx="209085" cy="167268"/>
          </a:xfrm>
          <a:custGeom>
            <a:avLst/>
            <a:gdLst/>
            <a:ahLst/>
            <a:cxnLst/>
            <a:rect l="l" t="t" r="r" b="b"/>
            <a:pathLst>
              <a:path w="209085" h="167268">
                <a:moveTo>
                  <a:pt x="135873" y="68769"/>
                </a:moveTo>
                <a:cubicBezTo>
                  <a:pt x="139859" y="67691"/>
                  <a:pt x="144040" y="69586"/>
                  <a:pt x="145837" y="73278"/>
                </a:cubicBezTo>
                <a:lnTo>
                  <a:pt x="151914" y="85562"/>
                </a:lnTo>
                <a:cubicBezTo>
                  <a:pt x="155279" y="86019"/>
                  <a:pt x="158578" y="86934"/>
                  <a:pt x="161682" y="88208"/>
                </a:cubicBezTo>
                <a:lnTo>
                  <a:pt x="173116" y="80596"/>
                </a:lnTo>
                <a:cubicBezTo>
                  <a:pt x="176546" y="78309"/>
                  <a:pt x="181088" y="78766"/>
                  <a:pt x="183995" y="81674"/>
                </a:cubicBezTo>
                <a:lnTo>
                  <a:pt x="190268" y="87947"/>
                </a:lnTo>
                <a:cubicBezTo>
                  <a:pt x="193175" y="90854"/>
                  <a:pt x="193633" y="95428"/>
                  <a:pt x="191346" y="98826"/>
                </a:cubicBezTo>
                <a:lnTo>
                  <a:pt x="183734" y="110227"/>
                </a:lnTo>
                <a:cubicBezTo>
                  <a:pt x="184354" y="111763"/>
                  <a:pt x="184910" y="113363"/>
                  <a:pt x="185367" y="115030"/>
                </a:cubicBezTo>
                <a:cubicBezTo>
                  <a:pt x="185825" y="116696"/>
                  <a:pt x="186119" y="118329"/>
                  <a:pt x="186347" y="119995"/>
                </a:cubicBezTo>
                <a:lnTo>
                  <a:pt x="198664" y="126072"/>
                </a:lnTo>
                <a:cubicBezTo>
                  <a:pt x="202355" y="127901"/>
                  <a:pt x="204250" y="132083"/>
                  <a:pt x="203172" y="136036"/>
                </a:cubicBezTo>
                <a:lnTo>
                  <a:pt x="200885" y="144596"/>
                </a:lnTo>
                <a:cubicBezTo>
                  <a:pt x="199807" y="148549"/>
                  <a:pt x="196116" y="151228"/>
                  <a:pt x="191999" y="150966"/>
                </a:cubicBezTo>
                <a:lnTo>
                  <a:pt x="178278" y="150084"/>
                </a:lnTo>
                <a:cubicBezTo>
                  <a:pt x="176220" y="152730"/>
                  <a:pt x="173835" y="155181"/>
                  <a:pt x="171123" y="157271"/>
                </a:cubicBezTo>
                <a:lnTo>
                  <a:pt x="172005" y="170960"/>
                </a:lnTo>
                <a:cubicBezTo>
                  <a:pt x="172267" y="175076"/>
                  <a:pt x="169588" y="178801"/>
                  <a:pt x="165635" y="179846"/>
                </a:cubicBezTo>
                <a:lnTo>
                  <a:pt x="157075" y="182133"/>
                </a:lnTo>
                <a:cubicBezTo>
                  <a:pt x="153090" y="183211"/>
                  <a:pt x="148941" y="181316"/>
                  <a:pt x="147111" y="177625"/>
                </a:cubicBezTo>
                <a:lnTo>
                  <a:pt x="141035" y="165341"/>
                </a:lnTo>
                <a:cubicBezTo>
                  <a:pt x="137670" y="164883"/>
                  <a:pt x="134370" y="163969"/>
                  <a:pt x="131266" y="162695"/>
                </a:cubicBezTo>
                <a:lnTo>
                  <a:pt x="119832" y="170307"/>
                </a:lnTo>
                <a:cubicBezTo>
                  <a:pt x="116402" y="172593"/>
                  <a:pt x="111861" y="172136"/>
                  <a:pt x="108953" y="169228"/>
                </a:cubicBezTo>
                <a:lnTo>
                  <a:pt x="102681" y="162956"/>
                </a:lnTo>
                <a:cubicBezTo>
                  <a:pt x="99773" y="160048"/>
                  <a:pt x="99316" y="155507"/>
                  <a:pt x="101602" y="152077"/>
                </a:cubicBezTo>
                <a:lnTo>
                  <a:pt x="109214" y="140643"/>
                </a:lnTo>
                <a:cubicBezTo>
                  <a:pt x="108594" y="139107"/>
                  <a:pt x="108038" y="137506"/>
                  <a:pt x="107581" y="135840"/>
                </a:cubicBezTo>
                <a:cubicBezTo>
                  <a:pt x="107124" y="134174"/>
                  <a:pt x="106830" y="132508"/>
                  <a:pt x="106601" y="130874"/>
                </a:cubicBezTo>
                <a:lnTo>
                  <a:pt x="94284" y="124798"/>
                </a:lnTo>
                <a:cubicBezTo>
                  <a:pt x="90593" y="122968"/>
                  <a:pt x="88731" y="118787"/>
                  <a:pt x="89776" y="114834"/>
                </a:cubicBezTo>
                <a:lnTo>
                  <a:pt x="92063" y="106274"/>
                </a:lnTo>
                <a:cubicBezTo>
                  <a:pt x="93141" y="102321"/>
                  <a:pt x="96833" y="99642"/>
                  <a:pt x="100949" y="99904"/>
                </a:cubicBezTo>
                <a:lnTo>
                  <a:pt x="114638" y="100786"/>
                </a:lnTo>
                <a:cubicBezTo>
                  <a:pt x="116696" y="98139"/>
                  <a:pt x="119081" y="95689"/>
                  <a:pt x="121792" y="93598"/>
                </a:cubicBezTo>
                <a:lnTo>
                  <a:pt x="120910" y="79942"/>
                </a:lnTo>
                <a:cubicBezTo>
                  <a:pt x="120649" y="75826"/>
                  <a:pt x="123328" y="72102"/>
                  <a:pt x="127281" y="71056"/>
                </a:cubicBezTo>
                <a:lnTo>
                  <a:pt x="135840" y="68769"/>
                </a:lnTo>
                <a:close/>
                <a:moveTo>
                  <a:pt x="146490" y="111077"/>
                </a:moveTo>
                <a:cubicBezTo>
                  <a:pt x="138557" y="111086"/>
                  <a:pt x="132123" y="117534"/>
                  <a:pt x="132132" y="125468"/>
                </a:cubicBezTo>
                <a:cubicBezTo>
                  <a:pt x="132141" y="133401"/>
                  <a:pt x="138590" y="139835"/>
                  <a:pt x="146523" y="139826"/>
                </a:cubicBezTo>
                <a:cubicBezTo>
                  <a:pt x="154457" y="139817"/>
                  <a:pt x="160890" y="133368"/>
                  <a:pt x="160881" y="125435"/>
                </a:cubicBezTo>
                <a:cubicBezTo>
                  <a:pt x="160872" y="117501"/>
                  <a:pt x="154424" y="111068"/>
                  <a:pt x="146490" y="111077"/>
                </a:cubicBezTo>
                <a:close/>
                <a:moveTo>
                  <a:pt x="73474" y="-14865"/>
                </a:moveTo>
                <a:lnTo>
                  <a:pt x="82033" y="-12578"/>
                </a:lnTo>
                <a:cubicBezTo>
                  <a:pt x="85986" y="-11500"/>
                  <a:pt x="88665" y="-7775"/>
                  <a:pt x="88404" y="-3692"/>
                </a:cubicBezTo>
                <a:lnTo>
                  <a:pt x="87522" y="9964"/>
                </a:lnTo>
                <a:cubicBezTo>
                  <a:pt x="90233" y="12055"/>
                  <a:pt x="92618" y="14473"/>
                  <a:pt x="94676" y="17152"/>
                </a:cubicBezTo>
                <a:lnTo>
                  <a:pt x="108398" y="16269"/>
                </a:lnTo>
                <a:cubicBezTo>
                  <a:pt x="112481" y="16008"/>
                  <a:pt x="116206" y="18687"/>
                  <a:pt x="117284" y="22640"/>
                </a:cubicBezTo>
                <a:lnTo>
                  <a:pt x="119571" y="31199"/>
                </a:lnTo>
                <a:cubicBezTo>
                  <a:pt x="120616" y="35152"/>
                  <a:pt x="118754" y="39334"/>
                  <a:pt x="115062" y="41164"/>
                </a:cubicBezTo>
                <a:lnTo>
                  <a:pt x="102746" y="47240"/>
                </a:lnTo>
                <a:cubicBezTo>
                  <a:pt x="102517" y="48906"/>
                  <a:pt x="102190" y="50573"/>
                  <a:pt x="101766" y="52206"/>
                </a:cubicBezTo>
                <a:cubicBezTo>
                  <a:pt x="101341" y="53839"/>
                  <a:pt x="100753" y="55473"/>
                  <a:pt x="100132" y="57008"/>
                </a:cubicBezTo>
                <a:lnTo>
                  <a:pt x="107744" y="68443"/>
                </a:lnTo>
                <a:cubicBezTo>
                  <a:pt x="110031" y="71873"/>
                  <a:pt x="109574" y="76414"/>
                  <a:pt x="106666" y="79322"/>
                </a:cubicBezTo>
                <a:lnTo>
                  <a:pt x="100394" y="85594"/>
                </a:lnTo>
                <a:cubicBezTo>
                  <a:pt x="97486" y="88502"/>
                  <a:pt x="92945" y="88959"/>
                  <a:pt x="89515" y="86672"/>
                </a:cubicBezTo>
                <a:lnTo>
                  <a:pt x="78080" y="79060"/>
                </a:lnTo>
                <a:cubicBezTo>
                  <a:pt x="74977" y="80335"/>
                  <a:pt x="71677" y="81249"/>
                  <a:pt x="68312" y="81707"/>
                </a:cubicBezTo>
                <a:lnTo>
                  <a:pt x="62236" y="93990"/>
                </a:lnTo>
                <a:cubicBezTo>
                  <a:pt x="60406" y="97682"/>
                  <a:pt x="56224" y="99544"/>
                  <a:pt x="52271" y="98499"/>
                </a:cubicBezTo>
                <a:lnTo>
                  <a:pt x="43712" y="96212"/>
                </a:lnTo>
                <a:cubicBezTo>
                  <a:pt x="39726" y="95134"/>
                  <a:pt x="37080" y="91410"/>
                  <a:pt x="37341" y="87326"/>
                </a:cubicBezTo>
                <a:lnTo>
                  <a:pt x="38223" y="73637"/>
                </a:lnTo>
                <a:cubicBezTo>
                  <a:pt x="35512" y="71546"/>
                  <a:pt x="33127" y="69129"/>
                  <a:pt x="31069" y="66450"/>
                </a:cubicBezTo>
                <a:lnTo>
                  <a:pt x="17348" y="67332"/>
                </a:lnTo>
                <a:cubicBezTo>
                  <a:pt x="13264" y="67593"/>
                  <a:pt x="9540" y="64914"/>
                  <a:pt x="8461" y="60961"/>
                </a:cubicBezTo>
                <a:lnTo>
                  <a:pt x="6175" y="52402"/>
                </a:lnTo>
                <a:cubicBezTo>
                  <a:pt x="5129" y="48449"/>
                  <a:pt x="6991" y="44267"/>
                  <a:pt x="10683" y="42438"/>
                </a:cubicBezTo>
                <a:lnTo>
                  <a:pt x="22999" y="36361"/>
                </a:lnTo>
                <a:cubicBezTo>
                  <a:pt x="23228" y="34695"/>
                  <a:pt x="23555" y="33062"/>
                  <a:pt x="23979" y="31395"/>
                </a:cubicBezTo>
                <a:cubicBezTo>
                  <a:pt x="24437" y="29729"/>
                  <a:pt x="24960" y="28129"/>
                  <a:pt x="25613" y="26593"/>
                </a:cubicBezTo>
                <a:lnTo>
                  <a:pt x="18001" y="15191"/>
                </a:lnTo>
                <a:cubicBezTo>
                  <a:pt x="15714" y="11761"/>
                  <a:pt x="16171" y="7220"/>
                  <a:pt x="19079" y="4312"/>
                </a:cubicBezTo>
                <a:lnTo>
                  <a:pt x="25352" y="-1960"/>
                </a:lnTo>
                <a:cubicBezTo>
                  <a:pt x="28259" y="-4868"/>
                  <a:pt x="32800" y="-5325"/>
                  <a:pt x="36231" y="-3038"/>
                </a:cubicBezTo>
                <a:lnTo>
                  <a:pt x="47665" y="4574"/>
                </a:lnTo>
                <a:cubicBezTo>
                  <a:pt x="50769" y="3300"/>
                  <a:pt x="54068" y="2385"/>
                  <a:pt x="57433" y="1928"/>
                </a:cubicBezTo>
                <a:lnTo>
                  <a:pt x="63510" y="-10356"/>
                </a:lnTo>
                <a:cubicBezTo>
                  <a:pt x="65339" y="-14048"/>
                  <a:pt x="69488" y="-15910"/>
                  <a:pt x="73474" y="-14865"/>
                </a:cubicBezTo>
                <a:close/>
                <a:moveTo>
                  <a:pt x="62856" y="27442"/>
                </a:moveTo>
                <a:cubicBezTo>
                  <a:pt x="54923" y="27442"/>
                  <a:pt x="48482" y="33884"/>
                  <a:pt x="48482" y="41817"/>
                </a:cubicBezTo>
                <a:cubicBezTo>
                  <a:pt x="48482" y="49751"/>
                  <a:pt x="54923" y="56192"/>
                  <a:pt x="62856" y="56192"/>
                </a:cubicBezTo>
                <a:cubicBezTo>
                  <a:pt x="70790" y="56192"/>
                  <a:pt x="77231" y="49751"/>
                  <a:pt x="77231" y="41817"/>
                </a:cubicBezTo>
                <a:cubicBezTo>
                  <a:pt x="77231" y="33884"/>
                  <a:pt x="70790" y="27442"/>
                  <a:pt x="62856" y="274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7951" y="5352585"/>
            <a:ext cx="100361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执行维度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732" y="5849744"/>
            <a:ext cx="1561171" cy="20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从座舱控制到舱驾一体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732" y="6188927"/>
            <a:ext cx="4813610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座舱AI与智驾系统深度融合，实现"说-想-做"的无缝衔接。语音指令直接触发智驾动作，车辆状态实时反馈到交互中。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46581" y="1375317"/>
            <a:ext cx="6077415" cy="5482683"/>
          </a:xfrm>
          <a:custGeom>
            <a:avLst/>
            <a:gdLst/>
            <a:ahLst/>
            <a:cxnLst/>
            <a:rect l="l" t="t" r="r" b="b"/>
            <a:pathLst>
              <a:path w="6077415" h="5482683">
                <a:moveTo>
                  <a:pt x="74345" y="0"/>
                </a:moveTo>
                <a:lnTo>
                  <a:pt x="6003069" y="0"/>
                </a:lnTo>
                <a:cubicBezTo>
                  <a:pt x="6044129" y="0"/>
                  <a:pt x="6077415" y="33285"/>
                  <a:pt x="6077415" y="74345"/>
                </a:cubicBezTo>
                <a:lnTo>
                  <a:pt x="6077415" y="5408338"/>
                </a:lnTo>
                <a:cubicBezTo>
                  <a:pt x="6077415" y="5449397"/>
                  <a:pt x="6044129" y="5482683"/>
                  <a:pt x="6003069" y="5482683"/>
                </a:cubicBezTo>
                <a:lnTo>
                  <a:pt x="74345" y="5482683"/>
                </a:lnTo>
                <a:cubicBezTo>
                  <a:pt x="33285" y="5482683"/>
                  <a:pt x="0" y="5449397"/>
                  <a:pt x="0" y="5408338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13849" y="1598341"/>
            <a:ext cx="5742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舱驾融合架构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78898" y="2174488"/>
            <a:ext cx="5612780" cy="910683"/>
          </a:xfrm>
          <a:custGeom>
            <a:avLst/>
            <a:gdLst/>
            <a:ahLst/>
            <a:cxnLst/>
            <a:rect l="l" t="t" r="r" b="b"/>
            <a:pathLst>
              <a:path w="5612780" h="910683">
                <a:moveTo>
                  <a:pt x="74339" y="0"/>
                </a:moveTo>
                <a:lnTo>
                  <a:pt x="5538441" y="0"/>
                </a:lnTo>
                <a:cubicBezTo>
                  <a:pt x="5579498" y="0"/>
                  <a:pt x="5612780" y="33283"/>
                  <a:pt x="5612780" y="74339"/>
                </a:cubicBezTo>
                <a:lnTo>
                  <a:pt x="5612780" y="836344"/>
                </a:lnTo>
                <a:cubicBezTo>
                  <a:pt x="5612780" y="877400"/>
                  <a:pt x="5579498" y="910683"/>
                  <a:pt x="5538441" y="910683"/>
                </a:cubicBezTo>
                <a:lnTo>
                  <a:pt x="74339" y="910683"/>
                </a:lnTo>
                <a:cubicBezTo>
                  <a:pt x="33283" y="910683"/>
                  <a:pt x="0" y="877400"/>
                  <a:pt x="0" y="836344"/>
                </a:cubicBezTo>
                <a:lnTo>
                  <a:pt x="0" y="74339"/>
                </a:lnTo>
                <a:cubicBezTo>
                  <a:pt x="0" y="33283"/>
                  <a:pt x="33283" y="0"/>
                  <a:pt x="7433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25400">
            <a:solidFill>
              <a:srgbClr val="3C6E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4751" y="2351049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73802" y="167355"/>
                </a:moveTo>
                <a:cubicBezTo>
                  <a:pt x="164176" y="150629"/>
                  <a:pt x="146098" y="139390"/>
                  <a:pt x="125451" y="139390"/>
                </a:cubicBezTo>
                <a:lnTo>
                  <a:pt x="97573" y="139390"/>
                </a:lnTo>
                <a:cubicBezTo>
                  <a:pt x="76926" y="139390"/>
                  <a:pt x="58849" y="150629"/>
                  <a:pt x="49222" y="167355"/>
                </a:cubicBezTo>
                <a:cubicBezTo>
                  <a:pt x="64555" y="184431"/>
                  <a:pt x="86770" y="195146"/>
                  <a:pt x="111512" y="195146"/>
                </a:cubicBezTo>
                <a:cubicBezTo>
                  <a:pt x="136254" y="195146"/>
                  <a:pt x="158469" y="184387"/>
                  <a:pt x="173802" y="167355"/>
                </a:cubicBezTo>
                <a:close/>
                <a:moveTo>
                  <a:pt x="0" y="111512"/>
                </a:moveTo>
                <a:cubicBezTo>
                  <a:pt x="0" y="49967"/>
                  <a:pt x="49967" y="0"/>
                  <a:pt x="111512" y="0"/>
                </a:cubicBezTo>
                <a:cubicBezTo>
                  <a:pt x="173057" y="0"/>
                  <a:pt x="223024" y="49967"/>
                  <a:pt x="223024" y="111512"/>
                </a:cubicBezTo>
                <a:cubicBezTo>
                  <a:pt x="223024" y="173057"/>
                  <a:pt x="173057" y="223024"/>
                  <a:pt x="111512" y="223024"/>
                </a:cubicBezTo>
                <a:cubicBezTo>
                  <a:pt x="49967" y="223024"/>
                  <a:pt x="0" y="173057"/>
                  <a:pt x="0" y="111512"/>
                </a:cubicBezTo>
                <a:close/>
                <a:moveTo>
                  <a:pt x="111512" y="118482"/>
                </a:moveTo>
                <a:cubicBezTo>
                  <a:pt x="128822" y="118482"/>
                  <a:pt x="142875" y="104429"/>
                  <a:pt x="142875" y="87119"/>
                </a:cubicBezTo>
                <a:cubicBezTo>
                  <a:pt x="142875" y="69809"/>
                  <a:pt x="128822" y="55756"/>
                  <a:pt x="111512" y="55756"/>
                </a:cubicBezTo>
                <a:cubicBezTo>
                  <a:pt x="94203" y="55756"/>
                  <a:pt x="80149" y="69809"/>
                  <a:pt x="80149" y="87119"/>
                </a:cubicBezTo>
                <a:cubicBezTo>
                  <a:pt x="80149" y="104429"/>
                  <a:pt x="94203" y="118482"/>
                  <a:pt x="111512" y="11848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0" name="Text 28"/>
          <p:cNvSpPr/>
          <p:nvPr/>
        </p:nvSpPr>
        <p:spPr>
          <a:xfrm>
            <a:off x="6527166" y="2332463"/>
            <a:ext cx="65048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36873" y="2704171"/>
            <a:ext cx="537117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自然语言指令 · 手势交互 · 舱内状态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99766" y="3243146"/>
            <a:ext cx="167268" cy="223024"/>
          </a:xfrm>
          <a:custGeom>
            <a:avLst/>
            <a:gdLst/>
            <a:ahLst/>
            <a:cxnLst/>
            <a:rect l="l" t="t" r="r" b="b"/>
            <a:pathLst>
              <a:path w="167268" h="223024">
                <a:moveTo>
                  <a:pt x="73790" y="218930"/>
                </a:moveTo>
                <a:cubicBezTo>
                  <a:pt x="79235" y="224375"/>
                  <a:pt x="88077" y="224375"/>
                  <a:pt x="93522" y="218930"/>
                </a:cubicBezTo>
                <a:lnTo>
                  <a:pt x="163217" y="149235"/>
                </a:lnTo>
                <a:cubicBezTo>
                  <a:pt x="168662" y="143790"/>
                  <a:pt x="168662" y="134947"/>
                  <a:pt x="163217" y="129502"/>
                </a:cubicBezTo>
                <a:cubicBezTo>
                  <a:pt x="157772" y="124057"/>
                  <a:pt x="148930" y="124057"/>
                  <a:pt x="143485" y="129502"/>
                </a:cubicBezTo>
                <a:lnTo>
                  <a:pt x="97573" y="175414"/>
                </a:lnTo>
                <a:lnTo>
                  <a:pt x="97573" y="13939"/>
                </a:lnTo>
                <a:cubicBezTo>
                  <a:pt x="97573" y="6229"/>
                  <a:pt x="91344" y="0"/>
                  <a:pt x="83634" y="0"/>
                </a:cubicBezTo>
                <a:cubicBezTo>
                  <a:pt x="75924" y="0"/>
                  <a:pt x="69695" y="6229"/>
                  <a:pt x="69695" y="13939"/>
                </a:cubicBezTo>
                <a:lnTo>
                  <a:pt x="69695" y="175414"/>
                </a:lnTo>
                <a:lnTo>
                  <a:pt x="23783" y="129502"/>
                </a:lnTo>
                <a:cubicBezTo>
                  <a:pt x="18339" y="124057"/>
                  <a:pt x="9496" y="124057"/>
                  <a:pt x="4051" y="129502"/>
                </a:cubicBezTo>
                <a:cubicBezTo>
                  <a:pt x="-1394" y="134947"/>
                  <a:pt x="-1394" y="143790"/>
                  <a:pt x="4051" y="149235"/>
                </a:cubicBezTo>
                <a:lnTo>
                  <a:pt x="73746" y="21893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3" name="Shape 31"/>
          <p:cNvSpPr/>
          <p:nvPr/>
        </p:nvSpPr>
        <p:spPr>
          <a:xfrm>
            <a:off x="5978898" y="3624146"/>
            <a:ext cx="5612780" cy="910683"/>
          </a:xfrm>
          <a:custGeom>
            <a:avLst/>
            <a:gdLst/>
            <a:ahLst/>
            <a:cxnLst/>
            <a:rect l="l" t="t" r="r" b="b"/>
            <a:pathLst>
              <a:path w="5612780" h="910683">
                <a:moveTo>
                  <a:pt x="74339" y="0"/>
                </a:moveTo>
                <a:lnTo>
                  <a:pt x="5538441" y="0"/>
                </a:lnTo>
                <a:cubicBezTo>
                  <a:pt x="5579498" y="0"/>
                  <a:pt x="5612780" y="33283"/>
                  <a:pt x="5612780" y="74339"/>
                </a:cubicBezTo>
                <a:lnTo>
                  <a:pt x="5612780" y="836344"/>
                </a:lnTo>
                <a:cubicBezTo>
                  <a:pt x="5612780" y="877400"/>
                  <a:pt x="5579498" y="910683"/>
                  <a:pt x="5538441" y="910683"/>
                </a:cubicBezTo>
                <a:lnTo>
                  <a:pt x="74339" y="910683"/>
                </a:lnTo>
                <a:cubicBezTo>
                  <a:pt x="33283" y="910683"/>
                  <a:pt x="0" y="877400"/>
                  <a:pt x="0" y="836344"/>
                </a:cubicBezTo>
                <a:lnTo>
                  <a:pt x="0" y="74339"/>
                </a:lnTo>
                <a:cubicBezTo>
                  <a:pt x="0" y="33283"/>
                  <a:pt x="33283" y="0"/>
                  <a:pt x="7433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25400">
            <a:solidFill>
              <a:srgbClr val="D4A2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6873" y="3800707"/>
            <a:ext cx="278780" cy="223024"/>
          </a:xfrm>
          <a:custGeom>
            <a:avLst/>
            <a:gdLst/>
            <a:ahLst/>
            <a:cxnLst/>
            <a:rect l="l" t="t" r="r" b="b"/>
            <a:pathLst>
              <a:path w="278780" h="223024">
                <a:moveTo>
                  <a:pt x="153329" y="0"/>
                </a:moveTo>
                <a:cubicBezTo>
                  <a:pt x="153329" y="-7710"/>
                  <a:pt x="147100" y="-13939"/>
                  <a:pt x="139390" y="-13939"/>
                </a:cubicBezTo>
                <a:cubicBezTo>
                  <a:pt x="131680" y="-13939"/>
                  <a:pt x="125451" y="-7710"/>
                  <a:pt x="125451" y="0"/>
                </a:cubicBezTo>
                <a:lnTo>
                  <a:pt x="125451" y="27878"/>
                </a:lnTo>
                <a:lnTo>
                  <a:pt x="83634" y="27878"/>
                </a:lnTo>
                <a:cubicBezTo>
                  <a:pt x="60548" y="27878"/>
                  <a:pt x="41817" y="46609"/>
                  <a:pt x="41817" y="69695"/>
                </a:cubicBezTo>
                <a:lnTo>
                  <a:pt x="41817" y="167268"/>
                </a:lnTo>
                <a:cubicBezTo>
                  <a:pt x="41817" y="190355"/>
                  <a:pt x="60548" y="209085"/>
                  <a:pt x="83634" y="209085"/>
                </a:cubicBezTo>
                <a:lnTo>
                  <a:pt x="195146" y="209085"/>
                </a:lnTo>
                <a:cubicBezTo>
                  <a:pt x="218233" y="209085"/>
                  <a:pt x="236963" y="190355"/>
                  <a:pt x="236963" y="167268"/>
                </a:cubicBezTo>
                <a:lnTo>
                  <a:pt x="236963" y="69695"/>
                </a:lnTo>
                <a:cubicBezTo>
                  <a:pt x="236963" y="46609"/>
                  <a:pt x="218233" y="27878"/>
                  <a:pt x="195146" y="27878"/>
                </a:cubicBezTo>
                <a:lnTo>
                  <a:pt x="153329" y="27878"/>
                </a:lnTo>
                <a:lnTo>
                  <a:pt x="153329" y="0"/>
                </a:lnTo>
                <a:close/>
                <a:moveTo>
                  <a:pt x="69695" y="160299"/>
                </a:moveTo>
                <a:cubicBezTo>
                  <a:pt x="69695" y="154505"/>
                  <a:pt x="74356" y="149845"/>
                  <a:pt x="80149" y="149845"/>
                </a:cubicBezTo>
                <a:lnTo>
                  <a:pt x="94088" y="149845"/>
                </a:lnTo>
                <a:cubicBezTo>
                  <a:pt x="99882" y="149845"/>
                  <a:pt x="104543" y="154505"/>
                  <a:pt x="104543" y="160299"/>
                </a:cubicBezTo>
                <a:cubicBezTo>
                  <a:pt x="104543" y="166092"/>
                  <a:pt x="99882" y="170753"/>
                  <a:pt x="94088" y="170753"/>
                </a:cubicBezTo>
                <a:lnTo>
                  <a:pt x="80149" y="170753"/>
                </a:lnTo>
                <a:cubicBezTo>
                  <a:pt x="74356" y="170753"/>
                  <a:pt x="69695" y="166092"/>
                  <a:pt x="69695" y="160299"/>
                </a:cubicBezTo>
                <a:close/>
                <a:moveTo>
                  <a:pt x="121966" y="160299"/>
                </a:moveTo>
                <a:cubicBezTo>
                  <a:pt x="121966" y="154505"/>
                  <a:pt x="126627" y="149845"/>
                  <a:pt x="132421" y="149845"/>
                </a:cubicBezTo>
                <a:lnTo>
                  <a:pt x="146360" y="149845"/>
                </a:lnTo>
                <a:cubicBezTo>
                  <a:pt x="152153" y="149845"/>
                  <a:pt x="156814" y="154505"/>
                  <a:pt x="156814" y="160299"/>
                </a:cubicBezTo>
                <a:cubicBezTo>
                  <a:pt x="156814" y="166092"/>
                  <a:pt x="152153" y="170753"/>
                  <a:pt x="146360" y="170753"/>
                </a:cubicBezTo>
                <a:lnTo>
                  <a:pt x="132421" y="170753"/>
                </a:lnTo>
                <a:cubicBezTo>
                  <a:pt x="126627" y="170753"/>
                  <a:pt x="121966" y="166092"/>
                  <a:pt x="121966" y="160299"/>
                </a:cubicBezTo>
                <a:close/>
                <a:moveTo>
                  <a:pt x="174238" y="160299"/>
                </a:moveTo>
                <a:cubicBezTo>
                  <a:pt x="174238" y="154505"/>
                  <a:pt x="178899" y="149845"/>
                  <a:pt x="184692" y="149845"/>
                </a:cubicBezTo>
                <a:lnTo>
                  <a:pt x="198631" y="149845"/>
                </a:lnTo>
                <a:cubicBezTo>
                  <a:pt x="204425" y="149845"/>
                  <a:pt x="209085" y="154505"/>
                  <a:pt x="209085" y="160299"/>
                </a:cubicBezTo>
                <a:cubicBezTo>
                  <a:pt x="209085" y="166092"/>
                  <a:pt x="204425" y="170753"/>
                  <a:pt x="198631" y="170753"/>
                </a:cubicBezTo>
                <a:lnTo>
                  <a:pt x="184692" y="170753"/>
                </a:lnTo>
                <a:cubicBezTo>
                  <a:pt x="178899" y="170753"/>
                  <a:pt x="174238" y="166092"/>
                  <a:pt x="174238" y="160299"/>
                </a:cubicBezTo>
                <a:close/>
                <a:moveTo>
                  <a:pt x="97573" y="76665"/>
                </a:moveTo>
                <a:cubicBezTo>
                  <a:pt x="109113" y="76665"/>
                  <a:pt x="118482" y="86033"/>
                  <a:pt x="118482" y="97573"/>
                </a:cubicBezTo>
                <a:cubicBezTo>
                  <a:pt x="118482" y="109113"/>
                  <a:pt x="109113" y="118482"/>
                  <a:pt x="97573" y="118482"/>
                </a:cubicBezTo>
                <a:cubicBezTo>
                  <a:pt x="86033" y="118482"/>
                  <a:pt x="76665" y="109113"/>
                  <a:pt x="76665" y="97573"/>
                </a:cubicBezTo>
                <a:cubicBezTo>
                  <a:pt x="76665" y="86033"/>
                  <a:pt x="86033" y="76665"/>
                  <a:pt x="97573" y="76665"/>
                </a:cubicBezTo>
                <a:close/>
                <a:moveTo>
                  <a:pt x="160299" y="97573"/>
                </a:moveTo>
                <a:cubicBezTo>
                  <a:pt x="160299" y="86033"/>
                  <a:pt x="169668" y="76665"/>
                  <a:pt x="181207" y="76665"/>
                </a:cubicBezTo>
                <a:cubicBezTo>
                  <a:pt x="192747" y="76665"/>
                  <a:pt x="202116" y="86033"/>
                  <a:pt x="202116" y="97573"/>
                </a:cubicBezTo>
                <a:cubicBezTo>
                  <a:pt x="202116" y="109113"/>
                  <a:pt x="192747" y="118482"/>
                  <a:pt x="181207" y="118482"/>
                </a:cubicBezTo>
                <a:cubicBezTo>
                  <a:pt x="169668" y="118482"/>
                  <a:pt x="160299" y="109113"/>
                  <a:pt x="160299" y="97573"/>
                </a:cubicBezTo>
                <a:close/>
                <a:moveTo>
                  <a:pt x="27878" y="97573"/>
                </a:moveTo>
                <a:cubicBezTo>
                  <a:pt x="27878" y="89863"/>
                  <a:pt x="21649" y="83634"/>
                  <a:pt x="13939" y="83634"/>
                </a:cubicBezTo>
                <a:cubicBezTo>
                  <a:pt x="6229" y="83634"/>
                  <a:pt x="0" y="89863"/>
                  <a:pt x="0" y="97573"/>
                </a:cubicBezTo>
                <a:lnTo>
                  <a:pt x="0" y="139390"/>
                </a:lnTo>
                <a:cubicBezTo>
                  <a:pt x="0" y="147100"/>
                  <a:pt x="6229" y="153329"/>
                  <a:pt x="13939" y="153329"/>
                </a:cubicBezTo>
                <a:cubicBezTo>
                  <a:pt x="21649" y="153329"/>
                  <a:pt x="27878" y="147100"/>
                  <a:pt x="27878" y="139390"/>
                </a:cubicBezTo>
                <a:lnTo>
                  <a:pt x="27878" y="97573"/>
                </a:lnTo>
                <a:close/>
                <a:moveTo>
                  <a:pt x="264841" y="83634"/>
                </a:moveTo>
                <a:cubicBezTo>
                  <a:pt x="257131" y="83634"/>
                  <a:pt x="250902" y="89863"/>
                  <a:pt x="250902" y="97573"/>
                </a:cubicBezTo>
                <a:lnTo>
                  <a:pt x="250902" y="139390"/>
                </a:lnTo>
                <a:cubicBezTo>
                  <a:pt x="250902" y="147100"/>
                  <a:pt x="257131" y="153329"/>
                  <a:pt x="264841" y="153329"/>
                </a:cubicBezTo>
                <a:cubicBezTo>
                  <a:pt x="272551" y="153329"/>
                  <a:pt x="278780" y="147100"/>
                  <a:pt x="278780" y="139390"/>
                </a:cubicBezTo>
                <a:lnTo>
                  <a:pt x="278780" y="97573"/>
                </a:lnTo>
                <a:cubicBezTo>
                  <a:pt x="278780" y="89863"/>
                  <a:pt x="272551" y="83634"/>
                  <a:pt x="264841" y="8363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5" name="Text 33"/>
          <p:cNvSpPr/>
          <p:nvPr/>
        </p:nvSpPr>
        <p:spPr>
          <a:xfrm>
            <a:off x="6527166" y="3782122"/>
            <a:ext cx="177490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Agent层（豆包）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36873" y="4153829"/>
            <a:ext cx="537117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语义理解 · 任务编排 · 知识推理 · 场景感知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99766" y="4692805"/>
            <a:ext cx="167268" cy="223024"/>
          </a:xfrm>
          <a:custGeom>
            <a:avLst/>
            <a:gdLst/>
            <a:ahLst/>
            <a:cxnLst/>
            <a:rect l="l" t="t" r="r" b="b"/>
            <a:pathLst>
              <a:path w="167268" h="223024">
                <a:moveTo>
                  <a:pt x="73790" y="218930"/>
                </a:moveTo>
                <a:cubicBezTo>
                  <a:pt x="79235" y="224375"/>
                  <a:pt x="88077" y="224375"/>
                  <a:pt x="93522" y="218930"/>
                </a:cubicBezTo>
                <a:lnTo>
                  <a:pt x="163217" y="149235"/>
                </a:lnTo>
                <a:cubicBezTo>
                  <a:pt x="168662" y="143790"/>
                  <a:pt x="168662" y="134947"/>
                  <a:pt x="163217" y="129502"/>
                </a:cubicBezTo>
                <a:cubicBezTo>
                  <a:pt x="157772" y="124057"/>
                  <a:pt x="148930" y="124057"/>
                  <a:pt x="143485" y="129502"/>
                </a:cubicBezTo>
                <a:lnTo>
                  <a:pt x="97573" y="175414"/>
                </a:lnTo>
                <a:lnTo>
                  <a:pt x="97573" y="13939"/>
                </a:lnTo>
                <a:cubicBezTo>
                  <a:pt x="97573" y="6229"/>
                  <a:pt x="91344" y="0"/>
                  <a:pt x="83634" y="0"/>
                </a:cubicBezTo>
                <a:cubicBezTo>
                  <a:pt x="75924" y="0"/>
                  <a:pt x="69695" y="6229"/>
                  <a:pt x="69695" y="13939"/>
                </a:cubicBezTo>
                <a:lnTo>
                  <a:pt x="69695" y="175414"/>
                </a:lnTo>
                <a:lnTo>
                  <a:pt x="23783" y="129502"/>
                </a:lnTo>
                <a:cubicBezTo>
                  <a:pt x="18339" y="124057"/>
                  <a:pt x="9496" y="124057"/>
                  <a:pt x="4051" y="129502"/>
                </a:cubicBezTo>
                <a:cubicBezTo>
                  <a:pt x="-1394" y="134947"/>
                  <a:pt x="-1394" y="143790"/>
                  <a:pt x="4051" y="149235"/>
                </a:cubicBezTo>
                <a:lnTo>
                  <a:pt x="73746" y="21893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8" name="Shape 36"/>
          <p:cNvSpPr/>
          <p:nvPr/>
        </p:nvSpPr>
        <p:spPr>
          <a:xfrm>
            <a:off x="5974251" y="5069159"/>
            <a:ext cx="2732049" cy="864220"/>
          </a:xfrm>
          <a:custGeom>
            <a:avLst/>
            <a:gdLst/>
            <a:ahLst/>
            <a:cxnLst/>
            <a:rect l="l" t="t" r="r" b="b"/>
            <a:pathLst>
              <a:path w="2732049" h="864220">
                <a:moveTo>
                  <a:pt x="74340" y="0"/>
                </a:moveTo>
                <a:lnTo>
                  <a:pt x="2657709" y="0"/>
                </a:lnTo>
                <a:cubicBezTo>
                  <a:pt x="2698766" y="0"/>
                  <a:pt x="2732049" y="33283"/>
                  <a:pt x="2732049" y="74340"/>
                </a:cubicBezTo>
                <a:lnTo>
                  <a:pt x="2732049" y="789879"/>
                </a:lnTo>
                <a:cubicBezTo>
                  <a:pt x="2732049" y="830936"/>
                  <a:pt x="2698766" y="864220"/>
                  <a:pt x="2657709" y="864220"/>
                </a:cubicBezTo>
                <a:lnTo>
                  <a:pt x="74340" y="864220"/>
                </a:lnTo>
                <a:cubicBezTo>
                  <a:pt x="33311" y="864220"/>
                  <a:pt x="0" y="830909"/>
                  <a:pt x="0" y="789879"/>
                </a:cubicBezTo>
                <a:lnTo>
                  <a:pt x="0" y="74340"/>
                </a:lnTo>
                <a:cubicBezTo>
                  <a:pt x="0" y="33311"/>
                  <a:pt x="33311" y="0"/>
                  <a:pt x="7434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0812" y="5259659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49077" y="42616"/>
                </a:moveTo>
                <a:lnTo>
                  <a:pt x="39603" y="69695"/>
                </a:lnTo>
                <a:lnTo>
                  <a:pt x="146251" y="69695"/>
                </a:lnTo>
                <a:lnTo>
                  <a:pt x="136777" y="42616"/>
                </a:lnTo>
                <a:cubicBezTo>
                  <a:pt x="135143" y="37969"/>
                  <a:pt x="130751" y="34848"/>
                  <a:pt x="125814" y="34848"/>
                </a:cubicBezTo>
                <a:lnTo>
                  <a:pt x="60039" y="34848"/>
                </a:lnTo>
                <a:cubicBezTo>
                  <a:pt x="55103" y="34848"/>
                  <a:pt x="50710" y="37969"/>
                  <a:pt x="49077" y="42616"/>
                </a:cubicBezTo>
                <a:close/>
                <a:moveTo>
                  <a:pt x="14375" y="71438"/>
                </a:moveTo>
                <a:lnTo>
                  <a:pt x="27152" y="34956"/>
                </a:lnTo>
                <a:cubicBezTo>
                  <a:pt x="32052" y="20981"/>
                  <a:pt x="45229" y="11616"/>
                  <a:pt x="60039" y="11616"/>
                </a:cubicBezTo>
                <a:lnTo>
                  <a:pt x="125814" y="11616"/>
                </a:lnTo>
                <a:cubicBezTo>
                  <a:pt x="140624" y="11616"/>
                  <a:pt x="153801" y="20981"/>
                  <a:pt x="158702" y="34956"/>
                </a:cubicBezTo>
                <a:lnTo>
                  <a:pt x="171479" y="71438"/>
                </a:lnTo>
                <a:cubicBezTo>
                  <a:pt x="179901" y="74922"/>
                  <a:pt x="185854" y="83235"/>
                  <a:pt x="185854" y="92927"/>
                </a:cubicBezTo>
                <a:lnTo>
                  <a:pt x="185854" y="162622"/>
                </a:lnTo>
                <a:cubicBezTo>
                  <a:pt x="185854" y="169047"/>
                  <a:pt x="180663" y="174238"/>
                  <a:pt x="174238" y="174238"/>
                </a:cubicBezTo>
                <a:lnTo>
                  <a:pt x="162622" y="174238"/>
                </a:lnTo>
                <a:cubicBezTo>
                  <a:pt x="156197" y="174238"/>
                  <a:pt x="151006" y="169047"/>
                  <a:pt x="151006" y="162622"/>
                </a:cubicBezTo>
                <a:lnTo>
                  <a:pt x="151006" y="151006"/>
                </a:lnTo>
                <a:lnTo>
                  <a:pt x="34848" y="151006"/>
                </a:lnTo>
                <a:lnTo>
                  <a:pt x="34848" y="162622"/>
                </a:lnTo>
                <a:cubicBezTo>
                  <a:pt x="34848" y="169047"/>
                  <a:pt x="29657" y="174238"/>
                  <a:pt x="23232" y="174238"/>
                </a:cubicBezTo>
                <a:lnTo>
                  <a:pt x="11616" y="174238"/>
                </a:lnTo>
                <a:cubicBezTo>
                  <a:pt x="5191" y="174238"/>
                  <a:pt x="0" y="169047"/>
                  <a:pt x="0" y="162622"/>
                </a:cubicBezTo>
                <a:lnTo>
                  <a:pt x="0" y="92927"/>
                </a:lnTo>
                <a:cubicBezTo>
                  <a:pt x="0" y="83235"/>
                  <a:pt x="5953" y="74922"/>
                  <a:pt x="14375" y="71438"/>
                </a:cubicBezTo>
                <a:close/>
                <a:moveTo>
                  <a:pt x="46463" y="110351"/>
                </a:moveTo>
                <a:cubicBezTo>
                  <a:pt x="46463" y="103940"/>
                  <a:pt x="41259" y="98735"/>
                  <a:pt x="34848" y="98735"/>
                </a:cubicBezTo>
                <a:cubicBezTo>
                  <a:pt x="28437" y="98735"/>
                  <a:pt x="23232" y="103940"/>
                  <a:pt x="23232" y="110351"/>
                </a:cubicBezTo>
                <a:cubicBezTo>
                  <a:pt x="23232" y="116762"/>
                  <a:pt x="28437" y="121966"/>
                  <a:pt x="34848" y="121966"/>
                </a:cubicBezTo>
                <a:cubicBezTo>
                  <a:pt x="41259" y="121966"/>
                  <a:pt x="46463" y="116762"/>
                  <a:pt x="46463" y="110351"/>
                </a:cubicBezTo>
                <a:close/>
                <a:moveTo>
                  <a:pt x="151006" y="121966"/>
                </a:moveTo>
                <a:cubicBezTo>
                  <a:pt x="157417" y="121966"/>
                  <a:pt x="162622" y="116762"/>
                  <a:pt x="162622" y="110351"/>
                </a:cubicBezTo>
                <a:cubicBezTo>
                  <a:pt x="162622" y="103940"/>
                  <a:pt x="157417" y="98735"/>
                  <a:pt x="151006" y="98735"/>
                </a:cubicBezTo>
                <a:cubicBezTo>
                  <a:pt x="144595" y="98735"/>
                  <a:pt x="139390" y="103940"/>
                  <a:pt x="139390" y="110351"/>
                </a:cubicBezTo>
                <a:cubicBezTo>
                  <a:pt x="139390" y="116762"/>
                  <a:pt x="144595" y="121966"/>
                  <a:pt x="151006" y="12196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0" name="Text 38"/>
          <p:cNvSpPr/>
          <p:nvPr/>
        </p:nvSpPr>
        <p:spPr>
          <a:xfrm>
            <a:off x="6434239" y="5222488"/>
            <a:ext cx="75270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座舱系统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27581" y="5557024"/>
            <a:ext cx="249973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车控 · 娱乐 · 信息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862388" y="5069159"/>
            <a:ext cx="2732049" cy="864220"/>
          </a:xfrm>
          <a:custGeom>
            <a:avLst/>
            <a:gdLst/>
            <a:ahLst/>
            <a:cxnLst/>
            <a:rect l="l" t="t" r="r" b="b"/>
            <a:pathLst>
              <a:path w="2732049" h="864220">
                <a:moveTo>
                  <a:pt x="74340" y="0"/>
                </a:moveTo>
                <a:lnTo>
                  <a:pt x="2657709" y="0"/>
                </a:lnTo>
                <a:cubicBezTo>
                  <a:pt x="2698766" y="0"/>
                  <a:pt x="2732049" y="33283"/>
                  <a:pt x="2732049" y="74340"/>
                </a:cubicBezTo>
                <a:lnTo>
                  <a:pt x="2732049" y="789879"/>
                </a:lnTo>
                <a:cubicBezTo>
                  <a:pt x="2732049" y="830936"/>
                  <a:pt x="2698766" y="864220"/>
                  <a:pt x="2657709" y="864220"/>
                </a:cubicBezTo>
                <a:lnTo>
                  <a:pt x="74340" y="864220"/>
                </a:lnTo>
                <a:cubicBezTo>
                  <a:pt x="33311" y="864220"/>
                  <a:pt x="0" y="830909"/>
                  <a:pt x="0" y="789879"/>
                </a:cubicBezTo>
                <a:lnTo>
                  <a:pt x="0" y="74340"/>
                </a:lnTo>
                <a:cubicBezTo>
                  <a:pt x="0" y="33311"/>
                  <a:pt x="33311" y="0"/>
                  <a:pt x="7434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8949" y="5259659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185854" y="34848"/>
                </a:moveTo>
                <a:cubicBezTo>
                  <a:pt x="185854" y="53070"/>
                  <a:pt x="164401" y="80258"/>
                  <a:pt x="155144" y="91112"/>
                </a:cubicBezTo>
                <a:cubicBezTo>
                  <a:pt x="153765" y="92709"/>
                  <a:pt x="151732" y="93326"/>
                  <a:pt x="149881" y="92927"/>
                </a:cubicBezTo>
                <a:lnTo>
                  <a:pt x="116159" y="92927"/>
                </a:lnTo>
                <a:cubicBezTo>
                  <a:pt x="109734" y="92927"/>
                  <a:pt x="104543" y="98118"/>
                  <a:pt x="104543" y="104543"/>
                </a:cubicBezTo>
                <a:cubicBezTo>
                  <a:pt x="104543" y="110968"/>
                  <a:pt x="109734" y="116159"/>
                  <a:pt x="116159" y="116159"/>
                </a:cubicBezTo>
                <a:lnTo>
                  <a:pt x="151006" y="116159"/>
                </a:lnTo>
                <a:cubicBezTo>
                  <a:pt x="170245" y="116159"/>
                  <a:pt x="185854" y="131767"/>
                  <a:pt x="185854" y="151006"/>
                </a:cubicBezTo>
                <a:cubicBezTo>
                  <a:pt x="185854" y="170245"/>
                  <a:pt x="170245" y="185854"/>
                  <a:pt x="151006" y="185854"/>
                </a:cubicBezTo>
                <a:lnTo>
                  <a:pt x="50674" y="185854"/>
                </a:lnTo>
                <a:cubicBezTo>
                  <a:pt x="53832" y="182260"/>
                  <a:pt x="57680" y="177650"/>
                  <a:pt x="61564" y="172495"/>
                </a:cubicBezTo>
                <a:cubicBezTo>
                  <a:pt x="63851" y="169446"/>
                  <a:pt x="66210" y="166107"/>
                  <a:pt x="68461" y="162622"/>
                </a:cubicBezTo>
                <a:lnTo>
                  <a:pt x="151006" y="162622"/>
                </a:lnTo>
                <a:cubicBezTo>
                  <a:pt x="157431" y="162622"/>
                  <a:pt x="162622" y="157431"/>
                  <a:pt x="162622" y="151006"/>
                </a:cubicBezTo>
                <a:cubicBezTo>
                  <a:pt x="162622" y="144581"/>
                  <a:pt x="157431" y="139390"/>
                  <a:pt x="151006" y="139390"/>
                </a:cubicBezTo>
                <a:lnTo>
                  <a:pt x="116159" y="139390"/>
                </a:lnTo>
                <a:cubicBezTo>
                  <a:pt x="96920" y="139390"/>
                  <a:pt x="81311" y="123781"/>
                  <a:pt x="81311" y="104543"/>
                </a:cubicBezTo>
                <a:cubicBezTo>
                  <a:pt x="81311" y="85304"/>
                  <a:pt x="96920" y="69695"/>
                  <a:pt x="116159" y="69695"/>
                </a:cubicBezTo>
                <a:lnTo>
                  <a:pt x="130606" y="69695"/>
                </a:lnTo>
                <a:cubicBezTo>
                  <a:pt x="122983" y="58261"/>
                  <a:pt x="116159" y="45120"/>
                  <a:pt x="116159" y="34848"/>
                </a:cubicBezTo>
                <a:cubicBezTo>
                  <a:pt x="116159" y="15609"/>
                  <a:pt x="131767" y="0"/>
                  <a:pt x="151006" y="0"/>
                </a:cubicBezTo>
                <a:cubicBezTo>
                  <a:pt x="170245" y="0"/>
                  <a:pt x="185854" y="15609"/>
                  <a:pt x="185854" y="34848"/>
                </a:cubicBezTo>
                <a:close/>
                <a:moveTo>
                  <a:pt x="42507" y="177541"/>
                </a:moveTo>
                <a:cubicBezTo>
                  <a:pt x="41127" y="179102"/>
                  <a:pt x="39893" y="180481"/>
                  <a:pt x="38841" y="181643"/>
                </a:cubicBezTo>
                <a:lnTo>
                  <a:pt x="38187" y="182369"/>
                </a:lnTo>
                <a:lnTo>
                  <a:pt x="38115" y="182296"/>
                </a:lnTo>
                <a:cubicBezTo>
                  <a:pt x="35937" y="183966"/>
                  <a:pt x="32815" y="183748"/>
                  <a:pt x="30855" y="181643"/>
                </a:cubicBezTo>
                <a:cubicBezTo>
                  <a:pt x="21707" y="171697"/>
                  <a:pt x="0" y="146106"/>
                  <a:pt x="0" y="127774"/>
                </a:cubicBezTo>
                <a:cubicBezTo>
                  <a:pt x="0" y="108536"/>
                  <a:pt x="15609" y="92927"/>
                  <a:pt x="34848" y="92927"/>
                </a:cubicBezTo>
                <a:cubicBezTo>
                  <a:pt x="54086" y="92927"/>
                  <a:pt x="69695" y="108536"/>
                  <a:pt x="69695" y="127774"/>
                </a:cubicBezTo>
                <a:cubicBezTo>
                  <a:pt x="69695" y="138664"/>
                  <a:pt x="62036" y="152095"/>
                  <a:pt x="53905" y="163312"/>
                </a:cubicBezTo>
                <a:cubicBezTo>
                  <a:pt x="50021" y="168648"/>
                  <a:pt x="46028" y="173476"/>
                  <a:pt x="42725" y="177287"/>
                </a:cubicBezTo>
                <a:lnTo>
                  <a:pt x="42507" y="177541"/>
                </a:lnTo>
                <a:close/>
                <a:moveTo>
                  <a:pt x="46463" y="127774"/>
                </a:moveTo>
                <a:cubicBezTo>
                  <a:pt x="46463" y="121363"/>
                  <a:pt x="41259" y="116159"/>
                  <a:pt x="34848" y="116159"/>
                </a:cubicBezTo>
                <a:cubicBezTo>
                  <a:pt x="28437" y="116159"/>
                  <a:pt x="23232" y="121363"/>
                  <a:pt x="23232" y="127774"/>
                </a:cubicBezTo>
                <a:cubicBezTo>
                  <a:pt x="23232" y="134185"/>
                  <a:pt x="28437" y="139390"/>
                  <a:pt x="34848" y="139390"/>
                </a:cubicBezTo>
                <a:cubicBezTo>
                  <a:pt x="41259" y="139390"/>
                  <a:pt x="46463" y="134185"/>
                  <a:pt x="46463" y="127774"/>
                </a:cubicBezTo>
                <a:close/>
                <a:moveTo>
                  <a:pt x="151006" y="46463"/>
                </a:moveTo>
                <a:cubicBezTo>
                  <a:pt x="157417" y="46463"/>
                  <a:pt x="162622" y="41259"/>
                  <a:pt x="162622" y="34848"/>
                </a:cubicBezTo>
                <a:cubicBezTo>
                  <a:pt x="162622" y="28437"/>
                  <a:pt x="157417" y="23232"/>
                  <a:pt x="151006" y="23232"/>
                </a:cubicBezTo>
                <a:cubicBezTo>
                  <a:pt x="144595" y="23232"/>
                  <a:pt x="139390" y="28437"/>
                  <a:pt x="139390" y="34848"/>
                </a:cubicBezTo>
                <a:cubicBezTo>
                  <a:pt x="139390" y="41259"/>
                  <a:pt x="144595" y="46463"/>
                  <a:pt x="151006" y="4646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4" name="Text 42"/>
          <p:cNvSpPr/>
          <p:nvPr/>
        </p:nvSpPr>
        <p:spPr>
          <a:xfrm>
            <a:off x="9322376" y="5222488"/>
            <a:ext cx="75270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智驾系统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15717" y="5557024"/>
            <a:ext cx="249973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导航 · 感知 · 决策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974251" y="6174988"/>
            <a:ext cx="5622073" cy="455341"/>
          </a:xfrm>
          <a:custGeom>
            <a:avLst/>
            <a:gdLst/>
            <a:ahLst/>
            <a:cxnLst/>
            <a:rect l="l" t="t" r="r" b="b"/>
            <a:pathLst>
              <a:path w="5622073" h="455341">
                <a:moveTo>
                  <a:pt x="74344" y="0"/>
                </a:moveTo>
                <a:lnTo>
                  <a:pt x="5547730" y="0"/>
                </a:lnTo>
                <a:cubicBezTo>
                  <a:pt x="5588788" y="0"/>
                  <a:pt x="5622073" y="33285"/>
                  <a:pt x="5622073" y="74344"/>
                </a:cubicBezTo>
                <a:lnTo>
                  <a:pt x="5622073" y="380998"/>
                </a:lnTo>
                <a:cubicBezTo>
                  <a:pt x="5622073" y="422057"/>
                  <a:pt x="5588788" y="455341"/>
                  <a:pt x="5547730" y="455341"/>
                </a:cubicBezTo>
                <a:lnTo>
                  <a:pt x="74344" y="455341"/>
                </a:lnTo>
                <a:cubicBezTo>
                  <a:pt x="33285" y="455341"/>
                  <a:pt x="0" y="422057"/>
                  <a:pt x="0" y="380998"/>
                </a:cubicBezTo>
                <a:lnTo>
                  <a:pt x="0" y="74344"/>
                </a:lnTo>
                <a:cubicBezTo>
                  <a:pt x="0" y="33312"/>
                  <a:pt x="33312" y="0"/>
                  <a:pt x="74344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239" y="6291146"/>
            <a:ext cx="546409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核心理念：</a:t>
            </a:r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从"被动响应的工具"到"主动服务的智能体"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fud4chpjfx74/scene1_movie_night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4003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5" name="Text 2"/>
          <p:cNvSpPr/>
          <p:nvPr/>
        </p:nvSpPr>
        <p:spPr>
          <a:xfrm>
            <a:off x="647700" y="2724150"/>
            <a:ext cx="97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905000" y="26289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4"/>
          <p:cNvSpPr/>
          <p:nvPr/>
        </p:nvSpPr>
        <p:spPr>
          <a:xfrm>
            <a:off x="2247900" y="24765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 SCENARIO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47900" y="2857500"/>
            <a:ext cx="3371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典型场景1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05000" y="4076700"/>
            <a:ext cx="1007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周五下班看电影——复杂任务编排的端到端闭环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992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spc="53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8626"/>
            <a:ext cx="1164846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7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场景全景：一句话触发完整出行链条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486" y="936560"/>
            <a:ext cx="802765" cy="33449"/>
          </a:xfrm>
          <a:custGeom>
            <a:avLst/>
            <a:gdLst/>
            <a:ahLst/>
            <a:cxnLst/>
            <a:rect l="l" t="t" r="r" b="b"/>
            <a:pathLst>
              <a:path w="802765" h="33449">
                <a:moveTo>
                  <a:pt x="0" y="0"/>
                </a:moveTo>
                <a:lnTo>
                  <a:pt x="802765" y="0"/>
                </a:lnTo>
                <a:lnTo>
                  <a:pt x="802765" y="33449"/>
                </a:lnTo>
                <a:lnTo>
                  <a:pt x="0" y="33449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51210" y="1036905"/>
            <a:ext cx="11506305" cy="401383"/>
          </a:xfrm>
          <a:custGeom>
            <a:avLst/>
            <a:gdLst/>
            <a:ahLst/>
            <a:cxnLst/>
            <a:rect l="l" t="t" r="r" b="b"/>
            <a:pathLst>
              <a:path w="11506305" h="401383">
                <a:moveTo>
                  <a:pt x="33449" y="0"/>
                </a:moveTo>
                <a:lnTo>
                  <a:pt x="11439406" y="0"/>
                </a:lnTo>
                <a:cubicBezTo>
                  <a:pt x="11476353" y="0"/>
                  <a:pt x="11506305" y="29951"/>
                  <a:pt x="11506305" y="66898"/>
                </a:cubicBezTo>
                <a:lnTo>
                  <a:pt x="11506305" y="334484"/>
                </a:lnTo>
                <a:cubicBezTo>
                  <a:pt x="11506305" y="371431"/>
                  <a:pt x="11476353" y="401383"/>
                  <a:pt x="11439406" y="401383"/>
                </a:cubicBezTo>
                <a:lnTo>
                  <a:pt x="33449" y="401383"/>
                </a:lnTo>
                <a:cubicBezTo>
                  <a:pt x="14988" y="401383"/>
                  <a:pt x="0" y="386395"/>
                  <a:pt x="0" y="367934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1210" y="1036905"/>
            <a:ext cx="33449" cy="401383"/>
          </a:xfrm>
          <a:custGeom>
            <a:avLst/>
            <a:gdLst/>
            <a:ahLst/>
            <a:cxnLst/>
            <a:rect l="l" t="t" r="r" b="b"/>
            <a:pathLst>
              <a:path w="33449" h="401383">
                <a:moveTo>
                  <a:pt x="33449" y="0"/>
                </a:moveTo>
                <a:lnTo>
                  <a:pt x="33449" y="0"/>
                </a:lnTo>
                <a:lnTo>
                  <a:pt x="33449" y="401383"/>
                </a:lnTo>
                <a:lnTo>
                  <a:pt x="33449" y="401383"/>
                </a:lnTo>
                <a:cubicBezTo>
                  <a:pt x="14975" y="401383"/>
                  <a:pt x="0" y="386407"/>
                  <a:pt x="0" y="36793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5"/>
          <p:cNvSpPr/>
          <p:nvPr/>
        </p:nvSpPr>
        <p:spPr>
          <a:xfrm>
            <a:off x="468280" y="1137251"/>
            <a:ext cx="1135578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用户指令：</a:t>
            </a:r>
            <a:pPr>
              <a:lnSpc>
                <a:spcPct val="130000"/>
              </a:lnSpc>
            </a:pPr>
            <a:r>
              <a:rPr lang="en-US" sz="1054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"激活智驾出发，路上买一份KFC双人餐（XXXX套餐），然后去华域地库接加班的小明一起去看电影，到了帮我停到离电影院近的停车位。"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486" y="1538634"/>
            <a:ext cx="7492477" cy="5117630"/>
          </a:xfrm>
          <a:custGeom>
            <a:avLst/>
            <a:gdLst/>
            <a:ahLst/>
            <a:cxnLst/>
            <a:rect l="l" t="t" r="r" b="b"/>
            <a:pathLst>
              <a:path w="7492477" h="5117630">
                <a:moveTo>
                  <a:pt x="66887" y="0"/>
                </a:moveTo>
                <a:lnTo>
                  <a:pt x="7425590" y="0"/>
                </a:lnTo>
                <a:cubicBezTo>
                  <a:pt x="7462506" y="0"/>
                  <a:pt x="7492477" y="29971"/>
                  <a:pt x="7492477" y="66887"/>
                </a:cubicBezTo>
                <a:lnTo>
                  <a:pt x="7492477" y="5050742"/>
                </a:lnTo>
                <a:cubicBezTo>
                  <a:pt x="7492477" y="5087683"/>
                  <a:pt x="7462531" y="5117630"/>
                  <a:pt x="7425590" y="5117630"/>
                </a:cubicBezTo>
                <a:lnTo>
                  <a:pt x="66887" y="5117630"/>
                </a:lnTo>
                <a:cubicBezTo>
                  <a:pt x="29971" y="5117630"/>
                  <a:pt x="0" y="5087658"/>
                  <a:pt x="0" y="5050742"/>
                </a:cubicBezTo>
                <a:lnTo>
                  <a:pt x="0" y="66887"/>
                </a:lnTo>
                <a:cubicBezTo>
                  <a:pt x="0" y="29971"/>
                  <a:pt x="29971" y="0"/>
                  <a:pt x="66887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0650" y="1672428"/>
            <a:ext cx="7300148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完整流程时间轴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8280" y="2006914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1" name="Text 9"/>
          <p:cNvSpPr/>
          <p:nvPr/>
        </p:nvSpPr>
        <p:spPr>
          <a:xfrm>
            <a:off x="608084" y="2073811"/>
            <a:ext cx="12543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3111" y="1973465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0008" y="2040362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任务拆解与导航规划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0008" y="2274502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豆包解析指令，读取电影票订单获取目的地，设置多途经点导航：起点→KFC→华域地库→电影院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8280" y="2575539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4"/>
          <p:cNvSpPr/>
          <p:nvPr/>
        </p:nvSpPr>
        <p:spPr>
          <a:xfrm>
            <a:off x="595345" y="2642436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3111" y="2542091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0008" y="2608988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激活智驾 &amp; KFC点单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0008" y="2843128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智驾启动，沿途搜索KFC，自动下单XXXX套餐，导航至最近门店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8280" y="3144165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595345" y="3211062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3111" y="3110716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0008" y="3177613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沿途临停 &amp; 取餐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0008" y="3411753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抵达KFC，自动靠边临停，解锁车辆，用户取餐，回来后智驾接续起步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280" y="3712790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6" name="Text 24"/>
          <p:cNvSpPr/>
          <p:nvPr/>
        </p:nvSpPr>
        <p:spPr>
          <a:xfrm>
            <a:off x="595345" y="3779687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3111" y="3679342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70008" y="3746239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前往华域地库 &amp; 通知接人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0008" y="3980379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智驾前往华域，即将抵达前自动拨打小明电话，用户指定接人位置"B1-A区-电梯间"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8280" y="4281416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1" name="Text 29"/>
          <p:cNvSpPr/>
          <p:nvPr/>
        </p:nvSpPr>
        <p:spPr>
          <a:xfrm>
            <a:off x="595345" y="4348313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3111" y="4247967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70008" y="4314864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地库接驳 &amp; 接人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0008" y="4549004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智驾导航至B1-A区电梯间，自动解锁、双闪提示，小明上车，智驾接续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8280" y="4850041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6" name="Text 34"/>
          <p:cNvSpPr/>
          <p:nvPr/>
        </p:nvSpPr>
        <p:spPr>
          <a:xfrm>
            <a:off x="595345" y="4916938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3111" y="4816593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70008" y="4883490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前往电影院 &amp; 时间提醒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0008" y="5117630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系统提示电影放映时间与预计抵达时间，根据时间紧张度自动调整驾驶风格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8280" y="5418667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1" name="Text 39"/>
          <p:cNvSpPr/>
          <p:nvPr/>
        </p:nvSpPr>
        <p:spPr>
          <a:xfrm>
            <a:off x="598481" y="5485564"/>
            <a:ext cx="14215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3111" y="5385218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70008" y="5452115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舱内感知 &amp; 动态调整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0008" y="5686255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感知小明喝可乐，自动调整驾驶风格更平稳、悬架更软，避免饮料洒出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8280" y="5987292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6" name="Text 44"/>
          <p:cNvSpPr/>
          <p:nvPr/>
        </p:nvSpPr>
        <p:spPr>
          <a:xfrm>
            <a:off x="595345" y="6054189"/>
            <a:ext cx="15051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3111" y="5953844"/>
            <a:ext cx="6790058" cy="568626"/>
          </a:xfrm>
          <a:custGeom>
            <a:avLst/>
            <a:gdLst/>
            <a:ahLst/>
            <a:cxnLst/>
            <a:rect l="l" t="t" r="r" b="b"/>
            <a:pathLst>
              <a:path w="6790058" h="568626">
                <a:moveTo>
                  <a:pt x="66899" y="0"/>
                </a:moveTo>
                <a:lnTo>
                  <a:pt x="6723159" y="0"/>
                </a:lnTo>
                <a:cubicBezTo>
                  <a:pt x="6760106" y="0"/>
                  <a:pt x="6790058" y="29952"/>
                  <a:pt x="6790058" y="66899"/>
                </a:cubicBezTo>
                <a:lnTo>
                  <a:pt x="6790058" y="501727"/>
                </a:lnTo>
                <a:cubicBezTo>
                  <a:pt x="6790058" y="538674"/>
                  <a:pt x="6760106" y="568626"/>
                  <a:pt x="6723159" y="568626"/>
                </a:cubicBezTo>
                <a:lnTo>
                  <a:pt x="66899" y="568626"/>
                </a:lnTo>
                <a:cubicBezTo>
                  <a:pt x="29952" y="568626"/>
                  <a:pt x="0" y="538674"/>
                  <a:pt x="0" y="501727"/>
                </a:cubicBezTo>
                <a:lnTo>
                  <a:pt x="0" y="66899"/>
                </a:lnTo>
                <a:cubicBezTo>
                  <a:pt x="0" y="29976"/>
                  <a:pt x="29976" y="0"/>
                  <a:pt x="668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70008" y="6020741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抵达电影院 &amp; 无人代客泊车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70008" y="6254881"/>
            <a:ext cx="672316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找到离电梯间近的停车位，放下乘客，车辆自动寻找车位泊车，手机通知状态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967878" y="1542815"/>
            <a:ext cx="3880033" cy="3771325"/>
          </a:xfrm>
          <a:custGeom>
            <a:avLst/>
            <a:gdLst/>
            <a:ahLst/>
            <a:cxnLst/>
            <a:rect l="l" t="t" r="r" b="b"/>
            <a:pathLst>
              <a:path w="3880033" h="3771325">
                <a:moveTo>
                  <a:pt x="66903" y="0"/>
                </a:moveTo>
                <a:lnTo>
                  <a:pt x="3813130" y="0"/>
                </a:lnTo>
                <a:cubicBezTo>
                  <a:pt x="3850079" y="0"/>
                  <a:pt x="3880033" y="29954"/>
                  <a:pt x="3880033" y="66903"/>
                </a:cubicBezTo>
                <a:lnTo>
                  <a:pt x="3880033" y="3704422"/>
                </a:lnTo>
                <a:cubicBezTo>
                  <a:pt x="3880033" y="3741371"/>
                  <a:pt x="3850079" y="3771325"/>
                  <a:pt x="3813130" y="3771325"/>
                </a:cubicBezTo>
                <a:lnTo>
                  <a:pt x="66903" y="3771325"/>
                </a:lnTo>
                <a:cubicBezTo>
                  <a:pt x="29954" y="3771325"/>
                  <a:pt x="0" y="3741371"/>
                  <a:pt x="0" y="3704422"/>
                </a:cubicBezTo>
                <a:lnTo>
                  <a:pt x="0" y="66903"/>
                </a:lnTo>
                <a:cubicBezTo>
                  <a:pt x="0" y="29978"/>
                  <a:pt x="29978" y="0"/>
                  <a:pt x="66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34775" y="1647342"/>
            <a:ext cx="3746239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关键数据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97146" y="2071720"/>
            <a:ext cx="3821498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7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38956" y="2439654"/>
            <a:ext cx="37378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句自然语言指令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97146" y="2887029"/>
            <a:ext cx="3821498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7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38956" y="3254963"/>
            <a:ext cx="37378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个任务节点自动编排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997146" y="3702337"/>
            <a:ext cx="3821498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7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38956" y="4070272"/>
            <a:ext cx="37378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次手动操作干预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97146" y="4517646"/>
            <a:ext cx="3821498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7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038956" y="4885580"/>
            <a:ext cx="37378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个系统协同工作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980421" y="5418667"/>
            <a:ext cx="3871671" cy="1237597"/>
          </a:xfrm>
          <a:custGeom>
            <a:avLst/>
            <a:gdLst/>
            <a:ahLst/>
            <a:cxnLst/>
            <a:rect l="l" t="t" r="r" b="b"/>
            <a:pathLst>
              <a:path w="3871671" h="1237597">
                <a:moveTo>
                  <a:pt x="33449" y="0"/>
                </a:moveTo>
                <a:lnTo>
                  <a:pt x="3804779" y="0"/>
                </a:lnTo>
                <a:cubicBezTo>
                  <a:pt x="3841722" y="0"/>
                  <a:pt x="3871671" y="29949"/>
                  <a:pt x="3871671" y="66892"/>
                </a:cubicBezTo>
                <a:lnTo>
                  <a:pt x="3871671" y="1170705"/>
                </a:lnTo>
                <a:cubicBezTo>
                  <a:pt x="3871671" y="1207648"/>
                  <a:pt x="3841722" y="1237597"/>
                  <a:pt x="3804779" y="1237597"/>
                </a:cubicBezTo>
                <a:lnTo>
                  <a:pt x="33449" y="1237597"/>
                </a:lnTo>
                <a:cubicBezTo>
                  <a:pt x="14975" y="1237597"/>
                  <a:pt x="0" y="1222621"/>
                  <a:pt x="0" y="1204148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980421" y="5418667"/>
            <a:ext cx="33449" cy="1237597"/>
          </a:xfrm>
          <a:custGeom>
            <a:avLst/>
            <a:gdLst/>
            <a:ahLst/>
            <a:cxnLst/>
            <a:rect l="l" t="t" r="r" b="b"/>
            <a:pathLst>
              <a:path w="33449" h="1237597">
                <a:moveTo>
                  <a:pt x="33449" y="0"/>
                </a:moveTo>
                <a:lnTo>
                  <a:pt x="33449" y="0"/>
                </a:lnTo>
                <a:lnTo>
                  <a:pt x="33449" y="1237597"/>
                </a:lnTo>
                <a:lnTo>
                  <a:pt x="33449" y="1237597"/>
                </a:lnTo>
                <a:cubicBezTo>
                  <a:pt x="14975" y="1237597"/>
                  <a:pt x="0" y="1222621"/>
                  <a:pt x="0" y="1204148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62" name="Text 60"/>
          <p:cNvSpPr/>
          <p:nvPr/>
        </p:nvSpPr>
        <p:spPr>
          <a:xfrm>
            <a:off x="8097491" y="5519012"/>
            <a:ext cx="3729514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14216" y="585349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4" name="Text 62"/>
          <p:cNvSpPr/>
          <p:nvPr/>
        </p:nvSpPr>
        <p:spPr>
          <a:xfrm>
            <a:off x="8331631" y="5820049"/>
            <a:ext cx="167242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端到端闭环，无需人工干预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14216" y="6121086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6" name="Text 64"/>
          <p:cNvSpPr/>
          <p:nvPr/>
        </p:nvSpPr>
        <p:spPr>
          <a:xfrm>
            <a:off x="8331631" y="6087638"/>
            <a:ext cx="167242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多任务智能编排，提升效率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14216" y="6388675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8" name="Text 66"/>
          <p:cNvSpPr/>
          <p:nvPr/>
        </p:nvSpPr>
        <p:spPr>
          <a:xfrm>
            <a:off x="8331631" y="6355226"/>
            <a:ext cx="127104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场景感知，主动服务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CAPABILITY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能力对比：从单点功能到端到端闭环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066796"/>
                </a:lnTo>
                <a:cubicBezTo>
                  <a:pt x="5638800" y="1108882"/>
                  <a:pt x="5604682" y="1143000"/>
                  <a:pt x="55625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906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8" name="Shape 6"/>
          <p:cNvSpPr/>
          <p:nvPr/>
        </p:nvSpPr>
        <p:spPr>
          <a:xfrm>
            <a:off x="654844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1638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之前的能力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1336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导航、点单、接人、泊车等功能割裂，需要用户多次手动操作和干预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39065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066796"/>
                </a:lnTo>
                <a:cubicBezTo>
                  <a:pt x="5638800" y="1108882"/>
                  <a:pt x="5604682" y="1143000"/>
                  <a:pt x="55625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3906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46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79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96100" y="1638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4600" y="21336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一句话触发完整链条，AI自动编排任务、决策路径、执行动作，端到端闭环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2686050"/>
            <a:ext cx="11430000" cy="3790950"/>
          </a:xfrm>
          <a:custGeom>
            <a:avLst/>
            <a:gdLst/>
            <a:ahLst/>
            <a:cxnLst/>
            <a:rect l="l" t="t" r="r" b="b"/>
            <a:pathLst>
              <a:path w="11430000" h="37909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3714752"/>
                </a:lnTo>
                <a:cubicBezTo>
                  <a:pt x="11430000" y="3756835"/>
                  <a:pt x="11395885" y="3790950"/>
                  <a:pt x="11353802" y="3790950"/>
                </a:cubicBezTo>
                <a:lnTo>
                  <a:pt x="76198" y="3790950"/>
                </a:lnTo>
                <a:cubicBezTo>
                  <a:pt x="34115" y="3790950"/>
                  <a:pt x="0" y="3756835"/>
                  <a:pt x="0" y="37147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838450"/>
          <a:ext cx="11125200" cy="3390900"/>
        </p:xfrm>
        <a:graphic>
          <a:graphicData uri="http://schemas.openxmlformats.org/drawingml/2006/table">
            <a:tbl>
              <a:tblPr/>
              <a:tblGrid>
                <a:gridCol w="3333750"/>
                <a:gridCol w="3895725"/>
                <a:gridCol w="3895725"/>
              </a:tblGrid>
              <a:tr h="423863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能力维度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之前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现在（增值）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任务触发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多次手动操作：设置导航→打开APP点单→打电话→找车位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一句话触发完整链条，AI自动拆解任务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导航规划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手动输入目的地，单点导航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多途经点智能规划，自动读取订单信息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沿途服务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用户主动搜索POI，手动下单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沿途自动搜POI+点单，无缝衔接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临停控制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手动切换模式、按键解锁、启动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自动临停+解锁，智驾接续起步，零操作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接人流程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打电话、发定位、找车位、等待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自动通知+地库接驳，车找人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场景感知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标准化驾驶，无场景适配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舱内感知→动态调整驾驶风格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停车体验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找车位→停车→走回电梯，耗时10-15分钟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即停即走，无人代客泊车，省时80%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518" y="379518"/>
            <a:ext cx="1150886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ORCHESTRATION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518" y="683132"/>
            <a:ext cx="11603748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任务编排与导航：多目标智能规划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18" y="1176504"/>
            <a:ext cx="910842" cy="37952"/>
          </a:xfrm>
          <a:custGeom>
            <a:avLst/>
            <a:gdLst/>
            <a:ahLst/>
            <a:cxnLst/>
            <a:rect l="l" t="t" r="r" b="b"/>
            <a:pathLst>
              <a:path w="910842" h="37952">
                <a:moveTo>
                  <a:pt x="0" y="0"/>
                </a:moveTo>
                <a:lnTo>
                  <a:pt x="910842" y="0"/>
                </a:lnTo>
                <a:lnTo>
                  <a:pt x="910842" y="37952"/>
                </a:lnTo>
                <a:lnTo>
                  <a:pt x="0" y="37952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98493" y="1366263"/>
            <a:ext cx="6726948" cy="2808430"/>
          </a:xfrm>
          <a:custGeom>
            <a:avLst/>
            <a:gdLst/>
            <a:ahLst/>
            <a:cxnLst/>
            <a:rect l="l" t="t" r="r" b="b"/>
            <a:pathLst>
              <a:path w="6726948" h="2808430">
                <a:moveTo>
                  <a:pt x="37952" y="0"/>
                </a:moveTo>
                <a:lnTo>
                  <a:pt x="6651036" y="0"/>
                </a:lnTo>
                <a:cubicBezTo>
                  <a:pt x="6692961" y="0"/>
                  <a:pt x="6726948" y="33987"/>
                  <a:pt x="6726948" y="75912"/>
                </a:cubicBezTo>
                <a:lnTo>
                  <a:pt x="6726948" y="2732518"/>
                </a:lnTo>
                <a:cubicBezTo>
                  <a:pt x="6726948" y="2774443"/>
                  <a:pt x="6692961" y="2808430"/>
                  <a:pt x="6651036" y="2808430"/>
                </a:cubicBezTo>
                <a:lnTo>
                  <a:pt x="37952" y="2808430"/>
                </a:lnTo>
                <a:cubicBezTo>
                  <a:pt x="16992" y="2808430"/>
                  <a:pt x="0" y="2791438"/>
                  <a:pt x="0" y="277047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8493" y="1366263"/>
            <a:ext cx="37952" cy="2808430"/>
          </a:xfrm>
          <a:custGeom>
            <a:avLst/>
            <a:gdLst/>
            <a:ahLst/>
            <a:cxnLst/>
            <a:rect l="l" t="t" r="r" b="b"/>
            <a:pathLst>
              <a:path w="37952" h="2808430">
                <a:moveTo>
                  <a:pt x="37952" y="0"/>
                </a:moveTo>
                <a:lnTo>
                  <a:pt x="37952" y="0"/>
                </a:lnTo>
                <a:lnTo>
                  <a:pt x="37952" y="2808430"/>
                </a:lnTo>
                <a:lnTo>
                  <a:pt x="37952" y="2808430"/>
                </a:lnTo>
                <a:cubicBezTo>
                  <a:pt x="16992" y="2808430"/>
                  <a:pt x="0" y="2791438"/>
                  <a:pt x="0" y="277047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30948" y="1593974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71160" y="23720"/>
                </a:moveTo>
                <a:cubicBezTo>
                  <a:pt x="71160" y="17160"/>
                  <a:pt x="76459" y="11860"/>
                  <a:pt x="83019" y="11860"/>
                </a:cubicBezTo>
                <a:lnTo>
                  <a:pt x="106739" y="11860"/>
                </a:lnTo>
                <a:cubicBezTo>
                  <a:pt x="113299" y="11860"/>
                  <a:pt x="118599" y="17160"/>
                  <a:pt x="118599" y="23720"/>
                </a:cubicBezTo>
                <a:lnTo>
                  <a:pt x="118599" y="47440"/>
                </a:lnTo>
                <a:cubicBezTo>
                  <a:pt x="118599" y="54000"/>
                  <a:pt x="113299" y="59300"/>
                  <a:pt x="106739" y="59300"/>
                </a:cubicBezTo>
                <a:lnTo>
                  <a:pt x="103774" y="59300"/>
                </a:lnTo>
                <a:lnTo>
                  <a:pt x="103774" y="83019"/>
                </a:lnTo>
                <a:lnTo>
                  <a:pt x="148249" y="83019"/>
                </a:lnTo>
                <a:cubicBezTo>
                  <a:pt x="163000" y="83019"/>
                  <a:pt x="174934" y="94954"/>
                  <a:pt x="174934" y="109704"/>
                </a:cubicBezTo>
                <a:lnTo>
                  <a:pt x="174934" y="130459"/>
                </a:lnTo>
                <a:lnTo>
                  <a:pt x="177899" y="130459"/>
                </a:lnTo>
                <a:cubicBezTo>
                  <a:pt x="184459" y="130459"/>
                  <a:pt x="189759" y="135759"/>
                  <a:pt x="189759" y="142319"/>
                </a:cubicBezTo>
                <a:lnTo>
                  <a:pt x="189759" y="166039"/>
                </a:lnTo>
                <a:cubicBezTo>
                  <a:pt x="189759" y="172599"/>
                  <a:pt x="184459" y="177899"/>
                  <a:pt x="177899" y="177899"/>
                </a:cubicBezTo>
                <a:lnTo>
                  <a:pt x="154179" y="177899"/>
                </a:lnTo>
                <a:cubicBezTo>
                  <a:pt x="147619" y="177899"/>
                  <a:pt x="142319" y="172599"/>
                  <a:pt x="142319" y="166039"/>
                </a:cubicBezTo>
                <a:lnTo>
                  <a:pt x="142319" y="142319"/>
                </a:lnTo>
                <a:cubicBezTo>
                  <a:pt x="142319" y="135759"/>
                  <a:pt x="147619" y="130459"/>
                  <a:pt x="154179" y="130459"/>
                </a:cubicBezTo>
                <a:lnTo>
                  <a:pt x="157144" y="130459"/>
                </a:lnTo>
                <a:lnTo>
                  <a:pt x="157144" y="109704"/>
                </a:lnTo>
                <a:cubicBezTo>
                  <a:pt x="157144" y="104775"/>
                  <a:pt x="153178" y="100809"/>
                  <a:pt x="148249" y="100809"/>
                </a:cubicBezTo>
                <a:lnTo>
                  <a:pt x="103774" y="100809"/>
                </a:lnTo>
                <a:lnTo>
                  <a:pt x="103774" y="130459"/>
                </a:lnTo>
                <a:lnTo>
                  <a:pt x="106739" y="130459"/>
                </a:lnTo>
                <a:cubicBezTo>
                  <a:pt x="113299" y="130459"/>
                  <a:pt x="118599" y="135759"/>
                  <a:pt x="118599" y="142319"/>
                </a:cubicBezTo>
                <a:lnTo>
                  <a:pt x="118599" y="166039"/>
                </a:lnTo>
                <a:cubicBezTo>
                  <a:pt x="118599" y="172599"/>
                  <a:pt x="113299" y="177899"/>
                  <a:pt x="106739" y="177899"/>
                </a:cubicBezTo>
                <a:lnTo>
                  <a:pt x="83019" y="177899"/>
                </a:lnTo>
                <a:cubicBezTo>
                  <a:pt x="76459" y="177899"/>
                  <a:pt x="71160" y="172599"/>
                  <a:pt x="71160" y="166039"/>
                </a:cubicBezTo>
                <a:lnTo>
                  <a:pt x="71160" y="142319"/>
                </a:lnTo>
                <a:cubicBezTo>
                  <a:pt x="71160" y="135759"/>
                  <a:pt x="76459" y="130459"/>
                  <a:pt x="83019" y="130459"/>
                </a:cubicBezTo>
                <a:lnTo>
                  <a:pt x="85984" y="130459"/>
                </a:lnTo>
                <a:lnTo>
                  <a:pt x="85984" y="100809"/>
                </a:lnTo>
                <a:lnTo>
                  <a:pt x="41510" y="100809"/>
                </a:lnTo>
                <a:cubicBezTo>
                  <a:pt x="36580" y="100809"/>
                  <a:pt x="32615" y="104775"/>
                  <a:pt x="32615" y="109704"/>
                </a:cubicBezTo>
                <a:lnTo>
                  <a:pt x="32615" y="130459"/>
                </a:lnTo>
                <a:lnTo>
                  <a:pt x="35580" y="130459"/>
                </a:lnTo>
                <a:cubicBezTo>
                  <a:pt x="42140" y="130459"/>
                  <a:pt x="47440" y="135759"/>
                  <a:pt x="47440" y="142319"/>
                </a:cubicBezTo>
                <a:lnTo>
                  <a:pt x="47440" y="166039"/>
                </a:lnTo>
                <a:cubicBezTo>
                  <a:pt x="47440" y="172599"/>
                  <a:pt x="42140" y="177899"/>
                  <a:pt x="35580" y="177899"/>
                </a:cubicBezTo>
                <a:lnTo>
                  <a:pt x="11860" y="177899"/>
                </a:lnTo>
                <a:cubicBezTo>
                  <a:pt x="5300" y="177899"/>
                  <a:pt x="0" y="172599"/>
                  <a:pt x="0" y="166039"/>
                </a:cubicBezTo>
                <a:lnTo>
                  <a:pt x="0" y="142319"/>
                </a:lnTo>
                <a:cubicBezTo>
                  <a:pt x="0" y="135759"/>
                  <a:pt x="5300" y="130459"/>
                  <a:pt x="11860" y="130459"/>
                </a:cubicBezTo>
                <a:lnTo>
                  <a:pt x="14825" y="130459"/>
                </a:lnTo>
                <a:lnTo>
                  <a:pt x="14825" y="109704"/>
                </a:lnTo>
                <a:cubicBezTo>
                  <a:pt x="14825" y="94954"/>
                  <a:pt x="26759" y="83019"/>
                  <a:pt x="41510" y="83019"/>
                </a:cubicBezTo>
                <a:lnTo>
                  <a:pt x="85984" y="83019"/>
                </a:lnTo>
                <a:lnTo>
                  <a:pt x="85984" y="59300"/>
                </a:lnTo>
                <a:lnTo>
                  <a:pt x="83019" y="59300"/>
                </a:lnTo>
                <a:cubicBezTo>
                  <a:pt x="76459" y="59300"/>
                  <a:pt x="71160" y="54000"/>
                  <a:pt x="71160" y="47440"/>
                </a:cubicBezTo>
                <a:lnTo>
                  <a:pt x="71160" y="2372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844426" y="1556022"/>
            <a:ext cx="6186135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任务拆解与意图理解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7228" y="2011443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731757" y="2068370"/>
            <a:ext cx="12334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697" y="1973491"/>
            <a:ext cx="5986889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697" y="2239153"/>
            <a:ext cx="5986889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豆包理解"买KFC→接小明→看电影"的任务序列，识别关键实体（KFC、华域地库、电影院）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7228" y="2884333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719156" y="2941261"/>
            <a:ext cx="142319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697" y="2846381"/>
            <a:ext cx="5986889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信息获取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697" y="3112044"/>
            <a:ext cx="5986889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自动读取电影票订单，提取目的地（XX影城）、放映时间；获取KFC套餐偏好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7228" y="3510537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56" y="3567465"/>
            <a:ext cx="142319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697" y="3472585"/>
            <a:ext cx="5986889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任务编排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697" y="3738247"/>
            <a:ext cx="5986889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生成任务依赖图：导航→点单→临停→取餐→导航→通知→接人→导航→感知→泊车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8493" y="4326500"/>
            <a:ext cx="6726948" cy="2533279"/>
          </a:xfrm>
          <a:custGeom>
            <a:avLst/>
            <a:gdLst/>
            <a:ahLst/>
            <a:cxnLst/>
            <a:rect l="l" t="t" r="r" b="b"/>
            <a:pathLst>
              <a:path w="6726948" h="2533279">
                <a:moveTo>
                  <a:pt x="37952" y="0"/>
                </a:moveTo>
                <a:lnTo>
                  <a:pt x="6651051" y="0"/>
                </a:lnTo>
                <a:cubicBezTo>
                  <a:pt x="6692968" y="0"/>
                  <a:pt x="6726948" y="33980"/>
                  <a:pt x="6726948" y="75897"/>
                </a:cubicBezTo>
                <a:lnTo>
                  <a:pt x="6726948" y="2457382"/>
                </a:lnTo>
                <a:cubicBezTo>
                  <a:pt x="6726948" y="2499299"/>
                  <a:pt x="6692968" y="2533279"/>
                  <a:pt x="6651051" y="2533279"/>
                </a:cubicBezTo>
                <a:lnTo>
                  <a:pt x="37952" y="2533279"/>
                </a:lnTo>
                <a:cubicBezTo>
                  <a:pt x="16992" y="2533279"/>
                  <a:pt x="0" y="2516288"/>
                  <a:pt x="0" y="249532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398493" y="4326500"/>
            <a:ext cx="37952" cy="2533279"/>
          </a:xfrm>
          <a:custGeom>
            <a:avLst/>
            <a:gdLst/>
            <a:ahLst/>
            <a:cxnLst/>
            <a:rect l="l" t="t" r="r" b="b"/>
            <a:pathLst>
              <a:path w="37952" h="2533279">
                <a:moveTo>
                  <a:pt x="37952" y="0"/>
                </a:moveTo>
                <a:lnTo>
                  <a:pt x="37952" y="0"/>
                </a:lnTo>
                <a:lnTo>
                  <a:pt x="37952" y="2533279"/>
                </a:lnTo>
                <a:lnTo>
                  <a:pt x="37952" y="2533279"/>
                </a:lnTo>
                <a:cubicBezTo>
                  <a:pt x="16992" y="2533279"/>
                  <a:pt x="0" y="2516288"/>
                  <a:pt x="0" y="2495328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48" y="4554210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189759" y="35580"/>
                </a:moveTo>
                <a:cubicBezTo>
                  <a:pt x="189759" y="54185"/>
                  <a:pt x="167855" y="81945"/>
                  <a:pt x="158404" y="93026"/>
                </a:cubicBezTo>
                <a:cubicBezTo>
                  <a:pt x="156996" y="94657"/>
                  <a:pt x="154920" y="95287"/>
                  <a:pt x="153030" y="94879"/>
                </a:cubicBezTo>
                <a:lnTo>
                  <a:pt x="118599" y="94879"/>
                </a:lnTo>
                <a:cubicBezTo>
                  <a:pt x="112039" y="94879"/>
                  <a:pt x="106739" y="100179"/>
                  <a:pt x="106739" y="106739"/>
                </a:cubicBezTo>
                <a:cubicBezTo>
                  <a:pt x="106739" y="113299"/>
                  <a:pt x="112039" y="118599"/>
                  <a:pt x="118599" y="118599"/>
                </a:cubicBezTo>
                <a:lnTo>
                  <a:pt x="154179" y="118599"/>
                </a:lnTo>
                <a:cubicBezTo>
                  <a:pt x="173822" y="118599"/>
                  <a:pt x="189759" y="134536"/>
                  <a:pt x="189759" y="154179"/>
                </a:cubicBezTo>
                <a:cubicBezTo>
                  <a:pt x="189759" y="173822"/>
                  <a:pt x="173822" y="189759"/>
                  <a:pt x="154179" y="189759"/>
                </a:cubicBezTo>
                <a:lnTo>
                  <a:pt x="51739" y="189759"/>
                </a:lnTo>
                <a:cubicBezTo>
                  <a:pt x="54963" y="186090"/>
                  <a:pt x="58892" y="181383"/>
                  <a:pt x="62858" y="176120"/>
                </a:cubicBezTo>
                <a:cubicBezTo>
                  <a:pt x="65193" y="173007"/>
                  <a:pt x="67602" y="169597"/>
                  <a:pt x="69899" y="166039"/>
                </a:cubicBezTo>
                <a:lnTo>
                  <a:pt x="154179" y="166039"/>
                </a:lnTo>
                <a:cubicBezTo>
                  <a:pt x="160739" y="166039"/>
                  <a:pt x="166039" y="160739"/>
                  <a:pt x="166039" y="154179"/>
                </a:cubicBezTo>
                <a:cubicBezTo>
                  <a:pt x="166039" y="147619"/>
                  <a:pt x="160739" y="142319"/>
                  <a:pt x="154179" y="142319"/>
                </a:cubicBezTo>
                <a:lnTo>
                  <a:pt x="118599" y="142319"/>
                </a:lnTo>
                <a:cubicBezTo>
                  <a:pt x="98956" y="142319"/>
                  <a:pt x="83019" y="126382"/>
                  <a:pt x="83019" y="106739"/>
                </a:cubicBezTo>
                <a:cubicBezTo>
                  <a:pt x="83019" y="87096"/>
                  <a:pt x="98956" y="71160"/>
                  <a:pt x="118599" y="71160"/>
                </a:cubicBezTo>
                <a:lnTo>
                  <a:pt x="133350" y="71160"/>
                </a:lnTo>
                <a:cubicBezTo>
                  <a:pt x="125567" y="59485"/>
                  <a:pt x="118599" y="46068"/>
                  <a:pt x="118599" y="35580"/>
                </a:cubicBezTo>
                <a:cubicBezTo>
                  <a:pt x="118599" y="15937"/>
                  <a:pt x="134536" y="0"/>
                  <a:pt x="154179" y="0"/>
                </a:cubicBezTo>
                <a:cubicBezTo>
                  <a:pt x="173822" y="0"/>
                  <a:pt x="189759" y="15937"/>
                  <a:pt x="189759" y="35580"/>
                </a:cubicBezTo>
                <a:close/>
                <a:moveTo>
                  <a:pt x="43400" y="181271"/>
                </a:moveTo>
                <a:cubicBezTo>
                  <a:pt x="41992" y="182865"/>
                  <a:pt x="40731" y="184274"/>
                  <a:pt x="39657" y="185460"/>
                </a:cubicBezTo>
                <a:lnTo>
                  <a:pt x="38989" y="186201"/>
                </a:lnTo>
                <a:lnTo>
                  <a:pt x="38915" y="186127"/>
                </a:lnTo>
                <a:cubicBezTo>
                  <a:pt x="36692" y="187832"/>
                  <a:pt x="33504" y="187609"/>
                  <a:pt x="31503" y="185460"/>
                </a:cubicBezTo>
                <a:cubicBezTo>
                  <a:pt x="22163" y="175304"/>
                  <a:pt x="0" y="149176"/>
                  <a:pt x="0" y="130459"/>
                </a:cubicBezTo>
                <a:cubicBezTo>
                  <a:pt x="0" y="110816"/>
                  <a:pt x="15937" y="94879"/>
                  <a:pt x="35580" y="94879"/>
                </a:cubicBezTo>
                <a:cubicBezTo>
                  <a:pt x="55223" y="94879"/>
                  <a:pt x="71160" y="110816"/>
                  <a:pt x="71160" y="130459"/>
                </a:cubicBezTo>
                <a:cubicBezTo>
                  <a:pt x="71160" y="141578"/>
                  <a:pt x="63339" y="155291"/>
                  <a:pt x="55037" y="166743"/>
                </a:cubicBezTo>
                <a:cubicBezTo>
                  <a:pt x="51072" y="172191"/>
                  <a:pt x="46995" y="177121"/>
                  <a:pt x="43622" y="181012"/>
                </a:cubicBezTo>
                <a:lnTo>
                  <a:pt x="43400" y="181271"/>
                </a:lnTo>
                <a:close/>
                <a:moveTo>
                  <a:pt x="47440" y="130459"/>
                </a:moveTo>
                <a:cubicBezTo>
                  <a:pt x="47440" y="123913"/>
                  <a:pt x="42125" y="118599"/>
                  <a:pt x="35580" y="118599"/>
                </a:cubicBezTo>
                <a:cubicBezTo>
                  <a:pt x="29034" y="118599"/>
                  <a:pt x="23720" y="123913"/>
                  <a:pt x="23720" y="130459"/>
                </a:cubicBezTo>
                <a:cubicBezTo>
                  <a:pt x="23720" y="137005"/>
                  <a:pt x="29034" y="142319"/>
                  <a:pt x="35580" y="142319"/>
                </a:cubicBezTo>
                <a:cubicBezTo>
                  <a:pt x="42125" y="142319"/>
                  <a:pt x="47440" y="137005"/>
                  <a:pt x="47440" y="130459"/>
                </a:cubicBezTo>
                <a:close/>
                <a:moveTo>
                  <a:pt x="154179" y="47440"/>
                </a:moveTo>
                <a:cubicBezTo>
                  <a:pt x="160725" y="47440"/>
                  <a:pt x="166039" y="42125"/>
                  <a:pt x="166039" y="35580"/>
                </a:cubicBezTo>
                <a:cubicBezTo>
                  <a:pt x="166039" y="29034"/>
                  <a:pt x="160725" y="23720"/>
                  <a:pt x="154179" y="23720"/>
                </a:cubicBezTo>
                <a:cubicBezTo>
                  <a:pt x="147633" y="23720"/>
                  <a:pt x="142319" y="29034"/>
                  <a:pt x="142319" y="35580"/>
                </a:cubicBezTo>
                <a:cubicBezTo>
                  <a:pt x="142319" y="42125"/>
                  <a:pt x="147633" y="47440"/>
                  <a:pt x="154179" y="4744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4" name="Text 22"/>
          <p:cNvSpPr/>
          <p:nvPr/>
        </p:nvSpPr>
        <p:spPr>
          <a:xfrm>
            <a:off x="844426" y="4516258"/>
            <a:ext cx="6186135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多途经点智能规划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7228" y="4933728"/>
            <a:ext cx="3112044" cy="759035"/>
          </a:xfrm>
          <a:custGeom>
            <a:avLst/>
            <a:gdLst/>
            <a:ahLst/>
            <a:cxnLst/>
            <a:rect l="l" t="t" r="r" b="b"/>
            <a:pathLst>
              <a:path w="3112044" h="759035">
                <a:moveTo>
                  <a:pt x="75904" y="0"/>
                </a:moveTo>
                <a:lnTo>
                  <a:pt x="3036140" y="0"/>
                </a:lnTo>
                <a:cubicBezTo>
                  <a:pt x="3078060" y="0"/>
                  <a:pt x="3112044" y="33983"/>
                  <a:pt x="3112044" y="75904"/>
                </a:cubicBezTo>
                <a:lnTo>
                  <a:pt x="3112044" y="683132"/>
                </a:lnTo>
                <a:cubicBezTo>
                  <a:pt x="3112044" y="725052"/>
                  <a:pt x="3078060" y="759035"/>
                  <a:pt x="3036140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21083" y="504758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7" name="Text 25"/>
          <p:cNvSpPr/>
          <p:nvPr/>
        </p:nvSpPr>
        <p:spPr>
          <a:xfrm>
            <a:off x="796246" y="5085535"/>
            <a:ext cx="132831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697" y="5047583"/>
            <a:ext cx="37951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1083" y="5351197"/>
            <a:ext cx="296023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公司/当前位置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29272" y="4933728"/>
            <a:ext cx="3112044" cy="759035"/>
          </a:xfrm>
          <a:custGeom>
            <a:avLst/>
            <a:gdLst/>
            <a:ahLst/>
            <a:cxnLst/>
            <a:rect l="l" t="t" r="r" b="b"/>
            <a:pathLst>
              <a:path w="3112044" h="759035">
                <a:moveTo>
                  <a:pt x="75904" y="0"/>
                </a:moveTo>
                <a:lnTo>
                  <a:pt x="3036140" y="0"/>
                </a:lnTo>
                <a:cubicBezTo>
                  <a:pt x="3078060" y="0"/>
                  <a:pt x="3112044" y="33983"/>
                  <a:pt x="3112044" y="75904"/>
                </a:cubicBezTo>
                <a:lnTo>
                  <a:pt x="3112044" y="683132"/>
                </a:lnTo>
                <a:cubicBezTo>
                  <a:pt x="3112044" y="725052"/>
                  <a:pt x="3078060" y="759035"/>
                  <a:pt x="3036140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43128" y="504758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2" name="Text 30"/>
          <p:cNvSpPr/>
          <p:nvPr/>
        </p:nvSpPr>
        <p:spPr>
          <a:xfrm>
            <a:off x="4017697" y="5085535"/>
            <a:ext cx="132831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46742" y="5047583"/>
            <a:ext cx="59774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途经点1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43128" y="5351197"/>
            <a:ext cx="296023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KFC（沿途搜+点单）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7228" y="5806618"/>
            <a:ext cx="3112044" cy="759035"/>
          </a:xfrm>
          <a:custGeom>
            <a:avLst/>
            <a:gdLst/>
            <a:ahLst/>
            <a:cxnLst/>
            <a:rect l="l" t="t" r="r" b="b"/>
            <a:pathLst>
              <a:path w="3112044" h="759035">
                <a:moveTo>
                  <a:pt x="75904" y="0"/>
                </a:moveTo>
                <a:lnTo>
                  <a:pt x="3036140" y="0"/>
                </a:lnTo>
                <a:cubicBezTo>
                  <a:pt x="3078060" y="0"/>
                  <a:pt x="3112044" y="33983"/>
                  <a:pt x="3112044" y="75904"/>
                </a:cubicBezTo>
                <a:lnTo>
                  <a:pt x="3112044" y="683132"/>
                </a:lnTo>
                <a:cubicBezTo>
                  <a:pt x="3112044" y="725052"/>
                  <a:pt x="3078060" y="759035"/>
                  <a:pt x="3036140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21083" y="592047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7" name="Text 35"/>
          <p:cNvSpPr/>
          <p:nvPr/>
        </p:nvSpPr>
        <p:spPr>
          <a:xfrm>
            <a:off x="793206" y="5958425"/>
            <a:ext cx="142319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4697" y="5920473"/>
            <a:ext cx="62620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途经点2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1083" y="6224087"/>
            <a:ext cx="296023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华域地库B1-A区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29272" y="5806618"/>
            <a:ext cx="3112044" cy="759035"/>
          </a:xfrm>
          <a:custGeom>
            <a:avLst/>
            <a:gdLst/>
            <a:ahLst/>
            <a:cxnLst/>
            <a:rect l="l" t="t" r="r" b="b"/>
            <a:pathLst>
              <a:path w="3112044" h="759035">
                <a:moveTo>
                  <a:pt x="75904" y="0"/>
                </a:moveTo>
                <a:lnTo>
                  <a:pt x="3036140" y="0"/>
                </a:lnTo>
                <a:cubicBezTo>
                  <a:pt x="3078060" y="0"/>
                  <a:pt x="3112044" y="33983"/>
                  <a:pt x="3112044" y="75904"/>
                </a:cubicBezTo>
                <a:lnTo>
                  <a:pt x="3112044" y="683132"/>
                </a:lnTo>
                <a:cubicBezTo>
                  <a:pt x="3112044" y="725052"/>
                  <a:pt x="3078060" y="759035"/>
                  <a:pt x="3036140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43128" y="592047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0"/>
                </a:moveTo>
                <a:lnTo>
                  <a:pt x="113855" y="0"/>
                </a:lnTo>
                <a:cubicBezTo>
                  <a:pt x="176694" y="0"/>
                  <a:pt x="227711" y="51017"/>
                  <a:pt x="227711" y="113855"/>
                </a:cubicBezTo>
                <a:lnTo>
                  <a:pt x="227711" y="113855"/>
                </a:lnTo>
                <a:cubicBezTo>
                  <a:pt x="227711" y="176694"/>
                  <a:pt x="176694" y="227711"/>
                  <a:pt x="113855" y="227711"/>
                </a:cubicBezTo>
                <a:lnTo>
                  <a:pt x="113855" y="227711"/>
                </a:lnTo>
                <a:cubicBezTo>
                  <a:pt x="51017" y="227711"/>
                  <a:pt x="0" y="176694"/>
                  <a:pt x="0" y="113855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42" name="Text 40"/>
          <p:cNvSpPr/>
          <p:nvPr/>
        </p:nvSpPr>
        <p:spPr>
          <a:xfrm>
            <a:off x="4015992" y="5958425"/>
            <a:ext cx="142319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46742" y="5920473"/>
            <a:ext cx="37951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终点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943128" y="6224087"/>
            <a:ext cx="296023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XX影城（读订单）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21797" y="1371007"/>
            <a:ext cx="4487795" cy="3311290"/>
          </a:xfrm>
          <a:custGeom>
            <a:avLst/>
            <a:gdLst/>
            <a:ahLst/>
            <a:cxnLst/>
            <a:rect l="l" t="t" r="r" b="b"/>
            <a:pathLst>
              <a:path w="4487795" h="3311290">
                <a:moveTo>
                  <a:pt x="75895" y="0"/>
                </a:moveTo>
                <a:lnTo>
                  <a:pt x="4411900" y="0"/>
                </a:lnTo>
                <a:cubicBezTo>
                  <a:pt x="4453815" y="0"/>
                  <a:pt x="4487795" y="33979"/>
                  <a:pt x="4487795" y="75895"/>
                </a:cubicBezTo>
                <a:lnTo>
                  <a:pt x="4487795" y="3235395"/>
                </a:lnTo>
                <a:cubicBezTo>
                  <a:pt x="4487795" y="3277311"/>
                  <a:pt x="4453815" y="3311290"/>
                  <a:pt x="4411900" y="3311290"/>
                </a:cubicBezTo>
                <a:lnTo>
                  <a:pt x="75895" y="3311290"/>
                </a:lnTo>
                <a:cubicBezTo>
                  <a:pt x="33979" y="3311290"/>
                  <a:pt x="0" y="3277311"/>
                  <a:pt x="0" y="3235395"/>
                </a:cubicBezTo>
                <a:lnTo>
                  <a:pt x="0" y="75895"/>
                </a:lnTo>
                <a:cubicBezTo>
                  <a:pt x="0" y="34007"/>
                  <a:pt x="34007" y="0"/>
                  <a:pt x="75895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68860" y="1565510"/>
            <a:ext cx="419366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核心增值点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6300" y="1982979"/>
            <a:ext cx="4098789" cy="759035"/>
          </a:xfrm>
          <a:custGeom>
            <a:avLst/>
            <a:gdLst/>
            <a:ahLst/>
            <a:cxnLst/>
            <a:rect l="l" t="t" r="r" b="b"/>
            <a:pathLst>
              <a:path w="4098789" h="759035">
                <a:moveTo>
                  <a:pt x="75904" y="0"/>
                </a:moveTo>
                <a:lnTo>
                  <a:pt x="4022886" y="0"/>
                </a:lnTo>
                <a:cubicBezTo>
                  <a:pt x="4064806" y="0"/>
                  <a:pt x="4098789" y="33983"/>
                  <a:pt x="4098789" y="75904"/>
                </a:cubicBezTo>
                <a:lnTo>
                  <a:pt x="4098789" y="683132"/>
                </a:lnTo>
                <a:cubicBezTo>
                  <a:pt x="4098789" y="725052"/>
                  <a:pt x="4064806" y="759035"/>
                  <a:pt x="402288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58619" y="2134786"/>
            <a:ext cx="132831" cy="151807"/>
          </a:xfrm>
          <a:custGeom>
            <a:avLst/>
            <a:gdLst/>
            <a:ahLst/>
            <a:cxnLst/>
            <a:rect l="l" t="t" r="r" b="b"/>
            <a:pathLst>
              <a:path w="132831" h="151807">
                <a:moveTo>
                  <a:pt x="100454" y="-2935"/>
                </a:moveTo>
                <a:cubicBezTo>
                  <a:pt x="103982" y="-385"/>
                  <a:pt x="105286" y="4240"/>
                  <a:pt x="103685" y="8272"/>
                </a:cubicBezTo>
                <a:lnTo>
                  <a:pt x="80440" y="66416"/>
                </a:lnTo>
                <a:lnTo>
                  <a:pt x="123343" y="66416"/>
                </a:lnTo>
                <a:cubicBezTo>
                  <a:pt x="127346" y="66416"/>
                  <a:pt x="130904" y="68906"/>
                  <a:pt x="132268" y="72672"/>
                </a:cubicBezTo>
                <a:cubicBezTo>
                  <a:pt x="133632" y="76437"/>
                  <a:pt x="132475" y="80647"/>
                  <a:pt x="129421" y="83197"/>
                </a:cubicBezTo>
                <a:lnTo>
                  <a:pt x="44030" y="154357"/>
                </a:lnTo>
                <a:cubicBezTo>
                  <a:pt x="40680" y="157144"/>
                  <a:pt x="35906" y="157292"/>
                  <a:pt x="32378" y="154742"/>
                </a:cubicBezTo>
                <a:cubicBezTo>
                  <a:pt x="28849" y="152192"/>
                  <a:pt x="27545" y="147567"/>
                  <a:pt x="29146" y="143535"/>
                </a:cubicBezTo>
                <a:lnTo>
                  <a:pt x="52391" y="85391"/>
                </a:lnTo>
                <a:lnTo>
                  <a:pt x="9488" y="85391"/>
                </a:lnTo>
                <a:cubicBezTo>
                  <a:pt x="5485" y="85391"/>
                  <a:pt x="1927" y="82901"/>
                  <a:pt x="563" y="79135"/>
                </a:cubicBezTo>
                <a:cubicBezTo>
                  <a:pt x="-801" y="75370"/>
                  <a:pt x="356" y="71160"/>
                  <a:pt x="3410" y="68610"/>
                </a:cubicBezTo>
                <a:lnTo>
                  <a:pt x="88801" y="-2550"/>
                </a:lnTo>
                <a:cubicBezTo>
                  <a:pt x="92152" y="-5337"/>
                  <a:pt x="96925" y="-5485"/>
                  <a:pt x="100454" y="-293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9" name="Text 47"/>
          <p:cNvSpPr/>
          <p:nvPr/>
        </p:nvSpPr>
        <p:spPr>
          <a:xfrm>
            <a:off x="7895817" y="2096834"/>
            <a:ext cx="159397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自然语言→结构化任务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30155" y="2400448"/>
            <a:ext cx="394698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无需学习固定指令，像与人对话一样与车交流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16300" y="2855869"/>
            <a:ext cx="4098789" cy="759035"/>
          </a:xfrm>
          <a:custGeom>
            <a:avLst/>
            <a:gdLst/>
            <a:ahLst/>
            <a:cxnLst/>
            <a:rect l="l" t="t" r="r" b="b"/>
            <a:pathLst>
              <a:path w="4098789" h="759035">
                <a:moveTo>
                  <a:pt x="75904" y="0"/>
                </a:moveTo>
                <a:lnTo>
                  <a:pt x="4022886" y="0"/>
                </a:lnTo>
                <a:cubicBezTo>
                  <a:pt x="4064806" y="0"/>
                  <a:pt x="4098789" y="33983"/>
                  <a:pt x="4098789" y="75904"/>
                </a:cubicBezTo>
                <a:lnTo>
                  <a:pt x="4098789" y="683132"/>
                </a:lnTo>
                <a:cubicBezTo>
                  <a:pt x="4098789" y="725052"/>
                  <a:pt x="4064806" y="759035"/>
                  <a:pt x="402288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58619" y="3007676"/>
            <a:ext cx="132831" cy="151807"/>
          </a:xfrm>
          <a:custGeom>
            <a:avLst/>
            <a:gdLst/>
            <a:ahLst/>
            <a:cxnLst/>
            <a:rect l="l" t="t" r="r" b="b"/>
            <a:pathLst>
              <a:path w="132831" h="151807">
                <a:moveTo>
                  <a:pt x="132831" y="61019"/>
                </a:moveTo>
                <a:cubicBezTo>
                  <a:pt x="128443" y="63925"/>
                  <a:pt x="123402" y="66267"/>
                  <a:pt x="118154" y="68135"/>
                </a:cubicBezTo>
                <a:cubicBezTo>
                  <a:pt x="104219" y="73116"/>
                  <a:pt x="85925" y="75904"/>
                  <a:pt x="66416" y="75904"/>
                </a:cubicBezTo>
                <a:cubicBezTo>
                  <a:pt x="46906" y="75904"/>
                  <a:pt x="28582" y="73087"/>
                  <a:pt x="14677" y="68135"/>
                </a:cubicBezTo>
                <a:cubicBezTo>
                  <a:pt x="9458" y="66267"/>
                  <a:pt x="4388" y="63925"/>
                  <a:pt x="0" y="61019"/>
                </a:cubicBezTo>
                <a:lnTo>
                  <a:pt x="0" y="85391"/>
                </a:lnTo>
                <a:cubicBezTo>
                  <a:pt x="0" y="98497"/>
                  <a:pt x="29739" y="109111"/>
                  <a:pt x="66416" y="109111"/>
                </a:cubicBezTo>
                <a:cubicBezTo>
                  <a:pt x="103092" y="109111"/>
                  <a:pt x="132831" y="98497"/>
                  <a:pt x="132831" y="85391"/>
                </a:cubicBezTo>
                <a:lnTo>
                  <a:pt x="132831" y="61019"/>
                </a:lnTo>
                <a:close/>
                <a:moveTo>
                  <a:pt x="132831" y="37952"/>
                </a:moveTo>
                <a:lnTo>
                  <a:pt x="132831" y="23720"/>
                </a:lnTo>
                <a:cubicBezTo>
                  <a:pt x="132831" y="10615"/>
                  <a:pt x="103092" y="0"/>
                  <a:pt x="66416" y="0"/>
                </a:cubicBezTo>
                <a:cubicBezTo>
                  <a:pt x="29739" y="0"/>
                  <a:pt x="0" y="10615"/>
                  <a:pt x="0" y="23720"/>
                </a:cubicBezTo>
                <a:lnTo>
                  <a:pt x="0" y="37952"/>
                </a:lnTo>
                <a:cubicBezTo>
                  <a:pt x="0" y="51057"/>
                  <a:pt x="29739" y="61672"/>
                  <a:pt x="66416" y="61672"/>
                </a:cubicBezTo>
                <a:cubicBezTo>
                  <a:pt x="103092" y="61672"/>
                  <a:pt x="132831" y="51057"/>
                  <a:pt x="132831" y="37952"/>
                </a:cubicBezTo>
                <a:close/>
                <a:moveTo>
                  <a:pt x="118154" y="115575"/>
                </a:moveTo>
                <a:cubicBezTo>
                  <a:pt x="104249" y="120526"/>
                  <a:pt x="85955" y="123343"/>
                  <a:pt x="66416" y="123343"/>
                </a:cubicBezTo>
                <a:cubicBezTo>
                  <a:pt x="46876" y="123343"/>
                  <a:pt x="28582" y="120526"/>
                  <a:pt x="14677" y="115575"/>
                </a:cubicBezTo>
                <a:cubicBezTo>
                  <a:pt x="9458" y="113707"/>
                  <a:pt x="4388" y="111365"/>
                  <a:pt x="0" y="108459"/>
                </a:cubicBezTo>
                <a:lnTo>
                  <a:pt x="0" y="128087"/>
                </a:lnTo>
                <a:cubicBezTo>
                  <a:pt x="0" y="141192"/>
                  <a:pt x="29739" y="151807"/>
                  <a:pt x="66416" y="151807"/>
                </a:cubicBezTo>
                <a:cubicBezTo>
                  <a:pt x="103092" y="151807"/>
                  <a:pt x="132831" y="141192"/>
                  <a:pt x="132831" y="128087"/>
                </a:cubicBezTo>
                <a:lnTo>
                  <a:pt x="132831" y="108459"/>
                </a:lnTo>
                <a:cubicBezTo>
                  <a:pt x="128443" y="111365"/>
                  <a:pt x="123402" y="113707"/>
                  <a:pt x="118154" y="11557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3" name="Text 51"/>
          <p:cNvSpPr/>
          <p:nvPr/>
        </p:nvSpPr>
        <p:spPr>
          <a:xfrm>
            <a:off x="7895817" y="2969725"/>
            <a:ext cx="1138553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跨系统数据打通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30155" y="3273339"/>
            <a:ext cx="394698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读取电影票订单、KFC偏好，减少信息输入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6300" y="3728760"/>
            <a:ext cx="4098789" cy="759035"/>
          </a:xfrm>
          <a:custGeom>
            <a:avLst/>
            <a:gdLst/>
            <a:ahLst/>
            <a:cxnLst/>
            <a:rect l="l" t="t" r="r" b="b"/>
            <a:pathLst>
              <a:path w="4098789" h="759035">
                <a:moveTo>
                  <a:pt x="75904" y="0"/>
                </a:moveTo>
                <a:lnTo>
                  <a:pt x="4022886" y="0"/>
                </a:lnTo>
                <a:cubicBezTo>
                  <a:pt x="4064806" y="0"/>
                  <a:pt x="4098789" y="33983"/>
                  <a:pt x="4098789" y="75904"/>
                </a:cubicBezTo>
                <a:lnTo>
                  <a:pt x="4098789" y="683132"/>
                </a:lnTo>
                <a:cubicBezTo>
                  <a:pt x="4098789" y="725052"/>
                  <a:pt x="4064806" y="759035"/>
                  <a:pt x="402288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49131" y="3880567"/>
            <a:ext cx="151807" cy="151807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0" y="23720"/>
                </a:moveTo>
                <a:cubicBezTo>
                  <a:pt x="0" y="15863"/>
                  <a:pt x="6375" y="9488"/>
                  <a:pt x="14232" y="9488"/>
                </a:cubicBezTo>
                <a:lnTo>
                  <a:pt x="42696" y="9488"/>
                </a:lnTo>
                <a:cubicBezTo>
                  <a:pt x="50553" y="9488"/>
                  <a:pt x="56928" y="15863"/>
                  <a:pt x="56928" y="23720"/>
                </a:cubicBezTo>
                <a:lnTo>
                  <a:pt x="56928" y="28464"/>
                </a:lnTo>
                <a:lnTo>
                  <a:pt x="94879" y="28464"/>
                </a:lnTo>
                <a:lnTo>
                  <a:pt x="94879" y="23720"/>
                </a:lnTo>
                <a:cubicBezTo>
                  <a:pt x="94879" y="15863"/>
                  <a:pt x="101254" y="9488"/>
                  <a:pt x="109111" y="9488"/>
                </a:cubicBezTo>
                <a:lnTo>
                  <a:pt x="137575" y="9488"/>
                </a:lnTo>
                <a:cubicBezTo>
                  <a:pt x="145432" y="9488"/>
                  <a:pt x="151807" y="15863"/>
                  <a:pt x="151807" y="23720"/>
                </a:cubicBezTo>
                <a:lnTo>
                  <a:pt x="151807" y="52184"/>
                </a:lnTo>
                <a:cubicBezTo>
                  <a:pt x="151807" y="60041"/>
                  <a:pt x="145432" y="66416"/>
                  <a:pt x="137575" y="66416"/>
                </a:cubicBezTo>
                <a:lnTo>
                  <a:pt x="109111" y="66416"/>
                </a:lnTo>
                <a:cubicBezTo>
                  <a:pt x="101254" y="66416"/>
                  <a:pt x="94879" y="60041"/>
                  <a:pt x="94879" y="52184"/>
                </a:cubicBezTo>
                <a:lnTo>
                  <a:pt x="94879" y="47440"/>
                </a:lnTo>
                <a:lnTo>
                  <a:pt x="56928" y="47440"/>
                </a:lnTo>
                <a:lnTo>
                  <a:pt x="56928" y="52184"/>
                </a:lnTo>
                <a:cubicBezTo>
                  <a:pt x="56928" y="54348"/>
                  <a:pt x="56424" y="56424"/>
                  <a:pt x="55564" y="58262"/>
                </a:cubicBezTo>
                <a:lnTo>
                  <a:pt x="75904" y="85391"/>
                </a:lnTo>
                <a:lnTo>
                  <a:pt x="99623" y="85391"/>
                </a:lnTo>
                <a:cubicBezTo>
                  <a:pt x="107481" y="85391"/>
                  <a:pt x="113855" y="91766"/>
                  <a:pt x="113855" y="99623"/>
                </a:cubicBezTo>
                <a:lnTo>
                  <a:pt x="113855" y="128087"/>
                </a:lnTo>
                <a:cubicBezTo>
                  <a:pt x="113855" y="135944"/>
                  <a:pt x="107481" y="142319"/>
                  <a:pt x="99623" y="142319"/>
                </a:cubicBezTo>
                <a:lnTo>
                  <a:pt x="71160" y="142319"/>
                </a:lnTo>
                <a:cubicBezTo>
                  <a:pt x="63302" y="142319"/>
                  <a:pt x="56928" y="135944"/>
                  <a:pt x="56928" y="128087"/>
                </a:cubicBezTo>
                <a:lnTo>
                  <a:pt x="56928" y="99623"/>
                </a:lnTo>
                <a:cubicBezTo>
                  <a:pt x="56928" y="97459"/>
                  <a:pt x="57432" y="95383"/>
                  <a:pt x="58292" y="93545"/>
                </a:cubicBezTo>
                <a:lnTo>
                  <a:pt x="37952" y="66416"/>
                </a:lnTo>
                <a:lnTo>
                  <a:pt x="14232" y="66416"/>
                </a:lnTo>
                <a:cubicBezTo>
                  <a:pt x="6375" y="66416"/>
                  <a:pt x="0" y="60041"/>
                  <a:pt x="0" y="52184"/>
                </a:cubicBezTo>
                <a:lnTo>
                  <a:pt x="0" y="2372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7" name="Text 55"/>
          <p:cNvSpPr/>
          <p:nvPr/>
        </p:nvSpPr>
        <p:spPr>
          <a:xfrm>
            <a:off x="7895817" y="3842615"/>
            <a:ext cx="98674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智能路径优化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30155" y="4146229"/>
            <a:ext cx="394698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基于实时路况、时间约束，动态调整顺序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36029" y="4838848"/>
            <a:ext cx="4478307" cy="2020931"/>
          </a:xfrm>
          <a:custGeom>
            <a:avLst/>
            <a:gdLst/>
            <a:ahLst/>
            <a:cxnLst/>
            <a:rect l="l" t="t" r="r" b="b"/>
            <a:pathLst>
              <a:path w="4478307" h="2020931">
                <a:moveTo>
                  <a:pt x="37952" y="0"/>
                </a:moveTo>
                <a:lnTo>
                  <a:pt x="4402400" y="0"/>
                </a:lnTo>
                <a:cubicBezTo>
                  <a:pt x="4444322" y="0"/>
                  <a:pt x="4478307" y="33984"/>
                  <a:pt x="4478307" y="75906"/>
                </a:cubicBezTo>
                <a:lnTo>
                  <a:pt x="4478307" y="1945025"/>
                </a:lnTo>
                <a:cubicBezTo>
                  <a:pt x="4478307" y="1986946"/>
                  <a:pt x="4444322" y="2020931"/>
                  <a:pt x="4402400" y="2020931"/>
                </a:cubicBezTo>
                <a:lnTo>
                  <a:pt x="37952" y="2020931"/>
                </a:lnTo>
                <a:cubicBezTo>
                  <a:pt x="16992" y="2020931"/>
                  <a:pt x="0" y="2003939"/>
                  <a:pt x="0" y="198297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336029" y="4838848"/>
            <a:ext cx="37952" cy="2020931"/>
          </a:xfrm>
          <a:custGeom>
            <a:avLst/>
            <a:gdLst/>
            <a:ahLst/>
            <a:cxnLst/>
            <a:rect l="l" t="t" r="r" b="b"/>
            <a:pathLst>
              <a:path w="37952" h="2020931">
                <a:moveTo>
                  <a:pt x="37952" y="0"/>
                </a:moveTo>
                <a:lnTo>
                  <a:pt x="37952" y="0"/>
                </a:lnTo>
                <a:lnTo>
                  <a:pt x="37952" y="2020931"/>
                </a:lnTo>
                <a:lnTo>
                  <a:pt x="37952" y="2020931"/>
                </a:lnTo>
                <a:cubicBezTo>
                  <a:pt x="16992" y="2020931"/>
                  <a:pt x="0" y="2003939"/>
                  <a:pt x="0" y="198297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61" name="Text 59"/>
          <p:cNvSpPr/>
          <p:nvPr/>
        </p:nvSpPr>
        <p:spPr>
          <a:xfrm>
            <a:off x="7506812" y="4990655"/>
            <a:ext cx="424110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对比传统导航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06812" y="5370173"/>
            <a:ext cx="53132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传统：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038136" y="5370173"/>
            <a:ext cx="1385239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手动输入4次目的地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06812" y="5673787"/>
            <a:ext cx="53132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现在：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038136" y="5673787"/>
            <a:ext cx="144216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一句话完成全部设置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06812" y="6020096"/>
            <a:ext cx="4155717" cy="9488"/>
          </a:xfrm>
          <a:custGeom>
            <a:avLst/>
            <a:gdLst/>
            <a:ahLst/>
            <a:cxnLst/>
            <a:rect l="l" t="t" r="r" b="b"/>
            <a:pathLst>
              <a:path w="4155717" h="9488">
                <a:moveTo>
                  <a:pt x="0" y="0"/>
                </a:moveTo>
                <a:lnTo>
                  <a:pt x="4155717" y="0"/>
                </a:lnTo>
                <a:lnTo>
                  <a:pt x="4155717" y="9488"/>
                </a:lnTo>
                <a:lnTo>
                  <a:pt x="0" y="9488"/>
                </a:lnTo>
                <a:lnTo>
                  <a:pt x="0" y="0"/>
                </a:lnTo>
                <a:close/>
              </a:path>
            </a:pathLst>
          </a:custGeom>
          <a:solidFill>
            <a:srgbClr val="3C6E9E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35652" y="6138696"/>
            <a:ext cx="4298036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-80%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468860" y="6480261"/>
            <a:ext cx="4231620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操作步骤减少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车辆控制与智驾接续：无缝衔接的体验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6162675" cy="2171700"/>
          </a:xfrm>
          <a:custGeom>
            <a:avLst/>
            <a:gdLst/>
            <a:ahLst/>
            <a:cxnLst/>
            <a:rect l="l" t="t" r="r" b="b"/>
            <a:pathLst>
              <a:path w="6162675" h="2171700">
                <a:moveTo>
                  <a:pt x="38100" y="0"/>
                </a:moveTo>
                <a:lnTo>
                  <a:pt x="6086470" y="0"/>
                </a:lnTo>
                <a:cubicBezTo>
                  <a:pt x="6128557" y="0"/>
                  <a:pt x="6162675" y="34118"/>
                  <a:pt x="6162675" y="76205"/>
                </a:cubicBezTo>
                <a:lnTo>
                  <a:pt x="6162675" y="2095495"/>
                </a:lnTo>
                <a:cubicBezTo>
                  <a:pt x="6162675" y="2137582"/>
                  <a:pt x="6128557" y="2171700"/>
                  <a:pt x="6086470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45319" y="1600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71438" y="95250"/>
                </a:moveTo>
                <a:lnTo>
                  <a:pt x="89297" y="95250"/>
                </a:lnTo>
                <a:cubicBezTo>
                  <a:pt x="95883" y="95250"/>
                  <a:pt x="101203" y="89929"/>
                  <a:pt x="101203" y="83344"/>
                </a:cubicBezTo>
                <a:cubicBezTo>
                  <a:pt x="101203" y="76758"/>
                  <a:pt x="95883" y="71438"/>
                  <a:pt x="89297" y="71438"/>
                </a:cubicBezTo>
                <a:lnTo>
                  <a:pt x="71438" y="71438"/>
                </a:lnTo>
                <a:lnTo>
                  <a:pt x="71438" y="95250"/>
                </a:lnTo>
                <a:close/>
                <a:moveTo>
                  <a:pt x="89297" y="119063"/>
                </a:moveTo>
                <a:lnTo>
                  <a:pt x="71438" y="119063"/>
                </a:lnTo>
                <a:lnTo>
                  <a:pt x="71438" y="130969"/>
                </a:lnTo>
                <a:cubicBezTo>
                  <a:pt x="71438" y="137554"/>
                  <a:pt x="66117" y="142875"/>
                  <a:pt x="59531" y="142875"/>
                </a:cubicBezTo>
                <a:cubicBezTo>
                  <a:pt x="52946" y="142875"/>
                  <a:pt x="47625" y="137554"/>
                  <a:pt x="47625" y="130969"/>
                </a:cubicBezTo>
                <a:lnTo>
                  <a:pt x="47625" y="62508"/>
                </a:lnTo>
                <a:cubicBezTo>
                  <a:pt x="47625" y="54285"/>
                  <a:pt x="54285" y="47625"/>
                  <a:pt x="62508" y="47625"/>
                </a:cubicBezTo>
                <a:lnTo>
                  <a:pt x="89297" y="47625"/>
                </a:lnTo>
                <a:cubicBezTo>
                  <a:pt x="109017" y="47625"/>
                  <a:pt x="125016" y="63624"/>
                  <a:pt x="125016" y="83344"/>
                </a:cubicBezTo>
                <a:cubicBezTo>
                  <a:pt x="125016" y="103063"/>
                  <a:pt x="109017" y="119063"/>
                  <a:pt x="89297" y="11906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56210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KFC临停场景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0002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0" name="Text 8"/>
          <p:cNvSpPr/>
          <p:nvPr/>
        </p:nvSpPr>
        <p:spPr>
          <a:xfrm>
            <a:off x="719510" y="205740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19812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自动靠边临停：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抵达KFC附近，感知可用临停区域，自动靠边停车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3622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45" y="24193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34315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车辆解锁：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停稳后自动解锁车门，双闪提示，用户直接下车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27241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45" y="27813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7051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离车保电：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用户离车后，车辆保持上电状态，空调/音乐继续运行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0861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45" y="31432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0670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智驾接续起步：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用户取餐返回上车，踩下刹车即自动闭锁，智驾无缝接续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695700"/>
            <a:ext cx="6162675" cy="2781300"/>
          </a:xfrm>
          <a:custGeom>
            <a:avLst/>
            <a:gdLst/>
            <a:ahLst/>
            <a:cxnLst/>
            <a:rect l="l" t="t" r="r" b="b"/>
            <a:pathLst>
              <a:path w="6162675" h="2781300">
                <a:moveTo>
                  <a:pt x="38100" y="0"/>
                </a:moveTo>
                <a:lnTo>
                  <a:pt x="6086467" y="0"/>
                </a:lnTo>
                <a:cubicBezTo>
                  <a:pt x="6128556" y="0"/>
                  <a:pt x="6162675" y="34119"/>
                  <a:pt x="6162675" y="76208"/>
                </a:cubicBezTo>
                <a:lnTo>
                  <a:pt x="6162675" y="2705092"/>
                </a:lnTo>
                <a:cubicBezTo>
                  <a:pt x="6162675" y="2747181"/>
                  <a:pt x="6128556" y="2781300"/>
                  <a:pt x="6086467" y="2781300"/>
                </a:cubicBezTo>
                <a:lnTo>
                  <a:pt x="38100" y="2781300"/>
                </a:lnTo>
                <a:cubicBezTo>
                  <a:pt x="17072" y="2781300"/>
                  <a:pt x="0" y="2764228"/>
                  <a:pt x="0" y="2743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3695700"/>
            <a:ext cx="38100" cy="2781300"/>
          </a:xfrm>
          <a:custGeom>
            <a:avLst/>
            <a:gdLst/>
            <a:ahLst/>
            <a:cxnLst/>
            <a:rect l="l" t="t" r="r" b="b"/>
            <a:pathLst>
              <a:path w="38100" h="2781300">
                <a:moveTo>
                  <a:pt x="38100" y="0"/>
                </a:moveTo>
                <a:lnTo>
                  <a:pt x="38100" y="0"/>
                </a:lnTo>
                <a:lnTo>
                  <a:pt x="38100" y="2781300"/>
                </a:lnTo>
                <a:lnTo>
                  <a:pt x="38100" y="2781300"/>
                </a:lnTo>
                <a:cubicBezTo>
                  <a:pt x="17072" y="2781300"/>
                  <a:pt x="0" y="2764228"/>
                  <a:pt x="0" y="2743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413" y="3924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4" name="Text 22"/>
          <p:cNvSpPr/>
          <p:nvPr/>
        </p:nvSpPr>
        <p:spPr>
          <a:xfrm>
            <a:off x="847725" y="388620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智驾接续机制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4305300"/>
            <a:ext cx="2828925" cy="1295400"/>
          </a:xfrm>
          <a:custGeom>
            <a:avLst/>
            <a:gdLst/>
            <a:ahLst/>
            <a:cxnLst/>
            <a:rect l="l" t="t" r="r" b="b"/>
            <a:pathLst>
              <a:path w="2828925" h="1295400">
                <a:moveTo>
                  <a:pt x="76195" y="0"/>
                </a:moveTo>
                <a:lnTo>
                  <a:pt x="2752730" y="0"/>
                </a:lnTo>
                <a:cubicBezTo>
                  <a:pt x="2794783" y="0"/>
                  <a:pt x="2828925" y="34142"/>
                  <a:pt x="2828925" y="76195"/>
                </a:cubicBezTo>
                <a:lnTo>
                  <a:pt x="2828925" y="1219205"/>
                </a:lnTo>
                <a:cubicBezTo>
                  <a:pt x="2828925" y="1261286"/>
                  <a:pt x="2794811" y="1295400"/>
                  <a:pt x="27527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" y="44196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触发条件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" y="47244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驾驶员上车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" y="49911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踩下刹车踏板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" y="52578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车门关闭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48063" y="4305300"/>
            <a:ext cx="2828925" cy="1295400"/>
          </a:xfrm>
          <a:custGeom>
            <a:avLst/>
            <a:gdLst/>
            <a:ahLst/>
            <a:cxnLst/>
            <a:rect l="l" t="t" r="r" b="b"/>
            <a:pathLst>
              <a:path w="2828925" h="1295400">
                <a:moveTo>
                  <a:pt x="76195" y="0"/>
                </a:moveTo>
                <a:lnTo>
                  <a:pt x="2752730" y="0"/>
                </a:lnTo>
                <a:cubicBezTo>
                  <a:pt x="2794783" y="0"/>
                  <a:pt x="2828925" y="34142"/>
                  <a:pt x="2828925" y="76195"/>
                </a:cubicBezTo>
                <a:lnTo>
                  <a:pt x="2828925" y="1219205"/>
                </a:lnTo>
                <a:cubicBezTo>
                  <a:pt x="2828925" y="1261286"/>
                  <a:pt x="2794811" y="1295400"/>
                  <a:pt x="27527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662362" y="44196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系统动作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62362" y="47244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自动闭锁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62362" y="49911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关闭双闪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62362" y="52578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恢复智驾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4363" y="5719763"/>
            <a:ext cx="5753100" cy="466725"/>
          </a:xfrm>
          <a:custGeom>
            <a:avLst/>
            <a:gdLst/>
            <a:ahLst/>
            <a:cxnLst/>
            <a:rect l="l" t="t" r="r" b="b"/>
            <a:pathLst>
              <a:path w="5753100" h="466725">
                <a:moveTo>
                  <a:pt x="76202" y="0"/>
                </a:moveTo>
                <a:lnTo>
                  <a:pt x="5676898" y="0"/>
                </a:lnTo>
                <a:cubicBezTo>
                  <a:pt x="5718983" y="0"/>
                  <a:pt x="5753100" y="34117"/>
                  <a:pt x="5753100" y="76202"/>
                </a:cubicBezTo>
                <a:lnTo>
                  <a:pt x="5753100" y="390523"/>
                </a:lnTo>
                <a:cubicBezTo>
                  <a:pt x="5753100" y="432608"/>
                  <a:pt x="5718983" y="466725"/>
                  <a:pt x="56768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325" y="5838825"/>
            <a:ext cx="559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零操作理念：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无需手动切换模式、无需按键启动，AI自动判断时机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53225" y="1371600"/>
            <a:ext cx="5057775" cy="3676650"/>
          </a:xfrm>
          <a:custGeom>
            <a:avLst/>
            <a:gdLst/>
            <a:ahLst/>
            <a:cxnLst/>
            <a:rect l="l" t="t" r="r" b="b"/>
            <a:pathLst>
              <a:path w="5057775" h="3676650">
                <a:moveTo>
                  <a:pt x="76217" y="0"/>
                </a:moveTo>
                <a:lnTo>
                  <a:pt x="4981558" y="0"/>
                </a:lnTo>
                <a:cubicBezTo>
                  <a:pt x="5023652" y="0"/>
                  <a:pt x="5057775" y="34123"/>
                  <a:pt x="5057775" y="76217"/>
                </a:cubicBezTo>
                <a:lnTo>
                  <a:pt x="5057775" y="3600433"/>
                </a:lnTo>
                <a:cubicBezTo>
                  <a:pt x="5057775" y="3642527"/>
                  <a:pt x="5023652" y="3676650"/>
                  <a:pt x="4981558" y="3676650"/>
                </a:cubicBezTo>
                <a:lnTo>
                  <a:pt x="76217" y="3676650"/>
                </a:lnTo>
                <a:cubicBezTo>
                  <a:pt x="34123" y="3676650"/>
                  <a:pt x="0" y="3642527"/>
                  <a:pt x="0" y="3600433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96100" y="156210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车辆控制全流程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19950" y="209073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72388" y="1985963"/>
            <a:ext cx="3943350" cy="390525"/>
          </a:xfrm>
          <a:custGeom>
            <a:avLst/>
            <a:gdLst/>
            <a:ahLst/>
            <a:cxnLst/>
            <a:rect l="l" t="t" r="r" b="b"/>
            <a:pathLst>
              <a:path w="3943350" h="390525">
                <a:moveTo>
                  <a:pt x="76199" y="0"/>
                </a:moveTo>
                <a:lnTo>
                  <a:pt x="3867151" y="0"/>
                </a:lnTo>
                <a:cubicBezTo>
                  <a:pt x="3909234" y="0"/>
                  <a:pt x="3943350" y="34116"/>
                  <a:pt x="3943350" y="76199"/>
                </a:cubicBezTo>
                <a:lnTo>
                  <a:pt x="3943350" y="314326"/>
                </a:lnTo>
                <a:cubicBezTo>
                  <a:pt x="3943350" y="356409"/>
                  <a:pt x="3909234" y="390525"/>
                  <a:pt x="3867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53350" y="206692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自动靠边 → 解锁 → 双闪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24963" y="2495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3" name="Text 41"/>
          <p:cNvSpPr/>
          <p:nvPr/>
        </p:nvSpPr>
        <p:spPr>
          <a:xfrm>
            <a:off x="7219950" y="287178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离车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72388" y="2767013"/>
            <a:ext cx="3943350" cy="390525"/>
          </a:xfrm>
          <a:custGeom>
            <a:avLst/>
            <a:gdLst/>
            <a:ahLst/>
            <a:cxnLst/>
            <a:rect l="l" t="t" r="r" b="b"/>
            <a:pathLst>
              <a:path w="3943350" h="390525">
                <a:moveTo>
                  <a:pt x="76199" y="0"/>
                </a:moveTo>
                <a:lnTo>
                  <a:pt x="3867151" y="0"/>
                </a:lnTo>
                <a:cubicBezTo>
                  <a:pt x="3909234" y="0"/>
                  <a:pt x="3943350" y="34116"/>
                  <a:pt x="3943350" y="76199"/>
                </a:cubicBezTo>
                <a:lnTo>
                  <a:pt x="3943350" y="314326"/>
                </a:lnTo>
                <a:cubicBezTo>
                  <a:pt x="3943350" y="356409"/>
                  <a:pt x="3909234" y="390525"/>
                  <a:pt x="3867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3350" y="284797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保持上电 → 空调/音乐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24963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7" name="Text 45"/>
          <p:cNvSpPr/>
          <p:nvPr/>
        </p:nvSpPr>
        <p:spPr>
          <a:xfrm>
            <a:off x="7219950" y="365283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上车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72388" y="3548063"/>
            <a:ext cx="3943350" cy="390525"/>
          </a:xfrm>
          <a:custGeom>
            <a:avLst/>
            <a:gdLst/>
            <a:ahLst/>
            <a:cxnLst/>
            <a:rect l="l" t="t" r="r" b="b"/>
            <a:pathLst>
              <a:path w="3943350" h="390525">
                <a:moveTo>
                  <a:pt x="76199" y="0"/>
                </a:moveTo>
                <a:lnTo>
                  <a:pt x="3867151" y="0"/>
                </a:lnTo>
                <a:cubicBezTo>
                  <a:pt x="3909234" y="0"/>
                  <a:pt x="3943350" y="34116"/>
                  <a:pt x="3943350" y="76199"/>
                </a:cubicBezTo>
                <a:lnTo>
                  <a:pt x="3943350" y="314326"/>
                </a:lnTo>
                <a:cubicBezTo>
                  <a:pt x="3943350" y="356409"/>
                  <a:pt x="3909234" y="390525"/>
                  <a:pt x="3867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53350" y="362902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踩下刹车 → 自动闭锁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24963" y="40576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Text 49"/>
          <p:cNvSpPr/>
          <p:nvPr/>
        </p:nvSpPr>
        <p:spPr>
          <a:xfrm>
            <a:off x="7219950" y="443388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起步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72388" y="4329113"/>
            <a:ext cx="3943350" cy="390525"/>
          </a:xfrm>
          <a:custGeom>
            <a:avLst/>
            <a:gdLst/>
            <a:ahLst/>
            <a:cxnLst/>
            <a:rect l="l" t="t" r="r" b="b"/>
            <a:pathLst>
              <a:path w="3943350" h="390525">
                <a:moveTo>
                  <a:pt x="76199" y="0"/>
                </a:moveTo>
                <a:lnTo>
                  <a:pt x="3867151" y="0"/>
                </a:lnTo>
                <a:cubicBezTo>
                  <a:pt x="3909234" y="0"/>
                  <a:pt x="3943350" y="34116"/>
                  <a:pt x="3943350" y="76199"/>
                </a:cubicBezTo>
                <a:lnTo>
                  <a:pt x="3943350" y="314326"/>
                </a:lnTo>
                <a:cubicBezTo>
                  <a:pt x="3943350" y="356409"/>
                  <a:pt x="3909234" y="390525"/>
                  <a:pt x="3867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3350" y="441007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关闭双闪 → 智驾接续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757988" y="5205413"/>
            <a:ext cx="5048250" cy="1266825"/>
          </a:xfrm>
          <a:custGeom>
            <a:avLst/>
            <a:gdLst/>
            <a:ahLst/>
            <a:cxnLst/>
            <a:rect l="l" t="t" r="r" b="b"/>
            <a:pathLst>
              <a:path w="5048250" h="1266825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1190625"/>
                </a:lnTo>
                <a:cubicBezTo>
                  <a:pt x="5048250" y="1232709"/>
                  <a:pt x="5014134" y="1266825"/>
                  <a:pt x="497205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2288" y="5362575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43713" y="5743575"/>
            <a:ext cx="164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81813" y="612457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次手动切换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59763" y="5743575"/>
            <a:ext cx="164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97863" y="612457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接续时间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075813" y="5743575"/>
            <a:ext cx="164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13913" y="612457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无缝体验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7337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spc="54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SCENARIO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618622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接人场景：从"找车"到"车找人"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65404"/>
            <a:ext cx="824829" cy="34368"/>
          </a:xfrm>
          <a:custGeom>
            <a:avLst/>
            <a:gdLst/>
            <a:ahLst/>
            <a:cxnLst/>
            <a:rect l="l" t="t" r="r" b="b"/>
            <a:pathLst>
              <a:path w="824829" h="34368">
                <a:moveTo>
                  <a:pt x="0" y="0"/>
                </a:moveTo>
                <a:lnTo>
                  <a:pt x="824829" y="0"/>
                </a:lnTo>
                <a:lnTo>
                  <a:pt x="824829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60863" y="1237243"/>
            <a:ext cx="5644922" cy="3849201"/>
          </a:xfrm>
          <a:custGeom>
            <a:avLst/>
            <a:gdLst/>
            <a:ahLst/>
            <a:cxnLst/>
            <a:rect l="l" t="t" r="r" b="b"/>
            <a:pathLst>
              <a:path w="5644922" h="3849201">
                <a:moveTo>
                  <a:pt x="34368" y="0"/>
                </a:moveTo>
                <a:lnTo>
                  <a:pt x="5576175" y="0"/>
                </a:lnTo>
                <a:cubicBezTo>
                  <a:pt x="5614143" y="0"/>
                  <a:pt x="5644922" y="30779"/>
                  <a:pt x="5644922" y="68747"/>
                </a:cubicBezTo>
                <a:lnTo>
                  <a:pt x="5644922" y="3780454"/>
                </a:lnTo>
                <a:cubicBezTo>
                  <a:pt x="5644922" y="3818422"/>
                  <a:pt x="5614143" y="3849201"/>
                  <a:pt x="5576175" y="3849201"/>
                </a:cubicBezTo>
                <a:lnTo>
                  <a:pt x="34368" y="3849201"/>
                </a:lnTo>
                <a:cubicBezTo>
                  <a:pt x="15387" y="3849201"/>
                  <a:pt x="0" y="3833814"/>
                  <a:pt x="0" y="381483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0863" y="1237243"/>
            <a:ext cx="34368" cy="3849201"/>
          </a:xfrm>
          <a:custGeom>
            <a:avLst/>
            <a:gdLst/>
            <a:ahLst/>
            <a:cxnLst/>
            <a:rect l="l" t="t" r="r" b="b"/>
            <a:pathLst>
              <a:path w="34368" h="3849201">
                <a:moveTo>
                  <a:pt x="34368" y="0"/>
                </a:moveTo>
                <a:lnTo>
                  <a:pt x="34368" y="0"/>
                </a:lnTo>
                <a:lnTo>
                  <a:pt x="34368" y="3849201"/>
                </a:lnTo>
                <a:lnTo>
                  <a:pt x="34368" y="3849201"/>
                </a:lnTo>
                <a:cubicBezTo>
                  <a:pt x="15387" y="3849201"/>
                  <a:pt x="0" y="3833814"/>
                  <a:pt x="0" y="381483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71366" y="1443450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118072" y="8391"/>
                </a:moveTo>
                <a:cubicBezTo>
                  <a:pt x="120690" y="2081"/>
                  <a:pt x="127604" y="-1309"/>
                  <a:pt x="134216" y="503"/>
                </a:cubicBezTo>
                <a:lnTo>
                  <a:pt x="136062" y="1007"/>
                </a:lnTo>
                <a:cubicBezTo>
                  <a:pt x="157743" y="6914"/>
                  <a:pt x="176270" y="27924"/>
                  <a:pt x="170866" y="53498"/>
                </a:cubicBezTo>
                <a:cubicBezTo>
                  <a:pt x="158414" y="112233"/>
                  <a:pt x="112199" y="158448"/>
                  <a:pt x="53465" y="170900"/>
                </a:cubicBezTo>
                <a:cubicBezTo>
                  <a:pt x="27857" y="176337"/>
                  <a:pt x="6880" y="157777"/>
                  <a:pt x="973" y="136095"/>
                </a:cubicBezTo>
                <a:lnTo>
                  <a:pt x="470" y="134249"/>
                </a:lnTo>
                <a:cubicBezTo>
                  <a:pt x="-1342" y="127638"/>
                  <a:pt x="2047" y="120724"/>
                  <a:pt x="8357" y="118106"/>
                </a:cubicBezTo>
                <a:lnTo>
                  <a:pt x="41013" y="104513"/>
                </a:lnTo>
                <a:cubicBezTo>
                  <a:pt x="46551" y="102197"/>
                  <a:pt x="52961" y="103808"/>
                  <a:pt x="56788" y="108474"/>
                </a:cubicBezTo>
                <a:lnTo>
                  <a:pt x="69743" y="124315"/>
                </a:lnTo>
                <a:cubicBezTo>
                  <a:pt x="93337" y="112602"/>
                  <a:pt x="112300" y="93001"/>
                  <a:pt x="123207" y="68971"/>
                </a:cubicBezTo>
                <a:lnTo>
                  <a:pt x="108406" y="56855"/>
                </a:lnTo>
                <a:cubicBezTo>
                  <a:pt x="103741" y="53062"/>
                  <a:pt x="102164" y="46652"/>
                  <a:pt x="104446" y="41080"/>
                </a:cubicBezTo>
                <a:lnTo>
                  <a:pt x="118072" y="8391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764685" y="1409082"/>
            <a:ext cx="515518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智能通知系统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9886" y="1787129"/>
            <a:ext cx="5284059" cy="704541"/>
          </a:xfrm>
          <a:custGeom>
            <a:avLst/>
            <a:gdLst/>
            <a:ahLst/>
            <a:cxnLst/>
            <a:rect l="l" t="t" r="r" b="b"/>
            <a:pathLst>
              <a:path w="5284059" h="704541">
                <a:moveTo>
                  <a:pt x="68735" y="0"/>
                </a:moveTo>
                <a:lnTo>
                  <a:pt x="5215324" y="0"/>
                </a:lnTo>
                <a:cubicBezTo>
                  <a:pt x="5253285" y="0"/>
                  <a:pt x="5284059" y="30774"/>
                  <a:pt x="5284059" y="68735"/>
                </a:cubicBezTo>
                <a:lnTo>
                  <a:pt x="5284059" y="635806"/>
                </a:lnTo>
                <a:cubicBezTo>
                  <a:pt x="5284059" y="673767"/>
                  <a:pt x="5253285" y="704541"/>
                  <a:pt x="5215324" y="704541"/>
                </a:cubicBezTo>
                <a:lnTo>
                  <a:pt x="68735" y="704541"/>
                </a:lnTo>
                <a:cubicBezTo>
                  <a:pt x="30774" y="704541"/>
                  <a:pt x="0" y="673767"/>
                  <a:pt x="0" y="635806"/>
                </a:cubicBezTo>
                <a:lnTo>
                  <a:pt x="0" y="68735"/>
                </a:lnTo>
                <a:cubicBezTo>
                  <a:pt x="0" y="30799"/>
                  <a:pt x="30799" y="0"/>
                  <a:pt x="6873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2989" y="1890233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触发时机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989" y="2165175"/>
            <a:ext cx="5146588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距离华域地库还有</a:t>
            </a:r>
            <a:pPr>
              <a:lnSpc>
                <a:spcPct val="14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5分钟/1公里</a:t>
            </a:r>
            <a:pPr>
              <a:lnSpc>
                <a:spcPct val="14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时，系统自动触发通知流程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9886" y="2594774"/>
            <a:ext cx="5284059" cy="927932"/>
          </a:xfrm>
          <a:custGeom>
            <a:avLst/>
            <a:gdLst/>
            <a:ahLst/>
            <a:cxnLst/>
            <a:rect l="l" t="t" r="r" b="b"/>
            <a:pathLst>
              <a:path w="5284059" h="927932">
                <a:moveTo>
                  <a:pt x="68732" y="0"/>
                </a:moveTo>
                <a:lnTo>
                  <a:pt x="5215327" y="0"/>
                </a:lnTo>
                <a:cubicBezTo>
                  <a:pt x="5253287" y="0"/>
                  <a:pt x="5284059" y="30772"/>
                  <a:pt x="5284059" y="68732"/>
                </a:cubicBezTo>
                <a:lnTo>
                  <a:pt x="5284059" y="859200"/>
                </a:lnTo>
                <a:cubicBezTo>
                  <a:pt x="5284059" y="897160"/>
                  <a:pt x="5253287" y="927932"/>
                  <a:pt x="5215327" y="927932"/>
                </a:cubicBezTo>
                <a:lnTo>
                  <a:pt x="68732" y="927932"/>
                </a:lnTo>
                <a:cubicBezTo>
                  <a:pt x="30772" y="927932"/>
                  <a:pt x="0" y="897160"/>
                  <a:pt x="0" y="859200"/>
                </a:cubicBezTo>
                <a:lnTo>
                  <a:pt x="0" y="68732"/>
                </a:lnTo>
                <a:cubicBezTo>
                  <a:pt x="0" y="30798"/>
                  <a:pt x="30798" y="0"/>
                  <a:pt x="6873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2989" y="2697877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通知方式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989" y="2972820"/>
            <a:ext cx="5146588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通过车载系统拨打小明电话，语音播报："您好，我是理想AI助手，我们即将抵达华域地库，请您准备下楼。"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9886" y="3625810"/>
            <a:ext cx="5284059" cy="704541"/>
          </a:xfrm>
          <a:custGeom>
            <a:avLst/>
            <a:gdLst/>
            <a:ahLst/>
            <a:cxnLst/>
            <a:rect l="l" t="t" r="r" b="b"/>
            <a:pathLst>
              <a:path w="5284059" h="704541">
                <a:moveTo>
                  <a:pt x="68735" y="0"/>
                </a:moveTo>
                <a:lnTo>
                  <a:pt x="5215324" y="0"/>
                </a:lnTo>
                <a:cubicBezTo>
                  <a:pt x="5253285" y="0"/>
                  <a:pt x="5284059" y="30774"/>
                  <a:pt x="5284059" y="68735"/>
                </a:cubicBezTo>
                <a:lnTo>
                  <a:pt x="5284059" y="635806"/>
                </a:lnTo>
                <a:cubicBezTo>
                  <a:pt x="5284059" y="673767"/>
                  <a:pt x="5253285" y="704541"/>
                  <a:pt x="5215324" y="704541"/>
                </a:cubicBezTo>
                <a:lnTo>
                  <a:pt x="68735" y="704541"/>
                </a:lnTo>
                <a:cubicBezTo>
                  <a:pt x="30774" y="704541"/>
                  <a:pt x="0" y="673767"/>
                  <a:pt x="0" y="635806"/>
                </a:cubicBezTo>
                <a:lnTo>
                  <a:pt x="0" y="68735"/>
                </a:lnTo>
                <a:cubicBezTo>
                  <a:pt x="0" y="30799"/>
                  <a:pt x="30799" y="0"/>
                  <a:pt x="6873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2989" y="3728913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信息同步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989" y="4003856"/>
            <a:ext cx="5146588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同时发送短信/APP推送，包含预计到达时间、接人位置（后续确认）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0863" y="5223915"/>
            <a:ext cx="5644922" cy="1632474"/>
          </a:xfrm>
          <a:custGeom>
            <a:avLst/>
            <a:gdLst/>
            <a:ahLst/>
            <a:cxnLst/>
            <a:rect l="l" t="t" r="r" b="b"/>
            <a:pathLst>
              <a:path w="5644922" h="1632474">
                <a:moveTo>
                  <a:pt x="34368" y="0"/>
                </a:moveTo>
                <a:lnTo>
                  <a:pt x="5576178" y="0"/>
                </a:lnTo>
                <a:cubicBezTo>
                  <a:pt x="5614144" y="0"/>
                  <a:pt x="5644922" y="30777"/>
                  <a:pt x="5644922" y="68743"/>
                </a:cubicBezTo>
                <a:lnTo>
                  <a:pt x="5644922" y="1563730"/>
                </a:lnTo>
                <a:cubicBezTo>
                  <a:pt x="5644922" y="1601696"/>
                  <a:pt x="5614144" y="1632474"/>
                  <a:pt x="5576178" y="1632474"/>
                </a:cubicBezTo>
                <a:lnTo>
                  <a:pt x="34368" y="1632474"/>
                </a:lnTo>
                <a:cubicBezTo>
                  <a:pt x="15387" y="1632474"/>
                  <a:pt x="0" y="1617087"/>
                  <a:pt x="0" y="1598106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360863" y="5223915"/>
            <a:ext cx="34368" cy="1632474"/>
          </a:xfrm>
          <a:custGeom>
            <a:avLst/>
            <a:gdLst/>
            <a:ahLst/>
            <a:cxnLst/>
            <a:rect l="l" t="t" r="r" b="b"/>
            <a:pathLst>
              <a:path w="34368" h="1632474">
                <a:moveTo>
                  <a:pt x="34368" y="0"/>
                </a:moveTo>
                <a:lnTo>
                  <a:pt x="34368" y="0"/>
                </a:lnTo>
                <a:lnTo>
                  <a:pt x="34368" y="1632474"/>
                </a:lnTo>
                <a:lnTo>
                  <a:pt x="34368" y="1632474"/>
                </a:lnTo>
                <a:cubicBezTo>
                  <a:pt x="15387" y="1632474"/>
                  <a:pt x="0" y="1617087"/>
                  <a:pt x="0" y="1598106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846" y="5430123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0" y="63299"/>
                </a:moveTo>
                <a:cubicBezTo>
                  <a:pt x="0" y="28327"/>
                  <a:pt x="28864" y="0"/>
                  <a:pt x="64440" y="0"/>
                </a:cubicBezTo>
                <a:cubicBezTo>
                  <a:pt x="100016" y="0"/>
                  <a:pt x="128879" y="28327"/>
                  <a:pt x="128879" y="63299"/>
                </a:cubicBezTo>
                <a:cubicBezTo>
                  <a:pt x="128879" y="103339"/>
                  <a:pt x="88538" y="151333"/>
                  <a:pt x="71689" y="169624"/>
                </a:cubicBezTo>
                <a:cubicBezTo>
                  <a:pt x="67729" y="173920"/>
                  <a:pt x="61117" y="173920"/>
                  <a:pt x="57157" y="169624"/>
                </a:cubicBezTo>
                <a:cubicBezTo>
                  <a:pt x="40308" y="151333"/>
                  <a:pt x="-34" y="103339"/>
                  <a:pt x="-34" y="63299"/>
                </a:cubicBezTo>
                <a:close/>
                <a:moveTo>
                  <a:pt x="64440" y="85920"/>
                </a:moveTo>
                <a:cubicBezTo>
                  <a:pt x="76295" y="85920"/>
                  <a:pt x="85920" y="76295"/>
                  <a:pt x="85920" y="64440"/>
                </a:cubicBezTo>
                <a:cubicBezTo>
                  <a:pt x="85920" y="52585"/>
                  <a:pt x="76295" y="42960"/>
                  <a:pt x="64440" y="42960"/>
                </a:cubicBezTo>
                <a:cubicBezTo>
                  <a:pt x="52585" y="42960"/>
                  <a:pt x="42960" y="52585"/>
                  <a:pt x="42960" y="64440"/>
                </a:cubicBezTo>
                <a:cubicBezTo>
                  <a:pt x="42960" y="76295"/>
                  <a:pt x="52585" y="85920"/>
                  <a:pt x="64440" y="8592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764685" y="5395755"/>
            <a:ext cx="515518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地库精准接驳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9886" y="5790985"/>
            <a:ext cx="240575" cy="240575"/>
          </a:xfrm>
          <a:custGeom>
            <a:avLst/>
            <a:gdLst/>
            <a:ahLst/>
            <a:cxnLst/>
            <a:rect l="l" t="t" r="r" b="b"/>
            <a:pathLst>
              <a:path w="240575" h="240575">
                <a:moveTo>
                  <a:pt x="120288" y="0"/>
                </a:moveTo>
                <a:lnTo>
                  <a:pt x="120288" y="0"/>
                </a:lnTo>
                <a:cubicBezTo>
                  <a:pt x="186676" y="0"/>
                  <a:pt x="240575" y="53899"/>
                  <a:pt x="240575" y="120288"/>
                </a:cubicBezTo>
                <a:lnTo>
                  <a:pt x="240575" y="120288"/>
                </a:lnTo>
                <a:cubicBezTo>
                  <a:pt x="240575" y="186676"/>
                  <a:pt x="186676" y="240575"/>
                  <a:pt x="120288" y="240575"/>
                </a:cubicBezTo>
                <a:lnTo>
                  <a:pt x="120288" y="240575"/>
                </a:lnTo>
                <a:cubicBezTo>
                  <a:pt x="53899" y="240575"/>
                  <a:pt x="0" y="186676"/>
                  <a:pt x="0" y="120288"/>
                </a:cubicBezTo>
                <a:lnTo>
                  <a:pt x="0" y="120288"/>
                </a:lnTo>
                <a:cubicBezTo>
                  <a:pt x="0" y="53899"/>
                  <a:pt x="53899" y="0"/>
                  <a:pt x="120288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029" y="5842537"/>
            <a:ext cx="94512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3564" y="5773801"/>
            <a:ext cx="30071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位置确认：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用户语音指定"华域-B1-A区-电梯间"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9886" y="6117480"/>
            <a:ext cx="240575" cy="240575"/>
          </a:xfrm>
          <a:custGeom>
            <a:avLst/>
            <a:gdLst/>
            <a:ahLst/>
            <a:cxnLst/>
            <a:rect l="l" t="t" r="r" b="b"/>
            <a:pathLst>
              <a:path w="240575" h="240575">
                <a:moveTo>
                  <a:pt x="120288" y="0"/>
                </a:moveTo>
                <a:lnTo>
                  <a:pt x="120288" y="0"/>
                </a:lnTo>
                <a:cubicBezTo>
                  <a:pt x="186676" y="0"/>
                  <a:pt x="240575" y="53899"/>
                  <a:pt x="240575" y="120288"/>
                </a:cubicBezTo>
                <a:lnTo>
                  <a:pt x="240575" y="120288"/>
                </a:lnTo>
                <a:cubicBezTo>
                  <a:pt x="240575" y="186676"/>
                  <a:pt x="186676" y="240575"/>
                  <a:pt x="120288" y="240575"/>
                </a:cubicBezTo>
                <a:lnTo>
                  <a:pt x="120288" y="240575"/>
                </a:lnTo>
                <a:cubicBezTo>
                  <a:pt x="53899" y="240575"/>
                  <a:pt x="0" y="186676"/>
                  <a:pt x="0" y="120288"/>
                </a:cubicBezTo>
                <a:lnTo>
                  <a:pt x="0" y="120288"/>
                </a:lnTo>
                <a:cubicBezTo>
                  <a:pt x="0" y="53899"/>
                  <a:pt x="53899" y="0"/>
                  <a:pt x="120288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6" name="Text 24"/>
          <p:cNvSpPr/>
          <p:nvPr/>
        </p:nvSpPr>
        <p:spPr>
          <a:xfrm>
            <a:off x="639229" y="6169032"/>
            <a:ext cx="111696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3564" y="6100296"/>
            <a:ext cx="292126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地库导航：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智驾系统导航至B1层A区电梯间附近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9886" y="6443975"/>
            <a:ext cx="240575" cy="240575"/>
          </a:xfrm>
          <a:custGeom>
            <a:avLst/>
            <a:gdLst/>
            <a:ahLst/>
            <a:cxnLst/>
            <a:rect l="l" t="t" r="r" b="b"/>
            <a:pathLst>
              <a:path w="240575" h="240575">
                <a:moveTo>
                  <a:pt x="120288" y="0"/>
                </a:moveTo>
                <a:lnTo>
                  <a:pt x="120288" y="0"/>
                </a:lnTo>
                <a:cubicBezTo>
                  <a:pt x="186676" y="0"/>
                  <a:pt x="240575" y="53899"/>
                  <a:pt x="240575" y="120288"/>
                </a:cubicBezTo>
                <a:lnTo>
                  <a:pt x="240575" y="120288"/>
                </a:lnTo>
                <a:cubicBezTo>
                  <a:pt x="240575" y="186676"/>
                  <a:pt x="186676" y="240575"/>
                  <a:pt x="120288" y="240575"/>
                </a:cubicBezTo>
                <a:lnTo>
                  <a:pt x="120288" y="240575"/>
                </a:lnTo>
                <a:cubicBezTo>
                  <a:pt x="53899" y="240575"/>
                  <a:pt x="0" y="186676"/>
                  <a:pt x="0" y="120288"/>
                </a:cubicBezTo>
                <a:lnTo>
                  <a:pt x="0" y="120288"/>
                </a:lnTo>
                <a:cubicBezTo>
                  <a:pt x="0" y="53899"/>
                  <a:pt x="53899" y="0"/>
                  <a:pt x="12028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9" name="Text 27"/>
          <p:cNvSpPr/>
          <p:nvPr/>
        </p:nvSpPr>
        <p:spPr>
          <a:xfrm>
            <a:off x="639229" y="6495526"/>
            <a:ext cx="111696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3564" y="6426791"/>
            <a:ext cx="317902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到达提示：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自动解锁+双闪，方便小明快速识别车辆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0510" y="1237243"/>
            <a:ext cx="5662106" cy="4330351"/>
          </a:xfrm>
          <a:custGeom>
            <a:avLst/>
            <a:gdLst/>
            <a:ahLst/>
            <a:cxnLst/>
            <a:rect l="l" t="t" r="r" b="b"/>
            <a:pathLst>
              <a:path w="5662106" h="4330351">
                <a:moveTo>
                  <a:pt x="68723" y="0"/>
                </a:moveTo>
                <a:lnTo>
                  <a:pt x="5593383" y="0"/>
                </a:lnTo>
                <a:cubicBezTo>
                  <a:pt x="5631338" y="0"/>
                  <a:pt x="5662106" y="30768"/>
                  <a:pt x="5662106" y="68723"/>
                </a:cubicBezTo>
                <a:lnTo>
                  <a:pt x="5662106" y="4261628"/>
                </a:lnTo>
                <a:cubicBezTo>
                  <a:pt x="5662106" y="4299583"/>
                  <a:pt x="5631338" y="4330351"/>
                  <a:pt x="5593383" y="4330351"/>
                </a:cubicBezTo>
                <a:lnTo>
                  <a:pt x="68723" y="4330351"/>
                </a:lnTo>
                <a:cubicBezTo>
                  <a:pt x="30768" y="4330351"/>
                  <a:pt x="0" y="4299583"/>
                  <a:pt x="0" y="4261628"/>
                </a:cubicBezTo>
                <a:lnTo>
                  <a:pt x="0" y="68723"/>
                </a:lnTo>
                <a:cubicBezTo>
                  <a:pt x="0" y="30794"/>
                  <a:pt x="30794" y="0"/>
                  <a:pt x="68723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09390" y="1409082"/>
            <a:ext cx="540434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接人流程对比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9533" y="1787129"/>
            <a:ext cx="5301243" cy="1615290"/>
          </a:xfrm>
          <a:custGeom>
            <a:avLst/>
            <a:gdLst/>
            <a:ahLst/>
            <a:cxnLst/>
            <a:rect l="l" t="t" r="r" b="b"/>
            <a:pathLst>
              <a:path w="5301243" h="1615290">
                <a:moveTo>
                  <a:pt x="34368" y="0"/>
                </a:moveTo>
                <a:lnTo>
                  <a:pt x="5232513" y="0"/>
                </a:lnTo>
                <a:cubicBezTo>
                  <a:pt x="5270471" y="0"/>
                  <a:pt x="5301243" y="30772"/>
                  <a:pt x="5301243" y="68731"/>
                </a:cubicBezTo>
                <a:lnTo>
                  <a:pt x="5301243" y="1546559"/>
                </a:lnTo>
                <a:cubicBezTo>
                  <a:pt x="5301243" y="1584518"/>
                  <a:pt x="5270471" y="1615290"/>
                  <a:pt x="5232513" y="1615290"/>
                </a:cubicBezTo>
                <a:lnTo>
                  <a:pt x="34368" y="1615290"/>
                </a:lnTo>
                <a:cubicBezTo>
                  <a:pt x="15387" y="1615290"/>
                  <a:pt x="0" y="1599903"/>
                  <a:pt x="0" y="158092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69533" y="1787129"/>
            <a:ext cx="34368" cy="1615290"/>
          </a:xfrm>
          <a:custGeom>
            <a:avLst/>
            <a:gdLst/>
            <a:ahLst/>
            <a:cxnLst/>
            <a:rect l="l" t="t" r="r" b="b"/>
            <a:pathLst>
              <a:path w="34368" h="1615290">
                <a:moveTo>
                  <a:pt x="34368" y="0"/>
                </a:moveTo>
                <a:lnTo>
                  <a:pt x="34368" y="0"/>
                </a:lnTo>
                <a:lnTo>
                  <a:pt x="34368" y="1615290"/>
                </a:lnTo>
                <a:lnTo>
                  <a:pt x="34368" y="1615290"/>
                </a:lnTo>
                <a:cubicBezTo>
                  <a:pt x="15387" y="1615290"/>
                  <a:pt x="0" y="1599903"/>
                  <a:pt x="0" y="158092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5" name="Text 33"/>
          <p:cNvSpPr/>
          <p:nvPr/>
        </p:nvSpPr>
        <p:spPr>
          <a:xfrm>
            <a:off x="6524189" y="1924600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4189" y="2233911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用户手动打电话通知小明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24189" y="2508854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发送定位（可能不准确）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24189" y="2783797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小明找车位/找车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24189" y="3058740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等待、沟通成本高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48533" y="3505522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56855" y="168684"/>
                </a:moveTo>
                <a:cubicBezTo>
                  <a:pt x="61050" y="172880"/>
                  <a:pt x="67863" y="172880"/>
                  <a:pt x="72058" y="168684"/>
                </a:cubicBezTo>
                <a:lnTo>
                  <a:pt x="125758" y="114985"/>
                </a:lnTo>
                <a:cubicBezTo>
                  <a:pt x="129953" y="110789"/>
                  <a:pt x="129953" y="103976"/>
                  <a:pt x="125758" y="99781"/>
                </a:cubicBezTo>
                <a:cubicBezTo>
                  <a:pt x="121563" y="95586"/>
                  <a:pt x="114750" y="95586"/>
                  <a:pt x="110554" y="99781"/>
                </a:cubicBezTo>
                <a:lnTo>
                  <a:pt x="75180" y="135156"/>
                </a:lnTo>
                <a:lnTo>
                  <a:pt x="75180" y="10740"/>
                </a:lnTo>
                <a:cubicBezTo>
                  <a:pt x="75180" y="4799"/>
                  <a:pt x="70380" y="0"/>
                  <a:pt x="64440" y="0"/>
                </a:cubicBezTo>
                <a:cubicBezTo>
                  <a:pt x="58499" y="0"/>
                  <a:pt x="53700" y="4799"/>
                  <a:pt x="53700" y="10740"/>
                </a:cubicBezTo>
                <a:lnTo>
                  <a:pt x="53700" y="135156"/>
                </a:lnTo>
                <a:lnTo>
                  <a:pt x="18325" y="99781"/>
                </a:lnTo>
                <a:cubicBezTo>
                  <a:pt x="14130" y="95586"/>
                  <a:pt x="7317" y="95586"/>
                  <a:pt x="3121" y="99781"/>
                </a:cubicBezTo>
                <a:cubicBezTo>
                  <a:pt x="-1074" y="103976"/>
                  <a:pt x="-1074" y="110789"/>
                  <a:pt x="3121" y="114985"/>
                </a:cubicBezTo>
                <a:lnTo>
                  <a:pt x="56821" y="168684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9533" y="3780465"/>
            <a:ext cx="5301243" cy="1615290"/>
          </a:xfrm>
          <a:custGeom>
            <a:avLst/>
            <a:gdLst/>
            <a:ahLst/>
            <a:cxnLst/>
            <a:rect l="l" t="t" r="r" b="b"/>
            <a:pathLst>
              <a:path w="5301243" h="1615290">
                <a:moveTo>
                  <a:pt x="34368" y="0"/>
                </a:moveTo>
                <a:lnTo>
                  <a:pt x="5232513" y="0"/>
                </a:lnTo>
                <a:cubicBezTo>
                  <a:pt x="5270471" y="0"/>
                  <a:pt x="5301243" y="30772"/>
                  <a:pt x="5301243" y="68731"/>
                </a:cubicBezTo>
                <a:lnTo>
                  <a:pt x="5301243" y="1546559"/>
                </a:lnTo>
                <a:cubicBezTo>
                  <a:pt x="5301243" y="1584518"/>
                  <a:pt x="5270471" y="1615290"/>
                  <a:pt x="5232513" y="1615290"/>
                </a:cubicBezTo>
                <a:lnTo>
                  <a:pt x="34368" y="1615290"/>
                </a:lnTo>
                <a:cubicBezTo>
                  <a:pt x="15387" y="1615290"/>
                  <a:pt x="0" y="1599903"/>
                  <a:pt x="0" y="158092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69533" y="3780465"/>
            <a:ext cx="34368" cy="1615290"/>
          </a:xfrm>
          <a:custGeom>
            <a:avLst/>
            <a:gdLst/>
            <a:ahLst/>
            <a:cxnLst/>
            <a:rect l="l" t="t" r="r" b="b"/>
            <a:pathLst>
              <a:path w="34368" h="1615290">
                <a:moveTo>
                  <a:pt x="34368" y="0"/>
                </a:moveTo>
                <a:lnTo>
                  <a:pt x="34368" y="0"/>
                </a:lnTo>
                <a:lnTo>
                  <a:pt x="34368" y="1615290"/>
                </a:lnTo>
                <a:lnTo>
                  <a:pt x="34368" y="1615290"/>
                </a:lnTo>
                <a:cubicBezTo>
                  <a:pt x="15387" y="1615290"/>
                  <a:pt x="0" y="1599903"/>
                  <a:pt x="0" y="158092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3" name="Text 41"/>
          <p:cNvSpPr/>
          <p:nvPr/>
        </p:nvSpPr>
        <p:spPr>
          <a:xfrm>
            <a:off x="6524189" y="3917937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豆包上车后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4189" y="4227247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AI自动打电话通知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4189" y="4502190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精确到楼层/区域/位置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24189" y="4777133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车直接开到电梯间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24189" y="5052076"/>
            <a:ext cx="50778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零等待，即停即走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4806" y="5709362"/>
            <a:ext cx="5653514" cy="1142732"/>
          </a:xfrm>
          <a:custGeom>
            <a:avLst/>
            <a:gdLst/>
            <a:ahLst/>
            <a:cxnLst/>
            <a:rect l="l" t="t" r="r" b="b"/>
            <a:pathLst>
              <a:path w="5653514" h="1142732">
                <a:moveTo>
                  <a:pt x="68735" y="0"/>
                </a:moveTo>
                <a:lnTo>
                  <a:pt x="5584778" y="0"/>
                </a:lnTo>
                <a:cubicBezTo>
                  <a:pt x="5622740" y="0"/>
                  <a:pt x="5653514" y="30774"/>
                  <a:pt x="5653514" y="68735"/>
                </a:cubicBezTo>
                <a:lnTo>
                  <a:pt x="5653514" y="1073996"/>
                </a:lnTo>
                <a:cubicBezTo>
                  <a:pt x="5653514" y="1111958"/>
                  <a:pt x="5622740" y="1142732"/>
                  <a:pt x="5584778" y="1142732"/>
                </a:cubicBezTo>
                <a:lnTo>
                  <a:pt x="68735" y="1142732"/>
                </a:lnTo>
                <a:cubicBezTo>
                  <a:pt x="30774" y="1142732"/>
                  <a:pt x="0" y="1111958"/>
                  <a:pt x="0" y="1073996"/>
                </a:cubicBezTo>
                <a:lnTo>
                  <a:pt x="0" y="68735"/>
                </a:lnTo>
                <a:cubicBezTo>
                  <a:pt x="0" y="30774"/>
                  <a:pt x="30774" y="0"/>
                  <a:pt x="68735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7910" y="5851129"/>
            <a:ext cx="544730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体验升级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2206" y="6194808"/>
            <a:ext cx="268928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接人时间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75022" y="6435383"/>
            <a:ext cx="272365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-60%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47340" y="6194808"/>
            <a:ext cx="268928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沟通成本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30156" y="6435383"/>
            <a:ext cx="272365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-90%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CABIN PERCEPTION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舱内感知与驾驶风格：从"人适应车"到"车适应人"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6181725" cy="2419350"/>
          </a:xfrm>
          <a:custGeom>
            <a:avLst/>
            <a:gdLst/>
            <a:ahLst/>
            <a:cxnLst/>
            <a:rect l="l" t="t" r="r" b="b"/>
            <a:pathLst>
              <a:path w="6181725" h="2419350">
                <a:moveTo>
                  <a:pt x="38100" y="0"/>
                </a:moveTo>
                <a:lnTo>
                  <a:pt x="6105515" y="0"/>
                </a:lnTo>
                <a:cubicBezTo>
                  <a:pt x="6147605" y="0"/>
                  <a:pt x="6181725" y="34120"/>
                  <a:pt x="6181725" y="76210"/>
                </a:cubicBezTo>
                <a:lnTo>
                  <a:pt x="6181725" y="2343140"/>
                </a:lnTo>
                <a:cubicBezTo>
                  <a:pt x="6181725" y="2385230"/>
                  <a:pt x="6147605" y="2419350"/>
                  <a:pt x="6105515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83406" y="1485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4478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场景感知：小明喝可乐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790700"/>
            <a:ext cx="2876550" cy="1295400"/>
          </a:xfrm>
          <a:custGeom>
            <a:avLst/>
            <a:gdLst/>
            <a:ahLst/>
            <a:cxnLst/>
            <a:rect l="l" t="t" r="r" b="b"/>
            <a:pathLst>
              <a:path w="2876550" h="1295400">
                <a:moveTo>
                  <a:pt x="76195" y="0"/>
                </a:moveTo>
                <a:lnTo>
                  <a:pt x="2800355" y="0"/>
                </a:lnTo>
                <a:cubicBezTo>
                  <a:pt x="2842408" y="0"/>
                  <a:pt x="2876550" y="34142"/>
                  <a:pt x="2876550" y="76195"/>
                </a:cubicBezTo>
                <a:lnTo>
                  <a:pt x="2876550" y="1219205"/>
                </a:lnTo>
                <a:cubicBezTo>
                  <a:pt x="2876550" y="1261286"/>
                  <a:pt x="2842436" y="1295400"/>
                  <a:pt x="280035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50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感知输入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098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视觉：小明手持KFC可乐杯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765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行为：正在饮用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场景：车辆处于行驶中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58555" y="1790700"/>
            <a:ext cx="2876550" cy="1295400"/>
          </a:xfrm>
          <a:custGeom>
            <a:avLst/>
            <a:gdLst/>
            <a:ahLst/>
            <a:cxnLst/>
            <a:rect l="l" t="t" r="r" b="b"/>
            <a:pathLst>
              <a:path w="2876550" h="1295400">
                <a:moveTo>
                  <a:pt x="76195" y="0"/>
                </a:moveTo>
                <a:lnTo>
                  <a:pt x="2800355" y="0"/>
                </a:lnTo>
                <a:cubicBezTo>
                  <a:pt x="2842408" y="0"/>
                  <a:pt x="2876550" y="34142"/>
                  <a:pt x="2876550" y="76195"/>
                </a:cubicBezTo>
                <a:lnTo>
                  <a:pt x="2876550" y="1219205"/>
                </a:lnTo>
                <a:cubicBezTo>
                  <a:pt x="2876550" y="1261286"/>
                  <a:pt x="2842436" y="1295400"/>
                  <a:pt x="280035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72855" y="19050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AI推理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72855" y="2209800"/>
            <a:ext cx="2724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识别到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"乘客正在饮用开放式饮料"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，推断需要更平稳的驾驶体验，避免液体洒出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263" y="3167063"/>
            <a:ext cx="5848350" cy="390525"/>
          </a:xfrm>
          <a:custGeom>
            <a:avLst/>
            <a:gdLst/>
            <a:ahLst/>
            <a:cxnLst/>
            <a:rect l="l" t="t" r="r" b="b"/>
            <a:pathLst>
              <a:path w="5848350" h="390525">
                <a:moveTo>
                  <a:pt x="76199" y="0"/>
                </a:moveTo>
                <a:lnTo>
                  <a:pt x="5772151" y="0"/>
                </a:lnTo>
                <a:cubicBezTo>
                  <a:pt x="5814234" y="0"/>
                  <a:pt x="5848350" y="34116"/>
                  <a:pt x="5848350" y="76199"/>
                </a:cubicBezTo>
                <a:lnTo>
                  <a:pt x="5848350" y="314326"/>
                </a:lnTo>
                <a:cubicBezTo>
                  <a:pt x="5848350" y="356409"/>
                  <a:pt x="5814234" y="390525"/>
                  <a:pt x="5772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125" y="3248025"/>
            <a:ext cx="576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自动调整：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驾驶风格→平稳模式 | 悬架→舒适模式 | 加减速→柔和曲线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829050"/>
            <a:ext cx="6181725" cy="2781300"/>
          </a:xfrm>
          <a:custGeom>
            <a:avLst/>
            <a:gdLst/>
            <a:ahLst/>
            <a:cxnLst/>
            <a:rect l="l" t="t" r="r" b="b"/>
            <a:pathLst>
              <a:path w="6181725" h="2781300">
                <a:moveTo>
                  <a:pt x="38100" y="0"/>
                </a:moveTo>
                <a:lnTo>
                  <a:pt x="6105517" y="0"/>
                </a:lnTo>
                <a:cubicBezTo>
                  <a:pt x="6147606" y="0"/>
                  <a:pt x="6181725" y="34119"/>
                  <a:pt x="6181725" y="76208"/>
                </a:cubicBezTo>
                <a:lnTo>
                  <a:pt x="6181725" y="2705092"/>
                </a:lnTo>
                <a:cubicBezTo>
                  <a:pt x="6181725" y="2747181"/>
                  <a:pt x="6147606" y="2781300"/>
                  <a:pt x="6105517" y="2781300"/>
                </a:cubicBezTo>
                <a:lnTo>
                  <a:pt x="38100" y="2781300"/>
                </a:lnTo>
                <a:cubicBezTo>
                  <a:pt x="17072" y="2781300"/>
                  <a:pt x="0" y="2764228"/>
                  <a:pt x="0" y="2743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00050" y="3829050"/>
            <a:ext cx="38100" cy="2781300"/>
          </a:xfrm>
          <a:custGeom>
            <a:avLst/>
            <a:gdLst/>
            <a:ahLst/>
            <a:cxnLst/>
            <a:rect l="l" t="t" r="r" b="b"/>
            <a:pathLst>
              <a:path w="38100" h="2781300">
                <a:moveTo>
                  <a:pt x="38100" y="0"/>
                </a:moveTo>
                <a:lnTo>
                  <a:pt x="38100" y="0"/>
                </a:lnTo>
                <a:lnTo>
                  <a:pt x="38100" y="2781300"/>
                </a:lnTo>
                <a:lnTo>
                  <a:pt x="38100" y="2781300"/>
                </a:lnTo>
                <a:cubicBezTo>
                  <a:pt x="17072" y="2781300"/>
                  <a:pt x="0" y="2764228"/>
                  <a:pt x="0" y="2743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5313" y="4019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Text 20"/>
          <p:cNvSpPr/>
          <p:nvPr/>
        </p:nvSpPr>
        <p:spPr>
          <a:xfrm>
            <a:off x="809625" y="398145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时间感知：电影即将开场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4324350"/>
            <a:ext cx="5857875" cy="723900"/>
          </a:xfrm>
          <a:custGeom>
            <a:avLst/>
            <a:gdLst/>
            <a:ahLst/>
            <a:cxnLst/>
            <a:rect l="l" t="t" r="r" b="b"/>
            <a:pathLst>
              <a:path w="5857875" h="723900">
                <a:moveTo>
                  <a:pt x="76198" y="0"/>
                </a:moveTo>
                <a:lnTo>
                  <a:pt x="5781677" y="0"/>
                </a:lnTo>
                <a:cubicBezTo>
                  <a:pt x="5823732" y="0"/>
                  <a:pt x="5857875" y="34143"/>
                  <a:pt x="5857875" y="76198"/>
                </a:cubicBezTo>
                <a:lnTo>
                  <a:pt x="5857875" y="647702"/>
                </a:lnTo>
                <a:cubicBezTo>
                  <a:pt x="5857875" y="689757"/>
                  <a:pt x="5823732" y="723900"/>
                  <a:pt x="57816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3413"/>
            <a:ext cx="838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系统提示：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705350"/>
            <a:ext cx="570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"电影《XXX》20:00开场，当前时间19:35，预计抵达时间19:55，时间较为紧张。"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5124450"/>
            <a:ext cx="5857875" cy="952500"/>
          </a:xfrm>
          <a:custGeom>
            <a:avLst/>
            <a:gdLst/>
            <a:ahLst/>
            <a:cxnLst/>
            <a:rect l="l" t="t" r="r" b="b"/>
            <a:pathLst>
              <a:path w="5857875" h="952500">
                <a:moveTo>
                  <a:pt x="76200" y="0"/>
                </a:moveTo>
                <a:lnTo>
                  <a:pt x="5781675" y="0"/>
                </a:lnTo>
                <a:cubicBezTo>
                  <a:pt x="5823731" y="0"/>
                  <a:pt x="5857875" y="34144"/>
                  <a:pt x="5857875" y="76200"/>
                </a:cubicBezTo>
                <a:lnTo>
                  <a:pt x="5857875" y="876300"/>
                </a:lnTo>
                <a:cubicBezTo>
                  <a:pt x="5857875" y="918356"/>
                  <a:pt x="5823731" y="952500"/>
                  <a:pt x="57816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43513"/>
            <a:ext cx="838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自动调整：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505450"/>
            <a:ext cx="5705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驾驶风格切换至"Mad Max"模式，允许更激进的变道、加速，在保证安全的前提下缩短行程时间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36110" y="1295400"/>
            <a:ext cx="5076825" cy="3352800"/>
          </a:xfrm>
          <a:custGeom>
            <a:avLst/>
            <a:gdLst/>
            <a:ahLst/>
            <a:cxnLst/>
            <a:rect l="l" t="t" r="r" b="b"/>
            <a:pathLst>
              <a:path w="5076825" h="3352800">
                <a:moveTo>
                  <a:pt x="76209" y="0"/>
                </a:moveTo>
                <a:lnTo>
                  <a:pt x="5000616" y="0"/>
                </a:lnTo>
                <a:cubicBezTo>
                  <a:pt x="5042705" y="0"/>
                  <a:pt x="5076825" y="34120"/>
                  <a:pt x="5076825" y="76209"/>
                </a:cubicBezTo>
                <a:lnTo>
                  <a:pt x="5076825" y="3276591"/>
                </a:lnTo>
                <a:cubicBezTo>
                  <a:pt x="5076825" y="3318680"/>
                  <a:pt x="5042705" y="3352800"/>
                  <a:pt x="5000616" y="3352800"/>
                </a:cubicBezTo>
                <a:lnTo>
                  <a:pt x="76209" y="3352800"/>
                </a:lnTo>
                <a:cubicBezTo>
                  <a:pt x="34120" y="3352800"/>
                  <a:pt x="0" y="3318680"/>
                  <a:pt x="0" y="327659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40885" y="144780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驾驶风格体系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93272" y="1833563"/>
            <a:ext cx="4762500" cy="657225"/>
          </a:xfrm>
          <a:custGeom>
            <a:avLst/>
            <a:gdLst/>
            <a:ahLst/>
            <a:cxnLst/>
            <a:rect l="l" t="t" r="r" b="b"/>
            <a:pathLst>
              <a:path w="4762500" h="657225">
                <a:moveTo>
                  <a:pt x="76199" y="0"/>
                </a:moveTo>
                <a:lnTo>
                  <a:pt x="4686301" y="0"/>
                </a:lnTo>
                <a:cubicBezTo>
                  <a:pt x="4728385" y="0"/>
                  <a:pt x="4762500" y="34115"/>
                  <a:pt x="4762500" y="76199"/>
                </a:cubicBezTo>
                <a:lnTo>
                  <a:pt x="4762500" y="581026"/>
                </a:lnTo>
                <a:cubicBezTo>
                  <a:pt x="4762500" y="623110"/>
                  <a:pt x="4728385" y="657225"/>
                  <a:pt x="46863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4235" y="19145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舒适模式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91875" y="191452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34" name="Text 32"/>
          <p:cNvSpPr/>
          <p:nvPr/>
        </p:nvSpPr>
        <p:spPr>
          <a:xfrm>
            <a:off x="11191875" y="19145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默认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4235" y="21812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平稳加减速，柔和转向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93272" y="2500313"/>
            <a:ext cx="4762500" cy="657225"/>
          </a:xfrm>
          <a:custGeom>
            <a:avLst/>
            <a:gdLst/>
            <a:ahLst/>
            <a:cxnLst/>
            <a:rect l="l" t="t" r="r" b="b"/>
            <a:pathLst>
              <a:path w="4762500" h="657225">
                <a:moveTo>
                  <a:pt x="76199" y="0"/>
                </a:moveTo>
                <a:lnTo>
                  <a:pt x="4686301" y="0"/>
                </a:lnTo>
                <a:cubicBezTo>
                  <a:pt x="4728385" y="0"/>
                  <a:pt x="4762500" y="34115"/>
                  <a:pt x="4762500" y="76199"/>
                </a:cubicBezTo>
                <a:lnTo>
                  <a:pt x="4762500" y="581026"/>
                </a:lnTo>
                <a:cubicBezTo>
                  <a:pt x="4762500" y="623110"/>
                  <a:pt x="4728385" y="657225"/>
                  <a:pt x="46863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4235" y="25812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运动模式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91875" y="25812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Text 37"/>
          <p:cNvSpPr/>
          <p:nvPr/>
        </p:nvSpPr>
        <p:spPr>
          <a:xfrm>
            <a:off x="11191875" y="25812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74235" y="284797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快速响应，敏捷变道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93272" y="3167063"/>
            <a:ext cx="4762500" cy="657225"/>
          </a:xfrm>
          <a:custGeom>
            <a:avLst/>
            <a:gdLst/>
            <a:ahLst/>
            <a:cxnLst/>
            <a:rect l="l" t="t" r="r" b="b"/>
            <a:pathLst>
              <a:path w="4762500" h="657225">
                <a:moveTo>
                  <a:pt x="76199" y="0"/>
                </a:moveTo>
                <a:lnTo>
                  <a:pt x="4686301" y="0"/>
                </a:lnTo>
                <a:cubicBezTo>
                  <a:pt x="4728385" y="0"/>
                  <a:pt x="4762500" y="34115"/>
                  <a:pt x="4762500" y="76199"/>
                </a:cubicBezTo>
                <a:lnTo>
                  <a:pt x="4762500" y="581026"/>
                </a:lnTo>
                <a:cubicBezTo>
                  <a:pt x="4762500" y="623110"/>
                  <a:pt x="4728385" y="657225"/>
                  <a:pt x="46863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74235" y="3248025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Mad Max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91875" y="324802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4" name="Text 42"/>
          <p:cNvSpPr/>
          <p:nvPr/>
        </p:nvSpPr>
        <p:spPr>
          <a:xfrm>
            <a:off x="11191875" y="32480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极限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74235" y="35147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最大化效率，激进驾驶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93272" y="3833812"/>
            <a:ext cx="4762500" cy="657225"/>
          </a:xfrm>
          <a:custGeom>
            <a:avLst/>
            <a:gdLst/>
            <a:ahLst/>
            <a:cxnLst/>
            <a:rect l="l" t="t" r="r" b="b"/>
            <a:pathLst>
              <a:path w="4762500" h="657225">
                <a:moveTo>
                  <a:pt x="76199" y="0"/>
                </a:moveTo>
                <a:lnTo>
                  <a:pt x="4686301" y="0"/>
                </a:lnTo>
                <a:cubicBezTo>
                  <a:pt x="4728385" y="0"/>
                  <a:pt x="4762500" y="34115"/>
                  <a:pt x="4762500" y="76199"/>
                </a:cubicBezTo>
                <a:lnTo>
                  <a:pt x="4762500" y="581026"/>
                </a:lnTo>
                <a:cubicBezTo>
                  <a:pt x="4762500" y="623110"/>
                  <a:pt x="4728385" y="657225"/>
                  <a:pt x="46863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4235" y="39147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场景自适应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191875" y="39147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9" name="Text 47"/>
          <p:cNvSpPr/>
          <p:nvPr/>
        </p:nvSpPr>
        <p:spPr>
          <a:xfrm>
            <a:off x="11191875" y="39147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74235" y="418147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AI根据舱内状态自动调整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40872" y="4767263"/>
            <a:ext cx="5067300" cy="1838325"/>
          </a:xfrm>
          <a:custGeom>
            <a:avLst/>
            <a:gdLst/>
            <a:ahLst/>
            <a:cxnLst/>
            <a:rect l="l" t="t" r="r" b="b"/>
            <a:pathLst>
              <a:path w="5067300" h="1838325">
                <a:moveTo>
                  <a:pt x="76199" y="0"/>
                </a:moveTo>
                <a:lnTo>
                  <a:pt x="4991101" y="0"/>
                </a:lnTo>
                <a:cubicBezTo>
                  <a:pt x="5033157" y="0"/>
                  <a:pt x="5067300" y="34143"/>
                  <a:pt x="5067300" y="76199"/>
                </a:cubicBezTo>
                <a:lnTo>
                  <a:pt x="5067300" y="1762126"/>
                </a:lnTo>
                <a:cubicBezTo>
                  <a:pt x="5067300" y="1804182"/>
                  <a:pt x="5033157" y="1838325"/>
                  <a:pt x="499110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7072" y="488632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78985" y="5267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4" name="Text 52"/>
          <p:cNvSpPr/>
          <p:nvPr/>
        </p:nvSpPr>
        <p:spPr>
          <a:xfrm>
            <a:off x="7126635" y="5233988"/>
            <a:ext cx="129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从标准化到个性化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26635" y="5495925"/>
            <a:ext cx="4638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不再是一成不变的驾驶风格，而是根据乘客状态、时间压力、路况动态适配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878985" y="602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7" name="Text 55"/>
          <p:cNvSpPr/>
          <p:nvPr/>
        </p:nvSpPr>
        <p:spPr>
          <a:xfrm>
            <a:off x="7126635" y="5995988"/>
            <a:ext cx="1600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从被动响应到主动服务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126635" y="6257925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AI主动感知舱内场景，预判需求，提前调整，无需用户指令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371" y="319371"/>
            <a:ext cx="11617132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spc="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VALET PARKING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9371" y="574868"/>
            <a:ext cx="11696974" cy="3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无人代客泊车：最后一公里的解放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9371" y="990051"/>
            <a:ext cx="766491" cy="31937"/>
          </a:xfrm>
          <a:custGeom>
            <a:avLst/>
            <a:gdLst/>
            <a:ahLst/>
            <a:cxnLst/>
            <a:rect l="l" t="t" r="r" b="b"/>
            <a:pathLst>
              <a:path w="766491" h="31937">
                <a:moveTo>
                  <a:pt x="0" y="0"/>
                </a:moveTo>
                <a:lnTo>
                  <a:pt x="766491" y="0"/>
                </a:lnTo>
                <a:lnTo>
                  <a:pt x="766491" y="31937"/>
                </a:lnTo>
                <a:lnTo>
                  <a:pt x="0" y="31937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35340" y="1085862"/>
            <a:ext cx="6251694" cy="2523033"/>
          </a:xfrm>
          <a:custGeom>
            <a:avLst/>
            <a:gdLst/>
            <a:ahLst/>
            <a:cxnLst/>
            <a:rect l="l" t="t" r="r" b="b"/>
            <a:pathLst>
              <a:path w="6251694" h="2523033">
                <a:moveTo>
                  <a:pt x="31937" y="0"/>
                </a:moveTo>
                <a:lnTo>
                  <a:pt x="6187810" y="0"/>
                </a:lnTo>
                <a:cubicBezTo>
                  <a:pt x="6223092" y="0"/>
                  <a:pt x="6251694" y="28601"/>
                  <a:pt x="6251694" y="63883"/>
                </a:cubicBezTo>
                <a:lnTo>
                  <a:pt x="6251694" y="2459150"/>
                </a:lnTo>
                <a:cubicBezTo>
                  <a:pt x="6251694" y="2494432"/>
                  <a:pt x="6223092" y="2523033"/>
                  <a:pt x="6187810" y="2523033"/>
                </a:cubicBezTo>
                <a:lnTo>
                  <a:pt x="31937" y="2523033"/>
                </a:lnTo>
                <a:cubicBezTo>
                  <a:pt x="14299" y="2523033"/>
                  <a:pt x="0" y="2508735"/>
                  <a:pt x="0" y="2491096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5340" y="1085862"/>
            <a:ext cx="31937" cy="2523033"/>
          </a:xfrm>
          <a:custGeom>
            <a:avLst/>
            <a:gdLst/>
            <a:ahLst/>
            <a:cxnLst/>
            <a:rect l="l" t="t" r="r" b="b"/>
            <a:pathLst>
              <a:path w="31937" h="2523033">
                <a:moveTo>
                  <a:pt x="31937" y="0"/>
                </a:moveTo>
                <a:lnTo>
                  <a:pt x="31937" y="0"/>
                </a:lnTo>
                <a:lnTo>
                  <a:pt x="31937" y="2523033"/>
                </a:lnTo>
                <a:lnTo>
                  <a:pt x="31937" y="2523033"/>
                </a:lnTo>
                <a:cubicBezTo>
                  <a:pt x="14299" y="2523033"/>
                  <a:pt x="0" y="2508735"/>
                  <a:pt x="0" y="2491096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40935" y="1277485"/>
            <a:ext cx="139725" cy="159686"/>
          </a:xfrm>
          <a:custGeom>
            <a:avLst/>
            <a:gdLst/>
            <a:ahLst/>
            <a:cxnLst/>
            <a:rect l="l" t="t" r="r" b="b"/>
            <a:pathLst>
              <a:path w="139725" h="159686">
                <a:moveTo>
                  <a:pt x="19961" y="9980"/>
                </a:moveTo>
                <a:cubicBezTo>
                  <a:pt x="8951" y="9980"/>
                  <a:pt x="0" y="18931"/>
                  <a:pt x="0" y="29941"/>
                </a:cubicBezTo>
                <a:lnTo>
                  <a:pt x="0" y="129745"/>
                </a:lnTo>
                <a:cubicBezTo>
                  <a:pt x="0" y="140754"/>
                  <a:pt x="8951" y="149705"/>
                  <a:pt x="19961" y="149705"/>
                </a:cubicBezTo>
                <a:lnTo>
                  <a:pt x="119764" y="149705"/>
                </a:lnTo>
                <a:cubicBezTo>
                  <a:pt x="130774" y="149705"/>
                  <a:pt x="139725" y="140754"/>
                  <a:pt x="139725" y="129745"/>
                </a:cubicBezTo>
                <a:lnTo>
                  <a:pt x="139725" y="29941"/>
                </a:lnTo>
                <a:cubicBezTo>
                  <a:pt x="139725" y="18931"/>
                  <a:pt x="130774" y="9980"/>
                  <a:pt x="119764" y="9980"/>
                </a:cubicBezTo>
                <a:lnTo>
                  <a:pt x="19961" y="9980"/>
                </a:lnTo>
                <a:close/>
                <a:moveTo>
                  <a:pt x="59882" y="79843"/>
                </a:moveTo>
                <a:lnTo>
                  <a:pt x="74853" y="79843"/>
                </a:lnTo>
                <a:cubicBezTo>
                  <a:pt x="80373" y="79843"/>
                  <a:pt x="84833" y="75383"/>
                  <a:pt x="84833" y="69862"/>
                </a:cubicBezTo>
                <a:cubicBezTo>
                  <a:pt x="84833" y="64342"/>
                  <a:pt x="80373" y="59882"/>
                  <a:pt x="74853" y="59882"/>
                </a:cubicBezTo>
                <a:lnTo>
                  <a:pt x="59882" y="59882"/>
                </a:lnTo>
                <a:lnTo>
                  <a:pt x="59882" y="79843"/>
                </a:lnTo>
                <a:close/>
                <a:moveTo>
                  <a:pt x="74853" y="99804"/>
                </a:moveTo>
                <a:lnTo>
                  <a:pt x="59882" y="99804"/>
                </a:lnTo>
                <a:lnTo>
                  <a:pt x="59882" y="109784"/>
                </a:lnTo>
                <a:cubicBezTo>
                  <a:pt x="59882" y="115304"/>
                  <a:pt x="55422" y="119764"/>
                  <a:pt x="49902" y="119764"/>
                </a:cubicBezTo>
                <a:cubicBezTo>
                  <a:pt x="44381" y="119764"/>
                  <a:pt x="39921" y="115304"/>
                  <a:pt x="39921" y="109784"/>
                </a:cubicBezTo>
                <a:lnTo>
                  <a:pt x="39921" y="52397"/>
                </a:lnTo>
                <a:cubicBezTo>
                  <a:pt x="39921" y="45504"/>
                  <a:pt x="45504" y="39921"/>
                  <a:pt x="52397" y="39921"/>
                </a:cubicBezTo>
                <a:lnTo>
                  <a:pt x="74853" y="39921"/>
                </a:lnTo>
                <a:cubicBezTo>
                  <a:pt x="91383" y="39921"/>
                  <a:pt x="104794" y="53333"/>
                  <a:pt x="104794" y="69862"/>
                </a:cubicBezTo>
                <a:cubicBezTo>
                  <a:pt x="104794" y="86392"/>
                  <a:pt x="91383" y="99804"/>
                  <a:pt x="74853" y="9980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710601" y="1245548"/>
            <a:ext cx="5796589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即停即走流程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0994" y="1612825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0" name="Text 8"/>
          <p:cNvSpPr/>
          <p:nvPr/>
        </p:nvSpPr>
        <p:spPr>
          <a:xfrm>
            <a:off x="615788" y="1660731"/>
            <a:ext cx="103796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2303" y="1596857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寻找临时下车点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2303" y="1820417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智驾系统搜索离电影院电梯间近的临时停车区域（如B2层C区电梯旁）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994" y="2091882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605184" y="2139788"/>
            <a:ext cx="119764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2303" y="2075914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精准停靠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303" y="2299473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自动停靠在电梯间附近，解锁车门，乘客下车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0994" y="2570939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6"/>
          <p:cNvSpPr/>
          <p:nvPr/>
        </p:nvSpPr>
        <p:spPr>
          <a:xfrm>
            <a:off x="605184" y="2618845"/>
            <a:ext cx="119764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2303" y="2554971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无人代客泊车启动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2303" y="2778530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乘客确认"去停车吧"，车辆自动寻找可用停车位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0994" y="3049996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Text 20"/>
          <p:cNvSpPr/>
          <p:nvPr/>
        </p:nvSpPr>
        <p:spPr>
          <a:xfrm>
            <a:off x="605184" y="3097902"/>
            <a:ext cx="119764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2303" y="3034028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状态通知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2303" y="3257587"/>
            <a:ext cx="5628919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完成泊车后，手机APP推送通知："已停好，位置：B2-C区-023，距电梯约50米"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5340" y="3704707"/>
            <a:ext cx="6251694" cy="3153792"/>
          </a:xfrm>
          <a:custGeom>
            <a:avLst/>
            <a:gdLst/>
            <a:ahLst/>
            <a:cxnLst/>
            <a:rect l="l" t="t" r="r" b="b"/>
            <a:pathLst>
              <a:path w="6251694" h="3153792">
                <a:moveTo>
                  <a:pt x="31937" y="0"/>
                </a:moveTo>
                <a:lnTo>
                  <a:pt x="6187829" y="0"/>
                </a:lnTo>
                <a:cubicBezTo>
                  <a:pt x="6223101" y="0"/>
                  <a:pt x="6251694" y="28593"/>
                  <a:pt x="6251694" y="63864"/>
                </a:cubicBezTo>
                <a:lnTo>
                  <a:pt x="6251694" y="3089927"/>
                </a:lnTo>
                <a:cubicBezTo>
                  <a:pt x="6251694" y="3125199"/>
                  <a:pt x="6223101" y="3153792"/>
                  <a:pt x="6187829" y="3153792"/>
                </a:cubicBezTo>
                <a:lnTo>
                  <a:pt x="31937" y="3153792"/>
                </a:lnTo>
                <a:cubicBezTo>
                  <a:pt x="14299" y="3153792"/>
                  <a:pt x="0" y="3139493"/>
                  <a:pt x="0" y="3121855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335340" y="3704707"/>
            <a:ext cx="31937" cy="3153792"/>
          </a:xfrm>
          <a:custGeom>
            <a:avLst/>
            <a:gdLst/>
            <a:ahLst/>
            <a:cxnLst/>
            <a:rect l="l" t="t" r="r" b="b"/>
            <a:pathLst>
              <a:path w="31937" h="3153792">
                <a:moveTo>
                  <a:pt x="31937" y="0"/>
                </a:moveTo>
                <a:lnTo>
                  <a:pt x="31937" y="0"/>
                </a:lnTo>
                <a:lnTo>
                  <a:pt x="31937" y="3153792"/>
                </a:lnTo>
                <a:lnTo>
                  <a:pt x="31937" y="3153792"/>
                </a:lnTo>
                <a:cubicBezTo>
                  <a:pt x="14299" y="3153792"/>
                  <a:pt x="0" y="3139493"/>
                  <a:pt x="0" y="3121855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955" y="3896330"/>
            <a:ext cx="159686" cy="159686"/>
          </a:xfrm>
          <a:custGeom>
            <a:avLst/>
            <a:gdLst/>
            <a:ahLst/>
            <a:cxnLst/>
            <a:rect l="l" t="t" r="r" b="b"/>
            <a:pathLst>
              <a:path w="159686" h="159686">
                <a:moveTo>
                  <a:pt x="79843" y="0"/>
                </a:moveTo>
                <a:cubicBezTo>
                  <a:pt x="81278" y="0"/>
                  <a:pt x="82712" y="312"/>
                  <a:pt x="84022" y="904"/>
                </a:cubicBezTo>
                <a:lnTo>
                  <a:pt x="142781" y="25824"/>
                </a:lnTo>
                <a:cubicBezTo>
                  <a:pt x="149643" y="28725"/>
                  <a:pt x="154758" y="35493"/>
                  <a:pt x="154727" y="43664"/>
                </a:cubicBezTo>
                <a:cubicBezTo>
                  <a:pt x="154571" y="74603"/>
                  <a:pt x="141846" y="131210"/>
                  <a:pt x="88108" y="156941"/>
                </a:cubicBezTo>
                <a:cubicBezTo>
                  <a:pt x="82899" y="159436"/>
                  <a:pt x="76849" y="159436"/>
                  <a:pt x="71640" y="156941"/>
                </a:cubicBezTo>
                <a:cubicBezTo>
                  <a:pt x="17871" y="131210"/>
                  <a:pt x="5177" y="74603"/>
                  <a:pt x="5021" y="43664"/>
                </a:cubicBezTo>
                <a:cubicBezTo>
                  <a:pt x="4990" y="35493"/>
                  <a:pt x="10105" y="28725"/>
                  <a:pt x="16967" y="25824"/>
                </a:cubicBezTo>
                <a:lnTo>
                  <a:pt x="75695" y="904"/>
                </a:lnTo>
                <a:cubicBezTo>
                  <a:pt x="77005" y="312"/>
                  <a:pt x="78408" y="0"/>
                  <a:pt x="79843" y="0"/>
                </a:cubicBezTo>
                <a:close/>
                <a:moveTo>
                  <a:pt x="79843" y="20834"/>
                </a:moveTo>
                <a:lnTo>
                  <a:pt x="79843" y="138758"/>
                </a:lnTo>
                <a:cubicBezTo>
                  <a:pt x="122883" y="117924"/>
                  <a:pt x="134454" y="71765"/>
                  <a:pt x="134735" y="44132"/>
                </a:cubicBezTo>
                <a:lnTo>
                  <a:pt x="79843" y="20865"/>
                </a:lnTo>
                <a:lnTo>
                  <a:pt x="79843" y="2086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8" name="Text 26"/>
          <p:cNvSpPr/>
          <p:nvPr/>
        </p:nvSpPr>
        <p:spPr>
          <a:xfrm>
            <a:off x="710601" y="3864393"/>
            <a:ext cx="5796589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安全保障机制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0994" y="4215701"/>
            <a:ext cx="2906279" cy="638743"/>
          </a:xfrm>
          <a:custGeom>
            <a:avLst/>
            <a:gdLst/>
            <a:ahLst/>
            <a:cxnLst/>
            <a:rect l="l" t="t" r="r" b="b"/>
            <a:pathLst>
              <a:path w="2906279" h="638743">
                <a:moveTo>
                  <a:pt x="63874" y="0"/>
                </a:moveTo>
                <a:lnTo>
                  <a:pt x="2842405" y="0"/>
                </a:lnTo>
                <a:cubicBezTo>
                  <a:pt x="2877681" y="0"/>
                  <a:pt x="2906279" y="28597"/>
                  <a:pt x="2906279" y="63874"/>
                </a:cubicBezTo>
                <a:lnTo>
                  <a:pt x="2906279" y="574868"/>
                </a:lnTo>
                <a:cubicBezTo>
                  <a:pt x="2906279" y="610145"/>
                  <a:pt x="2877681" y="638743"/>
                  <a:pt x="2842405" y="638743"/>
                </a:cubicBezTo>
                <a:lnTo>
                  <a:pt x="63874" y="638743"/>
                </a:lnTo>
                <a:cubicBezTo>
                  <a:pt x="28597" y="638743"/>
                  <a:pt x="0" y="610145"/>
                  <a:pt x="0" y="574868"/>
                </a:cubicBezTo>
                <a:lnTo>
                  <a:pt x="0" y="63874"/>
                </a:lnTo>
                <a:cubicBezTo>
                  <a:pt x="0" y="28621"/>
                  <a:pt x="28621" y="0"/>
                  <a:pt x="6387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6806" y="4311513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环境感知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6806" y="4567010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360°感知障碍物、行人、来车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16702" y="4215701"/>
            <a:ext cx="2906279" cy="638743"/>
          </a:xfrm>
          <a:custGeom>
            <a:avLst/>
            <a:gdLst/>
            <a:ahLst/>
            <a:cxnLst/>
            <a:rect l="l" t="t" r="r" b="b"/>
            <a:pathLst>
              <a:path w="2906279" h="638743">
                <a:moveTo>
                  <a:pt x="63874" y="0"/>
                </a:moveTo>
                <a:lnTo>
                  <a:pt x="2842405" y="0"/>
                </a:lnTo>
                <a:cubicBezTo>
                  <a:pt x="2877681" y="0"/>
                  <a:pt x="2906279" y="28597"/>
                  <a:pt x="2906279" y="63874"/>
                </a:cubicBezTo>
                <a:lnTo>
                  <a:pt x="2906279" y="574868"/>
                </a:lnTo>
                <a:cubicBezTo>
                  <a:pt x="2906279" y="610145"/>
                  <a:pt x="2877681" y="638743"/>
                  <a:pt x="2842405" y="638743"/>
                </a:cubicBezTo>
                <a:lnTo>
                  <a:pt x="63874" y="638743"/>
                </a:lnTo>
                <a:cubicBezTo>
                  <a:pt x="28597" y="638743"/>
                  <a:pt x="0" y="610145"/>
                  <a:pt x="0" y="574868"/>
                </a:cubicBezTo>
                <a:lnTo>
                  <a:pt x="0" y="63874"/>
                </a:lnTo>
                <a:cubicBezTo>
                  <a:pt x="0" y="28621"/>
                  <a:pt x="28621" y="0"/>
                  <a:pt x="6387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12514" y="4311513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限速控制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12514" y="4567010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地库内限速5-10km/h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0994" y="4950255"/>
            <a:ext cx="2906279" cy="638743"/>
          </a:xfrm>
          <a:custGeom>
            <a:avLst/>
            <a:gdLst/>
            <a:ahLst/>
            <a:cxnLst/>
            <a:rect l="l" t="t" r="r" b="b"/>
            <a:pathLst>
              <a:path w="2906279" h="638743">
                <a:moveTo>
                  <a:pt x="63874" y="0"/>
                </a:moveTo>
                <a:lnTo>
                  <a:pt x="2842405" y="0"/>
                </a:lnTo>
                <a:cubicBezTo>
                  <a:pt x="2877681" y="0"/>
                  <a:pt x="2906279" y="28597"/>
                  <a:pt x="2906279" y="63874"/>
                </a:cubicBezTo>
                <a:lnTo>
                  <a:pt x="2906279" y="574868"/>
                </a:lnTo>
                <a:cubicBezTo>
                  <a:pt x="2906279" y="610145"/>
                  <a:pt x="2877681" y="638743"/>
                  <a:pt x="2842405" y="638743"/>
                </a:cubicBezTo>
                <a:lnTo>
                  <a:pt x="63874" y="638743"/>
                </a:lnTo>
                <a:cubicBezTo>
                  <a:pt x="28597" y="638743"/>
                  <a:pt x="0" y="610145"/>
                  <a:pt x="0" y="574868"/>
                </a:cubicBezTo>
                <a:lnTo>
                  <a:pt x="0" y="63874"/>
                </a:lnTo>
                <a:cubicBezTo>
                  <a:pt x="0" y="28621"/>
                  <a:pt x="28621" y="0"/>
                  <a:pt x="6387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6806" y="5046067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紧急制动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6806" y="5301564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检测到风险立即刹停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16702" y="4950255"/>
            <a:ext cx="2906279" cy="638743"/>
          </a:xfrm>
          <a:custGeom>
            <a:avLst/>
            <a:gdLst/>
            <a:ahLst/>
            <a:cxnLst/>
            <a:rect l="l" t="t" r="r" b="b"/>
            <a:pathLst>
              <a:path w="2906279" h="638743">
                <a:moveTo>
                  <a:pt x="63874" y="0"/>
                </a:moveTo>
                <a:lnTo>
                  <a:pt x="2842405" y="0"/>
                </a:lnTo>
                <a:cubicBezTo>
                  <a:pt x="2877681" y="0"/>
                  <a:pt x="2906279" y="28597"/>
                  <a:pt x="2906279" y="63874"/>
                </a:cubicBezTo>
                <a:lnTo>
                  <a:pt x="2906279" y="574868"/>
                </a:lnTo>
                <a:cubicBezTo>
                  <a:pt x="2906279" y="610145"/>
                  <a:pt x="2877681" y="638743"/>
                  <a:pt x="2842405" y="638743"/>
                </a:cubicBezTo>
                <a:lnTo>
                  <a:pt x="63874" y="638743"/>
                </a:lnTo>
                <a:cubicBezTo>
                  <a:pt x="28597" y="638743"/>
                  <a:pt x="0" y="610145"/>
                  <a:pt x="0" y="574868"/>
                </a:cubicBezTo>
                <a:lnTo>
                  <a:pt x="0" y="63874"/>
                </a:lnTo>
                <a:cubicBezTo>
                  <a:pt x="0" y="28621"/>
                  <a:pt x="28621" y="0"/>
                  <a:pt x="63874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12514" y="5046067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远程监控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12514" y="5301564"/>
            <a:ext cx="2778530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APP实时查看泊车过程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46033" y="1085862"/>
            <a:ext cx="5125910" cy="4024079"/>
          </a:xfrm>
          <a:custGeom>
            <a:avLst/>
            <a:gdLst/>
            <a:ahLst/>
            <a:cxnLst/>
            <a:rect l="l" t="t" r="r" b="b"/>
            <a:pathLst>
              <a:path w="5125910" h="4024079">
                <a:moveTo>
                  <a:pt x="63862" y="0"/>
                </a:moveTo>
                <a:lnTo>
                  <a:pt x="5062047" y="0"/>
                </a:lnTo>
                <a:cubicBezTo>
                  <a:pt x="5097318" y="0"/>
                  <a:pt x="5125910" y="28592"/>
                  <a:pt x="5125910" y="63862"/>
                </a:cubicBezTo>
                <a:lnTo>
                  <a:pt x="5125910" y="3960216"/>
                </a:lnTo>
                <a:cubicBezTo>
                  <a:pt x="5125910" y="3995487"/>
                  <a:pt x="5097318" y="4024079"/>
                  <a:pt x="5062047" y="4024079"/>
                </a:cubicBezTo>
                <a:lnTo>
                  <a:pt x="63862" y="4024079"/>
                </a:lnTo>
                <a:cubicBezTo>
                  <a:pt x="28592" y="4024079"/>
                  <a:pt x="0" y="3995487"/>
                  <a:pt x="0" y="3960216"/>
                </a:cubicBezTo>
                <a:lnTo>
                  <a:pt x="0" y="63862"/>
                </a:lnTo>
                <a:cubicBezTo>
                  <a:pt x="0" y="28616"/>
                  <a:pt x="28616" y="0"/>
                  <a:pt x="63862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65797" y="1245548"/>
            <a:ext cx="4886381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体验对比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21687" y="1596857"/>
            <a:ext cx="4790570" cy="1501045"/>
          </a:xfrm>
          <a:custGeom>
            <a:avLst/>
            <a:gdLst/>
            <a:ahLst/>
            <a:cxnLst/>
            <a:rect l="l" t="t" r="r" b="b"/>
            <a:pathLst>
              <a:path w="4790570" h="1501045">
                <a:moveTo>
                  <a:pt x="31937" y="0"/>
                </a:moveTo>
                <a:lnTo>
                  <a:pt x="4726700" y="0"/>
                </a:lnTo>
                <a:cubicBezTo>
                  <a:pt x="4761974" y="0"/>
                  <a:pt x="4790570" y="28595"/>
                  <a:pt x="4790570" y="63869"/>
                </a:cubicBezTo>
                <a:lnTo>
                  <a:pt x="4790570" y="1437176"/>
                </a:lnTo>
                <a:cubicBezTo>
                  <a:pt x="4790570" y="1472450"/>
                  <a:pt x="4761974" y="1501045"/>
                  <a:pt x="4726700" y="1501045"/>
                </a:cubicBezTo>
                <a:lnTo>
                  <a:pt x="31937" y="1501045"/>
                </a:lnTo>
                <a:cubicBezTo>
                  <a:pt x="14299" y="1501045"/>
                  <a:pt x="0" y="1486746"/>
                  <a:pt x="0" y="1469108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21687" y="1596857"/>
            <a:ext cx="31937" cy="1501045"/>
          </a:xfrm>
          <a:custGeom>
            <a:avLst/>
            <a:gdLst/>
            <a:ahLst/>
            <a:cxnLst/>
            <a:rect l="l" t="t" r="r" b="b"/>
            <a:pathLst>
              <a:path w="31937" h="1501045">
                <a:moveTo>
                  <a:pt x="31937" y="0"/>
                </a:moveTo>
                <a:lnTo>
                  <a:pt x="31937" y="0"/>
                </a:lnTo>
                <a:lnTo>
                  <a:pt x="31937" y="1501045"/>
                </a:lnTo>
                <a:lnTo>
                  <a:pt x="31937" y="1501045"/>
                </a:lnTo>
                <a:cubicBezTo>
                  <a:pt x="14299" y="1501045"/>
                  <a:pt x="0" y="1486746"/>
                  <a:pt x="0" y="1469108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5" name="Text 43"/>
          <p:cNvSpPr/>
          <p:nvPr/>
        </p:nvSpPr>
        <p:spPr>
          <a:xfrm>
            <a:off x="7065404" y="1724605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传统停车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65404" y="2012039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找车位：5-10分钟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65404" y="2267536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停车入位：2-3分钟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65404" y="2523033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走回电梯：3-5分钟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65404" y="2778530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总计：10-18分钟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49917" y="3193713"/>
            <a:ext cx="119764" cy="159686"/>
          </a:xfrm>
          <a:custGeom>
            <a:avLst/>
            <a:gdLst/>
            <a:ahLst/>
            <a:cxnLst/>
            <a:rect l="l" t="t" r="r" b="b"/>
            <a:pathLst>
              <a:path w="119764" h="159686">
                <a:moveTo>
                  <a:pt x="52833" y="156754"/>
                </a:moveTo>
                <a:cubicBezTo>
                  <a:pt x="56732" y="160653"/>
                  <a:pt x="63063" y="160653"/>
                  <a:pt x="66962" y="156754"/>
                </a:cubicBezTo>
                <a:lnTo>
                  <a:pt x="116864" y="106852"/>
                </a:lnTo>
                <a:cubicBezTo>
                  <a:pt x="120762" y="102954"/>
                  <a:pt x="120762" y="96622"/>
                  <a:pt x="116864" y="92724"/>
                </a:cubicBezTo>
                <a:cubicBezTo>
                  <a:pt x="112965" y="88825"/>
                  <a:pt x="106634" y="88825"/>
                  <a:pt x="102735" y="92724"/>
                </a:cubicBezTo>
                <a:lnTo>
                  <a:pt x="69862" y="125597"/>
                </a:lnTo>
                <a:lnTo>
                  <a:pt x="69862" y="9980"/>
                </a:lnTo>
                <a:cubicBezTo>
                  <a:pt x="69862" y="4460"/>
                  <a:pt x="65403" y="0"/>
                  <a:pt x="59882" y="0"/>
                </a:cubicBezTo>
                <a:cubicBezTo>
                  <a:pt x="54362" y="0"/>
                  <a:pt x="49902" y="4460"/>
                  <a:pt x="49902" y="9980"/>
                </a:cubicBezTo>
                <a:lnTo>
                  <a:pt x="49902" y="125597"/>
                </a:lnTo>
                <a:lnTo>
                  <a:pt x="17029" y="92724"/>
                </a:lnTo>
                <a:cubicBezTo>
                  <a:pt x="13130" y="88825"/>
                  <a:pt x="6799" y="88825"/>
                  <a:pt x="2901" y="92724"/>
                </a:cubicBezTo>
                <a:cubicBezTo>
                  <a:pt x="-998" y="96622"/>
                  <a:pt x="-998" y="102954"/>
                  <a:pt x="2901" y="106852"/>
                </a:cubicBezTo>
                <a:lnTo>
                  <a:pt x="52802" y="156754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Shape 49"/>
          <p:cNvSpPr/>
          <p:nvPr/>
        </p:nvSpPr>
        <p:spPr>
          <a:xfrm>
            <a:off x="6921687" y="3449210"/>
            <a:ext cx="4790570" cy="1501045"/>
          </a:xfrm>
          <a:custGeom>
            <a:avLst/>
            <a:gdLst/>
            <a:ahLst/>
            <a:cxnLst/>
            <a:rect l="l" t="t" r="r" b="b"/>
            <a:pathLst>
              <a:path w="4790570" h="1501045">
                <a:moveTo>
                  <a:pt x="31937" y="0"/>
                </a:moveTo>
                <a:lnTo>
                  <a:pt x="4726700" y="0"/>
                </a:lnTo>
                <a:cubicBezTo>
                  <a:pt x="4761974" y="0"/>
                  <a:pt x="4790570" y="28595"/>
                  <a:pt x="4790570" y="63869"/>
                </a:cubicBezTo>
                <a:lnTo>
                  <a:pt x="4790570" y="1437176"/>
                </a:lnTo>
                <a:cubicBezTo>
                  <a:pt x="4790570" y="1472450"/>
                  <a:pt x="4761974" y="1501045"/>
                  <a:pt x="4726700" y="1501045"/>
                </a:cubicBezTo>
                <a:lnTo>
                  <a:pt x="31937" y="1501045"/>
                </a:lnTo>
                <a:cubicBezTo>
                  <a:pt x="14299" y="1501045"/>
                  <a:pt x="0" y="1486746"/>
                  <a:pt x="0" y="1469108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21687" y="3449210"/>
            <a:ext cx="31937" cy="1501045"/>
          </a:xfrm>
          <a:custGeom>
            <a:avLst/>
            <a:gdLst/>
            <a:ahLst/>
            <a:cxnLst/>
            <a:rect l="l" t="t" r="r" b="b"/>
            <a:pathLst>
              <a:path w="31937" h="1501045">
                <a:moveTo>
                  <a:pt x="31937" y="0"/>
                </a:moveTo>
                <a:lnTo>
                  <a:pt x="31937" y="0"/>
                </a:lnTo>
                <a:lnTo>
                  <a:pt x="31937" y="1501045"/>
                </a:lnTo>
                <a:lnTo>
                  <a:pt x="31937" y="1501045"/>
                </a:lnTo>
                <a:cubicBezTo>
                  <a:pt x="14299" y="1501045"/>
                  <a:pt x="0" y="1486746"/>
                  <a:pt x="0" y="1469108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3" name="Text 51"/>
          <p:cNvSpPr/>
          <p:nvPr/>
        </p:nvSpPr>
        <p:spPr>
          <a:xfrm>
            <a:off x="7065404" y="3576959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无人代客泊车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65404" y="3864393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即停即走：30秒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65404" y="4119890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AI找车位：3-5分钟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65404" y="4375387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电梯距离：优化至最近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65404" y="4630884"/>
            <a:ext cx="458297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总计：3-5分钟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50025" y="5241682"/>
            <a:ext cx="5117925" cy="1612825"/>
          </a:xfrm>
          <a:custGeom>
            <a:avLst/>
            <a:gdLst/>
            <a:ahLst/>
            <a:cxnLst/>
            <a:rect l="l" t="t" r="r" b="b"/>
            <a:pathLst>
              <a:path w="5117925" h="1612825">
                <a:moveTo>
                  <a:pt x="63868" y="0"/>
                </a:moveTo>
                <a:lnTo>
                  <a:pt x="5054057" y="0"/>
                </a:lnTo>
                <a:cubicBezTo>
                  <a:pt x="5089331" y="0"/>
                  <a:pt x="5117925" y="28595"/>
                  <a:pt x="5117925" y="63868"/>
                </a:cubicBezTo>
                <a:lnTo>
                  <a:pt x="5117925" y="1548957"/>
                </a:lnTo>
                <a:cubicBezTo>
                  <a:pt x="5117925" y="1584231"/>
                  <a:pt x="5089331" y="1612825"/>
                  <a:pt x="5054057" y="1612825"/>
                </a:cubicBezTo>
                <a:lnTo>
                  <a:pt x="63868" y="1612825"/>
                </a:lnTo>
                <a:cubicBezTo>
                  <a:pt x="28595" y="1612825"/>
                  <a:pt x="0" y="1584231"/>
                  <a:pt x="0" y="1548957"/>
                </a:cubicBezTo>
                <a:lnTo>
                  <a:pt x="0" y="63868"/>
                </a:lnTo>
                <a:cubicBezTo>
                  <a:pt x="0" y="28618"/>
                  <a:pt x="28618" y="0"/>
                  <a:pt x="6386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45836" y="5373422"/>
            <a:ext cx="4926303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85954" y="5692794"/>
            <a:ext cx="5046067" cy="38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18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-80%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49829" y="6139914"/>
            <a:ext cx="491831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6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停车时间减少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881766" y="6431340"/>
            <a:ext cx="4854444" cy="7984"/>
          </a:xfrm>
          <a:custGeom>
            <a:avLst/>
            <a:gdLst/>
            <a:ahLst/>
            <a:cxnLst/>
            <a:rect l="l" t="t" r="r" b="b"/>
            <a:pathLst>
              <a:path w="4854444" h="7984">
                <a:moveTo>
                  <a:pt x="0" y="0"/>
                </a:moveTo>
                <a:lnTo>
                  <a:pt x="4854444" y="0"/>
                </a:lnTo>
                <a:lnTo>
                  <a:pt x="4854444" y="7984"/>
                </a:lnTo>
                <a:lnTo>
                  <a:pt x="0" y="7984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849829" y="6531143"/>
            <a:ext cx="491831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核心价值：</a:t>
            </a:r>
            <a:pPr algn="ctr">
              <a:lnSpc>
                <a:spcPct val="130000"/>
              </a:lnSpc>
            </a:pPr>
            <a:r>
              <a:rPr lang="en-US" sz="1006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乘客直接赶去电影院，无需为停车烦恼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fud4chpjfx74/scene2_weekend_park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4003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5" name="Text 2"/>
          <p:cNvSpPr/>
          <p:nvPr/>
        </p:nvSpPr>
        <p:spPr>
          <a:xfrm>
            <a:off x="647700" y="2724150"/>
            <a:ext cx="97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905000" y="26289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4"/>
          <p:cNvSpPr/>
          <p:nvPr/>
        </p:nvSpPr>
        <p:spPr>
          <a:xfrm>
            <a:off x="2247900" y="247650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 SCENARIO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47900" y="2857500"/>
            <a:ext cx="3495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典型场景2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05000" y="4076700"/>
            <a:ext cx="1007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周末出游——感知理解与自然交互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95" y="323395"/>
            <a:ext cx="1160988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spc="51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395" y="582111"/>
            <a:ext cx="11690737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场景全景：模糊语义到精确执行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3395" y="1002525"/>
            <a:ext cx="776149" cy="32340"/>
          </a:xfrm>
          <a:custGeom>
            <a:avLst/>
            <a:gdLst/>
            <a:ahLst/>
            <a:cxnLst/>
            <a:rect l="l" t="t" r="r" b="b"/>
            <a:pathLst>
              <a:path w="776149" h="32340">
                <a:moveTo>
                  <a:pt x="0" y="0"/>
                </a:moveTo>
                <a:lnTo>
                  <a:pt x="776149" y="0"/>
                </a:lnTo>
                <a:lnTo>
                  <a:pt x="776149" y="32340"/>
                </a:lnTo>
                <a:lnTo>
                  <a:pt x="0" y="3234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39565" y="1164223"/>
            <a:ext cx="11529040" cy="468923"/>
          </a:xfrm>
          <a:custGeom>
            <a:avLst/>
            <a:gdLst/>
            <a:ahLst/>
            <a:cxnLst/>
            <a:rect l="l" t="t" r="r" b="b"/>
            <a:pathLst>
              <a:path w="11529040" h="468923">
                <a:moveTo>
                  <a:pt x="32340" y="0"/>
                </a:moveTo>
                <a:lnTo>
                  <a:pt x="11464361" y="0"/>
                </a:lnTo>
                <a:cubicBezTo>
                  <a:pt x="11500082" y="0"/>
                  <a:pt x="11529040" y="28958"/>
                  <a:pt x="11529040" y="64679"/>
                </a:cubicBezTo>
                <a:lnTo>
                  <a:pt x="11529040" y="404245"/>
                </a:lnTo>
                <a:cubicBezTo>
                  <a:pt x="11529040" y="439965"/>
                  <a:pt x="11500082" y="468923"/>
                  <a:pt x="11464361" y="468923"/>
                </a:cubicBezTo>
                <a:lnTo>
                  <a:pt x="32340" y="468923"/>
                </a:lnTo>
                <a:cubicBezTo>
                  <a:pt x="14479" y="468923"/>
                  <a:pt x="0" y="454444"/>
                  <a:pt x="0" y="436584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9565" y="1164223"/>
            <a:ext cx="32340" cy="468923"/>
          </a:xfrm>
          <a:custGeom>
            <a:avLst/>
            <a:gdLst/>
            <a:ahLst/>
            <a:cxnLst/>
            <a:rect l="l" t="t" r="r" b="b"/>
            <a:pathLst>
              <a:path w="32340" h="468923">
                <a:moveTo>
                  <a:pt x="32340" y="0"/>
                </a:moveTo>
                <a:lnTo>
                  <a:pt x="32340" y="0"/>
                </a:lnTo>
                <a:lnTo>
                  <a:pt x="32340" y="468923"/>
                </a:lnTo>
                <a:lnTo>
                  <a:pt x="32340" y="468923"/>
                </a:lnTo>
                <a:cubicBezTo>
                  <a:pt x="14479" y="468923"/>
                  <a:pt x="0" y="454444"/>
                  <a:pt x="0" y="436584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5"/>
          <p:cNvSpPr/>
          <p:nvPr/>
        </p:nvSpPr>
        <p:spPr>
          <a:xfrm>
            <a:off x="485093" y="1293581"/>
            <a:ext cx="11318833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用户指令：</a:t>
            </a:r>
            <a:pPr>
              <a:lnSpc>
                <a:spcPct val="140000"/>
              </a:lnSpc>
            </a:pPr>
            <a:r>
              <a:rPr lang="en-US" sz="101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"豆包，我记得上海有一个公园，里面有XXX雕塑，还有个湖，但我不记得叫啥了，我想去那里，帮我直接导航到那个公园。"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395" y="1762504"/>
            <a:ext cx="7510854" cy="5093475"/>
          </a:xfrm>
          <a:custGeom>
            <a:avLst/>
            <a:gdLst/>
            <a:ahLst/>
            <a:cxnLst/>
            <a:rect l="l" t="t" r="r" b="b"/>
            <a:pathLst>
              <a:path w="7510854" h="5093475">
                <a:moveTo>
                  <a:pt x="64687" y="0"/>
                </a:moveTo>
                <a:lnTo>
                  <a:pt x="7446167" y="0"/>
                </a:lnTo>
                <a:cubicBezTo>
                  <a:pt x="7481893" y="0"/>
                  <a:pt x="7510854" y="28961"/>
                  <a:pt x="7510854" y="64687"/>
                </a:cubicBezTo>
                <a:lnTo>
                  <a:pt x="7510854" y="5028788"/>
                </a:lnTo>
                <a:cubicBezTo>
                  <a:pt x="7510854" y="5064513"/>
                  <a:pt x="7481893" y="5093475"/>
                  <a:pt x="7446167" y="5093475"/>
                </a:cubicBezTo>
                <a:lnTo>
                  <a:pt x="64687" y="5093475"/>
                </a:lnTo>
                <a:cubicBezTo>
                  <a:pt x="28961" y="5093475"/>
                  <a:pt x="0" y="5064513"/>
                  <a:pt x="0" y="5028788"/>
                </a:cubicBezTo>
                <a:lnTo>
                  <a:pt x="0" y="64687"/>
                </a:lnTo>
                <a:cubicBezTo>
                  <a:pt x="0" y="28961"/>
                  <a:pt x="28961" y="0"/>
                  <a:pt x="64687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44668" y="1924202"/>
            <a:ext cx="7268308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完整流程链路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5093" y="2312276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1" name="Text 9"/>
          <p:cNvSpPr/>
          <p:nvPr/>
        </p:nvSpPr>
        <p:spPr>
          <a:xfrm>
            <a:off x="620262" y="2376955"/>
            <a:ext cx="12127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507" y="2279936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2525" y="2376955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模糊语义理解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2525" y="2603332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豆包解析"有XXX雕塑、有湖"的描述，结合上海地理位置、用户历史偏好，推理出目标公园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5093" y="2942897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45" y="3007576"/>
            <a:ext cx="14552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507" y="2910557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2525" y="3007576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搜索确认与导航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2525" y="3233952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通过大模型知识库+地图POI搜索，确定公园位置，与用户确认后设置为导航目的地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5093" y="3573517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607945" y="3638196"/>
            <a:ext cx="14552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507" y="3541178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02525" y="3638196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VLA感知：车位已满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2525" y="3864573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抵达公园停车场入口，VLA感知指示牌文字"公园停车位已满"，触发智驾漫游模式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5093" y="4204138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6" name="Text 24"/>
          <p:cNvSpPr/>
          <p:nvPr/>
        </p:nvSpPr>
        <p:spPr>
          <a:xfrm>
            <a:off x="607945" y="4268817"/>
            <a:ext cx="14552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5507" y="4171798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02525" y="4268817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VLA感知：保安手势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2525" y="4495194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VLA识别保安说话"车位已满往前开"+手势指挥，理解意图并执行漫游找车位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5093" y="4834759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1" name="Text 29"/>
          <p:cNvSpPr/>
          <p:nvPr/>
        </p:nvSpPr>
        <p:spPr>
          <a:xfrm>
            <a:off x="607945" y="4899438"/>
            <a:ext cx="14552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5507" y="4802419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2525" y="4899438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智驾漫游找车位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2525" y="5125814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车辆在停车场内漫游，搜索可用停车位，实时感知环境，避开障碍物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5093" y="5465379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6" name="Text 34"/>
          <p:cNvSpPr/>
          <p:nvPr/>
        </p:nvSpPr>
        <p:spPr>
          <a:xfrm>
            <a:off x="607945" y="5530058"/>
            <a:ext cx="14552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507" y="5433040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2525" y="5530058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车内手势+VLM方位识别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2525" y="5756435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乘客指"对面拉行李箱的女生"，VLM识别手势方向+目标对象+相对方位，理解停车意图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5093" y="6096000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1" name="Text 39"/>
          <p:cNvSpPr/>
          <p:nvPr/>
        </p:nvSpPr>
        <p:spPr>
          <a:xfrm>
            <a:off x="610977" y="6160679"/>
            <a:ext cx="13744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5507" y="6063660"/>
            <a:ext cx="6767045" cy="630621"/>
          </a:xfrm>
          <a:custGeom>
            <a:avLst/>
            <a:gdLst/>
            <a:ahLst/>
            <a:cxnLst/>
            <a:rect l="l" t="t" r="r" b="b"/>
            <a:pathLst>
              <a:path w="6767045" h="630621">
                <a:moveTo>
                  <a:pt x="64676" y="0"/>
                </a:moveTo>
                <a:lnTo>
                  <a:pt x="6702369" y="0"/>
                </a:lnTo>
                <a:cubicBezTo>
                  <a:pt x="6738088" y="0"/>
                  <a:pt x="6767045" y="28957"/>
                  <a:pt x="6767045" y="64676"/>
                </a:cubicBezTo>
                <a:lnTo>
                  <a:pt x="6767045" y="565944"/>
                </a:lnTo>
                <a:cubicBezTo>
                  <a:pt x="6767045" y="601664"/>
                  <a:pt x="6738088" y="630621"/>
                  <a:pt x="6702369" y="630621"/>
                </a:cubicBezTo>
                <a:lnTo>
                  <a:pt x="64676" y="630621"/>
                </a:lnTo>
                <a:cubicBezTo>
                  <a:pt x="28957" y="630621"/>
                  <a:pt x="0" y="601664"/>
                  <a:pt x="0" y="565944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02525" y="6160679"/>
            <a:ext cx="66376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精准靠边泊车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2525" y="6387056"/>
            <a:ext cx="663768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智驾系统根据VLM提供的方位信息，精准停靠到目标位置，完成泊车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99295" y="1766546"/>
            <a:ext cx="3864573" cy="3662451"/>
          </a:xfrm>
          <a:custGeom>
            <a:avLst/>
            <a:gdLst/>
            <a:ahLst/>
            <a:cxnLst/>
            <a:rect l="l" t="t" r="r" b="b"/>
            <a:pathLst>
              <a:path w="3864573" h="3662451">
                <a:moveTo>
                  <a:pt x="64679" y="0"/>
                </a:moveTo>
                <a:lnTo>
                  <a:pt x="3799894" y="0"/>
                </a:lnTo>
                <a:cubicBezTo>
                  <a:pt x="3835615" y="0"/>
                  <a:pt x="3864573" y="28958"/>
                  <a:pt x="3864573" y="64679"/>
                </a:cubicBezTo>
                <a:lnTo>
                  <a:pt x="3864573" y="3597772"/>
                </a:lnTo>
                <a:cubicBezTo>
                  <a:pt x="3864573" y="3633493"/>
                  <a:pt x="3835615" y="3662451"/>
                  <a:pt x="3799894" y="3662451"/>
                </a:cubicBezTo>
                <a:lnTo>
                  <a:pt x="64679" y="3662451"/>
                </a:lnTo>
                <a:cubicBezTo>
                  <a:pt x="28958" y="3662451"/>
                  <a:pt x="0" y="3633493"/>
                  <a:pt x="0" y="3597772"/>
                </a:cubicBezTo>
                <a:lnTo>
                  <a:pt x="0" y="64679"/>
                </a:lnTo>
                <a:cubicBezTo>
                  <a:pt x="0" y="28958"/>
                  <a:pt x="28958" y="0"/>
                  <a:pt x="64679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24610" y="1932286"/>
            <a:ext cx="3613942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关键技术栈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65035" y="2288021"/>
            <a:ext cx="3533093" cy="646790"/>
          </a:xfrm>
          <a:custGeom>
            <a:avLst/>
            <a:gdLst/>
            <a:ahLst/>
            <a:cxnLst/>
            <a:rect l="l" t="t" r="r" b="b"/>
            <a:pathLst>
              <a:path w="3533093" h="646790">
                <a:moveTo>
                  <a:pt x="64679" y="0"/>
                </a:moveTo>
                <a:lnTo>
                  <a:pt x="3468414" y="0"/>
                </a:lnTo>
                <a:cubicBezTo>
                  <a:pt x="3504135" y="0"/>
                  <a:pt x="3533093" y="28958"/>
                  <a:pt x="3533093" y="64679"/>
                </a:cubicBezTo>
                <a:lnTo>
                  <a:pt x="3533093" y="582111"/>
                </a:lnTo>
                <a:cubicBezTo>
                  <a:pt x="3533093" y="617833"/>
                  <a:pt x="3504135" y="646790"/>
                  <a:pt x="3468414" y="646790"/>
                </a:cubicBezTo>
                <a:lnTo>
                  <a:pt x="64679" y="646790"/>
                </a:lnTo>
                <a:cubicBezTo>
                  <a:pt x="28982" y="646790"/>
                  <a:pt x="0" y="617809"/>
                  <a:pt x="0" y="582111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78223" y="241737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30318" y="14149"/>
                </a:moveTo>
                <a:cubicBezTo>
                  <a:pt x="30318" y="6342"/>
                  <a:pt x="36660" y="0"/>
                  <a:pt x="44467" y="0"/>
                </a:cubicBezTo>
                <a:lnTo>
                  <a:pt x="50531" y="0"/>
                </a:lnTo>
                <a:cubicBezTo>
                  <a:pt x="55002" y="0"/>
                  <a:pt x="58615" y="3613"/>
                  <a:pt x="58615" y="8085"/>
                </a:cubicBezTo>
                <a:lnTo>
                  <a:pt x="58615" y="121273"/>
                </a:lnTo>
                <a:cubicBezTo>
                  <a:pt x="58615" y="125745"/>
                  <a:pt x="55002" y="129358"/>
                  <a:pt x="50531" y="129358"/>
                </a:cubicBezTo>
                <a:lnTo>
                  <a:pt x="42446" y="129358"/>
                </a:lnTo>
                <a:cubicBezTo>
                  <a:pt x="34917" y="129358"/>
                  <a:pt x="28575" y="124204"/>
                  <a:pt x="26781" y="117231"/>
                </a:cubicBezTo>
                <a:cubicBezTo>
                  <a:pt x="26604" y="117231"/>
                  <a:pt x="26453" y="117231"/>
                  <a:pt x="26276" y="117231"/>
                </a:cubicBezTo>
                <a:cubicBezTo>
                  <a:pt x="15109" y="117231"/>
                  <a:pt x="6064" y="108186"/>
                  <a:pt x="6064" y="97019"/>
                </a:cubicBezTo>
                <a:cubicBezTo>
                  <a:pt x="6064" y="92471"/>
                  <a:pt x="7580" y="88277"/>
                  <a:pt x="10106" y="84891"/>
                </a:cubicBezTo>
                <a:cubicBezTo>
                  <a:pt x="5205" y="81203"/>
                  <a:pt x="2021" y="75341"/>
                  <a:pt x="2021" y="68721"/>
                </a:cubicBezTo>
                <a:cubicBezTo>
                  <a:pt x="2021" y="60915"/>
                  <a:pt x="6468" y="54118"/>
                  <a:pt x="12936" y="50758"/>
                </a:cubicBezTo>
                <a:cubicBezTo>
                  <a:pt x="11142" y="47726"/>
                  <a:pt x="10106" y="44189"/>
                  <a:pt x="10106" y="40424"/>
                </a:cubicBezTo>
                <a:cubicBezTo>
                  <a:pt x="10106" y="29257"/>
                  <a:pt x="19151" y="20212"/>
                  <a:pt x="30318" y="20212"/>
                </a:cubicBezTo>
                <a:lnTo>
                  <a:pt x="30318" y="14149"/>
                </a:lnTo>
                <a:close/>
                <a:moveTo>
                  <a:pt x="99040" y="14149"/>
                </a:moveTo>
                <a:lnTo>
                  <a:pt x="99040" y="20212"/>
                </a:lnTo>
                <a:cubicBezTo>
                  <a:pt x="110207" y="20212"/>
                  <a:pt x="119252" y="29257"/>
                  <a:pt x="119252" y="40424"/>
                </a:cubicBezTo>
                <a:cubicBezTo>
                  <a:pt x="119252" y="44214"/>
                  <a:pt x="118216" y="47751"/>
                  <a:pt x="116422" y="50758"/>
                </a:cubicBezTo>
                <a:cubicBezTo>
                  <a:pt x="122915" y="54118"/>
                  <a:pt x="127337" y="60889"/>
                  <a:pt x="127337" y="68721"/>
                </a:cubicBezTo>
                <a:cubicBezTo>
                  <a:pt x="127337" y="75341"/>
                  <a:pt x="124153" y="81203"/>
                  <a:pt x="119252" y="84891"/>
                </a:cubicBezTo>
                <a:cubicBezTo>
                  <a:pt x="121779" y="88277"/>
                  <a:pt x="123294" y="92471"/>
                  <a:pt x="123294" y="97019"/>
                </a:cubicBezTo>
                <a:cubicBezTo>
                  <a:pt x="123294" y="108186"/>
                  <a:pt x="114249" y="117231"/>
                  <a:pt x="103082" y="117231"/>
                </a:cubicBezTo>
                <a:cubicBezTo>
                  <a:pt x="102905" y="117231"/>
                  <a:pt x="102754" y="117231"/>
                  <a:pt x="102577" y="117231"/>
                </a:cubicBezTo>
                <a:cubicBezTo>
                  <a:pt x="100783" y="124204"/>
                  <a:pt x="94442" y="129358"/>
                  <a:pt x="86912" y="129358"/>
                </a:cubicBezTo>
                <a:lnTo>
                  <a:pt x="78828" y="129358"/>
                </a:lnTo>
                <a:cubicBezTo>
                  <a:pt x="74356" y="129358"/>
                  <a:pt x="70743" y="125745"/>
                  <a:pt x="70743" y="121273"/>
                </a:cubicBezTo>
                <a:lnTo>
                  <a:pt x="70743" y="8085"/>
                </a:lnTo>
                <a:cubicBezTo>
                  <a:pt x="70743" y="3613"/>
                  <a:pt x="74356" y="0"/>
                  <a:pt x="78828" y="0"/>
                </a:cubicBezTo>
                <a:lnTo>
                  <a:pt x="84891" y="0"/>
                </a:lnTo>
                <a:cubicBezTo>
                  <a:pt x="92698" y="0"/>
                  <a:pt x="99040" y="6342"/>
                  <a:pt x="99040" y="1414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9" name="Text 47"/>
          <p:cNvSpPr/>
          <p:nvPr/>
        </p:nvSpPr>
        <p:spPr>
          <a:xfrm>
            <a:off x="8488430" y="2385040"/>
            <a:ext cx="71146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大模型推理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62053" y="2643756"/>
            <a:ext cx="340373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语义理解、知识推理、模糊匹配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65035" y="3031830"/>
            <a:ext cx="3533093" cy="646790"/>
          </a:xfrm>
          <a:custGeom>
            <a:avLst/>
            <a:gdLst/>
            <a:ahLst/>
            <a:cxnLst/>
            <a:rect l="l" t="t" r="r" b="b"/>
            <a:pathLst>
              <a:path w="3533093" h="646790">
                <a:moveTo>
                  <a:pt x="64679" y="0"/>
                </a:moveTo>
                <a:lnTo>
                  <a:pt x="3468414" y="0"/>
                </a:lnTo>
                <a:cubicBezTo>
                  <a:pt x="3504135" y="0"/>
                  <a:pt x="3533093" y="28958"/>
                  <a:pt x="3533093" y="64679"/>
                </a:cubicBezTo>
                <a:lnTo>
                  <a:pt x="3533093" y="582111"/>
                </a:lnTo>
                <a:cubicBezTo>
                  <a:pt x="3533093" y="617833"/>
                  <a:pt x="3504135" y="646790"/>
                  <a:pt x="3468414" y="646790"/>
                </a:cubicBezTo>
                <a:lnTo>
                  <a:pt x="64679" y="646790"/>
                </a:lnTo>
                <a:cubicBezTo>
                  <a:pt x="28982" y="646790"/>
                  <a:pt x="0" y="617809"/>
                  <a:pt x="0" y="582111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70138" y="3161188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72764" y="8085"/>
                </a:moveTo>
                <a:cubicBezTo>
                  <a:pt x="52350" y="8085"/>
                  <a:pt x="36003" y="17382"/>
                  <a:pt x="24103" y="28449"/>
                </a:cubicBezTo>
                <a:cubicBezTo>
                  <a:pt x="12279" y="39439"/>
                  <a:pt x="4371" y="52552"/>
                  <a:pt x="606" y="61571"/>
                </a:cubicBezTo>
                <a:cubicBezTo>
                  <a:pt x="-227" y="63567"/>
                  <a:pt x="-227" y="65791"/>
                  <a:pt x="606" y="67787"/>
                </a:cubicBezTo>
                <a:cubicBezTo>
                  <a:pt x="4371" y="76806"/>
                  <a:pt x="12279" y="89944"/>
                  <a:pt x="24103" y="100909"/>
                </a:cubicBezTo>
                <a:cubicBezTo>
                  <a:pt x="36003" y="111950"/>
                  <a:pt x="52350" y="121273"/>
                  <a:pt x="72764" y="121273"/>
                </a:cubicBezTo>
                <a:cubicBezTo>
                  <a:pt x="93178" y="121273"/>
                  <a:pt x="109525" y="111976"/>
                  <a:pt x="121425" y="100909"/>
                </a:cubicBezTo>
                <a:cubicBezTo>
                  <a:pt x="133249" y="89919"/>
                  <a:pt x="141157" y="76806"/>
                  <a:pt x="144921" y="67787"/>
                </a:cubicBezTo>
                <a:cubicBezTo>
                  <a:pt x="145755" y="65791"/>
                  <a:pt x="145755" y="63567"/>
                  <a:pt x="144921" y="61571"/>
                </a:cubicBezTo>
                <a:cubicBezTo>
                  <a:pt x="141157" y="52552"/>
                  <a:pt x="133249" y="39414"/>
                  <a:pt x="121425" y="28449"/>
                </a:cubicBezTo>
                <a:cubicBezTo>
                  <a:pt x="109525" y="17408"/>
                  <a:pt x="93178" y="8085"/>
                  <a:pt x="72764" y="8085"/>
                </a:cubicBezTo>
                <a:close/>
                <a:moveTo>
                  <a:pt x="36382" y="64679"/>
                </a:moveTo>
                <a:cubicBezTo>
                  <a:pt x="36382" y="44599"/>
                  <a:pt x="52684" y="28297"/>
                  <a:pt x="72764" y="28297"/>
                </a:cubicBezTo>
                <a:cubicBezTo>
                  <a:pt x="92844" y="28297"/>
                  <a:pt x="109146" y="44599"/>
                  <a:pt x="109146" y="64679"/>
                </a:cubicBezTo>
                <a:cubicBezTo>
                  <a:pt x="109146" y="84759"/>
                  <a:pt x="92844" y="101061"/>
                  <a:pt x="72764" y="101061"/>
                </a:cubicBezTo>
                <a:cubicBezTo>
                  <a:pt x="52684" y="101061"/>
                  <a:pt x="36382" y="84759"/>
                  <a:pt x="36382" y="64679"/>
                </a:cubicBezTo>
                <a:close/>
                <a:moveTo>
                  <a:pt x="72764" y="48509"/>
                </a:moveTo>
                <a:cubicBezTo>
                  <a:pt x="72764" y="57428"/>
                  <a:pt x="65513" y="64679"/>
                  <a:pt x="56594" y="64679"/>
                </a:cubicBezTo>
                <a:cubicBezTo>
                  <a:pt x="53689" y="64679"/>
                  <a:pt x="50960" y="63921"/>
                  <a:pt x="48585" y="62557"/>
                </a:cubicBezTo>
                <a:cubicBezTo>
                  <a:pt x="48332" y="65311"/>
                  <a:pt x="48560" y="68140"/>
                  <a:pt x="49318" y="70945"/>
                </a:cubicBezTo>
                <a:cubicBezTo>
                  <a:pt x="52779" y="83881"/>
                  <a:pt x="66094" y="91561"/>
                  <a:pt x="79030" y="88100"/>
                </a:cubicBezTo>
                <a:cubicBezTo>
                  <a:pt x="91966" y="84639"/>
                  <a:pt x="99646" y="71324"/>
                  <a:pt x="96185" y="58388"/>
                </a:cubicBezTo>
                <a:cubicBezTo>
                  <a:pt x="93102" y="46842"/>
                  <a:pt x="82163" y="39490"/>
                  <a:pt x="70642" y="40500"/>
                </a:cubicBezTo>
                <a:cubicBezTo>
                  <a:pt x="71981" y="42850"/>
                  <a:pt x="72764" y="45579"/>
                  <a:pt x="72764" y="4850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3" name="Text 51"/>
          <p:cNvSpPr/>
          <p:nvPr/>
        </p:nvSpPr>
        <p:spPr>
          <a:xfrm>
            <a:off x="8488430" y="3128849"/>
            <a:ext cx="57402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VLA感知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62053" y="3387565"/>
            <a:ext cx="340373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视觉+语言+动作，理解环境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65035" y="3775639"/>
            <a:ext cx="3533093" cy="646790"/>
          </a:xfrm>
          <a:custGeom>
            <a:avLst/>
            <a:gdLst/>
            <a:ahLst/>
            <a:cxnLst/>
            <a:rect l="l" t="t" r="r" b="b"/>
            <a:pathLst>
              <a:path w="3533093" h="646790">
                <a:moveTo>
                  <a:pt x="64679" y="0"/>
                </a:moveTo>
                <a:lnTo>
                  <a:pt x="3468414" y="0"/>
                </a:lnTo>
                <a:cubicBezTo>
                  <a:pt x="3504135" y="0"/>
                  <a:pt x="3533093" y="28958"/>
                  <a:pt x="3533093" y="64679"/>
                </a:cubicBezTo>
                <a:lnTo>
                  <a:pt x="3533093" y="582111"/>
                </a:lnTo>
                <a:cubicBezTo>
                  <a:pt x="3533093" y="617833"/>
                  <a:pt x="3504135" y="646790"/>
                  <a:pt x="3468414" y="646790"/>
                </a:cubicBezTo>
                <a:lnTo>
                  <a:pt x="64679" y="646790"/>
                </a:lnTo>
                <a:cubicBezTo>
                  <a:pt x="28982" y="646790"/>
                  <a:pt x="0" y="617809"/>
                  <a:pt x="0" y="582111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86308" y="3904997"/>
            <a:ext cx="113188" cy="129358"/>
          </a:xfrm>
          <a:custGeom>
            <a:avLst/>
            <a:gdLst/>
            <a:ahLst/>
            <a:cxnLst/>
            <a:rect l="l" t="t" r="r" b="b"/>
            <a:pathLst>
              <a:path w="113188" h="129358">
                <a:moveTo>
                  <a:pt x="32340" y="10106"/>
                </a:moveTo>
                <a:cubicBezTo>
                  <a:pt x="32340" y="4522"/>
                  <a:pt x="36862" y="0"/>
                  <a:pt x="42446" y="0"/>
                </a:cubicBezTo>
                <a:cubicBezTo>
                  <a:pt x="48029" y="0"/>
                  <a:pt x="52552" y="4522"/>
                  <a:pt x="52552" y="10106"/>
                </a:cubicBezTo>
                <a:lnTo>
                  <a:pt x="52552" y="47549"/>
                </a:lnTo>
                <a:cubicBezTo>
                  <a:pt x="54699" y="45629"/>
                  <a:pt x="57529" y="44467"/>
                  <a:pt x="60637" y="44467"/>
                </a:cubicBezTo>
                <a:cubicBezTo>
                  <a:pt x="65841" y="44467"/>
                  <a:pt x="70288" y="47751"/>
                  <a:pt x="72006" y="52350"/>
                </a:cubicBezTo>
                <a:cubicBezTo>
                  <a:pt x="74229" y="50000"/>
                  <a:pt x="77362" y="48509"/>
                  <a:pt x="80849" y="48509"/>
                </a:cubicBezTo>
                <a:cubicBezTo>
                  <a:pt x="87241" y="48509"/>
                  <a:pt x="92471" y="53436"/>
                  <a:pt x="92951" y="59702"/>
                </a:cubicBezTo>
                <a:cubicBezTo>
                  <a:pt x="95098" y="57756"/>
                  <a:pt x="97953" y="56594"/>
                  <a:pt x="101061" y="56594"/>
                </a:cubicBezTo>
                <a:cubicBezTo>
                  <a:pt x="107756" y="56594"/>
                  <a:pt x="113188" y="62026"/>
                  <a:pt x="113188" y="68721"/>
                </a:cubicBezTo>
                <a:lnTo>
                  <a:pt x="113188" y="97019"/>
                </a:lnTo>
                <a:cubicBezTo>
                  <a:pt x="113188" y="114881"/>
                  <a:pt x="98711" y="129358"/>
                  <a:pt x="80849" y="129358"/>
                </a:cubicBezTo>
                <a:lnTo>
                  <a:pt x="59298" y="129358"/>
                </a:lnTo>
                <a:cubicBezTo>
                  <a:pt x="58034" y="129358"/>
                  <a:pt x="56796" y="129282"/>
                  <a:pt x="55584" y="129105"/>
                </a:cubicBezTo>
                <a:cubicBezTo>
                  <a:pt x="41612" y="127691"/>
                  <a:pt x="28752" y="120515"/>
                  <a:pt x="20212" y="109146"/>
                </a:cubicBezTo>
                <a:lnTo>
                  <a:pt x="2021" y="84891"/>
                </a:lnTo>
                <a:cubicBezTo>
                  <a:pt x="-1339" y="80419"/>
                  <a:pt x="-430" y="74103"/>
                  <a:pt x="4042" y="70743"/>
                </a:cubicBezTo>
                <a:cubicBezTo>
                  <a:pt x="8514" y="67382"/>
                  <a:pt x="14831" y="68292"/>
                  <a:pt x="18191" y="72764"/>
                </a:cubicBezTo>
                <a:lnTo>
                  <a:pt x="32340" y="91637"/>
                </a:lnTo>
                <a:lnTo>
                  <a:pt x="32340" y="10106"/>
                </a:lnTo>
                <a:close/>
                <a:moveTo>
                  <a:pt x="60637" y="76806"/>
                </a:moveTo>
                <a:cubicBezTo>
                  <a:pt x="60637" y="74583"/>
                  <a:pt x="58818" y="72764"/>
                  <a:pt x="56594" y="72764"/>
                </a:cubicBezTo>
                <a:cubicBezTo>
                  <a:pt x="54371" y="72764"/>
                  <a:pt x="52552" y="74583"/>
                  <a:pt x="52552" y="76806"/>
                </a:cubicBezTo>
                <a:lnTo>
                  <a:pt x="52552" y="101061"/>
                </a:lnTo>
                <a:cubicBezTo>
                  <a:pt x="52552" y="103284"/>
                  <a:pt x="54371" y="105103"/>
                  <a:pt x="56594" y="105103"/>
                </a:cubicBezTo>
                <a:cubicBezTo>
                  <a:pt x="58818" y="105103"/>
                  <a:pt x="60637" y="103284"/>
                  <a:pt x="60637" y="101061"/>
                </a:cubicBezTo>
                <a:lnTo>
                  <a:pt x="60637" y="76806"/>
                </a:lnTo>
                <a:close/>
                <a:moveTo>
                  <a:pt x="72764" y="72764"/>
                </a:moveTo>
                <a:cubicBezTo>
                  <a:pt x="70541" y="72764"/>
                  <a:pt x="68721" y="74583"/>
                  <a:pt x="68721" y="76806"/>
                </a:cubicBezTo>
                <a:lnTo>
                  <a:pt x="68721" y="101061"/>
                </a:lnTo>
                <a:cubicBezTo>
                  <a:pt x="68721" y="103284"/>
                  <a:pt x="70541" y="105103"/>
                  <a:pt x="72764" y="105103"/>
                </a:cubicBezTo>
                <a:cubicBezTo>
                  <a:pt x="74987" y="105103"/>
                  <a:pt x="76806" y="103284"/>
                  <a:pt x="76806" y="101061"/>
                </a:cubicBezTo>
                <a:lnTo>
                  <a:pt x="76806" y="76806"/>
                </a:lnTo>
                <a:cubicBezTo>
                  <a:pt x="76806" y="74583"/>
                  <a:pt x="74987" y="72764"/>
                  <a:pt x="72764" y="72764"/>
                </a:cubicBezTo>
                <a:close/>
                <a:moveTo>
                  <a:pt x="92976" y="76806"/>
                </a:moveTo>
                <a:cubicBezTo>
                  <a:pt x="92976" y="74583"/>
                  <a:pt x="91157" y="72764"/>
                  <a:pt x="88934" y="72764"/>
                </a:cubicBezTo>
                <a:cubicBezTo>
                  <a:pt x="86710" y="72764"/>
                  <a:pt x="84891" y="74583"/>
                  <a:pt x="84891" y="76806"/>
                </a:cubicBezTo>
                <a:lnTo>
                  <a:pt x="84891" y="101061"/>
                </a:lnTo>
                <a:cubicBezTo>
                  <a:pt x="84891" y="103284"/>
                  <a:pt x="86710" y="105103"/>
                  <a:pt x="88934" y="105103"/>
                </a:cubicBezTo>
                <a:cubicBezTo>
                  <a:pt x="91157" y="105103"/>
                  <a:pt x="92976" y="103284"/>
                  <a:pt x="92976" y="101061"/>
                </a:cubicBezTo>
                <a:lnTo>
                  <a:pt x="92976" y="76806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7" name="Text 55"/>
          <p:cNvSpPr/>
          <p:nvPr/>
        </p:nvSpPr>
        <p:spPr>
          <a:xfrm>
            <a:off x="8488430" y="3872658"/>
            <a:ext cx="59828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VLM识别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62053" y="4131374"/>
            <a:ext cx="340373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手势+目标+方位，三维理解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11422" y="5562398"/>
            <a:ext cx="3856488" cy="1293581"/>
          </a:xfrm>
          <a:custGeom>
            <a:avLst/>
            <a:gdLst/>
            <a:ahLst/>
            <a:cxnLst/>
            <a:rect l="l" t="t" r="r" b="b"/>
            <a:pathLst>
              <a:path w="3856488" h="1293581">
                <a:moveTo>
                  <a:pt x="32340" y="0"/>
                </a:moveTo>
                <a:lnTo>
                  <a:pt x="3791809" y="0"/>
                </a:lnTo>
                <a:cubicBezTo>
                  <a:pt x="3827530" y="0"/>
                  <a:pt x="3856488" y="28958"/>
                  <a:pt x="3856488" y="64679"/>
                </a:cubicBezTo>
                <a:lnTo>
                  <a:pt x="3856488" y="1228902"/>
                </a:lnTo>
                <a:cubicBezTo>
                  <a:pt x="3856488" y="1264623"/>
                  <a:pt x="3827530" y="1293581"/>
                  <a:pt x="3791809" y="1293581"/>
                </a:cubicBez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11422" y="5562398"/>
            <a:ext cx="32340" cy="1293581"/>
          </a:xfrm>
          <a:custGeom>
            <a:avLst/>
            <a:gdLst/>
            <a:ahLst/>
            <a:cxnLst/>
            <a:rect l="l" t="t" r="r" b="b"/>
            <a:pathLst>
              <a:path w="32340" h="1293581">
                <a:moveTo>
                  <a:pt x="32340" y="0"/>
                </a:moveTo>
                <a:lnTo>
                  <a:pt x="32340" y="0"/>
                </a:lnTo>
                <a:lnTo>
                  <a:pt x="32340" y="1293581"/>
                </a:ln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61" name="Text 59"/>
          <p:cNvSpPr/>
          <p:nvPr/>
        </p:nvSpPr>
        <p:spPr>
          <a:xfrm>
            <a:off x="8156950" y="5691756"/>
            <a:ext cx="3654366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核心突破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65035" y="604749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78196" y="-4775"/>
                </a:moveTo>
                <a:cubicBezTo>
                  <a:pt x="77160" y="-6796"/>
                  <a:pt x="75063" y="-8085"/>
                  <a:pt x="72789" y="-8085"/>
                </a:cubicBezTo>
                <a:cubicBezTo>
                  <a:pt x="70515" y="-8085"/>
                  <a:pt x="68418" y="-6796"/>
                  <a:pt x="67382" y="-4775"/>
                </a:cubicBezTo>
                <a:lnTo>
                  <a:pt x="48787" y="31657"/>
                </a:lnTo>
                <a:lnTo>
                  <a:pt x="8388" y="38075"/>
                </a:lnTo>
                <a:cubicBezTo>
                  <a:pt x="6139" y="38428"/>
                  <a:pt x="4270" y="40020"/>
                  <a:pt x="3562" y="42193"/>
                </a:cubicBezTo>
                <a:cubicBezTo>
                  <a:pt x="2855" y="44366"/>
                  <a:pt x="3436" y="46741"/>
                  <a:pt x="5028" y="48358"/>
                </a:cubicBezTo>
                <a:lnTo>
                  <a:pt x="33931" y="77286"/>
                </a:lnTo>
                <a:lnTo>
                  <a:pt x="27564" y="117686"/>
                </a:lnTo>
                <a:cubicBezTo>
                  <a:pt x="27211" y="119934"/>
                  <a:pt x="28145" y="122208"/>
                  <a:pt x="29990" y="123547"/>
                </a:cubicBezTo>
                <a:cubicBezTo>
                  <a:pt x="31834" y="124886"/>
                  <a:pt x="34260" y="125088"/>
                  <a:pt x="36306" y="124052"/>
                </a:cubicBezTo>
                <a:lnTo>
                  <a:pt x="72789" y="105508"/>
                </a:lnTo>
                <a:lnTo>
                  <a:pt x="109247" y="124052"/>
                </a:lnTo>
                <a:cubicBezTo>
                  <a:pt x="111268" y="125088"/>
                  <a:pt x="113719" y="124886"/>
                  <a:pt x="115563" y="123547"/>
                </a:cubicBezTo>
                <a:cubicBezTo>
                  <a:pt x="117408" y="122208"/>
                  <a:pt x="118342" y="119959"/>
                  <a:pt x="117989" y="117686"/>
                </a:cubicBezTo>
                <a:lnTo>
                  <a:pt x="111597" y="77286"/>
                </a:lnTo>
                <a:lnTo>
                  <a:pt x="140500" y="48358"/>
                </a:lnTo>
                <a:cubicBezTo>
                  <a:pt x="142117" y="46741"/>
                  <a:pt x="142673" y="44366"/>
                  <a:pt x="141965" y="42193"/>
                </a:cubicBezTo>
                <a:cubicBezTo>
                  <a:pt x="141258" y="40020"/>
                  <a:pt x="139414" y="38428"/>
                  <a:pt x="137140" y="38075"/>
                </a:cubicBezTo>
                <a:lnTo>
                  <a:pt x="96766" y="31657"/>
                </a:lnTo>
                <a:lnTo>
                  <a:pt x="78196" y="-47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3" name="Text 61"/>
          <p:cNvSpPr/>
          <p:nvPr/>
        </p:nvSpPr>
        <p:spPr>
          <a:xfrm>
            <a:off x="8383326" y="6015151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从精确指令到自然交互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65035" y="6306207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78196" y="-4775"/>
                </a:moveTo>
                <a:cubicBezTo>
                  <a:pt x="77160" y="-6796"/>
                  <a:pt x="75063" y="-8085"/>
                  <a:pt x="72789" y="-8085"/>
                </a:cubicBezTo>
                <a:cubicBezTo>
                  <a:pt x="70515" y="-8085"/>
                  <a:pt x="68418" y="-6796"/>
                  <a:pt x="67382" y="-4775"/>
                </a:cubicBezTo>
                <a:lnTo>
                  <a:pt x="48787" y="31657"/>
                </a:lnTo>
                <a:lnTo>
                  <a:pt x="8388" y="38075"/>
                </a:lnTo>
                <a:cubicBezTo>
                  <a:pt x="6139" y="38428"/>
                  <a:pt x="4270" y="40020"/>
                  <a:pt x="3562" y="42193"/>
                </a:cubicBezTo>
                <a:cubicBezTo>
                  <a:pt x="2855" y="44366"/>
                  <a:pt x="3436" y="46741"/>
                  <a:pt x="5028" y="48358"/>
                </a:cubicBezTo>
                <a:lnTo>
                  <a:pt x="33931" y="77286"/>
                </a:lnTo>
                <a:lnTo>
                  <a:pt x="27564" y="117686"/>
                </a:lnTo>
                <a:cubicBezTo>
                  <a:pt x="27211" y="119934"/>
                  <a:pt x="28145" y="122208"/>
                  <a:pt x="29990" y="123547"/>
                </a:cubicBezTo>
                <a:cubicBezTo>
                  <a:pt x="31834" y="124886"/>
                  <a:pt x="34260" y="125088"/>
                  <a:pt x="36306" y="124052"/>
                </a:cubicBezTo>
                <a:lnTo>
                  <a:pt x="72789" y="105508"/>
                </a:lnTo>
                <a:lnTo>
                  <a:pt x="109247" y="124052"/>
                </a:lnTo>
                <a:cubicBezTo>
                  <a:pt x="111268" y="125088"/>
                  <a:pt x="113719" y="124886"/>
                  <a:pt x="115563" y="123547"/>
                </a:cubicBezTo>
                <a:cubicBezTo>
                  <a:pt x="117408" y="122208"/>
                  <a:pt x="118342" y="119959"/>
                  <a:pt x="117989" y="117686"/>
                </a:cubicBezTo>
                <a:lnTo>
                  <a:pt x="111597" y="77286"/>
                </a:lnTo>
                <a:lnTo>
                  <a:pt x="140500" y="48358"/>
                </a:lnTo>
                <a:cubicBezTo>
                  <a:pt x="142117" y="46741"/>
                  <a:pt x="142673" y="44366"/>
                  <a:pt x="141965" y="42193"/>
                </a:cubicBezTo>
                <a:cubicBezTo>
                  <a:pt x="141258" y="40020"/>
                  <a:pt x="139414" y="38428"/>
                  <a:pt x="137140" y="38075"/>
                </a:cubicBezTo>
                <a:lnTo>
                  <a:pt x="96766" y="31657"/>
                </a:lnTo>
                <a:lnTo>
                  <a:pt x="78196" y="-47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5" name="Text 63"/>
          <p:cNvSpPr/>
          <p:nvPr/>
        </p:nvSpPr>
        <p:spPr>
          <a:xfrm>
            <a:off x="8383326" y="6273867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从规则驱动到感知驱动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65035" y="6564923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78196" y="-4775"/>
                </a:moveTo>
                <a:cubicBezTo>
                  <a:pt x="77160" y="-6796"/>
                  <a:pt x="75063" y="-8085"/>
                  <a:pt x="72789" y="-8085"/>
                </a:cubicBezTo>
                <a:cubicBezTo>
                  <a:pt x="70515" y="-8085"/>
                  <a:pt x="68418" y="-6796"/>
                  <a:pt x="67382" y="-4775"/>
                </a:cubicBezTo>
                <a:lnTo>
                  <a:pt x="48787" y="31657"/>
                </a:lnTo>
                <a:lnTo>
                  <a:pt x="8388" y="38075"/>
                </a:lnTo>
                <a:cubicBezTo>
                  <a:pt x="6139" y="38428"/>
                  <a:pt x="4270" y="40020"/>
                  <a:pt x="3562" y="42193"/>
                </a:cubicBezTo>
                <a:cubicBezTo>
                  <a:pt x="2855" y="44366"/>
                  <a:pt x="3436" y="46741"/>
                  <a:pt x="5028" y="48358"/>
                </a:cubicBezTo>
                <a:lnTo>
                  <a:pt x="33931" y="77286"/>
                </a:lnTo>
                <a:lnTo>
                  <a:pt x="27564" y="117686"/>
                </a:lnTo>
                <a:cubicBezTo>
                  <a:pt x="27211" y="119934"/>
                  <a:pt x="28145" y="122208"/>
                  <a:pt x="29990" y="123547"/>
                </a:cubicBezTo>
                <a:cubicBezTo>
                  <a:pt x="31834" y="124886"/>
                  <a:pt x="34260" y="125088"/>
                  <a:pt x="36306" y="124052"/>
                </a:cubicBezTo>
                <a:lnTo>
                  <a:pt x="72789" y="105508"/>
                </a:lnTo>
                <a:lnTo>
                  <a:pt x="109247" y="124052"/>
                </a:lnTo>
                <a:cubicBezTo>
                  <a:pt x="111268" y="125088"/>
                  <a:pt x="113719" y="124886"/>
                  <a:pt x="115563" y="123547"/>
                </a:cubicBezTo>
                <a:cubicBezTo>
                  <a:pt x="117408" y="122208"/>
                  <a:pt x="118342" y="119959"/>
                  <a:pt x="117989" y="117686"/>
                </a:cubicBezTo>
                <a:lnTo>
                  <a:pt x="111597" y="77286"/>
                </a:lnTo>
                <a:lnTo>
                  <a:pt x="140500" y="48358"/>
                </a:lnTo>
                <a:cubicBezTo>
                  <a:pt x="142117" y="46741"/>
                  <a:pt x="142673" y="44366"/>
                  <a:pt x="141965" y="42193"/>
                </a:cubicBezTo>
                <a:cubicBezTo>
                  <a:pt x="141258" y="40020"/>
                  <a:pt x="139414" y="38428"/>
                  <a:pt x="137140" y="38075"/>
                </a:cubicBezTo>
                <a:lnTo>
                  <a:pt x="96766" y="31657"/>
                </a:lnTo>
                <a:lnTo>
                  <a:pt x="78196" y="-47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7" name="Text 65"/>
          <p:cNvSpPr/>
          <p:nvPr/>
        </p:nvSpPr>
        <p:spPr>
          <a:xfrm>
            <a:off x="8383326" y="6532584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从被动执行到主动理解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CAPABILITY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能力对比：从精确指令到自然交互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066796"/>
                </a:lnTo>
                <a:cubicBezTo>
                  <a:pt x="5638800" y="1108882"/>
                  <a:pt x="5604682" y="1143000"/>
                  <a:pt x="55625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906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8" name="Shape 6"/>
          <p:cNvSpPr/>
          <p:nvPr/>
        </p:nvSpPr>
        <p:spPr>
          <a:xfrm>
            <a:off x="654844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1638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之前的能力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1336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需要精确的地址、明确的指令、标准化的交互，无法理解模糊描述和自然手势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39065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066796"/>
                </a:lnTo>
                <a:cubicBezTo>
                  <a:pt x="5638800" y="1108882"/>
                  <a:pt x="5604682" y="1143000"/>
                  <a:pt x="55625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3906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46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79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96100" y="1638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4600" y="21336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支持模糊语义描述、视觉感知理解、手势交互指代，像与人交流一样自然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2686050"/>
            <a:ext cx="11430000" cy="3790950"/>
          </a:xfrm>
          <a:custGeom>
            <a:avLst/>
            <a:gdLst/>
            <a:ahLst/>
            <a:cxnLst/>
            <a:rect l="l" t="t" r="r" b="b"/>
            <a:pathLst>
              <a:path w="11430000" h="37909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3714752"/>
                </a:lnTo>
                <a:cubicBezTo>
                  <a:pt x="11430000" y="3756835"/>
                  <a:pt x="11395885" y="3790950"/>
                  <a:pt x="11353802" y="3790950"/>
                </a:cubicBezTo>
                <a:lnTo>
                  <a:pt x="76198" y="3790950"/>
                </a:lnTo>
                <a:cubicBezTo>
                  <a:pt x="34115" y="3790950"/>
                  <a:pt x="0" y="3756835"/>
                  <a:pt x="0" y="37147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838450"/>
          <a:ext cx="11125200" cy="2381250"/>
        </p:xfrm>
        <a:graphic>
          <a:graphicData uri="http://schemas.openxmlformats.org/drawingml/2006/table">
            <a:tbl>
              <a:tblPr/>
              <a:tblGrid>
                <a:gridCol w="3333750"/>
                <a:gridCol w="3895725"/>
                <a:gridCol w="3895725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能力维度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之前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现在（增值）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C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目的地输入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必须输入精确地址或POI名称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模糊描述即可，AI推理匹配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环境理解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依赖高精地图和固定规则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VLA实时感知，理解文字、手势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找车位策略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按固定路线搜索，无法应对"已满"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智驾漫游，动态搜索可用车位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交互方式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语音/触屏，标准化指令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自然语言+手势指代，三维交互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目标识别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A8F9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无法识别"那个女生"等指代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VLM理解指代对象+方位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UNDERSTANDING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模糊语义理解：从"记不清"到"找得到"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6254750" cy="5167313"/>
          </a:xfrm>
          <a:custGeom>
            <a:avLst/>
            <a:gdLst/>
            <a:ahLst/>
            <a:cxnLst/>
            <a:rect l="l" t="t" r="r" b="b"/>
            <a:pathLst>
              <a:path w="6254750" h="5167313">
                <a:moveTo>
                  <a:pt x="31750" y="0"/>
                </a:moveTo>
                <a:lnTo>
                  <a:pt x="6191244" y="0"/>
                </a:lnTo>
                <a:cubicBezTo>
                  <a:pt x="6226317" y="0"/>
                  <a:pt x="6254750" y="28433"/>
                  <a:pt x="6254750" y="63506"/>
                </a:cubicBezTo>
                <a:lnTo>
                  <a:pt x="6254750" y="5103806"/>
                </a:lnTo>
                <a:cubicBezTo>
                  <a:pt x="6254750" y="5138880"/>
                  <a:pt x="6226317" y="5167312"/>
                  <a:pt x="6191244" y="5167312"/>
                </a:cubicBezTo>
                <a:lnTo>
                  <a:pt x="31750" y="5167313"/>
                </a:lnTo>
                <a:cubicBezTo>
                  <a:pt x="14227" y="5167313"/>
                  <a:pt x="0" y="5153086"/>
                  <a:pt x="0" y="5135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143000"/>
            <a:ext cx="31750" cy="5167313"/>
          </a:xfrm>
          <a:custGeom>
            <a:avLst/>
            <a:gdLst/>
            <a:ahLst/>
            <a:cxnLst/>
            <a:rect l="l" t="t" r="r" b="b"/>
            <a:pathLst>
              <a:path w="31750" h="5167313">
                <a:moveTo>
                  <a:pt x="31750" y="0"/>
                </a:moveTo>
                <a:lnTo>
                  <a:pt x="31750" y="0"/>
                </a:lnTo>
                <a:lnTo>
                  <a:pt x="31750" y="5167313"/>
                </a:lnTo>
                <a:lnTo>
                  <a:pt x="31750" y="5167313"/>
                </a:lnTo>
                <a:cubicBezTo>
                  <a:pt x="14227" y="5167313"/>
                  <a:pt x="0" y="5153086"/>
                  <a:pt x="0" y="5135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27844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706438" y="1301750"/>
            <a:ext cx="580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大模型推理流程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82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612180" y="1730375"/>
            <a:ext cx="10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" y="1651000"/>
            <a:ext cx="563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" y="1873250"/>
            <a:ext cx="563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提取关键特征：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上海、公园、XXX雕塑、湖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，识别用户意图是寻找特定公园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206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38" y="2254250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" y="2174875"/>
            <a:ext cx="563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知识检索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" y="2397125"/>
            <a:ext cx="563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在大模型知识库中搜索：上海有哪些公园同时具有XXX雕塑和湖泊？匹配候选地点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273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38" y="277812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" y="2698750"/>
            <a:ext cx="563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POI验证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" y="2921000"/>
            <a:ext cx="563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调用地图API验证候选公园的位置、距离、评分等信息，确认最可能目标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32543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38" y="3302000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" y="3222625"/>
            <a:ext cx="563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用户确认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" y="3444875"/>
            <a:ext cx="563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语音反馈："您是不是想去XX公园？那里有XXX雕塑和XX湖。"用户确认后设置导航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6437313"/>
            <a:ext cx="6254750" cy="1460500"/>
          </a:xfrm>
          <a:custGeom>
            <a:avLst/>
            <a:gdLst/>
            <a:ahLst/>
            <a:cxnLst/>
            <a:rect l="l" t="t" r="r" b="b"/>
            <a:pathLst>
              <a:path w="6254750" h="1460500">
                <a:moveTo>
                  <a:pt x="31750" y="0"/>
                </a:moveTo>
                <a:lnTo>
                  <a:pt x="6191247" y="0"/>
                </a:lnTo>
                <a:cubicBezTo>
                  <a:pt x="6226319" y="0"/>
                  <a:pt x="6254750" y="28431"/>
                  <a:pt x="6254750" y="63503"/>
                </a:cubicBezTo>
                <a:lnTo>
                  <a:pt x="6254750" y="1396997"/>
                </a:lnTo>
                <a:cubicBezTo>
                  <a:pt x="6254750" y="1432069"/>
                  <a:pt x="6226319" y="1460500"/>
                  <a:pt x="6191247" y="1460500"/>
                </a:cubicBezTo>
                <a:lnTo>
                  <a:pt x="31750" y="1460500"/>
                </a:lnTo>
                <a:cubicBezTo>
                  <a:pt x="14227" y="1460500"/>
                  <a:pt x="0" y="1446273"/>
                  <a:pt x="0" y="1428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333375" y="6437313"/>
            <a:ext cx="31750" cy="1460500"/>
          </a:xfrm>
          <a:custGeom>
            <a:avLst/>
            <a:gdLst/>
            <a:ahLst/>
            <a:cxnLst/>
            <a:rect l="l" t="t" r="r" b="b"/>
            <a:pathLst>
              <a:path w="31750" h="1460500">
                <a:moveTo>
                  <a:pt x="31750" y="0"/>
                </a:moveTo>
                <a:lnTo>
                  <a:pt x="31750" y="0"/>
                </a:lnTo>
                <a:lnTo>
                  <a:pt x="31750" y="1460500"/>
                </a:lnTo>
                <a:lnTo>
                  <a:pt x="31750" y="1460500"/>
                </a:lnTo>
                <a:cubicBezTo>
                  <a:pt x="14227" y="1460500"/>
                  <a:pt x="0" y="1446273"/>
                  <a:pt x="0" y="1428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7766" y="6627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8" name="Text 26"/>
          <p:cNvSpPr/>
          <p:nvPr/>
        </p:nvSpPr>
        <p:spPr>
          <a:xfrm>
            <a:off x="706438" y="6596063"/>
            <a:ext cx="580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信息源整合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6913563"/>
            <a:ext cx="1912938" cy="825500"/>
          </a:xfrm>
          <a:custGeom>
            <a:avLst/>
            <a:gdLst/>
            <a:ahLst/>
            <a:cxnLst/>
            <a:rect l="l" t="t" r="r" b="b"/>
            <a:pathLst>
              <a:path w="1912938" h="825500">
                <a:moveTo>
                  <a:pt x="63497" y="0"/>
                </a:moveTo>
                <a:lnTo>
                  <a:pt x="1849440" y="0"/>
                </a:lnTo>
                <a:cubicBezTo>
                  <a:pt x="1884509" y="0"/>
                  <a:pt x="1912938" y="28429"/>
                  <a:pt x="1912938" y="63497"/>
                </a:cubicBezTo>
                <a:lnTo>
                  <a:pt x="1912938" y="762003"/>
                </a:lnTo>
                <a:cubicBezTo>
                  <a:pt x="1912938" y="797071"/>
                  <a:pt x="1884509" y="825500"/>
                  <a:pt x="184944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7606" y="7008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7262813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大模型知识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5469" y="7485063"/>
            <a:ext cx="177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地理、景点、特征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512963" y="6913563"/>
            <a:ext cx="1912938" cy="825500"/>
          </a:xfrm>
          <a:custGeom>
            <a:avLst/>
            <a:gdLst/>
            <a:ahLst/>
            <a:cxnLst/>
            <a:rect l="l" t="t" r="r" b="b"/>
            <a:pathLst>
              <a:path w="1912938" h="825500">
                <a:moveTo>
                  <a:pt x="63497" y="0"/>
                </a:moveTo>
                <a:lnTo>
                  <a:pt x="1849440" y="0"/>
                </a:lnTo>
                <a:cubicBezTo>
                  <a:pt x="1884509" y="0"/>
                  <a:pt x="1912938" y="28429"/>
                  <a:pt x="1912938" y="63497"/>
                </a:cubicBezTo>
                <a:lnTo>
                  <a:pt x="1912938" y="762003"/>
                </a:lnTo>
                <a:cubicBezTo>
                  <a:pt x="1912938" y="797071"/>
                  <a:pt x="1884509" y="825500"/>
                  <a:pt x="184944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48757" y="70088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5" name="Text 33"/>
          <p:cNvSpPr/>
          <p:nvPr/>
        </p:nvSpPr>
        <p:spPr>
          <a:xfrm>
            <a:off x="2576463" y="7262813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地图POI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80432" y="7485063"/>
            <a:ext cx="177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位置、距离、导航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17988" y="6913563"/>
            <a:ext cx="1912938" cy="825500"/>
          </a:xfrm>
          <a:custGeom>
            <a:avLst/>
            <a:gdLst/>
            <a:ahLst/>
            <a:cxnLst/>
            <a:rect l="l" t="t" r="r" b="b"/>
            <a:pathLst>
              <a:path w="1912938" h="825500">
                <a:moveTo>
                  <a:pt x="63497" y="0"/>
                </a:moveTo>
                <a:lnTo>
                  <a:pt x="1849440" y="0"/>
                </a:lnTo>
                <a:cubicBezTo>
                  <a:pt x="1884509" y="0"/>
                  <a:pt x="1912938" y="28429"/>
                  <a:pt x="1912938" y="63497"/>
                </a:cubicBezTo>
                <a:lnTo>
                  <a:pt x="1912938" y="762003"/>
                </a:lnTo>
                <a:cubicBezTo>
                  <a:pt x="1912938" y="797071"/>
                  <a:pt x="1884509" y="825500"/>
                  <a:pt x="184944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365688" y="70088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95845" y="113109"/>
                  <a:pt x="97334" y="113147"/>
                  <a:pt x="98785" y="113258"/>
                </a:cubicBezTo>
                <a:cubicBezTo>
                  <a:pt x="92757" y="123751"/>
                  <a:pt x="89297" y="135880"/>
                  <a:pt x="89297" y="148828"/>
                </a:cubicBezTo>
                <a:cubicBezTo>
                  <a:pt x="89297" y="164381"/>
                  <a:pt x="94283" y="178780"/>
                  <a:pt x="102691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07156" y="148828"/>
                </a:moveTo>
                <a:cubicBezTo>
                  <a:pt x="107156" y="119258"/>
                  <a:pt x="131164" y="95250"/>
                  <a:pt x="160734" y="95250"/>
                </a:cubicBezTo>
                <a:cubicBezTo>
                  <a:pt x="190305" y="95250"/>
                  <a:pt x="214313" y="119258"/>
                  <a:pt x="214313" y="148828"/>
                </a:cubicBezTo>
                <a:cubicBezTo>
                  <a:pt x="214313" y="178399"/>
                  <a:pt x="190305" y="202406"/>
                  <a:pt x="160734" y="202406"/>
                </a:cubicBezTo>
                <a:cubicBezTo>
                  <a:pt x="131164" y="202406"/>
                  <a:pt x="107156" y="178399"/>
                  <a:pt x="107156" y="148828"/>
                </a:cubicBezTo>
                <a:close/>
                <a:moveTo>
                  <a:pt x="160734" y="119063"/>
                </a:moveTo>
                <a:cubicBezTo>
                  <a:pt x="157460" y="119063"/>
                  <a:pt x="154781" y="121741"/>
                  <a:pt x="154781" y="125016"/>
                </a:cubicBezTo>
                <a:lnTo>
                  <a:pt x="154781" y="148828"/>
                </a:lnTo>
                <a:cubicBezTo>
                  <a:pt x="154781" y="152102"/>
                  <a:pt x="157460" y="154781"/>
                  <a:pt x="160734" y="154781"/>
                </a:cubicBezTo>
                <a:lnTo>
                  <a:pt x="178594" y="154781"/>
                </a:lnTo>
                <a:cubicBezTo>
                  <a:pt x="181868" y="154781"/>
                  <a:pt x="184547" y="152102"/>
                  <a:pt x="184547" y="148828"/>
                </a:cubicBezTo>
                <a:cubicBezTo>
                  <a:pt x="184547" y="145554"/>
                  <a:pt x="181868" y="142875"/>
                  <a:pt x="178594" y="142875"/>
                </a:cubicBezTo>
                <a:lnTo>
                  <a:pt x="166688" y="142875"/>
                </a:lnTo>
                <a:lnTo>
                  <a:pt x="166688" y="125016"/>
                </a:lnTo>
                <a:cubicBezTo>
                  <a:pt x="166688" y="121741"/>
                  <a:pt x="164009" y="119063"/>
                  <a:pt x="160734" y="11906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Text 37"/>
          <p:cNvSpPr/>
          <p:nvPr/>
        </p:nvSpPr>
        <p:spPr>
          <a:xfrm>
            <a:off x="4581488" y="7262813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用户历史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85457" y="7485063"/>
            <a:ext cx="177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偏好、常去地点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45263" y="1143000"/>
            <a:ext cx="5127625" cy="5080000"/>
          </a:xfrm>
          <a:custGeom>
            <a:avLst/>
            <a:gdLst/>
            <a:ahLst/>
            <a:cxnLst/>
            <a:rect l="l" t="t" r="r" b="b"/>
            <a:pathLst>
              <a:path w="5127625" h="5080000">
                <a:moveTo>
                  <a:pt x="63500" y="0"/>
                </a:moveTo>
                <a:lnTo>
                  <a:pt x="5064125" y="0"/>
                </a:lnTo>
                <a:cubicBezTo>
                  <a:pt x="5099172" y="0"/>
                  <a:pt x="5127625" y="28453"/>
                  <a:pt x="5127625" y="63500"/>
                </a:cubicBezTo>
                <a:lnTo>
                  <a:pt x="5127625" y="5016500"/>
                </a:lnTo>
                <a:cubicBezTo>
                  <a:pt x="5127625" y="5051547"/>
                  <a:pt x="5099172" y="5080000"/>
                  <a:pt x="5064125" y="5080000"/>
                </a:cubicBezTo>
                <a:lnTo>
                  <a:pt x="63500" y="5080000"/>
                </a:lnTo>
                <a:cubicBezTo>
                  <a:pt x="28453" y="5080000"/>
                  <a:pt x="0" y="5051547"/>
                  <a:pt x="0" y="5016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64325" y="130175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交互对比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19888" y="1651000"/>
            <a:ext cx="4794250" cy="1841500"/>
          </a:xfrm>
          <a:custGeom>
            <a:avLst/>
            <a:gdLst/>
            <a:ahLst/>
            <a:cxnLst/>
            <a:rect l="l" t="t" r="r" b="b"/>
            <a:pathLst>
              <a:path w="4794250" h="1841500">
                <a:moveTo>
                  <a:pt x="31750" y="0"/>
                </a:moveTo>
                <a:lnTo>
                  <a:pt x="4730755" y="0"/>
                </a:lnTo>
                <a:cubicBezTo>
                  <a:pt x="4765822" y="0"/>
                  <a:pt x="4794250" y="28428"/>
                  <a:pt x="4794250" y="63495"/>
                </a:cubicBezTo>
                <a:lnTo>
                  <a:pt x="4794250" y="1778005"/>
                </a:lnTo>
                <a:cubicBezTo>
                  <a:pt x="4794250" y="1813072"/>
                  <a:pt x="4765822" y="1841500"/>
                  <a:pt x="4730755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19888" y="165100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5" name="Text 43"/>
          <p:cNvSpPr/>
          <p:nvPr/>
        </p:nvSpPr>
        <p:spPr>
          <a:xfrm>
            <a:off x="7062763" y="1778000"/>
            <a:ext cx="45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传统导航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62763" y="2032000"/>
            <a:ext cx="4524375" cy="1333500"/>
          </a:xfrm>
          <a:custGeom>
            <a:avLst/>
            <a:gdLst/>
            <a:ahLst/>
            <a:cxnLst/>
            <a:rect l="l" t="t" r="r" b="b"/>
            <a:pathLst>
              <a:path w="4524375" h="1333500">
                <a:moveTo>
                  <a:pt x="31751" y="0"/>
                </a:moveTo>
                <a:lnTo>
                  <a:pt x="4492624" y="0"/>
                </a:lnTo>
                <a:cubicBezTo>
                  <a:pt x="4510160" y="0"/>
                  <a:pt x="4524375" y="14215"/>
                  <a:pt x="4524375" y="31751"/>
                </a:cubicBezTo>
                <a:lnTo>
                  <a:pt x="4524375" y="1301749"/>
                </a:lnTo>
                <a:cubicBezTo>
                  <a:pt x="4524375" y="1319285"/>
                  <a:pt x="4510160" y="1333500"/>
                  <a:pt x="4492624" y="1333500"/>
                </a:cubicBezTo>
                <a:lnTo>
                  <a:pt x="31751" y="1333500"/>
                </a:lnTo>
                <a:cubicBezTo>
                  <a:pt x="14215" y="1333500"/>
                  <a:pt x="0" y="1319285"/>
                  <a:pt x="0" y="1301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58013" y="212725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用户：我要导航...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85013" y="231775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（思考地址）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85013" y="250825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（输入"XX公园"）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85013" y="269875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（从列表选择）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85013" y="288925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（确认开始导航）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58013" y="307975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总计：5-8步操作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250350" y="3587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4" name="Shape 52"/>
          <p:cNvSpPr/>
          <p:nvPr/>
        </p:nvSpPr>
        <p:spPr>
          <a:xfrm>
            <a:off x="6919888" y="3841750"/>
            <a:ext cx="4794250" cy="2222500"/>
          </a:xfrm>
          <a:custGeom>
            <a:avLst/>
            <a:gdLst/>
            <a:ahLst/>
            <a:cxnLst/>
            <a:rect l="l" t="t" r="r" b="b"/>
            <a:pathLst>
              <a:path w="4794250" h="2222500">
                <a:moveTo>
                  <a:pt x="31750" y="0"/>
                </a:moveTo>
                <a:lnTo>
                  <a:pt x="4730753" y="0"/>
                </a:lnTo>
                <a:cubicBezTo>
                  <a:pt x="4765822" y="0"/>
                  <a:pt x="4794250" y="28428"/>
                  <a:pt x="4794250" y="63497"/>
                </a:cubicBezTo>
                <a:lnTo>
                  <a:pt x="4794250" y="2159003"/>
                </a:lnTo>
                <a:cubicBezTo>
                  <a:pt x="4794250" y="2194072"/>
                  <a:pt x="4765822" y="2222500"/>
                  <a:pt x="4730753" y="2222500"/>
                </a:cubicBezTo>
                <a:lnTo>
                  <a:pt x="31750" y="2222500"/>
                </a:lnTo>
                <a:cubicBezTo>
                  <a:pt x="14215" y="2222500"/>
                  <a:pt x="0" y="2208285"/>
                  <a:pt x="0" y="219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9888" y="3841750"/>
            <a:ext cx="31750" cy="2222500"/>
          </a:xfrm>
          <a:custGeom>
            <a:avLst/>
            <a:gdLst/>
            <a:ahLst/>
            <a:cxnLst/>
            <a:rect l="l" t="t" r="r" b="b"/>
            <a:pathLst>
              <a:path w="31750" h="2222500">
                <a:moveTo>
                  <a:pt x="31750" y="0"/>
                </a:moveTo>
                <a:lnTo>
                  <a:pt x="31750" y="0"/>
                </a:lnTo>
                <a:lnTo>
                  <a:pt x="31750" y="2222500"/>
                </a:lnTo>
                <a:lnTo>
                  <a:pt x="31750" y="2222500"/>
                </a:lnTo>
                <a:cubicBezTo>
                  <a:pt x="14227" y="2222500"/>
                  <a:pt x="0" y="2208273"/>
                  <a:pt x="0" y="219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6" name="Text 54"/>
          <p:cNvSpPr/>
          <p:nvPr/>
        </p:nvSpPr>
        <p:spPr>
          <a:xfrm>
            <a:off x="7062763" y="3968750"/>
            <a:ext cx="45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062763" y="4222750"/>
            <a:ext cx="4524375" cy="1714500"/>
          </a:xfrm>
          <a:custGeom>
            <a:avLst/>
            <a:gdLst/>
            <a:ahLst/>
            <a:cxnLst/>
            <a:rect l="l" t="t" r="r" b="b"/>
            <a:pathLst>
              <a:path w="4524375" h="1714500">
                <a:moveTo>
                  <a:pt x="31753" y="0"/>
                </a:moveTo>
                <a:lnTo>
                  <a:pt x="4492622" y="0"/>
                </a:lnTo>
                <a:cubicBezTo>
                  <a:pt x="4510159" y="0"/>
                  <a:pt x="4524375" y="14216"/>
                  <a:pt x="4524375" y="31753"/>
                </a:cubicBezTo>
                <a:lnTo>
                  <a:pt x="4524375" y="1682747"/>
                </a:lnTo>
                <a:cubicBezTo>
                  <a:pt x="4524375" y="1700284"/>
                  <a:pt x="4510159" y="1714500"/>
                  <a:pt x="4492622" y="1714500"/>
                </a:cubicBezTo>
                <a:lnTo>
                  <a:pt x="31753" y="1714500"/>
                </a:lnTo>
                <a:cubicBezTo>
                  <a:pt x="14216" y="1714500"/>
                  <a:pt x="0" y="1700284"/>
                  <a:pt x="0" y="1682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158013" y="431800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用户："我记得上海有个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85013" y="450850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公园，有XXX雕塑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285013" y="469900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和湖，不记得叫啥"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158013" y="495300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豆包："您是不是想去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85013" y="5143500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XX公园？"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158013" y="539750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用户："是的"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58013" y="5651500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自动设置导航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749231" y="6353969"/>
            <a:ext cx="5119688" cy="1539875"/>
          </a:xfrm>
          <a:custGeom>
            <a:avLst/>
            <a:gdLst/>
            <a:ahLst/>
            <a:cxnLst/>
            <a:rect l="l" t="t" r="r" b="b"/>
            <a:pathLst>
              <a:path w="5119688" h="1539875">
                <a:moveTo>
                  <a:pt x="63504" y="0"/>
                </a:moveTo>
                <a:lnTo>
                  <a:pt x="5056183" y="0"/>
                </a:lnTo>
                <a:cubicBezTo>
                  <a:pt x="5091256" y="0"/>
                  <a:pt x="5119688" y="28432"/>
                  <a:pt x="5119688" y="63504"/>
                </a:cubicBezTo>
                <a:lnTo>
                  <a:pt x="5119688" y="1476371"/>
                </a:lnTo>
                <a:cubicBezTo>
                  <a:pt x="5119688" y="1511443"/>
                  <a:pt x="5091256" y="1539875"/>
                  <a:pt x="5056183" y="1539875"/>
                </a:cubicBezTo>
                <a:lnTo>
                  <a:pt x="63504" y="1539875"/>
                </a:lnTo>
                <a:cubicBezTo>
                  <a:pt x="28432" y="1539875"/>
                  <a:pt x="0" y="1511443"/>
                  <a:pt x="0" y="147637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44481" y="6484938"/>
            <a:ext cx="492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08763" y="6802438"/>
            <a:ext cx="500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848450" y="7183438"/>
            <a:ext cx="492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像与人对话一样与车交流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880200" y="7473156"/>
            <a:ext cx="4857750" cy="7938"/>
          </a:xfrm>
          <a:custGeom>
            <a:avLst/>
            <a:gdLst/>
            <a:ahLst/>
            <a:cxnLst/>
            <a:rect l="l" t="t" r="r" b="b"/>
            <a:pathLst>
              <a:path w="4857750" h="7938">
                <a:moveTo>
                  <a:pt x="0" y="0"/>
                </a:moveTo>
                <a:lnTo>
                  <a:pt x="4857750" y="0"/>
                </a:lnTo>
                <a:lnTo>
                  <a:pt x="4857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848450" y="7572375"/>
            <a:ext cx="492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降低认知负担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，无需记忆精确地址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92" y="341992"/>
            <a:ext cx="1157641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spc="54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 PERCEPTION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992" y="615585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VLA感知与智驾漫游：从"听指令"到"会观察"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992" y="1060174"/>
            <a:ext cx="820780" cy="34199"/>
          </a:xfrm>
          <a:custGeom>
            <a:avLst/>
            <a:gdLst/>
            <a:ahLst/>
            <a:cxnLst/>
            <a:rect l="l" t="t" r="r" b="b"/>
            <a:pathLst>
              <a:path w="820780" h="34199">
                <a:moveTo>
                  <a:pt x="0" y="0"/>
                </a:moveTo>
                <a:lnTo>
                  <a:pt x="820780" y="0"/>
                </a:lnTo>
                <a:lnTo>
                  <a:pt x="820780" y="34199"/>
                </a:lnTo>
                <a:lnTo>
                  <a:pt x="0" y="34199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59091" y="1231170"/>
            <a:ext cx="5651411" cy="3710609"/>
          </a:xfrm>
          <a:custGeom>
            <a:avLst/>
            <a:gdLst/>
            <a:ahLst/>
            <a:cxnLst/>
            <a:rect l="l" t="t" r="r" b="b"/>
            <a:pathLst>
              <a:path w="5651411" h="3710609">
                <a:moveTo>
                  <a:pt x="34199" y="0"/>
                </a:moveTo>
                <a:lnTo>
                  <a:pt x="5583024" y="0"/>
                </a:lnTo>
                <a:cubicBezTo>
                  <a:pt x="5620768" y="0"/>
                  <a:pt x="5651411" y="30643"/>
                  <a:pt x="5651411" y="68387"/>
                </a:cubicBezTo>
                <a:lnTo>
                  <a:pt x="5651411" y="3642222"/>
                </a:lnTo>
                <a:cubicBezTo>
                  <a:pt x="5651411" y="3679991"/>
                  <a:pt x="5620793" y="3710609"/>
                  <a:pt x="5583024" y="3710609"/>
                </a:cubicBezTo>
                <a:lnTo>
                  <a:pt x="34199" y="3710609"/>
                </a:lnTo>
                <a:cubicBezTo>
                  <a:pt x="15311" y="3710609"/>
                  <a:pt x="0" y="3695297"/>
                  <a:pt x="0" y="367641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9091" y="1231170"/>
            <a:ext cx="34199" cy="3710609"/>
          </a:xfrm>
          <a:custGeom>
            <a:avLst/>
            <a:gdLst/>
            <a:ahLst/>
            <a:cxnLst/>
            <a:rect l="l" t="t" r="r" b="b"/>
            <a:pathLst>
              <a:path w="34199" h="3710609">
                <a:moveTo>
                  <a:pt x="34199" y="0"/>
                </a:moveTo>
                <a:lnTo>
                  <a:pt x="34199" y="0"/>
                </a:lnTo>
                <a:lnTo>
                  <a:pt x="34199" y="3710609"/>
                </a:lnTo>
                <a:lnTo>
                  <a:pt x="34199" y="3710609"/>
                </a:lnTo>
                <a:cubicBezTo>
                  <a:pt x="15311" y="3710609"/>
                  <a:pt x="0" y="3695297"/>
                  <a:pt x="0" y="3676410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57874" y="1436365"/>
            <a:ext cx="192370" cy="170996"/>
          </a:xfrm>
          <a:custGeom>
            <a:avLst/>
            <a:gdLst/>
            <a:ahLst/>
            <a:cxnLst/>
            <a:rect l="l" t="t" r="r" b="b"/>
            <a:pathLst>
              <a:path w="192370" h="170996">
                <a:moveTo>
                  <a:pt x="96185" y="10687"/>
                </a:moveTo>
                <a:cubicBezTo>
                  <a:pt x="69200" y="10687"/>
                  <a:pt x="47592" y="22978"/>
                  <a:pt x="31861" y="37606"/>
                </a:cubicBezTo>
                <a:cubicBezTo>
                  <a:pt x="16231" y="52134"/>
                  <a:pt x="5778" y="69467"/>
                  <a:pt x="802" y="81390"/>
                </a:cubicBezTo>
                <a:cubicBezTo>
                  <a:pt x="-301" y="84028"/>
                  <a:pt x="-301" y="86967"/>
                  <a:pt x="802" y="89606"/>
                </a:cubicBezTo>
                <a:cubicBezTo>
                  <a:pt x="5778" y="101529"/>
                  <a:pt x="16231" y="118896"/>
                  <a:pt x="31861" y="133390"/>
                </a:cubicBezTo>
                <a:cubicBezTo>
                  <a:pt x="47592" y="147985"/>
                  <a:pt x="69200" y="160309"/>
                  <a:pt x="96185" y="160309"/>
                </a:cubicBezTo>
                <a:cubicBezTo>
                  <a:pt x="123170" y="160309"/>
                  <a:pt x="144779" y="148018"/>
                  <a:pt x="160509" y="133390"/>
                </a:cubicBezTo>
                <a:cubicBezTo>
                  <a:pt x="176139" y="118862"/>
                  <a:pt x="186592" y="101529"/>
                  <a:pt x="191569" y="89606"/>
                </a:cubicBezTo>
                <a:cubicBezTo>
                  <a:pt x="192671" y="86967"/>
                  <a:pt x="192671" y="84028"/>
                  <a:pt x="191569" y="81390"/>
                </a:cubicBezTo>
                <a:cubicBezTo>
                  <a:pt x="186592" y="69467"/>
                  <a:pt x="176139" y="52100"/>
                  <a:pt x="160509" y="37606"/>
                </a:cubicBezTo>
                <a:cubicBezTo>
                  <a:pt x="144779" y="23011"/>
                  <a:pt x="123170" y="10687"/>
                  <a:pt x="96185" y="10687"/>
                </a:cubicBezTo>
                <a:close/>
                <a:moveTo>
                  <a:pt x="48093" y="85498"/>
                </a:moveTo>
                <a:cubicBezTo>
                  <a:pt x="48093" y="58955"/>
                  <a:pt x="69642" y="37405"/>
                  <a:pt x="96185" y="37405"/>
                </a:cubicBezTo>
                <a:cubicBezTo>
                  <a:pt x="122728" y="37405"/>
                  <a:pt x="144278" y="58955"/>
                  <a:pt x="144278" y="85498"/>
                </a:cubicBezTo>
                <a:cubicBezTo>
                  <a:pt x="144278" y="112041"/>
                  <a:pt x="122728" y="133590"/>
                  <a:pt x="96185" y="133590"/>
                </a:cubicBezTo>
                <a:cubicBezTo>
                  <a:pt x="69642" y="133590"/>
                  <a:pt x="48093" y="112041"/>
                  <a:pt x="48093" y="85498"/>
                </a:cubicBezTo>
                <a:close/>
                <a:moveTo>
                  <a:pt x="96185" y="64123"/>
                </a:moveTo>
                <a:cubicBezTo>
                  <a:pt x="96185" y="75913"/>
                  <a:pt x="86600" y="85498"/>
                  <a:pt x="74811" y="85498"/>
                </a:cubicBezTo>
                <a:cubicBezTo>
                  <a:pt x="70970" y="85498"/>
                  <a:pt x="67363" y="84496"/>
                  <a:pt x="64224" y="82692"/>
                </a:cubicBezTo>
                <a:cubicBezTo>
                  <a:pt x="63890" y="86333"/>
                  <a:pt x="64190" y="90073"/>
                  <a:pt x="65192" y="93781"/>
                </a:cubicBezTo>
                <a:cubicBezTo>
                  <a:pt x="69768" y="110880"/>
                  <a:pt x="87368" y="121033"/>
                  <a:pt x="104468" y="116457"/>
                </a:cubicBezTo>
                <a:cubicBezTo>
                  <a:pt x="121567" y="111882"/>
                  <a:pt x="131720" y="94281"/>
                  <a:pt x="127145" y="77182"/>
                </a:cubicBezTo>
                <a:cubicBezTo>
                  <a:pt x="123070" y="61919"/>
                  <a:pt x="108609" y="52200"/>
                  <a:pt x="93380" y="53536"/>
                </a:cubicBezTo>
                <a:cubicBezTo>
                  <a:pt x="95150" y="56642"/>
                  <a:pt x="96185" y="60249"/>
                  <a:pt x="96185" y="6412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760931" y="1402165"/>
            <a:ext cx="516407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VLA：视觉-语言-动作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187" y="1778356"/>
            <a:ext cx="5292320" cy="683983"/>
          </a:xfrm>
          <a:custGeom>
            <a:avLst/>
            <a:gdLst/>
            <a:ahLst/>
            <a:cxnLst/>
            <a:rect l="l" t="t" r="r" b="b"/>
            <a:pathLst>
              <a:path w="5292320" h="683983">
                <a:moveTo>
                  <a:pt x="68398" y="0"/>
                </a:moveTo>
                <a:lnTo>
                  <a:pt x="5223921" y="0"/>
                </a:lnTo>
                <a:cubicBezTo>
                  <a:pt x="5261697" y="0"/>
                  <a:pt x="5292320" y="30623"/>
                  <a:pt x="5292320" y="68398"/>
                </a:cubicBezTo>
                <a:lnTo>
                  <a:pt x="5292320" y="615585"/>
                </a:lnTo>
                <a:cubicBezTo>
                  <a:pt x="5292320" y="653360"/>
                  <a:pt x="5261697" y="683983"/>
                  <a:pt x="5223921" y="683983"/>
                </a:cubicBezTo>
                <a:lnTo>
                  <a:pt x="68398" y="683983"/>
                </a:lnTo>
                <a:cubicBezTo>
                  <a:pt x="30648" y="683983"/>
                  <a:pt x="0" y="653335"/>
                  <a:pt x="0" y="61558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9784" y="1880954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视觉输入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784" y="2154547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摄像头实时捕捉停车场环境：指示牌、保安、车辆、障碍物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7187" y="2564937"/>
            <a:ext cx="5292320" cy="683983"/>
          </a:xfrm>
          <a:custGeom>
            <a:avLst/>
            <a:gdLst/>
            <a:ahLst/>
            <a:cxnLst/>
            <a:rect l="l" t="t" r="r" b="b"/>
            <a:pathLst>
              <a:path w="5292320" h="683983">
                <a:moveTo>
                  <a:pt x="68398" y="0"/>
                </a:moveTo>
                <a:lnTo>
                  <a:pt x="5223921" y="0"/>
                </a:lnTo>
                <a:cubicBezTo>
                  <a:pt x="5261697" y="0"/>
                  <a:pt x="5292320" y="30623"/>
                  <a:pt x="5292320" y="68398"/>
                </a:cubicBezTo>
                <a:lnTo>
                  <a:pt x="5292320" y="615585"/>
                </a:lnTo>
                <a:cubicBezTo>
                  <a:pt x="5292320" y="653360"/>
                  <a:pt x="5261697" y="683983"/>
                  <a:pt x="5223921" y="683983"/>
                </a:cubicBezTo>
                <a:lnTo>
                  <a:pt x="68398" y="683983"/>
                </a:lnTo>
                <a:cubicBezTo>
                  <a:pt x="30648" y="683983"/>
                  <a:pt x="0" y="653335"/>
                  <a:pt x="0" y="61558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784" y="2667534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语言理解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784" y="2941128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识别文字"公园停车位已满"，理解保安说话"车位已满往前开"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187" y="3351518"/>
            <a:ext cx="5292320" cy="683983"/>
          </a:xfrm>
          <a:custGeom>
            <a:avLst/>
            <a:gdLst/>
            <a:ahLst/>
            <a:cxnLst/>
            <a:rect l="l" t="t" r="r" b="b"/>
            <a:pathLst>
              <a:path w="5292320" h="683983">
                <a:moveTo>
                  <a:pt x="68398" y="0"/>
                </a:moveTo>
                <a:lnTo>
                  <a:pt x="5223921" y="0"/>
                </a:lnTo>
                <a:cubicBezTo>
                  <a:pt x="5261697" y="0"/>
                  <a:pt x="5292320" y="30623"/>
                  <a:pt x="5292320" y="68398"/>
                </a:cubicBezTo>
                <a:lnTo>
                  <a:pt x="5292320" y="615585"/>
                </a:lnTo>
                <a:cubicBezTo>
                  <a:pt x="5292320" y="653360"/>
                  <a:pt x="5261697" y="683983"/>
                  <a:pt x="5223921" y="683983"/>
                </a:cubicBezTo>
                <a:lnTo>
                  <a:pt x="68398" y="683983"/>
                </a:lnTo>
                <a:cubicBezTo>
                  <a:pt x="30648" y="683983"/>
                  <a:pt x="0" y="653335"/>
                  <a:pt x="0" y="61558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9784" y="3454115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动作推理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784" y="3727708"/>
            <a:ext cx="515552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基于感知结果，推理下一步动作：触发漫游模式，继续寻找车位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9091" y="5078575"/>
            <a:ext cx="5651411" cy="1778356"/>
          </a:xfrm>
          <a:custGeom>
            <a:avLst/>
            <a:gdLst/>
            <a:ahLst/>
            <a:cxnLst/>
            <a:rect l="l" t="t" r="r" b="b"/>
            <a:pathLst>
              <a:path w="5651411" h="1778356">
                <a:moveTo>
                  <a:pt x="34199" y="0"/>
                </a:moveTo>
                <a:lnTo>
                  <a:pt x="5583015" y="0"/>
                </a:lnTo>
                <a:cubicBezTo>
                  <a:pt x="5620789" y="0"/>
                  <a:pt x="5651411" y="30622"/>
                  <a:pt x="5651411" y="68396"/>
                </a:cubicBezTo>
                <a:lnTo>
                  <a:pt x="5651411" y="1709961"/>
                </a:lnTo>
                <a:cubicBezTo>
                  <a:pt x="5651411" y="1747734"/>
                  <a:pt x="5620789" y="1778356"/>
                  <a:pt x="5583015" y="1778356"/>
                </a:cubicBezTo>
                <a:lnTo>
                  <a:pt x="34199" y="1778356"/>
                </a:lnTo>
                <a:cubicBezTo>
                  <a:pt x="15311" y="1778356"/>
                  <a:pt x="0" y="1763045"/>
                  <a:pt x="0" y="1744157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359091" y="5078575"/>
            <a:ext cx="34199" cy="1778356"/>
          </a:xfrm>
          <a:custGeom>
            <a:avLst/>
            <a:gdLst/>
            <a:ahLst/>
            <a:cxnLst/>
            <a:rect l="l" t="t" r="r" b="b"/>
            <a:pathLst>
              <a:path w="34199" h="1778356">
                <a:moveTo>
                  <a:pt x="34199" y="0"/>
                </a:moveTo>
                <a:lnTo>
                  <a:pt x="34199" y="0"/>
                </a:lnTo>
                <a:lnTo>
                  <a:pt x="34199" y="1778356"/>
                </a:lnTo>
                <a:lnTo>
                  <a:pt x="34199" y="1778356"/>
                </a:lnTo>
                <a:cubicBezTo>
                  <a:pt x="15311" y="1778356"/>
                  <a:pt x="0" y="1763045"/>
                  <a:pt x="0" y="1744157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68561" y="5283770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170996" y="32062"/>
                </a:moveTo>
                <a:cubicBezTo>
                  <a:pt x="170996" y="48827"/>
                  <a:pt x="151258" y="73842"/>
                  <a:pt x="142741" y="83828"/>
                </a:cubicBezTo>
                <a:cubicBezTo>
                  <a:pt x="141472" y="85298"/>
                  <a:pt x="139602" y="85865"/>
                  <a:pt x="137899" y="85498"/>
                </a:cubicBezTo>
                <a:lnTo>
                  <a:pt x="106872" y="85498"/>
                </a:lnTo>
                <a:cubicBezTo>
                  <a:pt x="100961" y="85498"/>
                  <a:pt x="96185" y="90274"/>
                  <a:pt x="96185" y="96185"/>
                </a:cubicBezTo>
                <a:cubicBezTo>
                  <a:pt x="96185" y="102097"/>
                  <a:pt x="100961" y="106872"/>
                  <a:pt x="106872" y="106872"/>
                </a:cubicBezTo>
                <a:lnTo>
                  <a:pt x="138934" y="106872"/>
                </a:lnTo>
                <a:cubicBezTo>
                  <a:pt x="156635" y="106872"/>
                  <a:pt x="170996" y="121233"/>
                  <a:pt x="170996" y="138934"/>
                </a:cubicBezTo>
                <a:cubicBezTo>
                  <a:pt x="170996" y="156635"/>
                  <a:pt x="156635" y="170996"/>
                  <a:pt x="138934" y="170996"/>
                </a:cubicBezTo>
                <a:lnTo>
                  <a:pt x="46623" y="170996"/>
                </a:lnTo>
                <a:cubicBezTo>
                  <a:pt x="49529" y="167689"/>
                  <a:pt x="53069" y="163448"/>
                  <a:pt x="56642" y="158705"/>
                </a:cubicBezTo>
                <a:cubicBezTo>
                  <a:pt x="58746" y="155900"/>
                  <a:pt x="60917" y="152827"/>
                  <a:pt x="62988" y="149621"/>
                </a:cubicBezTo>
                <a:lnTo>
                  <a:pt x="138934" y="149621"/>
                </a:lnTo>
                <a:cubicBezTo>
                  <a:pt x="144845" y="149621"/>
                  <a:pt x="149621" y="144845"/>
                  <a:pt x="149621" y="138934"/>
                </a:cubicBezTo>
                <a:cubicBezTo>
                  <a:pt x="149621" y="133023"/>
                  <a:pt x="144845" y="128247"/>
                  <a:pt x="138934" y="128247"/>
                </a:cubicBezTo>
                <a:lnTo>
                  <a:pt x="106872" y="128247"/>
                </a:lnTo>
                <a:cubicBezTo>
                  <a:pt x="89172" y="128247"/>
                  <a:pt x="74811" y="113886"/>
                  <a:pt x="74811" y="96185"/>
                </a:cubicBezTo>
                <a:cubicBezTo>
                  <a:pt x="74811" y="78484"/>
                  <a:pt x="89172" y="64123"/>
                  <a:pt x="106872" y="64123"/>
                </a:cubicBezTo>
                <a:lnTo>
                  <a:pt x="120165" y="64123"/>
                </a:lnTo>
                <a:cubicBezTo>
                  <a:pt x="113151" y="53603"/>
                  <a:pt x="106872" y="41513"/>
                  <a:pt x="106872" y="32062"/>
                </a:cubicBezTo>
                <a:cubicBezTo>
                  <a:pt x="106872" y="14361"/>
                  <a:pt x="121233" y="0"/>
                  <a:pt x="138934" y="0"/>
                </a:cubicBezTo>
                <a:cubicBezTo>
                  <a:pt x="156635" y="0"/>
                  <a:pt x="170996" y="14361"/>
                  <a:pt x="170996" y="32062"/>
                </a:cubicBezTo>
                <a:close/>
                <a:moveTo>
                  <a:pt x="39109" y="163348"/>
                </a:moveTo>
                <a:cubicBezTo>
                  <a:pt x="37839" y="164784"/>
                  <a:pt x="36704" y="166053"/>
                  <a:pt x="35735" y="167122"/>
                </a:cubicBezTo>
                <a:lnTo>
                  <a:pt x="35134" y="167790"/>
                </a:lnTo>
                <a:lnTo>
                  <a:pt x="35067" y="167723"/>
                </a:lnTo>
                <a:cubicBezTo>
                  <a:pt x="33064" y="169259"/>
                  <a:pt x="30191" y="169059"/>
                  <a:pt x="28388" y="167122"/>
                </a:cubicBezTo>
                <a:cubicBezTo>
                  <a:pt x="19972" y="157971"/>
                  <a:pt x="0" y="134425"/>
                  <a:pt x="0" y="117560"/>
                </a:cubicBezTo>
                <a:cubicBezTo>
                  <a:pt x="0" y="99859"/>
                  <a:pt x="14361" y="85498"/>
                  <a:pt x="32062" y="85498"/>
                </a:cubicBezTo>
                <a:cubicBezTo>
                  <a:pt x="49762" y="85498"/>
                  <a:pt x="64123" y="99859"/>
                  <a:pt x="64123" y="117560"/>
                </a:cubicBezTo>
                <a:cubicBezTo>
                  <a:pt x="64123" y="127579"/>
                  <a:pt x="57077" y="139936"/>
                  <a:pt x="49595" y="150256"/>
                </a:cubicBezTo>
                <a:cubicBezTo>
                  <a:pt x="46022" y="155165"/>
                  <a:pt x="42348" y="159607"/>
                  <a:pt x="39309" y="163114"/>
                </a:cubicBezTo>
                <a:lnTo>
                  <a:pt x="39109" y="163348"/>
                </a:lnTo>
                <a:close/>
                <a:moveTo>
                  <a:pt x="42749" y="117560"/>
                </a:moveTo>
                <a:cubicBezTo>
                  <a:pt x="42749" y="111661"/>
                  <a:pt x="37960" y="106872"/>
                  <a:pt x="32062" y="106872"/>
                </a:cubicBezTo>
                <a:cubicBezTo>
                  <a:pt x="26163" y="106872"/>
                  <a:pt x="21374" y="111661"/>
                  <a:pt x="21374" y="117560"/>
                </a:cubicBezTo>
                <a:cubicBezTo>
                  <a:pt x="21374" y="123458"/>
                  <a:pt x="26163" y="128247"/>
                  <a:pt x="32062" y="128247"/>
                </a:cubicBezTo>
                <a:cubicBezTo>
                  <a:pt x="37960" y="128247"/>
                  <a:pt x="42749" y="123458"/>
                  <a:pt x="42749" y="117560"/>
                </a:cubicBezTo>
                <a:close/>
                <a:moveTo>
                  <a:pt x="138934" y="42749"/>
                </a:moveTo>
                <a:cubicBezTo>
                  <a:pt x="144833" y="42749"/>
                  <a:pt x="149621" y="37960"/>
                  <a:pt x="149621" y="32062"/>
                </a:cubicBezTo>
                <a:cubicBezTo>
                  <a:pt x="149621" y="26163"/>
                  <a:pt x="144833" y="21374"/>
                  <a:pt x="138934" y="21374"/>
                </a:cubicBezTo>
                <a:cubicBezTo>
                  <a:pt x="133036" y="21374"/>
                  <a:pt x="128247" y="26163"/>
                  <a:pt x="128247" y="32062"/>
                </a:cubicBezTo>
                <a:cubicBezTo>
                  <a:pt x="128247" y="37960"/>
                  <a:pt x="133036" y="42749"/>
                  <a:pt x="138934" y="4274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760931" y="5249571"/>
            <a:ext cx="516407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智驾漫游策略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187" y="5608662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3" name="Text 21"/>
          <p:cNvSpPr/>
          <p:nvPr/>
        </p:nvSpPr>
        <p:spPr>
          <a:xfrm>
            <a:off x="628744" y="5642861"/>
            <a:ext cx="94048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780" y="5591562"/>
            <a:ext cx="222294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触发条件：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VLA感知"车位已满"信号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187" y="5899355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6" name="Text 24"/>
          <p:cNvSpPr/>
          <p:nvPr/>
        </p:nvSpPr>
        <p:spPr>
          <a:xfrm>
            <a:off x="618991" y="5933554"/>
            <a:ext cx="111147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0780" y="5882255"/>
            <a:ext cx="3214721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漫游路径：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按停车场车道网络，系统性搜索可用车位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187" y="6190048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9" name="Text 27"/>
          <p:cNvSpPr/>
          <p:nvPr/>
        </p:nvSpPr>
        <p:spPr>
          <a:xfrm>
            <a:off x="618991" y="6224247"/>
            <a:ext cx="111147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0780" y="6172948"/>
            <a:ext cx="266753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实时感知：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持续扫描空车位、障碍物、来车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7187" y="6480741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0"/>
                </a:moveTo>
                <a:lnTo>
                  <a:pt x="102597" y="0"/>
                </a:lnTo>
                <a:cubicBezTo>
                  <a:pt x="159223" y="0"/>
                  <a:pt x="205195" y="45972"/>
                  <a:pt x="205195" y="102597"/>
                </a:cubicBezTo>
                <a:lnTo>
                  <a:pt x="205195" y="102597"/>
                </a:lnTo>
                <a:cubicBezTo>
                  <a:pt x="205195" y="159223"/>
                  <a:pt x="159223" y="205195"/>
                  <a:pt x="102597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2" name="Text 30"/>
          <p:cNvSpPr/>
          <p:nvPr/>
        </p:nvSpPr>
        <p:spPr>
          <a:xfrm>
            <a:off x="618991" y="6514940"/>
            <a:ext cx="111147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0780" y="6463641"/>
            <a:ext cx="225714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找到车位：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自动泊车或通知用户选择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563" y="1231170"/>
            <a:ext cx="5668511" cy="4206496"/>
          </a:xfrm>
          <a:custGeom>
            <a:avLst/>
            <a:gdLst/>
            <a:ahLst/>
            <a:cxnLst/>
            <a:rect l="l" t="t" r="r" b="b"/>
            <a:pathLst>
              <a:path w="5668511" h="4206496">
                <a:moveTo>
                  <a:pt x="68398" y="0"/>
                </a:moveTo>
                <a:lnTo>
                  <a:pt x="5600113" y="0"/>
                </a:lnTo>
                <a:cubicBezTo>
                  <a:pt x="5637888" y="0"/>
                  <a:pt x="5668511" y="30623"/>
                  <a:pt x="5668511" y="68398"/>
                </a:cubicBezTo>
                <a:lnTo>
                  <a:pt x="5668511" y="4138099"/>
                </a:lnTo>
                <a:cubicBezTo>
                  <a:pt x="5668511" y="4175874"/>
                  <a:pt x="5637888" y="4206496"/>
                  <a:pt x="5600113" y="4206496"/>
                </a:cubicBezTo>
                <a:lnTo>
                  <a:pt x="68398" y="4206496"/>
                </a:lnTo>
                <a:cubicBezTo>
                  <a:pt x="30623" y="4206496"/>
                  <a:pt x="0" y="4175874"/>
                  <a:pt x="0" y="4138099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08810" y="1402165"/>
            <a:ext cx="5412017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感知场景还原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833" y="1782631"/>
            <a:ext cx="5317969" cy="1684309"/>
          </a:xfrm>
          <a:custGeom>
            <a:avLst/>
            <a:gdLst/>
            <a:ahLst/>
            <a:cxnLst/>
            <a:rect l="l" t="t" r="r" b="b"/>
            <a:pathLst>
              <a:path w="5317969" h="1684309">
                <a:moveTo>
                  <a:pt x="68400" y="0"/>
                </a:moveTo>
                <a:lnTo>
                  <a:pt x="5249569" y="0"/>
                </a:lnTo>
                <a:cubicBezTo>
                  <a:pt x="5287346" y="0"/>
                  <a:pt x="5317969" y="30624"/>
                  <a:pt x="5317969" y="68400"/>
                </a:cubicBezTo>
                <a:lnTo>
                  <a:pt x="5317969" y="1615909"/>
                </a:lnTo>
                <a:cubicBezTo>
                  <a:pt x="5317969" y="1653685"/>
                  <a:pt x="5287346" y="1684309"/>
                  <a:pt x="5249569" y="1684309"/>
                </a:cubicBezTo>
                <a:lnTo>
                  <a:pt x="68400" y="1684309"/>
                </a:lnTo>
                <a:cubicBezTo>
                  <a:pt x="30649" y="1684309"/>
                  <a:pt x="0" y="1653660"/>
                  <a:pt x="0" y="1615909"/>
                </a:cubicBezTo>
                <a:lnTo>
                  <a:pt x="0" y="68400"/>
                </a:lnTo>
                <a:cubicBezTo>
                  <a:pt x="0" y="30624"/>
                  <a:pt x="30624" y="0"/>
                  <a:pt x="684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8279" y="1940802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32062" y="0"/>
                </a:moveTo>
                <a:cubicBezTo>
                  <a:pt x="37973" y="0"/>
                  <a:pt x="42749" y="4776"/>
                  <a:pt x="42749" y="10687"/>
                </a:cubicBezTo>
                <a:lnTo>
                  <a:pt x="42749" y="21374"/>
                </a:lnTo>
                <a:lnTo>
                  <a:pt x="160309" y="21374"/>
                </a:lnTo>
                <a:cubicBezTo>
                  <a:pt x="166220" y="21374"/>
                  <a:pt x="170996" y="26150"/>
                  <a:pt x="170996" y="32062"/>
                </a:cubicBezTo>
                <a:cubicBezTo>
                  <a:pt x="170996" y="37973"/>
                  <a:pt x="166220" y="42749"/>
                  <a:pt x="160309" y="42749"/>
                </a:cubicBezTo>
                <a:lnTo>
                  <a:pt x="42749" y="42749"/>
                </a:lnTo>
                <a:lnTo>
                  <a:pt x="42749" y="160309"/>
                </a:lnTo>
                <a:cubicBezTo>
                  <a:pt x="42749" y="166220"/>
                  <a:pt x="37973" y="170996"/>
                  <a:pt x="32062" y="170996"/>
                </a:cubicBezTo>
                <a:cubicBezTo>
                  <a:pt x="26150" y="170996"/>
                  <a:pt x="21374" y="166220"/>
                  <a:pt x="21374" y="160309"/>
                </a:cubicBezTo>
                <a:lnTo>
                  <a:pt x="21374" y="42749"/>
                </a:lnTo>
                <a:lnTo>
                  <a:pt x="10687" y="42749"/>
                </a:lnTo>
                <a:cubicBezTo>
                  <a:pt x="4776" y="42749"/>
                  <a:pt x="0" y="37973"/>
                  <a:pt x="0" y="32062"/>
                </a:cubicBezTo>
                <a:cubicBezTo>
                  <a:pt x="0" y="26150"/>
                  <a:pt x="4776" y="21374"/>
                  <a:pt x="10687" y="21374"/>
                </a:cubicBezTo>
                <a:lnTo>
                  <a:pt x="21374" y="21374"/>
                </a:lnTo>
                <a:lnTo>
                  <a:pt x="21374" y="10687"/>
                </a:lnTo>
                <a:cubicBezTo>
                  <a:pt x="21374" y="4776"/>
                  <a:pt x="26150" y="0"/>
                  <a:pt x="32062" y="0"/>
                </a:cubicBezTo>
                <a:close/>
                <a:moveTo>
                  <a:pt x="69467" y="58780"/>
                </a:moveTo>
                <a:lnTo>
                  <a:pt x="149621" y="58780"/>
                </a:lnTo>
                <a:cubicBezTo>
                  <a:pt x="155533" y="58780"/>
                  <a:pt x="160309" y="63556"/>
                  <a:pt x="160309" y="69467"/>
                </a:cubicBezTo>
                <a:lnTo>
                  <a:pt x="160309" y="117560"/>
                </a:lnTo>
                <a:cubicBezTo>
                  <a:pt x="160309" y="123471"/>
                  <a:pt x="155533" y="128247"/>
                  <a:pt x="149621" y="128247"/>
                </a:cubicBezTo>
                <a:lnTo>
                  <a:pt x="69467" y="128247"/>
                </a:lnTo>
                <a:cubicBezTo>
                  <a:pt x="63556" y="128247"/>
                  <a:pt x="58780" y="123471"/>
                  <a:pt x="58780" y="117560"/>
                </a:cubicBezTo>
                <a:lnTo>
                  <a:pt x="58780" y="69467"/>
                </a:lnTo>
                <a:cubicBezTo>
                  <a:pt x="58780" y="63556"/>
                  <a:pt x="63556" y="58780"/>
                  <a:pt x="69467" y="5878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8" name="Text 36"/>
          <p:cNvSpPr/>
          <p:nvPr/>
        </p:nvSpPr>
        <p:spPr>
          <a:xfrm>
            <a:off x="6779048" y="1923703"/>
            <a:ext cx="1222620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场景1：指示牌识别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6905" y="2231495"/>
            <a:ext cx="5035826" cy="1094373"/>
          </a:xfrm>
          <a:custGeom>
            <a:avLst/>
            <a:gdLst/>
            <a:ahLst/>
            <a:cxnLst/>
            <a:rect l="l" t="t" r="r" b="b"/>
            <a:pathLst>
              <a:path w="5035826" h="1094373">
                <a:moveTo>
                  <a:pt x="34199" y="0"/>
                </a:moveTo>
                <a:lnTo>
                  <a:pt x="5001627" y="0"/>
                </a:lnTo>
                <a:cubicBezTo>
                  <a:pt x="5020515" y="0"/>
                  <a:pt x="5035826" y="15311"/>
                  <a:pt x="5035826" y="34199"/>
                </a:cubicBezTo>
                <a:lnTo>
                  <a:pt x="5035826" y="1060174"/>
                </a:lnTo>
                <a:cubicBezTo>
                  <a:pt x="5035826" y="1079062"/>
                  <a:pt x="5020515" y="1094373"/>
                  <a:pt x="5001627" y="1094373"/>
                </a:cubicBezTo>
                <a:lnTo>
                  <a:pt x="34199" y="1094373"/>
                </a:lnTo>
                <a:cubicBezTo>
                  <a:pt x="15311" y="1094373"/>
                  <a:pt x="0" y="1079062"/>
                  <a:pt x="0" y="106017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99502" y="2334093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[视觉输入] 停车场入口指示牌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99502" y="2539288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[文字识别] "公园停车位已满"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99502" y="2744482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[语义理解] 当前停车场无空位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99502" y="3018076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[动作输出] 触发漫游模式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833" y="3578087"/>
            <a:ext cx="5317969" cy="1684309"/>
          </a:xfrm>
          <a:custGeom>
            <a:avLst/>
            <a:gdLst/>
            <a:ahLst/>
            <a:cxnLst/>
            <a:rect l="l" t="t" r="r" b="b"/>
            <a:pathLst>
              <a:path w="5317969" h="1684309">
                <a:moveTo>
                  <a:pt x="68400" y="0"/>
                </a:moveTo>
                <a:lnTo>
                  <a:pt x="5249569" y="0"/>
                </a:lnTo>
                <a:cubicBezTo>
                  <a:pt x="5287346" y="0"/>
                  <a:pt x="5317969" y="30624"/>
                  <a:pt x="5317969" y="68400"/>
                </a:cubicBezTo>
                <a:lnTo>
                  <a:pt x="5317969" y="1615909"/>
                </a:lnTo>
                <a:cubicBezTo>
                  <a:pt x="5317969" y="1653685"/>
                  <a:pt x="5287346" y="1684309"/>
                  <a:pt x="5249569" y="1684309"/>
                </a:cubicBezTo>
                <a:lnTo>
                  <a:pt x="68400" y="1684309"/>
                </a:lnTo>
                <a:cubicBezTo>
                  <a:pt x="30649" y="1684309"/>
                  <a:pt x="0" y="1653660"/>
                  <a:pt x="0" y="1615909"/>
                </a:cubicBezTo>
                <a:lnTo>
                  <a:pt x="0" y="68400"/>
                </a:lnTo>
                <a:cubicBezTo>
                  <a:pt x="0" y="30624"/>
                  <a:pt x="30624" y="0"/>
                  <a:pt x="684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28967" y="3736258"/>
            <a:ext cx="149621" cy="170996"/>
          </a:xfrm>
          <a:custGeom>
            <a:avLst/>
            <a:gdLst/>
            <a:ahLst/>
            <a:cxnLst/>
            <a:rect l="l" t="t" r="r" b="b"/>
            <a:pathLst>
              <a:path w="149621" h="170996">
                <a:moveTo>
                  <a:pt x="74811" y="82826"/>
                </a:moveTo>
                <a:cubicBezTo>
                  <a:pt x="52691" y="82826"/>
                  <a:pt x="34734" y="64868"/>
                  <a:pt x="34734" y="42749"/>
                </a:cubicBezTo>
                <a:cubicBezTo>
                  <a:pt x="34734" y="20630"/>
                  <a:pt x="52691" y="2672"/>
                  <a:pt x="74811" y="2672"/>
                </a:cubicBezTo>
                <a:cubicBezTo>
                  <a:pt x="96930" y="2672"/>
                  <a:pt x="114888" y="20630"/>
                  <a:pt x="114888" y="42749"/>
                </a:cubicBezTo>
                <a:cubicBezTo>
                  <a:pt x="114888" y="64868"/>
                  <a:pt x="96930" y="82826"/>
                  <a:pt x="74811" y="82826"/>
                </a:cubicBezTo>
                <a:close/>
                <a:moveTo>
                  <a:pt x="64624" y="101529"/>
                </a:moveTo>
                <a:lnTo>
                  <a:pt x="84997" y="101529"/>
                </a:lnTo>
                <a:cubicBezTo>
                  <a:pt x="88237" y="101529"/>
                  <a:pt x="90842" y="104134"/>
                  <a:pt x="90842" y="107373"/>
                </a:cubicBezTo>
                <a:cubicBezTo>
                  <a:pt x="90842" y="108776"/>
                  <a:pt x="90341" y="110112"/>
                  <a:pt x="89439" y="111181"/>
                </a:cubicBezTo>
                <a:lnTo>
                  <a:pt x="80288" y="121868"/>
                </a:lnTo>
                <a:lnTo>
                  <a:pt x="90641" y="160309"/>
                </a:lnTo>
                <a:lnTo>
                  <a:pt x="90842" y="160309"/>
                </a:lnTo>
                <a:lnTo>
                  <a:pt x="102397" y="114053"/>
                </a:lnTo>
                <a:cubicBezTo>
                  <a:pt x="103132" y="111147"/>
                  <a:pt x="106104" y="109377"/>
                  <a:pt x="108910" y="110446"/>
                </a:cubicBezTo>
                <a:cubicBezTo>
                  <a:pt x="129583" y="118328"/>
                  <a:pt x="144278" y="138366"/>
                  <a:pt x="144278" y="161811"/>
                </a:cubicBezTo>
                <a:cubicBezTo>
                  <a:pt x="144278" y="166854"/>
                  <a:pt x="140170" y="170962"/>
                  <a:pt x="135127" y="170962"/>
                </a:cubicBezTo>
                <a:lnTo>
                  <a:pt x="14495" y="170996"/>
                </a:lnTo>
                <a:cubicBezTo>
                  <a:pt x="9452" y="170996"/>
                  <a:pt x="5344" y="166888"/>
                  <a:pt x="5344" y="161845"/>
                </a:cubicBezTo>
                <a:cubicBezTo>
                  <a:pt x="5344" y="138400"/>
                  <a:pt x="20039" y="118361"/>
                  <a:pt x="40712" y="110479"/>
                </a:cubicBezTo>
                <a:cubicBezTo>
                  <a:pt x="43517" y="109411"/>
                  <a:pt x="46489" y="111181"/>
                  <a:pt x="47224" y="114086"/>
                </a:cubicBezTo>
                <a:lnTo>
                  <a:pt x="58780" y="160342"/>
                </a:lnTo>
                <a:lnTo>
                  <a:pt x="58980" y="160342"/>
                </a:lnTo>
                <a:lnTo>
                  <a:pt x="69333" y="121901"/>
                </a:lnTo>
                <a:lnTo>
                  <a:pt x="60183" y="111214"/>
                </a:lnTo>
                <a:cubicBezTo>
                  <a:pt x="59281" y="110145"/>
                  <a:pt x="58780" y="108809"/>
                  <a:pt x="58780" y="107407"/>
                </a:cubicBezTo>
                <a:cubicBezTo>
                  <a:pt x="58780" y="104167"/>
                  <a:pt x="61385" y="101562"/>
                  <a:pt x="64624" y="10156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6" name="Text 44"/>
          <p:cNvSpPr/>
          <p:nvPr/>
        </p:nvSpPr>
        <p:spPr>
          <a:xfrm>
            <a:off x="6779048" y="3719158"/>
            <a:ext cx="138506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场景2：保安手势识别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96905" y="4026951"/>
            <a:ext cx="5035826" cy="1094373"/>
          </a:xfrm>
          <a:custGeom>
            <a:avLst/>
            <a:gdLst/>
            <a:ahLst/>
            <a:cxnLst/>
            <a:rect l="l" t="t" r="r" b="b"/>
            <a:pathLst>
              <a:path w="5035826" h="1094373">
                <a:moveTo>
                  <a:pt x="34199" y="0"/>
                </a:moveTo>
                <a:lnTo>
                  <a:pt x="5001627" y="0"/>
                </a:lnTo>
                <a:cubicBezTo>
                  <a:pt x="5020515" y="0"/>
                  <a:pt x="5035826" y="15311"/>
                  <a:pt x="5035826" y="34199"/>
                </a:cubicBezTo>
                <a:lnTo>
                  <a:pt x="5035826" y="1060174"/>
                </a:lnTo>
                <a:cubicBezTo>
                  <a:pt x="5035826" y="1079062"/>
                  <a:pt x="5020515" y="1094373"/>
                  <a:pt x="5001627" y="1094373"/>
                </a:cubicBezTo>
                <a:lnTo>
                  <a:pt x="34199" y="1094373"/>
                </a:lnTo>
                <a:cubicBezTo>
                  <a:pt x="15311" y="1094373"/>
                  <a:pt x="0" y="1079062"/>
                  <a:pt x="0" y="106017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599502" y="4129548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[视觉输入] 保安人员+手势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99502" y="4334743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[语音识别] "车位已满往前开"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99502" y="4539938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[手势识别] 手臂向前伸展→前进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99502" y="4813532"/>
            <a:ext cx="48990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[动作输出] 继续向前漫游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84838" y="5578738"/>
            <a:ext cx="5659961" cy="1273919"/>
          </a:xfrm>
          <a:custGeom>
            <a:avLst/>
            <a:gdLst/>
            <a:ahLst/>
            <a:cxnLst/>
            <a:rect l="l" t="t" r="r" b="b"/>
            <a:pathLst>
              <a:path w="5659961" h="1273919">
                <a:moveTo>
                  <a:pt x="68397" y="0"/>
                </a:moveTo>
                <a:lnTo>
                  <a:pt x="5591564" y="0"/>
                </a:lnTo>
                <a:cubicBezTo>
                  <a:pt x="5629338" y="0"/>
                  <a:pt x="5659961" y="30622"/>
                  <a:pt x="5659961" y="68397"/>
                </a:cubicBezTo>
                <a:lnTo>
                  <a:pt x="5659961" y="1205522"/>
                </a:lnTo>
                <a:cubicBezTo>
                  <a:pt x="5659961" y="1243296"/>
                  <a:pt x="5629338" y="1273919"/>
                  <a:pt x="5591564" y="1273919"/>
                </a:cubicBezTo>
                <a:lnTo>
                  <a:pt x="68397" y="1273919"/>
                </a:lnTo>
                <a:cubicBezTo>
                  <a:pt x="30622" y="1273919"/>
                  <a:pt x="0" y="1243296"/>
                  <a:pt x="0" y="1205522"/>
                </a:cubicBezTo>
                <a:lnTo>
                  <a:pt x="0" y="68397"/>
                </a:lnTo>
                <a:cubicBezTo>
                  <a:pt x="0" y="30622"/>
                  <a:pt x="30622" y="0"/>
                  <a:pt x="68397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7435" y="5719809"/>
            <a:ext cx="5454766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技术突破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41850" y="6061801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48093" y="22443"/>
                </a:moveTo>
                <a:cubicBezTo>
                  <a:pt x="48093" y="10059"/>
                  <a:pt x="58152" y="0"/>
                  <a:pt x="70536" y="0"/>
                </a:cubicBezTo>
                <a:lnTo>
                  <a:pt x="80154" y="0"/>
                </a:lnTo>
                <a:cubicBezTo>
                  <a:pt x="87248" y="0"/>
                  <a:pt x="92979" y="5731"/>
                  <a:pt x="92979" y="12825"/>
                </a:cubicBezTo>
                <a:lnTo>
                  <a:pt x="92979" y="192370"/>
                </a:lnTo>
                <a:cubicBezTo>
                  <a:pt x="92979" y="199464"/>
                  <a:pt x="87248" y="205195"/>
                  <a:pt x="80154" y="205195"/>
                </a:cubicBezTo>
                <a:lnTo>
                  <a:pt x="67330" y="205195"/>
                </a:lnTo>
                <a:cubicBezTo>
                  <a:pt x="55387" y="205195"/>
                  <a:pt x="45327" y="197019"/>
                  <a:pt x="42482" y="185958"/>
                </a:cubicBezTo>
                <a:cubicBezTo>
                  <a:pt x="42201" y="185958"/>
                  <a:pt x="41961" y="185958"/>
                  <a:pt x="41680" y="185958"/>
                </a:cubicBezTo>
                <a:cubicBezTo>
                  <a:pt x="23966" y="185958"/>
                  <a:pt x="9619" y="171610"/>
                  <a:pt x="9619" y="153896"/>
                </a:cubicBezTo>
                <a:cubicBezTo>
                  <a:pt x="9619" y="146682"/>
                  <a:pt x="12023" y="140030"/>
                  <a:pt x="16031" y="134659"/>
                </a:cubicBezTo>
                <a:cubicBezTo>
                  <a:pt x="8256" y="128808"/>
                  <a:pt x="3206" y="119510"/>
                  <a:pt x="3206" y="109010"/>
                </a:cubicBezTo>
                <a:cubicBezTo>
                  <a:pt x="3206" y="96626"/>
                  <a:pt x="10260" y="85845"/>
                  <a:pt x="20519" y="80515"/>
                </a:cubicBezTo>
                <a:cubicBezTo>
                  <a:pt x="17674" y="75706"/>
                  <a:pt x="16031" y="70095"/>
                  <a:pt x="16031" y="64123"/>
                </a:cubicBezTo>
                <a:cubicBezTo>
                  <a:pt x="16031" y="46409"/>
                  <a:pt x="30378" y="32062"/>
                  <a:pt x="48093" y="32062"/>
                </a:cubicBezTo>
                <a:lnTo>
                  <a:pt x="48093" y="22443"/>
                </a:lnTo>
                <a:close/>
                <a:moveTo>
                  <a:pt x="157102" y="22443"/>
                </a:moveTo>
                <a:lnTo>
                  <a:pt x="157102" y="32062"/>
                </a:lnTo>
                <a:cubicBezTo>
                  <a:pt x="174816" y="32062"/>
                  <a:pt x="189164" y="46409"/>
                  <a:pt x="189164" y="64123"/>
                </a:cubicBezTo>
                <a:cubicBezTo>
                  <a:pt x="189164" y="70135"/>
                  <a:pt x="187521" y="75746"/>
                  <a:pt x="184675" y="80515"/>
                </a:cubicBezTo>
                <a:cubicBezTo>
                  <a:pt x="194975" y="85845"/>
                  <a:pt x="201989" y="96586"/>
                  <a:pt x="201989" y="109010"/>
                </a:cubicBezTo>
                <a:cubicBezTo>
                  <a:pt x="201989" y="119510"/>
                  <a:pt x="196939" y="128808"/>
                  <a:pt x="189164" y="134659"/>
                </a:cubicBezTo>
                <a:cubicBezTo>
                  <a:pt x="193172" y="140030"/>
                  <a:pt x="195576" y="146682"/>
                  <a:pt x="195576" y="153896"/>
                </a:cubicBezTo>
                <a:cubicBezTo>
                  <a:pt x="195576" y="171610"/>
                  <a:pt x="181229" y="185958"/>
                  <a:pt x="163515" y="185958"/>
                </a:cubicBezTo>
                <a:cubicBezTo>
                  <a:pt x="163234" y="185958"/>
                  <a:pt x="162994" y="185958"/>
                  <a:pt x="162713" y="185958"/>
                </a:cubicBezTo>
                <a:cubicBezTo>
                  <a:pt x="159868" y="197019"/>
                  <a:pt x="149808" y="205195"/>
                  <a:pt x="137865" y="205195"/>
                </a:cubicBezTo>
                <a:lnTo>
                  <a:pt x="125041" y="205195"/>
                </a:lnTo>
                <a:cubicBezTo>
                  <a:pt x="117947" y="205195"/>
                  <a:pt x="112216" y="199464"/>
                  <a:pt x="112216" y="192370"/>
                </a:cubicBezTo>
                <a:lnTo>
                  <a:pt x="112216" y="12825"/>
                </a:lnTo>
                <a:cubicBezTo>
                  <a:pt x="112216" y="5731"/>
                  <a:pt x="117947" y="0"/>
                  <a:pt x="125041" y="0"/>
                </a:cubicBezTo>
                <a:lnTo>
                  <a:pt x="134659" y="0"/>
                </a:lnTo>
                <a:cubicBezTo>
                  <a:pt x="147043" y="0"/>
                  <a:pt x="157102" y="10059"/>
                  <a:pt x="157102" y="2244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5" name="Text 53"/>
          <p:cNvSpPr/>
          <p:nvPr/>
        </p:nvSpPr>
        <p:spPr>
          <a:xfrm>
            <a:off x="6291710" y="6335394"/>
            <a:ext cx="270173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95985" y="6540589"/>
            <a:ext cx="2693184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感知→理解→决策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294414" y="6061801"/>
            <a:ext cx="179546" cy="205195"/>
          </a:xfrm>
          <a:custGeom>
            <a:avLst/>
            <a:gdLst/>
            <a:ahLst/>
            <a:cxnLst/>
            <a:rect l="l" t="t" r="r" b="b"/>
            <a:pathLst>
              <a:path w="179546" h="205195">
                <a:moveTo>
                  <a:pt x="135781" y="-3968"/>
                </a:moveTo>
                <a:cubicBezTo>
                  <a:pt x="140551" y="-521"/>
                  <a:pt x="142314" y="5731"/>
                  <a:pt x="140150" y="11182"/>
                </a:cubicBezTo>
                <a:lnTo>
                  <a:pt x="108729" y="89773"/>
                </a:lnTo>
                <a:lnTo>
                  <a:pt x="166721" y="89773"/>
                </a:lnTo>
                <a:cubicBezTo>
                  <a:pt x="172131" y="89773"/>
                  <a:pt x="176941" y="93139"/>
                  <a:pt x="178784" y="98229"/>
                </a:cubicBezTo>
                <a:cubicBezTo>
                  <a:pt x="180628" y="103319"/>
                  <a:pt x="179065" y="109010"/>
                  <a:pt x="174937" y="112456"/>
                </a:cubicBezTo>
                <a:lnTo>
                  <a:pt x="59515" y="208642"/>
                </a:lnTo>
                <a:cubicBezTo>
                  <a:pt x="54986" y="212409"/>
                  <a:pt x="48533" y="212609"/>
                  <a:pt x="43764" y="209163"/>
                </a:cubicBezTo>
                <a:cubicBezTo>
                  <a:pt x="38995" y="205716"/>
                  <a:pt x="37232" y="199464"/>
                  <a:pt x="39396" y="194013"/>
                </a:cubicBezTo>
                <a:lnTo>
                  <a:pt x="70816" y="115422"/>
                </a:lnTo>
                <a:lnTo>
                  <a:pt x="12825" y="115422"/>
                </a:lnTo>
                <a:cubicBezTo>
                  <a:pt x="7414" y="115422"/>
                  <a:pt x="2605" y="112056"/>
                  <a:pt x="761" y="106966"/>
                </a:cubicBezTo>
                <a:cubicBezTo>
                  <a:pt x="-1082" y="101876"/>
                  <a:pt x="481" y="96185"/>
                  <a:pt x="4609" y="92738"/>
                </a:cubicBezTo>
                <a:lnTo>
                  <a:pt x="120031" y="-3447"/>
                </a:lnTo>
                <a:cubicBezTo>
                  <a:pt x="124560" y="-7214"/>
                  <a:pt x="131012" y="-7414"/>
                  <a:pt x="135781" y="-396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8" name="Text 56"/>
          <p:cNvSpPr/>
          <p:nvPr/>
        </p:nvSpPr>
        <p:spPr>
          <a:xfrm>
            <a:off x="9031450" y="6335394"/>
            <a:ext cx="270173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实时性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35725" y="6540589"/>
            <a:ext cx="2693184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毫秒级响应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GESTURE &amp; VLM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车内手势+VLM：从"说位置"到"指哪停哪"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5683250" cy="4794250"/>
          </a:xfrm>
          <a:custGeom>
            <a:avLst/>
            <a:gdLst/>
            <a:ahLst/>
            <a:cxnLst/>
            <a:rect l="l" t="t" r="r" b="b"/>
            <a:pathLst>
              <a:path w="5683250" h="4794250">
                <a:moveTo>
                  <a:pt x="31750" y="0"/>
                </a:moveTo>
                <a:lnTo>
                  <a:pt x="5619726" y="0"/>
                </a:lnTo>
                <a:cubicBezTo>
                  <a:pt x="5654809" y="0"/>
                  <a:pt x="5683250" y="28441"/>
                  <a:pt x="5683250" y="63524"/>
                </a:cubicBezTo>
                <a:lnTo>
                  <a:pt x="5683250" y="4730726"/>
                </a:lnTo>
                <a:cubicBezTo>
                  <a:pt x="5683250" y="4765809"/>
                  <a:pt x="5654809" y="4794250"/>
                  <a:pt x="5619726" y="4794250"/>
                </a:cubicBezTo>
                <a:lnTo>
                  <a:pt x="31750" y="4794250"/>
                </a:lnTo>
                <a:cubicBezTo>
                  <a:pt x="14215" y="4794250"/>
                  <a:pt x="0" y="4780035"/>
                  <a:pt x="0" y="476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143000"/>
            <a:ext cx="31750" cy="4794250"/>
          </a:xfrm>
          <a:custGeom>
            <a:avLst/>
            <a:gdLst/>
            <a:ahLst/>
            <a:cxnLst/>
            <a:rect l="l" t="t" r="r" b="b"/>
            <a:pathLst>
              <a:path w="31750" h="4794250">
                <a:moveTo>
                  <a:pt x="31750" y="0"/>
                </a:moveTo>
                <a:lnTo>
                  <a:pt x="31750" y="0"/>
                </a:lnTo>
                <a:lnTo>
                  <a:pt x="31750" y="4794250"/>
                </a:lnTo>
                <a:lnTo>
                  <a:pt x="31750" y="4794250"/>
                </a:lnTo>
                <a:cubicBezTo>
                  <a:pt x="14227" y="4794250"/>
                  <a:pt x="0" y="4780023"/>
                  <a:pt x="0" y="476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37766" y="13335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12402"/>
                </a:moveTo>
                <a:cubicBezTo>
                  <a:pt x="39688" y="5550"/>
                  <a:pt x="45238" y="0"/>
                  <a:pt x="52090" y="0"/>
                </a:cubicBezTo>
                <a:cubicBezTo>
                  <a:pt x="58942" y="0"/>
                  <a:pt x="64492" y="5550"/>
                  <a:pt x="64492" y="12402"/>
                </a:cubicBezTo>
                <a:lnTo>
                  <a:pt x="64492" y="58353"/>
                </a:lnTo>
                <a:cubicBezTo>
                  <a:pt x="67128" y="55997"/>
                  <a:pt x="70600" y="54570"/>
                  <a:pt x="74414" y="54570"/>
                </a:cubicBezTo>
                <a:cubicBezTo>
                  <a:pt x="80801" y="54570"/>
                  <a:pt x="86258" y="58601"/>
                  <a:pt x="88367" y="64244"/>
                </a:cubicBezTo>
                <a:cubicBezTo>
                  <a:pt x="91095" y="61361"/>
                  <a:pt x="94940" y="59531"/>
                  <a:pt x="99219" y="59531"/>
                </a:cubicBezTo>
                <a:cubicBezTo>
                  <a:pt x="107063" y="59531"/>
                  <a:pt x="113481" y="65577"/>
                  <a:pt x="114071" y="73267"/>
                </a:cubicBezTo>
                <a:cubicBezTo>
                  <a:pt x="116706" y="70879"/>
                  <a:pt x="120210" y="69453"/>
                  <a:pt x="124023" y="69453"/>
                </a:cubicBezTo>
                <a:cubicBezTo>
                  <a:pt x="132240" y="69453"/>
                  <a:pt x="138906" y="76119"/>
                  <a:pt x="138906" y="84336"/>
                </a:cubicBezTo>
                <a:lnTo>
                  <a:pt x="138906" y="119062"/>
                </a:lnTo>
                <a:cubicBezTo>
                  <a:pt x="138906" y="140984"/>
                  <a:pt x="121140" y="158750"/>
                  <a:pt x="99219" y="158750"/>
                </a:cubicBezTo>
                <a:lnTo>
                  <a:pt x="72771" y="158750"/>
                </a:lnTo>
                <a:cubicBezTo>
                  <a:pt x="71220" y="158750"/>
                  <a:pt x="69701" y="158657"/>
                  <a:pt x="68213" y="158440"/>
                </a:cubicBezTo>
                <a:cubicBezTo>
                  <a:pt x="51067" y="156704"/>
                  <a:pt x="35285" y="147898"/>
                  <a:pt x="24805" y="133945"/>
                </a:cubicBezTo>
                <a:lnTo>
                  <a:pt x="2480" y="104180"/>
                </a:lnTo>
                <a:cubicBezTo>
                  <a:pt x="-1643" y="98692"/>
                  <a:pt x="-527" y="90940"/>
                  <a:pt x="4961" y="86816"/>
                </a:cubicBezTo>
                <a:cubicBezTo>
                  <a:pt x="10449" y="82693"/>
                  <a:pt x="18200" y="83809"/>
                  <a:pt x="22324" y="89297"/>
                </a:cubicBezTo>
                <a:lnTo>
                  <a:pt x="39688" y="112458"/>
                </a:lnTo>
                <a:lnTo>
                  <a:pt x="39688" y="12402"/>
                </a:lnTo>
                <a:close/>
                <a:moveTo>
                  <a:pt x="74414" y="94258"/>
                </a:moveTo>
                <a:cubicBezTo>
                  <a:pt x="74414" y="91529"/>
                  <a:pt x="72182" y="89297"/>
                  <a:pt x="69453" y="89297"/>
                </a:cubicBezTo>
                <a:cubicBezTo>
                  <a:pt x="66725" y="89297"/>
                  <a:pt x="64492" y="91529"/>
                  <a:pt x="64492" y="94258"/>
                </a:cubicBezTo>
                <a:lnTo>
                  <a:pt x="64492" y="124023"/>
                </a:lnTo>
                <a:cubicBezTo>
                  <a:pt x="64492" y="126752"/>
                  <a:pt x="66725" y="128984"/>
                  <a:pt x="69453" y="128984"/>
                </a:cubicBezTo>
                <a:cubicBezTo>
                  <a:pt x="72182" y="128984"/>
                  <a:pt x="74414" y="126752"/>
                  <a:pt x="74414" y="124023"/>
                </a:cubicBezTo>
                <a:lnTo>
                  <a:pt x="74414" y="94258"/>
                </a:lnTo>
                <a:close/>
                <a:moveTo>
                  <a:pt x="89297" y="89297"/>
                </a:moveTo>
                <a:cubicBezTo>
                  <a:pt x="86568" y="89297"/>
                  <a:pt x="84336" y="91529"/>
                  <a:pt x="84336" y="94258"/>
                </a:cubicBezTo>
                <a:lnTo>
                  <a:pt x="84336" y="124023"/>
                </a:lnTo>
                <a:cubicBezTo>
                  <a:pt x="84336" y="126752"/>
                  <a:pt x="86568" y="128984"/>
                  <a:pt x="89297" y="128984"/>
                </a:cubicBezTo>
                <a:cubicBezTo>
                  <a:pt x="92025" y="128984"/>
                  <a:pt x="94258" y="126752"/>
                  <a:pt x="94258" y="124023"/>
                </a:cubicBezTo>
                <a:lnTo>
                  <a:pt x="94258" y="94258"/>
                </a:lnTo>
                <a:cubicBezTo>
                  <a:pt x="94258" y="91529"/>
                  <a:pt x="92025" y="89297"/>
                  <a:pt x="89297" y="89297"/>
                </a:cubicBezTo>
                <a:close/>
                <a:moveTo>
                  <a:pt x="114102" y="94258"/>
                </a:moveTo>
                <a:cubicBezTo>
                  <a:pt x="114102" y="91529"/>
                  <a:pt x="111869" y="89297"/>
                  <a:pt x="109141" y="89297"/>
                </a:cubicBezTo>
                <a:cubicBezTo>
                  <a:pt x="106412" y="89297"/>
                  <a:pt x="104180" y="91529"/>
                  <a:pt x="104180" y="94258"/>
                </a:cubicBezTo>
                <a:lnTo>
                  <a:pt x="104180" y="124023"/>
                </a:lnTo>
                <a:cubicBezTo>
                  <a:pt x="104180" y="126752"/>
                  <a:pt x="106412" y="128984"/>
                  <a:pt x="109141" y="128984"/>
                </a:cubicBezTo>
                <a:cubicBezTo>
                  <a:pt x="111869" y="128984"/>
                  <a:pt x="114102" y="126752"/>
                  <a:pt x="114102" y="124023"/>
                </a:cubicBezTo>
                <a:lnTo>
                  <a:pt x="114102" y="9425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706438" y="1301750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VLM三维理解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51000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250" y="1746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手势方向识别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" y="2000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识别乘客手臂伸展方向，判断指向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车辆右侧窗外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2381250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" y="2476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目标对象识别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" y="2730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理解"拉行李箱的女生"，在视野中定位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符合描述的目标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111500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3250" y="3206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相对方位计算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3460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计算目标相对于车辆的方位和距离：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右前方5米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6064250"/>
            <a:ext cx="5683250" cy="1587500"/>
          </a:xfrm>
          <a:custGeom>
            <a:avLst/>
            <a:gdLst/>
            <a:ahLst/>
            <a:cxnLst/>
            <a:rect l="l" t="t" r="r" b="b"/>
            <a:pathLst>
              <a:path w="5683250" h="1587500">
                <a:moveTo>
                  <a:pt x="3175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1524000"/>
                </a:lnTo>
                <a:cubicBezTo>
                  <a:pt x="5683250" y="1559047"/>
                  <a:pt x="5654797" y="1587500"/>
                  <a:pt x="5619750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333375" y="6064250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27844" y="6254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920" y="36401"/>
                </a:moveTo>
                <a:lnTo>
                  <a:pt x="33827" y="59531"/>
                </a:lnTo>
                <a:lnTo>
                  <a:pt x="124923" y="59531"/>
                </a:lnTo>
                <a:lnTo>
                  <a:pt x="116830" y="36401"/>
                </a:lnTo>
                <a:cubicBezTo>
                  <a:pt x="115435" y="32432"/>
                  <a:pt x="111683" y="29766"/>
                  <a:pt x="107466" y="29766"/>
                </a:cubicBezTo>
                <a:lnTo>
                  <a:pt x="51284" y="29766"/>
                </a:lnTo>
                <a:cubicBezTo>
                  <a:pt x="47067" y="29766"/>
                  <a:pt x="43315" y="32432"/>
                  <a:pt x="41920" y="36401"/>
                </a:cubicBezTo>
                <a:close/>
                <a:moveTo>
                  <a:pt x="12278" y="61020"/>
                </a:moveTo>
                <a:lnTo>
                  <a:pt x="23192" y="29859"/>
                </a:lnTo>
                <a:cubicBezTo>
                  <a:pt x="27378" y="17921"/>
                  <a:pt x="38633" y="9922"/>
                  <a:pt x="51284" y="9922"/>
                </a:cubicBezTo>
                <a:lnTo>
                  <a:pt x="107466" y="9922"/>
                </a:lnTo>
                <a:cubicBezTo>
                  <a:pt x="120117" y="9922"/>
                  <a:pt x="131372" y="17921"/>
                  <a:pt x="135558" y="29859"/>
                </a:cubicBezTo>
                <a:lnTo>
                  <a:pt x="146472" y="61020"/>
                </a:lnTo>
                <a:cubicBezTo>
                  <a:pt x="153665" y="63996"/>
                  <a:pt x="158750" y="71096"/>
                  <a:pt x="158750" y="79375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38906" y="148828"/>
                </a:lnTo>
                <a:cubicBezTo>
                  <a:pt x="133418" y="148828"/>
                  <a:pt x="128984" y="144394"/>
                  <a:pt x="128984" y="138906"/>
                </a:cubicBezTo>
                <a:lnTo>
                  <a:pt x="128984" y="128984"/>
                </a:lnTo>
                <a:lnTo>
                  <a:pt x="29766" y="128984"/>
                </a:lnTo>
                <a:lnTo>
                  <a:pt x="29766" y="138906"/>
                </a:lnTo>
                <a:cubicBezTo>
                  <a:pt x="29766" y="144394"/>
                  <a:pt x="25332" y="148828"/>
                  <a:pt x="1984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79375"/>
                </a:lnTo>
                <a:cubicBezTo>
                  <a:pt x="0" y="71096"/>
                  <a:pt x="5085" y="63996"/>
                  <a:pt x="12278" y="61020"/>
                </a:cubicBezTo>
                <a:close/>
                <a:moveTo>
                  <a:pt x="39688" y="94258"/>
                </a:moveTo>
                <a:cubicBezTo>
                  <a:pt x="39688" y="88782"/>
                  <a:pt x="35242" y="84336"/>
                  <a:pt x="29766" y="84336"/>
                </a:cubicBezTo>
                <a:cubicBezTo>
                  <a:pt x="24290" y="84336"/>
                  <a:pt x="19844" y="88782"/>
                  <a:pt x="19844" y="94258"/>
                </a:cubicBezTo>
                <a:cubicBezTo>
                  <a:pt x="19844" y="99734"/>
                  <a:pt x="24290" y="104180"/>
                  <a:pt x="29766" y="104180"/>
                </a:cubicBezTo>
                <a:cubicBezTo>
                  <a:pt x="35242" y="104180"/>
                  <a:pt x="39688" y="99734"/>
                  <a:pt x="39688" y="94258"/>
                </a:cubicBezTo>
                <a:close/>
                <a:moveTo>
                  <a:pt x="128984" y="104180"/>
                </a:moveTo>
                <a:cubicBezTo>
                  <a:pt x="134460" y="104180"/>
                  <a:pt x="138906" y="99734"/>
                  <a:pt x="138906" y="94258"/>
                </a:cubicBezTo>
                <a:cubicBezTo>
                  <a:pt x="138906" y="88782"/>
                  <a:pt x="134460" y="84336"/>
                  <a:pt x="128984" y="84336"/>
                </a:cubicBezTo>
                <a:cubicBezTo>
                  <a:pt x="123508" y="84336"/>
                  <a:pt x="119062" y="88782"/>
                  <a:pt x="119062" y="94258"/>
                </a:cubicBezTo>
                <a:cubicBezTo>
                  <a:pt x="119062" y="99734"/>
                  <a:pt x="123508" y="104180"/>
                  <a:pt x="128984" y="10418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706438" y="6223000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精准靠边泊车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875" y="6572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3" name="Text 21"/>
          <p:cNvSpPr/>
          <p:nvPr/>
        </p:nvSpPr>
        <p:spPr>
          <a:xfrm>
            <a:off x="730250" y="65405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接收VLM提供的方位信息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3875" y="6826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5" name="Text 23"/>
          <p:cNvSpPr/>
          <p:nvPr/>
        </p:nvSpPr>
        <p:spPr>
          <a:xfrm>
            <a:off x="730250" y="6794500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规划靠边路径，避开障碍物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875" y="7080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Text 25"/>
          <p:cNvSpPr/>
          <p:nvPr/>
        </p:nvSpPr>
        <p:spPr>
          <a:xfrm>
            <a:off x="730250" y="7048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精准停靠到目标位置旁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875" y="7334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9" name="Text 27"/>
          <p:cNvSpPr/>
          <p:nvPr/>
        </p:nvSpPr>
        <p:spPr>
          <a:xfrm>
            <a:off x="730250" y="7302500"/>
            <a:ext cx="146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保持安全距离，方便开门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5375" y="1143000"/>
            <a:ext cx="5699125" cy="5191125"/>
          </a:xfrm>
          <a:custGeom>
            <a:avLst/>
            <a:gdLst/>
            <a:ahLst/>
            <a:cxnLst/>
            <a:rect l="l" t="t" r="r" b="b"/>
            <a:pathLst>
              <a:path w="5699125" h="5191125">
                <a:moveTo>
                  <a:pt x="63487" y="0"/>
                </a:moveTo>
                <a:lnTo>
                  <a:pt x="5635638" y="0"/>
                </a:lnTo>
                <a:cubicBezTo>
                  <a:pt x="5670701" y="0"/>
                  <a:pt x="5699125" y="28424"/>
                  <a:pt x="5699125" y="63487"/>
                </a:cubicBezTo>
                <a:lnTo>
                  <a:pt x="5699125" y="5127638"/>
                </a:lnTo>
                <a:cubicBezTo>
                  <a:pt x="5699125" y="5162701"/>
                  <a:pt x="5670701" y="5191125"/>
                  <a:pt x="5635638" y="5191125"/>
                </a:cubicBezTo>
                <a:lnTo>
                  <a:pt x="63487" y="5191125"/>
                </a:lnTo>
                <a:cubicBezTo>
                  <a:pt x="28424" y="5191125"/>
                  <a:pt x="0" y="5162701"/>
                  <a:pt x="0" y="5127638"/>
                </a:cubicBezTo>
                <a:lnTo>
                  <a:pt x="0" y="63487"/>
                </a:lnTo>
                <a:cubicBezTo>
                  <a:pt x="0" y="28448"/>
                  <a:pt x="28448" y="0"/>
                  <a:pt x="63487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94438" y="1301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交互演示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8094" y="1654969"/>
            <a:ext cx="5373688" cy="1119188"/>
          </a:xfrm>
          <a:custGeom>
            <a:avLst/>
            <a:gdLst/>
            <a:ahLst/>
            <a:cxnLst/>
            <a:rect l="l" t="t" r="r" b="b"/>
            <a:pathLst>
              <a:path w="5373688" h="1119188">
                <a:moveTo>
                  <a:pt x="63503" y="0"/>
                </a:moveTo>
                <a:lnTo>
                  <a:pt x="5310185" y="0"/>
                </a:lnTo>
                <a:cubicBezTo>
                  <a:pt x="5345256" y="0"/>
                  <a:pt x="5373688" y="28431"/>
                  <a:pt x="5373688" y="63503"/>
                </a:cubicBezTo>
                <a:lnTo>
                  <a:pt x="5373688" y="1055685"/>
                </a:lnTo>
                <a:cubicBezTo>
                  <a:pt x="5373688" y="1090756"/>
                  <a:pt x="5345256" y="1119187"/>
                  <a:pt x="5310185" y="1119188"/>
                </a:cubicBezTo>
                <a:lnTo>
                  <a:pt x="63503" y="1119188"/>
                </a:lnTo>
                <a:cubicBezTo>
                  <a:pt x="28431" y="1119188"/>
                  <a:pt x="0" y="1090756"/>
                  <a:pt x="0" y="1055685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8828" y="1801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19000"/>
                  <a:pt x="109203" y="94258"/>
                  <a:pt x="78662" y="94258"/>
                </a:cubicBezTo>
                <a:lnTo>
                  <a:pt x="60244" y="9425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4" name="Text 32"/>
          <p:cNvSpPr/>
          <p:nvPr/>
        </p:nvSpPr>
        <p:spPr>
          <a:xfrm>
            <a:off x="6731000" y="178593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乘客动作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9063" y="2071688"/>
            <a:ext cx="5111750" cy="571500"/>
          </a:xfrm>
          <a:custGeom>
            <a:avLst/>
            <a:gdLst/>
            <a:ahLst/>
            <a:cxnLst/>
            <a:rect l="l" t="t" r="r" b="b"/>
            <a:pathLst>
              <a:path w="5111750" h="571500">
                <a:moveTo>
                  <a:pt x="31753" y="0"/>
                </a:moveTo>
                <a:lnTo>
                  <a:pt x="5079997" y="0"/>
                </a:lnTo>
                <a:cubicBezTo>
                  <a:pt x="5097534" y="0"/>
                  <a:pt x="5111750" y="14216"/>
                  <a:pt x="5111750" y="31753"/>
                </a:cubicBezTo>
                <a:lnTo>
                  <a:pt x="5111750" y="539747"/>
                </a:lnTo>
                <a:cubicBezTo>
                  <a:pt x="5111750" y="557284"/>
                  <a:pt x="5097534" y="571500"/>
                  <a:pt x="50799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64313" y="2166938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伸出右手，指向窗外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4313" y="2357438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说："停到那个拉行李箱的女生旁边"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65406" y="2873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38094" y="3131344"/>
            <a:ext cx="5373688" cy="1563688"/>
          </a:xfrm>
          <a:custGeom>
            <a:avLst/>
            <a:gdLst/>
            <a:ahLst/>
            <a:cxnLst/>
            <a:rect l="l" t="t" r="r" b="b"/>
            <a:pathLst>
              <a:path w="5373688" h="1563688">
                <a:moveTo>
                  <a:pt x="63501" y="0"/>
                </a:moveTo>
                <a:lnTo>
                  <a:pt x="5310186" y="0"/>
                </a:lnTo>
                <a:cubicBezTo>
                  <a:pt x="5345257" y="0"/>
                  <a:pt x="5373688" y="28431"/>
                  <a:pt x="5373688" y="63501"/>
                </a:cubicBezTo>
                <a:lnTo>
                  <a:pt x="5373688" y="1500186"/>
                </a:lnTo>
                <a:cubicBezTo>
                  <a:pt x="5373688" y="1535257"/>
                  <a:pt x="5345257" y="1563688"/>
                  <a:pt x="5310186" y="1563688"/>
                </a:cubicBezTo>
                <a:lnTo>
                  <a:pt x="63501" y="1563688"/>
                </a:lnTo>
                <a:cubicBezTo>
                  <a:pt x="28431" y="1563688"/>
                  <a:pt x="0" y="1535257"/>
                  <a:pt x="0" y="1500186"/>
                </a:cubicBezTo>
                <a:lnTo>
                  <a:pt x="0" y="63501"/>
                </a:lnTo>
                <a:cubicBezTo>
                  <a:pt x="0" y="28431"/>
                  <a:pt x="28431" y="0"/>
                  <a:pt x="63501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9063" y="32781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1" name="Text 39"/>
          <p:cNvSpPr/>
          <p:nvPr/>
        </p:nvSpPr>
        <p:spPr>
          <a:xfrm>
            <a:off x="6731000" y="3262313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VLM理解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69063" y="3548063"/>
            <a:ext cx="5111750" cy="1016000"/>
          </a:xfrm>
          <a:custGeom>
            <a:avLst/>
            <a:gdLst/>
            <a:ahLst/>
            <a:cxnLst/>
            <a:rect l="l" t="t" r="r" b="b"/>
            <a:pathLst>
              <a:path w="5111750" h="1016000">
                <a:moveTo>
                  <a:pt x="31750" y="0"/>
                </a:moveTo>
                <a:lnTo>
                  <a:pt x="5080000" y="0"/>
                </a:lnTo>
                <a:cubicBezTo>
                  <a:pt x="5097523" y="0"/>
                  <a:pt x="5111750" y="14227"/>
                  <a:pt x="5111750" y="31750"/>
                </a:cubicBezTo>
                <a:lnTo>
                  <a:pt x="5111750" y="984250"/>
                </a:lnTo>
                <a:cubicBezTo>
                  <a:pt x="5111750" y="1001773"/>
                  <a:pt x="5097523" y="1016000"/>
                  <a:pt x="508000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64313" y="3643313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[手势] 指向右侧窗外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64313" y="3833812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[目标] "拉行李箱的女生"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64313" y="4024313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[方位] 右前方5米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64313" y="4278313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[输出] 停车目标位置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965406" y="4794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8094" y="5052219"/>
            <a:ext cx="5373688" cy="1119188"/>
          </a:xfrm>
          <a:custGeom>
            <a:avLst/>
            <a:gdLst/>
            <a:ahLst/>
            <a:cxnLst/>
            <a:rect l="l" t="t" r="r" b="b"/>
            <a:pathLst>
              <a:path w="5373688" h="1119188">
                <a:moveTo>
                  <a:pt x="63503" y="0"/>
                </a:moveTo>
                <a:lnTo>
                  <a:pt x="5310185" y="0"/>
                </a:lnTo>
                <a:cubicBezTo>
                  <a:pt x="5345256" y="0"/>
                  <a:pt x="5373688" y="28431"/>
                  <a:pt x="5373688" y="63503"/>
                </a:cubicBezTo>
                <a:lnTo>
                  <a:pt x="5373688" y="1055685"/>
                </a:lnTo>
                <a:cubicBezTo>
                  <a:pt x="5373688" y="1090756"/>
                  <a:pt x="5345256" y="1119187"/>
                  <a:pt x="5310185" y="1119188"/>
                </a:cubicBezTo>
                <a:lnTo>
                  <a:pt x="63503" y="1119188"/>
                </a:lnTo>
                <a:cubicBezTo>
                  <a:pt x="28431" y="1119188"/>
                  <a:pt x="0" y="1090756"/>
                  <a:pt x="0" y="1055685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69063" y="5199063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45579" y="33083"/>
                </a:moveTo>
                <a:lnTo>
                  <a:pt x="36339" y="59531"/>
                </a:lnTo>
                <a:lnTo>
                  <a:pt x="74445" y="59531"/>
                </a:lnTo>
                <a:lnTo>
                  <a:pt x="74445" y="29766"/>
                </a:lnTo>
                <a:lnTo>
                  <a:pt x="50292" y="29766"/>
                </a:lnTo>
                <a:cubicBezTo>
                  <a:pt x="48183" y="29766"/>
                  <a:pt x="46292" y="31099"/>
                  <a:pt x="45610" y="33083"/>
                </a:cubicBezTo>
                <a:close/>
                <a:moveTo>
                  <a:pt x="15069" y="60120"/>
                </a:moveTo>
                <a:lnTo>
                  <a:pt x="26820" y="26541"/>
                </a:lnTo>
                <a:cubicBezTo>
                  <a:pt x="30324" y="16588"/>
                  <a:pt x="39719" y="9922"/>
                  <a:pt x="50260" y="9922"/>
                </a:cubicBezTo>
                <a:lnTo>
                  <a:pt x="111621" y="9922"/>
                </a:lnTo>
                <a:cubicBezTo>
                  <a:pt x="119435" y="9922"/>
                  <a:pt x="126783" y="13612"/>
                  <a:pt x="131465" y="19844"/>
                </a:cubicBezTo>
                <a:lnTo>
                  <a:pt x="161292" y="59624"/>
                </a:lnTo>
                <a:cubicBezTo>
                  <a:pt x="182035" y="60927"/>
                  <a:pt x="198438" y="78166"/>
                  <a:pt x="198438" y="99219"/>
                </a:cubicBezTo>
                <a:lnTo>
                  <a:pt x="198438" y="104180"/>
                </a:lnTo>
                <a:cubicBezTo>
                  <a:pt x="198438" y="115125"/>
                  <a:pt x="189539" y="124023"/>
                  <a:pt x="178594" y="124023"/>
                </a:cubicBezTo>
                <a:lnTo>
                  <a:pt x="173509" y="124023"/>
                </a:lnTo>
                <a:cubicBezTo>
                  <a:pt x="172269" y="137945"/>
                  <a:pt x="160579" y="148828"/>
                  <a:pt x="146348" y="148828"/>
                </a:cubicBezTo>
                <a:cubicBezTo>
                  <a:pt x="132116" y="148828"/>
                  <a:pt x="120427" y="137945"/>
                  <a:pt x="119187" y="124023"/>
                </a:cubicBezTo>
                <a:lnTo>
                  <a:pt x="74321" y="124023"/>
                </a:lnTo>
                <a:cubicBezTo>
                  <a:pt x="73081" y="137945"/>
                  <a:pt x="61392" y="148828"/>
                  <a:pt x="47160" y="148828"/>
                </a:cubicBezTo>
                <a:cubicBezTo>
                  <a:pt x="32928" y="148828"/>
                  <a:pt x="21239" y="137945"/>
                  <a:pt x="19999" y="124023"/>
                </a:cubicBezTo>
                <a:lnTo>
                  <a:pt x="19875" y="124023"/>
                </a:lnTo>
                <a:cubicBezTo>
                  <a:pt x="8930" y="124023"/>
                  <a:pt x="31" y="115125"/>
                  <a:pt x="31" y="104180"/>
                </a:cubicBezTo>
                <a:lnTo>
                  <a:pt x="31" y="79375"/>
                </a:lnTo>
                <a:cubicBezTo>
                  <a:pt x="31" y="70042"/>
                  <a:pt x="6449" y="62229"/>
                  <a:pt x="15100" y="60120"/>
                </a:cubicBezTo>
                <a:close/>
                <a:moveTo>
                  <a:pt x="136426" y="59531"/>
                </a:moveTo>
                <a:lnTo>
                  <a:pt x="115590" y="31750"/>
                </a:lnTo>
                <a:cubicBezTo>
                  <a:pt x="114660" y="30510"/>
                  <a:pt x="113171" y="29766"/>
                  <a:pt x="111621" y="29766"/>
                </a:cubicBezTo>
                <a:lnTo>
                  <a:pt x="89297" y="29766"/>
                </a:lnTo>
                <a:lnTo>
                  <a:pt x="89297" y="59531"/>
                </a:lnTo>
                <a:lnTo>
                  <a:pt x="136426" y="59531"/>
                </a:lnTo>
                <a:close/>
                <a:moveTo>
                  <a:pt x="47129" y="133945"/>
                </a:moveTo>
                <a:cubicBezTo>
                  <a:pt x="53974" y="133945"/>
                  <a:pt x="59531" y="128388"/>
                  <a:pt x="59531" y="121543"/>
                </a:cubicBezTo>
                <a:cubicBezTo>
                  <a:pt x="59531" y="114698"/>
                  <a:pt x="53974" y="109141"/>
                  <a:pt x="47129" y="109141"/>
                </a:cubicBezTo>
                <a:cubicBezTo>
                  <a:pt x="40284" y="109141"/>
                  <a:pt x="34727" y="114698"/>
                  <a:pt x="34727" y="121543"/>
                </a:cubicBezTo>
                <a:cubicBezTo>
                  <a:pt x="34727" y="128388"/>
                  <a:pt x="40284" y="133945"/>
                  <a:pt x="47129" y="133945"/>
                </a:cubicBezTo>
                <a:close/>
                <a:moveTo>
                  <a:pt x="158750" y="121543"/>
                </a:moveTo>
                <a:cubicBezTo>
                  <a:pt x="158750" y="114698"/>
                  <a:pt x="153193" y="109141"/>
                  <a:pt x="146348" y="109141"/>
                </a:cubicBezTo>
                <a:cubicBezTo>
                  <a:pt x="139503" y="109141"/>
                  <a:pt x="133945" y="114698"/>
                  <a:pt x="133945" y="121543"/>
                </a:cubicBezTo>
                <a:cubicBezTo>
                  <a:pt x="133945" y="128388"/>
                  <a:pt x="139503" y="133945"/>
                  <a:pt x="146348" y="133945"/>
                </a:cubicBezTo>
                <a:cubicBezTo>
                  <a:pt x="153193" y="133945"/>
                  <a:pt x="158750" y="128388"/>
                  <a:pt x="158750" y="12154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0" name="Text 48"/>
          <p:cNvSpPr/>
          <p:nvPr/>
        </p:nvSpPr>
        <p:spPr>
          <a:xfrm>
            <a:off x="6731000" y="518318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智驾执行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69063" y="5468938"/>
            <a:ext cx="5111750" cy="571500"/>
          </a:xfrm>
          <a:custGeom>
            <a:avLst/>
            <a:gdLst/>
            <a:ahLst/>
            <a:cxnLst/>
            <a:rect l="l" t="t" r="r" b="b"/>
            <a:pathLst>
              <a:path w="5111750" h="571500">
                <a:moveTo>
                  <a:pt x="31753" y="0"/>
                </a:moveTo>
                <a:lnTo>
                  <a:pt x="5079997" y="0"/>
                </a:lnTo>
                <a:cubicBezTo>
                  <a:pt x="5097534" y="0"/>
                  <a:pt x="5111750" y="14216"/>
                  <a:pt x="5111750" y="31753"/>
                </a:cubicBezTo>
                <a:lnTo>
                  <a:pt x="5111750" y="539747"/>
                </a:lnTo>
                <a:cubicBezTo>
                  <a:pt x="5111750" y="557284"/>
                  <a:pt x="5097534" y="571500"/>
                  <a:pt x="50799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564313" y="5564188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精准停靠到女生旁边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64313" y="5754688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保持30cm安全距离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6465094"/>
            <a:ext cx="5691188" cy="1182688"/>
          </a:xfrm>
          <a:custGeom>
            <a:avLst/>
            <a:gdLst/>
            <a:ahLst/>
            <a:cxnLst/>
            <a:rect l="l" t="t" r="r" b="b"/>
            <a:pathLst>
              <a:path w="5691188" h="1182688">
                <a:moveTo>
                  <a:pt x="63498" y="0"/>
                </a:moveTo>
                <a:lnTo>
                  <a:pt x="5627689" y="0"/>
                </a:lnTo>
                <a:cubicBezTo>
                  <a:pt x="5662758" y="0"/>
                  <a:pt x="5691187" y="28429"/>
                  <a:pt x="5691187" y="63498"/>
                </a:cubicBezTo>
                <a:lnTo>
                  <a:pt x="5691188" y="1119189"/>
                </a:lnTo>
                <a:cubicBezTo>
                  <a:pt x="5691187" y="1154258"/>
                  <a:pt x="5662758" y="1182688"/>
                  <a:pt x="5627689" y="1182688"/>
                </a:cubicBezTo>
                <a:lnTo>
                  <a:pt x="63498" y="1182688"/>
                </a:lnTo>
                <a:cubicBezTo>
                  <a:pt x="28429" y="1182688"/>
                  <a:pt x="0" y="1154258"/>
                  <a:pt x="0" y="111918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4594" y="6596063"/>
            <a:ext cx="550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对比优势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78563" y="6913563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78563" y="7135813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"停到前面红色车旁边"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82531" y="7358063"/>
            <a:ext cx="272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模糊、易混淆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40813" y="6913563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40813" y="7135813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手指+自然语言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044781" y="7358063"/>
            <a:ext cx="272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精确、直观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30000"/>
                </a:srgbClr>
              </a:gs>
              <a:gs pos="50000">
                <a:srgbClr val="1A1D21"/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24003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4" name="Text 2"/>
          <p:cNvSpPr/>
          <p:nvPr/>
        </p:nvSpPr>
        <p:spPr>
          <a:xfrm>
            <a:off x="647700" y="2724150"/>
            <a:ext cx="97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05000" y="26289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" name="Text 4"/>
          <p:cNvSpPr/>
          <p:nvPr/>
        </p:nvSpPr>
        <p:spPr>
          <a:xfrm>
            <a:off x="2247900" y="24765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47900" y="2857500"/>
            <a:ext cx="3448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4076700"/>
            <a:ext cx="1007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分阶段实现路径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(530)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一期（530）：夯实基础能力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089984"/>
            <a:ext cx="843859" cy="35161"/>
          </a:xfrm>
          <a:custGeom>
            <a:avLst/>
            <a:gdLst/>
            <a:ahLst/>
            <a:cxnLst/>
            <a:rect l="l" t="t" r="r" b="b"/>
            <a:pathLst>
              <a:path w="843859" h="35161">
                <a:moveTo>
                  <a:pt x="0" y="0"/>
                </a:moveTo>
                <a:lnTo>
                  <a:pt x="843859" y="0"/>
                </a:lnTo>
                <a:lnTo>
                  <a:pt x="843859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69188" y="1195466"/>
            <a:ext cx="3718252" cy="5309278"/>
          </a:xfrm>
          <a:custGeom>
            <a:avLst/>
            <a:gdLst/>
            <a:ahLst/>
            <a:cxnLst/>
            <a:rect l="l" t="t" r="r" b="b"/>
            <a:pathLst>
              <a:path w="3718252" h="5309278">
                <a:moveTo>
                  <a:pt x="35161" y="0"/>
                </a:moveTo>
                <a:lnTo>
                  <a:pt x="3647940" y="0"/>
                </a:lnTo>
                <a:cubicBezTo>
                  <a:pt x="3686773" y="0"/>
                  <a:pt x="3718252" y="31480"/>
                  <a:pt x="3718252" y="70312"/>
                </a:cubicBezTo>
                <a:lnTo>
                  <a:pt x="3718252" y="5238965"/>
                </a:lnTo>
                <a:cubicBezTo>
                  <a:pt x="3718252" y="5277798"/>
                  <a:pt x="3686773" y="5309278"/>
                  <a:pt x="3647940" y="5309278"/>
                </a:cubicBez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9188" y="1195466"/>
            <a:ext cx="35161" cy="5309278"/>
          </a:xfrm>
          <a:custGeom>
            <a:avLst/>
            <a:gdLst/>
            <a:ahLst/>
            <a:cxnLst/>
            <a:rect l="l" t="t" r="r" b="b"/>
            <a:pathLst>
              <a:path w="35161" h="5309278">
                <a:moveTo>
                  <a:pt x="35161" y="0"/>
                </a:moveTo>
                <a:lnTo>
                  <a:pt x="35161" y="0"/>
                </a:lnTo>
                <a:lnTo>
                  <a:pt x="35161" y="5309278"/>
                </a:ln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27412" y="133611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Shape 6"/>
          <p:cNvSpPr/>
          <p:nvPr/>
        </p:nvSpPr>
        <p:spPr>
          <a:xfrm>
            <a:off x="650474" y="145917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75804" y="32963"/>
                </a:moveTo>
                <a:cubicBezTo>
                  <a:pt x="175804" y="50200"/>
                  <a:pt x="155511" y="75918"/>
                  <a:pt x="146755" y="86185"/>
                </a:cubicBezTo>
                <a:cubicBezTo>
                  <a:pt x="145450" y="87696"/>
                  <a:pt x="143527" y="88280"/>
                  <a:pt x="141776" y="87902"/>
                </a:cubicBezTo>
                <a:lnTo>
                  <a:pt x="109877" y="87902"/>
                </a:lnTo>
                <a:cubicBezTo>
                  <a:pt x="103800" y="87902"/>
                  <a:pt x="98890" y="92812"/>
                  <a:pt x="98890" y="98890"/>
                </a:cubicBezTo>
                <a:cubicBezTo>
                  <a:pt x="98890" y="104967"/>
                  <a:pt x="103800" y="109877"/>
                  <a:pt x="109877" y="109877"/>
                </a:cubicBezTo>
                <a:lnTo>
                  <a:pt x="142841" y="109877"/>
                </a:lnTo>
                <a:cubicBezTo>
                  <a:pt x="161039" y="109877"/>
                  <a:pt x="175804" y="124642"/>
                  <a:pt x="175804" y="142841"/>
                </a:cubicBezTo>
                <a:cubicBezTo>
                  <a:pt x="175804" y="161039"/>
                  <a:pt x="161039" y="175804"/>
                  <a:pt x="142841" y="175804"/>
                </a:cubicBezTo>
                <a:lnTo>
                  <a:pt x="47934" y="175804"/>
                </a:lnTo>
                <a:cubicBezTo>
                  <a:pt x="50921" y="172405"/>
                  <a:pt x="54561" y="168044"/>
                  <a:pt x="58235" y="163168"/>
                </a:cubicBezTo>
                <a:cubicBezTo>
                  <a:pt x="60398" y="160284"/>
                  <a:pt x="62630" y="157125"/>
                  <a:pt x="64759" y="153828"/>
                </a:cubicBezTo>
                <a:lnTo>
                  <a:pt x="142841" y="153828"/>
                </a:lnTo>
                <a:cubicBezTo>
                  <a:pt x="148918" y="153828"/>
                  <a:pt x="153828" y="148918"/>
                  <a:pt x="153828" y="142841"/>
                </a:cubicBezTo>
                <a:cubicBezTo>
                  <a:pt x="153828" y="136763"/>
                  <a:pt x="148918" y="131853"/>
                  <a:pt x="142841" y="131853"/>
                </a:cubicBezTo>
                <a:lnTo>
                  <a:pt x="109877" y="131853"/>
                </a:lnTo>
                <a:cubicBezTo>
                  <a:pt x="91679" y="131853"/>
                  <a:pt x="76914" y="117088"/>
                  <a:pt x="76914" y="98890"/>
                </a:cubicBezTo>
                <a:cubicBezTo>
                  <a:pt x="76914" y="80691"/>
                  <a:pt x="91679" y="65926"/>
                  <a:pt x="109877" y="65926"/>
                </a:cubicBezTo>
                <a:lnTo>
                  <a:pt x="123543" y="65926"/>
                </a:lnTo>
                <a:cubicBezTo>
                  <a:pt x="116333" y="55110"/>
                  <a:pt x="109877" y="42681"/>
                  <a:pt x="109877" y="32963"/>
                </a:cubicBezTo>
                <a:cubicBezTo>
                  <a:pt x="109877" y="14765"/>
                  <a:pt x="124642" y="0"/>
                  <a:pt x="142841" y="0"/>
                </a:cubicBezTo>
                <a:cubicBezTo>
                  <a:pt x="161039" y="0"/>
                  <a:pt x="175804" y="14765"/>
                  <a:pt x="175804" y="32963"/>
                </a:cubicBezTo>
                <a:close/>
                <a:moveTo>
                  <a:pt x="40208" y="167941"/>
                </a:moveTo>
                <a:cubicBezTo>
                  <a:pt x="38903" y="169417"/>
                  <a:pt x="37736" y="170722"/>
                  <a:pt x="36740" y="171821"/>
                </a:cubicBezTo>
                <a:lnTo>
                  <a:pt x="36122" y="172508"/>
                </a:lnTo>
                <a:lnTo>
                  <a:pt x="36054" y="172439"/>
                </a:lnTo>
                <a:cubicBezTo>
                  <a:pt x="33993" y="174018"/>
                  <a:pt x="31040" y="173812"/>
                  <a:pt x="29186" y="171821"/>
                </a:cubicBezTo>
                <a:cubicBezTo>
                  <a:pt x="20533" y="162413"/>
                  <a:pt x="0" y="138205"/>
                  <a:pt x="0" y="120865"/>
                </a:cubicBezTo>
                <a:cubicBezTo>
                  <a:pt x="0" y="102667"/>
                  <a:pt x="14765" y="87902"/>
                  <a:pt x="32963" y="87902"/>
                </a:cubicBezTo>
                <a:cubicBezTo>
                  <a:pt x="51162" y="87902"/>
                  <a:pt x="65926" y="102667"/>
                  <a:pt x="65926" y="120865"/>
                </a:cubicBezTo>
                <a:cubicBezTo>
                  <a:pt x="65926" y="131166"/>
                  <a:pt x="58681" y="143871"/>
                  <a:pt x="50990" y="154481"/>
                </a:cubicBezTo>
                <a:cubicBezTo>
                  <a:pt x="47316" y="159528"/>
                  <a:pt x="43539" y="164095"/>
                  <a:pt x="40414" y="167700"/>
                </a:cubicBezTo>
                <a:lnTo>
                  <a:pt x="40208" y="167941"/>
                </a:lnTo>
                <a:close/>
                <a:moveTo>
                  <a:pt x="43951" y="120865"/>
                </a:moveTo>
                <a:cubicBezTo>
                  <a:pt x="43951" y="114801"/>
                  <a:pt x="39028" y="109877"/>
                  <a:pt x="32963" y="109877"/>
                </a:cubicBezTo>
                <a:cubicBezTo>
                  <a:pt x="26899" y="109877"/>
                  <a:pt x="21975" y="114801"/>
                  <a:pt x="21975" y="120865"/>
                </a:cubicBezTo>
                <a:cubicBezTo>
                  <a:pt x="21975" y="126929"/>
                  <a:pt x="26899" y="131853"/>
                  <a:pt x="32963" y="131853"/>
                </a:cubicBezTo>
                <a:cubicBezTo>
                  <a:pt x="39028" y="131853"/>
                  <a:pt x="43951" y="126929"/>
                  <a:pt x="43951" y="120865"/>
                </a:cubicBezTo>
                <a:close/>
                <a:moveTo>
                  <a:pt x="142841" y="43951"/>
                </a:moveTo>
                <a:cubicBezTo>
                  <a:pt x="148905" y="43951"/>
                  <a:pt x="153828" y="39028"/>
                  <a:pt x="153828" y="32963"/>
                </a:cubicBezTo>
                <a:cubicBezTo>
                  <a:pt x="153828" y="26899"/>
                  <a:pt x="148905" y="21975"/>
                  <a:pt x="142841" y="21975"/>
                </a:cubicBezTo>
                <a:cubicBezTo>
                  <a:pt x="136776" y="21975"/>
                  <a:pt x="131853" y="26899"/>
                  <a:pt x="131853" y="32963"/>
                </a:cubicBezTo>
                <a:cubicBezTo>
                  <a:pt x="131853" y="39028"/>
                  <a:pt x="136776" y="43951"/>
                  <a:pt x="142841" y="439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54823" y="1424012"/>
            <a:ext cx="166134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PIPO+导航任务编排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7412" y="1870526"/>
            <a:ext cx="3419386" cy="914180"/>
          </a:xfrm>
          <a:custGeom>
            <a:avLst/>
            <a:gdLst/>
            <a:ahLst/>
            <a:cxnLst/>
            <a:rect l="l" t="t" r="r" b="b"/>
            <a:pathLst>
              <a:path w="3419386" h="914180">
                <a:moveTo>
                  <a:pt x="70319" y="0"/>
                </a:moveTo>
                <a:lnTo>
                  <a:pt x="3349067" y="0"/>
                </a:lnTo>
                <a:cubicBezTo>
                  <a:pt x="3387903" y="0"/>
                  <a:pt x="3419386" y="31483"/>
                  <a:pt x="3419386" y="70319"/>
                </a:cubicBezTo>
                <a:lnTo>
                  <a:pt x="3419386" y="843862"/>
                </a:lnTo>
                <a:cubicBezTo>
                  <a:pt x="3419386" y="882697"/>
                  <a:pt x="3387903" y="914180"/>
                  <a:pt x="3349067" y="914180"/>
                </a:cubicBezTo>
                <a:lnTo>
                  <a:pt x="70319" y="914180"/>
                </a:lnTo>
                <a:cubicBezTo>
                  <a:pt x="31483" y="914180"/>
                  <a:pt x="0" y="882697"/>
                  <a:pt x="0" y="843862"/>
                </a:cubicBezTo>
                <a:lnTo>
                  <a:pt x="0" y="70319"/>
                </a:lnTo>
                <a:cubicBezTo>
                  <a:pt x="0" y="31509"/>
                  <a:pt x="31509" y="0"/>
                  <a:pt x="7031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2894" y="1976008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多途经点导航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894" y="2257295"/>
            <a:ext cx="3278743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支持设置、更改、添加多途经点导航，灵活规划复杂路线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7412" y="2869037"/>
            <a:ext cx="3419386" cy="703216"/>
          </a:xfrm>
          <a:custGeom>
            <a:avLst/>
            <a:gdLst/>
            <a:ahLst/>
            <a:cxnLst/>
            <a:rect l="l" t="t" r="r" b="b"/>
            <a:pathLst>
              <a:path w="3419386" h="703216">
                <a:moveTo>
                  <a:pt x="70322" y="0"/>
                </a:moveTo>
                <a:lnTo>
                  <a:pt x="3349064" y="0"/>
                </a:lnTo>
                <a:cubicBezTo>
                  <a:pt x="3387902" y="0"/>
                  <a:pt x="3419386" y="31484"/>
                  <a:pt x="3419386" y="70322"/>
                </a:cubicBezTo>
                <a:lnTo>
                  <a:pt x="3419386" y="632894"/>
                </a:lnTo>
                <a:cubicBezTo>
                  <a:pt x="3419386" y="671732"/>
                  <a:pt x="3387902" y="703216"/>
                  <a:pt x="3349064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2894" y="2974519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沿途临停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894" y="3255806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支持依导航途经点临停靠边停车，自动解锁、闭锁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7412" y="3656584"/>
            <a:ext cx="3419386" cy="703216"/>
          </a:xfrm>
          <a:custGeom>
            <a:avLst/>
            <a:gdLst/>
            <a:ahLst/>
            <a:cxnLst/>
            <a:rect l="l" t="t" r="r" b="b"/>
            <a:pathLst>
              <a:path w="3419386" h="703216">
                <a:moveTo>
                  <a:pt x="70322" y="0"/>
                </a:moveTo>
                <a:lnTo>
                  <a:pt x="3349064" y="0"/>
                </a:lnTo>
                <a:cubicBezTo>
                  <a:pt x="3387902" y="0"/>
                  <a:pt x="3419386" y="31484"/>
                  <a:pt x="3419386" y="70322"/>
                </a:cubicBezTo>
                <a:lnTo>
                  <a:pt x="3419386" y="632894"/>
                </a:lnTo>
                <a:cubicBezTo>
                  <a:pt x="3419386" y="671732"/>
                  <a:pt x="3387902" y="703216"/>
                  <a:pt x="3349064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2894" y="3762066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智驾接续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894" y="4043352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支持导航与智驾接续起步，踩下刹车即自动恢复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7412" y="4444130"/>
            <a:ext cx="3419386" cy="914180"/>
          </a:xfrm>
          <a:custGeom>
            <a:avLst/>
            <a:gdLst/>
            <a:ahLst/>
            <a:cxnLst/>
            <a:rect l="l" t="t" r="r" b="b"/>
            <a:pathLst>
              <a:path w="3419386" h="914180">
                <a:moveTo>
                  <a:pt x="70319" y="0"/>
                </a:moveTo>
                <a:lnTo>
                  <a:pt x="3349067" y="0"/>
                </a:lnTo>
                <a:cubicBezTo>
                  <a:pt x="3387903" y="0"/>
                  <a:pt x="3419386" y="31483"/>
                  <a:pt x="3419386" y="70319"/>
                </a:cubicBezTo>
                <a:lnTo>
                  <a:pt x="3419386" y="843862"/>
                </a:lnTo>
                <a:cubicBezTo>
                  <a:pt x="3419386" y="882697"/>
                  <a:pt x="3387903" y="914180"/>
                  <a:pt x="3349067" y="914180"/>
                </a:cubicBezTo>
                <a:lnTo>
                  <a:pt x="70319" y="914180"/>
                </a:lnTo>
                <a:cubicBezTo>
                  <a:pt x="31483" y="914180"/>
                  <a:pt x="0" y="882697"/>
                  <a:pt x="0" y="843862"/>
                </a:cubicBezTo>
                <a:lnTo>
                  <a:pt x="0" y="70319"/>
                </a:lnTo>
                <a:cubicBezTo>
                  <a:pt x="0" y="31509"/>
                  <a:pt x="31509" y="0"/>
                  <a:pt x="7031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2894" y="4549612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PIPO（泊入泊出）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894" y="4830899"/>
            <a:ext cx="3278743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智驾支持停车场泊入泊出，支持固定车位、电梯口等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7412" y="5442641"/>
            <a:ext cx="3419386" cy="914180"/>
          </a:xfrm>
          <a:custGeom>
            <a:avLst/>
            <a:gdLst/>
            <a:ahLst/>
            <a:cxnLst/>
            <a:rect l="l" t="t" r="r" b="b"/>
            <a:pathLst>
              <a:path w="3419386" h="914180">
                <a:moveTo>
                  <a:pt x="70319" y="0"/>
                </a:moveTo>
                <a:lnTo>
                  <a:pt x="3349067" y="0"/>
                </a:lnTo>
                <a:cubicBezTo>
                  <a:pt x="3387903" y="0"/>
                  <a:pt x="3419386" y="31483"/>
                  <a:pt x="3419386" y="70319"/>
                </a:cubicBezTo>
                <a:lnTo>
                  <a:pt x="3419386" y="843862"/>
                </a:lnTo>
                <a:cubicBezTo>
                  <a:pt x="3419386" y="882697"/>
                  <a:pt x="3387903" y="914180"/>
                  <a:pt x="3349067" y="914180"/>
                </a:cubicBezTo>
                <a:lnTo>
                  <a:pt x="70319" y="914180"/>
                </a:lnTo>
                <a:cubicBezTo>
                  <a:pt x="31483" y="914180"/>
                  <a:pt x="0" y="882697"/>
                  <a:pt x="0" y="843862"/>
                </a:cubicBezTo>
                <a:lnTo>
                  <a:pt x="0" y="70319"/>
                </a:lnTo>
                <a:cubicBezTo>
                  <a:pt x="0" y="31509"/>
                  <a:pt x="31509" y="0"/>
                  <a:pt x="7031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2894" y="5548124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停车场接驳（有图）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894" y="5829410"/>
            <a:ext cx="3278743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地面+地下停车场，支持静态范式（车位、充电桩等）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4634" y="1195466"/>
            <a:ext cx="3718252" cy="5309278"/>
          </a:xfrm>
          <a:custGeom>
            <a:avLst/>
            <a:gdLst/>
            <a:ahLst/>
            <a:cxnLst/>
            <a:rect l="l" t="t" r="r" b="b"/>
            <a:pathLst>
              <a:path w="3718252" h="5309278">
                <a:moveTo>
                  <a:pt x="35161" y="0"/>
                </a:moveTo>
                <a:lnTo>
                  <a:pt x="3647940" y="0"/>
                </a:lnTo>
                <a:cubicBezTo>
                  <a:pt x="3686773" y="0"/>
                  <a:pt x="3718252" y="31480"/>
                  <a:pt x="3718252" y="70312"/>
                </a:cubicBezTo>
                <a:lnTo>
                  <a:pt x="3718252" y="5238965"/>
                </a:lnTo>
                <a:cubicBezTo>
                  <a:pt x="3718252" y="5277798"/>
                  <a:pt x="3686773" y="5309278"/>
                  <a:pt x="3647940" y="5309278"/>
                </a:cubicBez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4244634" y="1195466"/>
            <a:ext cx="35161" cy="5309278"/>
          </a:xfrm>
          <a:custGeom>
            <a:avLst/>
            <a:gdLst/>
            <a:ahLst/>
            <a:cxnLst/>
            <a:rect l="l" t="t" r="r" b="b"/>
            <a:pathLst>
              <a:path w="35161" h="5309278">
                <a:moveTo>
                  <a:pt x="35161" y="0"/>
                </a:moveTo>
                <a:lnTo>
                  <a:pt x="35161" y="0"/>
                </a:lnTo>
                <a:lnTo>
                  <a:pt x="35161" y="5309278"/>
                </a:ln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4402857" y="133611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5920" y="145917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0" y="87902"/>
                </a:moveTo>
                <a:cubicBezTo>
                  <a:pt x="0" y="39388"/>
                  <a:pt x="39388" y="0"/>
                  <a:pt x="87902" y="0"/>
                </a:cubicBezTo>
                <a:cubicBezTo>
                  <a:pt x="136416" y="0"/>
                  <a:pt x="175804" y="39388"/>
                  <a:pt x="175804" y="87902"/>
                </a:cubicBezTo>
                <a:cubicBezTo>
                  <a:pt x="175804" y="136416"/>
                  <a:pt x="136416" y="175804"/>
                  <a:pt x="87902" y="175804"/>
                </a:cubicBezTo>
                <a:cubicBezTo>
                  <a:pt x="39388" y="175804"/>
                  <a:pt x="0" y="136416"/>
                  <a:pt x="0" y="87902"/>
                </a:cubicBezTo>
                <a:close/>
                <a:moveTo>
                  <a:pt x="98890" y="32963"/>
                </a:moveTo>
                <a:cubicBezTo>
                  <a:pt x="98890" y="26899"/>
                  <a:pt x="93966" y="21975"/>
                  <a:pt x="87902" y="21975"/>
                </a:cubicBezTo>
                <a:cubicBezTo>
                  <a:pt x="81838" y="21975"/>
                  <a:pt x="76914" y="26899"/>
                  <a:pt x="76914" y="32963"/>
                </a:cubicBezTo>
                <a:cubicBezTo>
                  <a:pt x="76914" y="39028"/>
                  <a:pt x="81838" y="43951"/>
                  <a:pt x="87902" y="43951"/>
                </a:cubicBezTo>
                <a:cubicBezTo>
                  <a:pt x="93966" y="43951"/>
                  <a:pt x="98890" y="39028"/>
                  <a:pt x="98890" y="32963"/>
                </a:cubicBezTo>
                <a:close/>
                <a:moveTo>
                  <a:pt x="87902" y="142841"/>
                </a:moveTo>
                <a:cubicBezTo>
                  <a:pt x="100023" y="142841"/>
                  <a:pt x="109877" y="132986"/>
                  <a:pt x="109877" y="120865"/>
                </a:cubicBezTo>
                <a:cubicBezTo>
                  <a:pt x="109877" y="115303"/>
                  <a:pt x="107817" y="110186"/>
                  <a:pt x="104384" y="106341"/>
                </a:cubicBezTo>
                <a:lnTo>
                  <a:pt x="128248" y="58647"/>
                </a:lnTo>
                <a:cubicBezTo>
                  <a:pt x="130273" y="54561"/>
                  <a:pt x="128625" y="49617"/>
                  <a:pt x="124574" y="47591"/>
                </a:cubicBezTo>
                <a:cubicBezTo>
                  <a:pt x="120522" y="45565"/>
                  <a:pt x="115543" y="47213"/>
                  <a:pt x="113517" y="51265"/>
                </a:cubicBezTo>
                <a:lnTo>
                  <a:pt x="89653" y="98958"/>
                </a:lnTo>
                <a:cubicBezTo>
                  <a:pt x="89069" y="98924"/>
                  <a:pt x="88486" y="98890"/>
                  <a:pt x="87902" y="98890"/>
                </a:cubicBezTo>
                <a:cubicBezTo>
                  <a:pt x="75781" y="98890"/>
                  <a:pt x="65926" y="108744"/>
                  <a:pt x="65926" y="120865"/>
                </a:cubicBezTo>
                <a:cubicBezTo>
                  <a:pt x="65926" y="132986"/>
                  <a:pt x="75781" y="142841"/>
                  <a:pt x="87902" y="142841"/>
                </a:cubicBezTo>
                <a:close/>
                <a:moveTo>
                  <a:pt x="60433" y="49445"/>
                </a:moveTo>
                <a:cubicBezTo>
                  <a:pt x="60433" y="43381"/>
                  <a:pt x="55509" y="38457"/>
                  <a:pt x="49445" y="38457"/>
                </a:cubicBezTo>
                <a:cubicBezTo>
                  <a:pt x="43381" y="38457"/>
                  <a:pt x="38457" y="43381"/>
                  <a:pt x="38457" y="49445"/>
                </a:cubicBezTo>
                <a:cubicBezTo>
                  <a:pt x="38457" y="55509"/>
                  <a:pt x="43381" y="60433"/>
                  <a:pt x="49445" y="60433"/>
                </a:cubicBezTo>
                <a:cubicBezTo>
                  <a:pt x="55509" y="60433"/>
                  <a:pt x="60433" y="55509"/>
                  <a:pt x="60433" y="49445"/>
                </a:cubicBezTo>
                <a:close/>
                <a:moveTo>
                  <a:pt x="32963" y="98890"/>
                </a:moveTo>
                <a:cubicBezTo>
                  <a:pt x="39028" y="98890"/>
                  <a:pt x="43951" y="93966"/>
                  <a:pt x="43951" y="87902"/>
                </a:cubicBezTo>
                <a:cubicBezTo>
                  <a:pt x="43951" y="81838"/>
                  <a:pt x="39028" y="76914"/>
                  <a:pt x="32963" y="76914"/>
                </a:cubicBezTo>
                <a:cubicBezTo>
                  <a:pt x="26899" y="76914"/>
                  <a:pt x="21975" y="81838"/>
                  <a:pt x="21975" y="87902"/>
                </a:cubicBezTo>
                <a:cubicBezTo>
                  <a:pt x="21975" y="93966"/>
                  <a:pt x="26899" y="98890"/>
                  <a:pt x="32963" y="98890"/>
                </a:cubicBezTo>
                <a:close/>
                <a:moveTo>
                  <a:pt x="153828" y="87902"/>
                </a:moveTo>
                <a:cubicBezTo>
                  <a:pt x="153828" y="81838"/>
                  <a:pt x="148905" y="76914"/>
                  <a:pt x="142841" y="76914"/>
                </a:cubicBezTo>
                <a:cubicBezTo>
                  <a:pt x="136776" y="76914"/>
                  <a:pt x="131853" y="81838"/>
                  <a:pt x="131853" y="87902"/>
                </a:cubicBezTo>
                <a:cubicBezTo>
                  <a:pt x="131853" y="93966"/>
                  <a:pt x="136776" y="98890"/>
                  <a:pt x="142841" y="98890"/>
                </a:cubicBezTo>
                <a:cubicBezTo>
                  <a:pt x="148905" y="98890"/>
                  <a:pt x="153828" y="93966"/>
                  <a:pt x="153828" y="879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30269" y="1424012"/>
            <a:ext cx="131852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驾驶风格与指令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2857" y="1945517"/>
            <a:ext cx="3419386" cy="1230627"/>
          </a:xfrm>
          <a:custGeom>
            <a:avLst/>
            <a:gdLst/>
            <a:ahLst/>
            <a:cxnLst/>
            <a:rect l="l" t="t" r="r" b="b"/>
            <a:pathLst>
              <a:path w="3419386" h="1230627">
                <a:moveTo>
                  <a:pt x="70318" y="0"/>
                </a:moveTo>
                <a:lnTo>
                  <a:pt x="3349068" y="0"/>
                </a:lnTo>
                <a:cubicBezTo>
                  <a:pt x="3387903" y="0"/>
                  <a:pt x="3419386" y="31482"/>
                  <a:pt x="3419386" y="70318"/>
                </a:cubicBezTo>
                <a:lnTo>
                  <a:pt x="3419386" y="1160309"/>
                </a:lnTo>
                <a:cubicBezTo>
                  <a:pt x="3419386" y="1199145"/>
                  <a:pt x="3387903" y="1230627"/>
                  <a:pt x="3349068" y="1230627"/>
                </a:cubicBezTo>
                <a:lnTo>
                  <a:pt x="70318" y="1230627"/>
                </a:lnTo>
                <a:cubicBezTo>
                  <a:pt x="31482" y="1230627"/>
                  <a:pt x="0" y="1199145"/>
                  <a:pt x="0" y="1160309"/>
                </a:cubicBezTo>
                <a:lnTo>
                  <a:pt x="0" y="70318"/>
                </a:lnTo>
                <a:cubicBezTo>
                  <a:pt x="0" y="31482"/>
                  <a:pt x="31482" y="0"/>
                  <a:pt x="7031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08340" y="2051000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5种驾驶风格套餐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08340" y="2332286"/>
            <a:ext cx="3278743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对齐特斯拉，提供：舒适/标准/运动/Mad Max/节能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08340" y="2824537"/>
            <a:ext cx="386769" cy="246125"/>
          </a:xfrm>
          <a:custGeom>
            <a:avLst/>
            <a:gdLst/>
            <a:ahLst/>
            <a:cxnLst/>
            <a:rect l="l" t="t" r="r" b="b"/>
            <a:pathLst>
              <a:path w="386769" h="246125">
                <a:moveTo>
                  <a:pt x="35161" y="0"/>
                </a:moveTo>
                <a:lnTo>
                  <a:pt x="351607" y="0"/>
                </a:lnTo>
                <a:cubicBezTo>
                  <a:pt x="371013" y="0"/>
                  <a:pt x="386769" y="15755"/>
                  <a:pt x="386769" y="35161"/>
                </a:cubicBezTo>
                <a:lnTo>
                  <a:pt x="386769" y="210964"/>
                </a:lnTo>
                <a:cubicBezTo>
                  <a:pt x="386769" y="230383"/>
                  <a:pt x="371026" y="246125"/>
                  <a:pt x="351607" y="246125"/>
                </a:cubicBezTo>
                <a:lnTo>
                  <a:pt x="35161" y="246125"/>
                </a:lnTo>
                <a:cubicBezTo>
                  <a:pt x="15755" y="246125"/>
                  <a:pt x="0" y="230370"/>
                  <a:pt x="0" y="210964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C6E9E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08340" y="2824537"/>
            <a:ext cx="448300" cy="246125"/>
          </a:xfrm>
          <a:prstGeom prst="rect">
            <a:avLst/>
          </a:prstGeom>
          <a:noFill/>
          <a:ln/>
        </p:spPr>
        <p:txBody>
          <a:bodyPr wrap="square" lIns="70322" tIns="35161" rIns="7032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舒适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65430" y="2824537"/>
            <a:ext cx="386769" cy="246125"/>
          </a:xfrm>
          <a:custGeom>
            <a:avLst/>
            <a:gdLst/>
            <a:ahLst/>
            <a:cxnLst/>
            <a:rect l="l" t="t" r="r" b="b"/>
            <a:pathLst>
              <a:path w="386769" h="246125">
                <a:moveTo>
                  <a:pt x="35161" y="0"/>
                </a:moveTo>
                <a:lnTo>
                  <a:pt x="351607" y="0"/>
                </a:lnTo>
                <a:cubicBezTo>
                  <a:pt x="371013" y="0"/>
                  <a:pt x="386769" y="15755"/>
                  <a:pt x="386769" y="35161"/>
                </a:cubicBezTo>
                <a:lnTo>
                  <a:pt x="386769" y="210964"/>
                </a:lnTo>
                <a:cubicBezTo>
                  <a:pt x="386769" y="230383"/>
                  <a:pt x="371026" y="246125"/>
                  <a:pt x="351607" y="246125"/>
                </a:cubicBezTo>
                <a:lnTo>
                  <a:pt x="35161" y="246125"/>
                </a:lnTo>
                <a:cubicBezTo>
                  <a:pt x="15755" y="246125"/>
                  <a:pt x="0" y="230370"/>
                  <a:pt x="0" y="210964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C6E9E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65430" y="2824537"/>
            <a:ext cx="448300" cy="246125"/>
          </a:xfrm>
          <a:prstGeom prst="rect">
            <a:avLst/>
          </a:prstGeom>
          <a:noFill/>
          <a:ln/>
        </p:spPr>
        <p:txBody>
          <a:bodyPr wrap="square" lIns="70322" tIns="35161" rIns="7032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22520" y="2824537"/>
            <a:ext cx="386769" cy="246125"/>
          </a:xfrm>
          <a:custGeom>
            <a:avLst/>
            <a:gdLst/>
            <a:ahLst/>
            <a:cxnLst/>
            <a:rect l="l" t="t" r="r" b="b"/>
            <a:pathLst>
              <a:path w="386769" h="246125">
                <a:moveTo>
                  <a:pt x="35161" y="0"/>
                </a:moveTo>
                <a:lnTo>
                  <a:pt x="351607" y="0"/>
                </a:lnTo>
                <a:cubicBezTo>
                  <a:pt x="371013" y="0"/>
                  <a:pt x="386769" y="15755"/>
                  <a:pt x="386769" y="35161"/>
                </a:cubicBezTo>
                <a:lnTo>
                  <a:pt x="386769" y="210964"/>
                </a:lnTo>
                <a:cubicBezTo>
                  <a:pt x="386769" y="230383"/>
                  <a:pt x="371026" y="246125"/>
                  <a:pt x="351607" y="246125"/>
                </a:cubicBezTo>
                <a:lnTo>
                  <a:pt x="35161" y="246125"/>
                </a:lnTo>
                <a:cubicBezTo>
                  <a:pt x="15755" y="246125"/>
                  <a:pt x="0" y="230370"/>
                  <a:pt x="0" y="210964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C6E9E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22520" y="2824537"/>
            <a:ext cx="448300" cy="246125"/>
          </a:xfrm>
          <a:prstGeom prst="rect">
            <a:avLst/>
          </a:prstGeom>
          <a:noFill/>
          <a:ln/>
        </p:spPr>
        <p:txBody>
          <a:bodyPr wrap="square" lIns="70322" tIns="35161" rIns="7032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79610" y="2824537"/>
            <a:ext cx="668055" cy="246125"/>
          </a:xfrm>
          <a:custGeom>
            <a:avLst/>
            <a:gdLst/>
            <a:ahLst/>
            <a:cxnLst/>
            <a:rect l="l" t="t" r="r" b="b"/>
            <a:pathLst>
              <a:path w="668055" h="246125">
                <a:moveTo>
                  <a:pt x="35161" y="0"/>
                </a:moveTo>
                <a:lnTo>
                  <a:pt x="632893" y="0"/>
                </a:lnTo>
                <a:cubicBezTo>
                  <a:pt x="652299" y="0"/>
                  <a:pt x="668055" y="15755"/>
                  <a:pt x="668055" y="35161"/>
                </a:cubicBezTo>
                <a:lnTo>
                  <a:pt x="668055" y="210964"/>
                </a:lnTo>
                <a:cubicBezTo>
                  <a:pt x="668055" y="230383"/>
                  <a:pt x="652312" y="246125"/>
                  <a:pt x="632893" y="246125"/>
                </a:cubicBezTo>
                <a:lnTo>
                  <a:pt x="35161" y="246125"/>
                </a:lnTo>
                <a:cubicBezTo>
                  <a:pt x="15755" y="246125"/>
                  <a:pt x="0" y="230370"/>
                  <a:pt x="0" y="210964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4A26A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879610" y="2824537"/>
            <a:ext cx="729586" cy="246125"/>
          </a:xfrm>
          <a:prstGeom prst="rect">
            <a:avLst/>
          </a:prstGeom>
          <a:noFill/>
          <a:ln/>
        </p:spPr>
        <p:txBody>
          <a:bodyPr wrap="square" lIns="70322" tIns="35161" rIns="7032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Mad Max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21008" y="2824537"/>
            <a:ext cx="386769" cy="246125"/>
          </a:xfrm>
          <a:custGeom>
            <a:avLst/>
            <a:gdLst/>
            <a:ahLst/>
            <a:cxnLst/>
            <a:rect l="l" t="t" r="r" b="b"/>
            <a:pathLst>
              <a:path w="386769" h="246125">
                <a:moveTo>
                  <a:pt x="35161" y="0"/>
                </a:moveTo>
                <a:lnTo>
                  <a:pt x="351607" y="0"/>
                </a:lnTo>
                <a:cubicBezTo>
                  <a:pt x="371013" y="0"/>
                  <a:pt x="386769" y="15755"/>
                  <a:pt x="386769" y="35161"/>
                </a:cubicBezTo>
                <a:lnTo>
                  <a:pt x="386769" y="210964"/>
                </a:lnTo>
                <a:cubicBezTo>
                  <a:pt x="386769" y="230383"/>
                  <a:pt x="371026" y="246125"/>
                  <a:pt x="351607" y="246125"/>
                </a:cubicBezTo>
                <a:lnTo>
                  <a:pt x="35161" y="246125"/>
                </a:lnTo>
                <a:cubicBezTo>
                  <a:pt x="15755" y="246125"/>
                  <a:pt x="0" y="230370"/>
                  <a:pt x="0" y="210964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C6E9E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21008" y="2824537"/>
            <a:ext cx="448300" cy="246125"/>
          </a:xfrm>
          <a:prstGeom prst="rect">
            <a:avLst/>
          </a:prstGeom>
          <a:noFill/>
          <a:ln/>
        </p:spPr>
        <p:txBody>
          <a:bodyPr wrap="square" lIns="70322" tIns="35161" rIns="7032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02857" y="3410527"/>
            <a:ext cx="3419386" cy="1441592"/>
          </a:xfrm>
          <a:custGeom>
            <a:avLst/>
            <a:gdLst/>
            <a:ahLst/>
            <a:cxnLst/>
            <a:rect l="l" t="t" r="r" b="b"/>
            <a:pathLst>
              <a:path w="3419386" h="1441592">
                <a:moveTo>
                  <a:pt x="70321" y="0"/>
                </a:moveTo>
                <a:lnTo>
                  <a:pt x="3349065" y="0"/>
                </a:lnTo>
                <a:cubicBezTo>
                  <a:pt x="3387902" y="0"/>
                  <a:pt x="3419386" y="31484"/>
                  <a:pt x="3419386" y="70321"/>
                </a:cubicBezTo>
                <a:lnTo>
                  <a:pt x="3419386" y="1371271"/>
                </a:lnTo>
                <a:cubicBezTo>
                  <a:pt x="3419386" y="1410108"/>
                  <a:pt x="3387902" y="1441592"/>
                  <a:pt x="3349065" y="1441592"/>
                </a:cubicBezTo>
                <a:lnTo>
                  <a:pt x="70321" y="1441592"/>
                </a:lnTo>
                <a:cubicBezTo>
                  <a:pt x="31484" y="1441592"/>
                  <a:pt x="0" y="1410108"/>
                  <a:pt x="0" y="1371271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08340" y="3516009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座舱指令调整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08340" y="3797295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"开快点/慢点"调整驾驶风格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08340" y="4043421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"限速60"调整限速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08340" y="4289546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"换道/左转/右转"选择路线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8340" y="4535672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"跟车近一点"调整时距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02857" y="5086501"/>
            <a:ext cx="3419386" cy="1195466"/>
          </a:xfrm>
          <a:custGeom>
            <a:avLst/>
            <a:gdLst/>
            <a:ahLst/>
            <a:cxnLst/>
            <a:rect l="l" t="t" r="r" b="b"/>
            <a:pathLst>
              <a:path w="3419386" h="1195466">
                <a:moveTo>
                  <a:pt x="70317" y="0"/>
                </a:moveTo>
                <a:lnTo>
                  <a:pt x="3349068" y="0"/>
                </a:lnTo>
                <a:cubicBezTo>
                  <a:pt x="3387904" y="0"/>
                  <a:pt x="3419386" y="31482"/>
                  <a:pt x="3419386" y="70317"/>
                </a:cubicBezTo>
                <a:lnTo>
                  <a:pt x="3419386" y="1125149"/>
                </a:lnTo>
                <a:cubicBezTo>
                  <a:pt x="3419386" y="1163984"/>
                  <a:pt x="3387904" y="1195466"/>
                  <a:pt x="3349068" y="1195466"/>
                </a:cubicBezTo>
                <a:lnTo>
                  <a:pt x="70317" y="1195466"/>
                </a:lnTo>
                <a:cubicBezTo>
                  <a:pt x="31482" y="1195466"/>
                  <a:pt x="0" y="1163984"/>
                  <a:pt x="0" y="1125149"/>
                </a:cubicBezTo>
                <a:lnTo>
                  <a:pt x="0" y="70317"/>
                </a:lnTo>
                <a:cubicBezTo>
                  <a:pt x="0" y="31482"/>
                  <a:pt x="31482" y="0"/>
                  <a:pt x="70317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508340" y="5191983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场景化调节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08340" y="5473270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座舱喝水→更平稳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08340" y="5719395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坑洼路面→提醒/避让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508340" y="5965521"/>
            <a:ext cx="32787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时间紧张→Mad Max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0148" y="1195466"/>
            <a:ext cx="3718252" cy="5309278"/>
          </a:xfrm>
          <a:custGeom>
            <a:avLst/>
            <a:gdLst/>
            <a:ahLst/>
            <a:cxnLst/>
            <a:rect l="l" t="t" r="r" b="b"/>
            <a:pathLst>
              <a:path w="3718252" h="5309278">
                <a:moveTo>
                  <a:pt x="35161" y="0"/>
                </a:moveTo>
                <a:lnTo>
                  <a:pt x="3647940" y="0"/>
                </a:lnTo>
                <a:cubicBezTo>
                  <a:pt x="3686773" y="0"/>
                  <a:pt x="3718252" y="31480"/>
                  <a:pt x="3718252" y="70312"/>
                </a:cubicBezTo>
                <a:lnTo>
                  <a:pt x="3718252" y="5238965"/>
                </a:lnTo>
                <a:cubicBezTo>
                  <a:pt x="3718252" y="5277798"/>
                  <a:pt x="3686773" y="5309278"/>
                  <a:pt x="3647940" y="5309278"/>
                </a:cubicBez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8120148" y="1195466"/>
            <a:ext cx="35161" cy="5309278"/>
          </a:xfrm>
          <a:custGeom>
            <a:avLst/>
            <a:gdLst/>
            <a:ahLst/>
            <a:cxnLst/>
            <a:rect l="l" t="t" r="r" b="b"/>
            <a:pathLst>
              <a:path w="35161" h="5309278">
                <a:moveTo>
                  <a:pt x="35161" y="0"/>
                </a:moveTo>
                <a:lnTo>
                  <a:pt x="35161" y="0"/>
                </a:lnTo>
                <a:lnTo>
                  <a:pt x="35161" y="5309278"/>
                </a:lnTo>
                <a:lnTo>
                  <a:pt x="35161" y="5309278"/>
                </a:lnTo>
                <a:cubicBezTo>
                  <a:pt x="15742" y="5309278"/>
                  <a:pt x="0" y="5293536"/>
                  <a:pt x="0" y="527411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6" name="Shape 54"/>
          <p:cNvSpPr/>
          <p:nvPr/>
        </p:nvSpPr>
        <p:spPr>
          <a:xfrm>
            <a:off x="8278372" y="133611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0"/>
                </a:moveTo>
                <a:lnTo>
                  <a:pt x="210965" y="0"/>
                </a:lnTo>
                <a:cubicBezTo>
                  <a:pt x="327399" y="0"/>
                  <a:pt x="421929" y="94530"/>
                  <a:pt x="421929" y="210965"/>
                </a:cubicBezTo>
                <a:lnTo>
                  <a:pt x="421929" y="210965"/>
                </a:lnTo>
                <a:cubicBezTo>
                  <a:pt x="421929" y="327399"/>
                  <a:pt x="327399" y="421929"/>
                  <a:pt x="210965" y="421929"/>
                </a:cubicBezTo>
                <a:lnTo>
                  <a:pt x="210965" y="421929"/>
                </a:lnTo>
                <a:cubicBezTo>
                  <a:pt x="94530" y="421929"/>
                  <a:pt x="0" y="327399"/>
                  <a:pt x="0" y="210965"/>
                </a:cubicBezTo>
                <a:lnTo>
                  <a:pt x="0" y="210965"/>
                </a:lnTo>
                <a:cubicBezTo>
                  <a:pt x="0" y="94530"/>
                  <a:pt x="94530" y="0"/>
                  <a:pt x="21096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7" name="Shape 55"/>
          <p:cNvSpPr/>
          <p:nvPr/>
        </p:nvSpPr>
        <p:spPr>
          <a:xfrm>
            <a:off x="8412422" y="1459172"/>
            <a:ext cx="153828" cy="175804"/>
          </a:xfrm>
          <a:custGeom>
            <a:avLst/>
            <a:gdLst/>
            <a:ahLst/>
            <a:cxnLst/>
            <a:rect l="l" t="t" r="r" b="b"/>
            <a:pathLst>
              <a:path w="153828" h="175804">
                <a:moveTo>
                  <a:pt x="0" y="87902"/>
                </a:moveTo>
                <a:cubicBezTo>
                  <a:pt x="0" y="77289"/>
                  <a:pt x="8616" y="68673"/>
                  <a:pt x="19229" y="68673"/>
                </a:cubicBezTo>
                <a:cubicBezTo>
                  <a:pt x="29841" y="68673"/>
                  <a:pt x="38457" y="77289"/>
                  <a:pt x="38457" y="87902"/>
                </a:cubicBezTo>
                <a:cubicBezTo>
                  <a:pt x="38457" y="98514"/>
                  <a:pt x="29841" y="107130"/>
                  <a:pt x="19229" y="107130"/>
                </a:cubicBezTo>
                <a:cubicBezTo>
                  <a:pt x="8616" y="107130"/>
                  <a:pt x="0" y="98514"/>
                  <a:pt x="0" y="87902"/>
                </a:cubicBezTo>
                <a:close/>
                <a:moveTo>
                  <a:pt x="57686" y="87902"/>
                </a:moveTo>
                <a:cubicBezTo>
                  <a:pt x="57686" y="77289"/>
                  <a:pt x="66302" y="68673"/>
                  <a:pt x="76914" y="68673"/>
                </a:cubicBezTo>
                <a:cubicBezTo>
                  <a:pt x="87527" y="68673"/>
                  <a:pt x="96143" y="77289"/>
                  <a:pt x="96143" y="87902"/>
                </a:cubicBezTo>
                <a:cubicBezTo>
                  <a:pt x="96143" y="98514"/>
                  <a:pt x="87527" y="107130"/>
                  <a:pt x="76914" y="107130"/>
                </a:cubicBezTo>
                <a:cubicBezTo>
                  <a:pt x="66302" y="107130"/>
                  <a:pt x="57686" y="98514"/>
                  <a:pt x="57686" y="87902"/>
                </a:cubicBezTo>
                <a:close/>
                <a:moveTo>
                  <a:pt x="134600" y="68673"/>
                </a:moveTo>
                <a:cubicBezTo>
                  <a:pt x="145212" y="68673"/>
                  <a:pt x="153828" y="77289"/>
                  <a:pt x="153828" y="87902"/>
                </a:cubicBezTo>
                <a:cubicBezTo>
                  <a:pt x="153828" y="98514"/>
                  <a:pt x="145212" y="107130"/>
                  <a:pt x="134600" y="107130"/>
                </a:cubicBezTo>
                <a:cubicBezTo>
                  <a:pt x="123987" y="107130"/>
                  <a:pt x="115371" y="98514"/>
                  <a:pt x="115371" y="87902"/>
                </a:cubicBezTo>
                <a:cubicBezTo>
                  <a:pt x="115371" y="77289"/>
                  <a:pt x="123987" y="68673"/>
                  <a:pt x="134600" y="686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805784" y="1424012"/>
            <a:ext cx="79111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其他能力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78372" y="1863521"/>
            <a:ext cx="3419386" cy="1054823"/>
          </a:xfrm>
          <a:custGeom>
            <a:avLst/>
            <a:gdLst/>
            <a:ahLst/>
            <a:cxnLst/>
            <a:rect l="l" t="t" r="r" b="b"/>
            <a:pathLst>
              <a:path w="3419386" h="1054823">
                <a:moveTo>
                  <a:pt x="70325" y="0"/>
                </a:moveTo>
                <a:lnTo>
                  <a:pt x="3349061" y="0"/>
                </a:lnTo>
                <a:cubicBezTo>
                  <a:pt x="3387900" y="0"/>
                  <a:pt x="3419386" y="31486"/>
                  <a:pt x="3419386" y="70325"/>
                </a:cubicBezTo>
                <a:lnTo>
                  <a:pt x="3419386" y="984498"/>
                </a:lnTo>
                <a:cubicBezTo>
                  <a:pt x="3419386" y="1023338"/>
                  <a:pt x="3387900" y="1054823"/>
                  <a:pt x="3349061" y="1054823"/>
                </a:cubicBezTo>
                <a:lnTo>
                  <a:pt x="70325" y="1054823"/>
                </a:lnTo>
                <a:cubicBezTo>
                  <a:pt x="31486" y="1054823"/>
                  <a:pt x="0" y="1023338"/>
                  <a:pt x="0" y="984498"/>
                </a:cubicBezTo>
                <a:lnTo>
                  <a:pt x="0" y="70325"/>
                </a:lnTo>
                <a:cubicBezTo>
                  <a:pt x="0" y="31512"/>
                  <a:pt x="31512" y="0"/>
                  <a:pt x="7032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419015" y="2004164"/>
            <a:ext cx="320842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抵达目的地靠边停车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19015" y="2320611"/>
            <a:ext cx="3208421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支持抵达目的地或途经点后，自动寻找合适位置靠边停车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78372" y="2988666"/>
            <a:ext cx="3419386" cy="1054823"/>
          </a:xfrm>
          <a:custGeom>
            <a:avLst/>
            <a:gdLst/>
            <a:ahLst/>
            <a:cxnLst/>
            <a:rect l="l" t="t" r="r" b="b"/>
            <a:pathLst>
              <a:path w="3419386" h="1054823">
                <a:moveTo>
                  <a:pt x="70325" y="0"/>
                </a:moveTo>
                <a:lnTo>
                  <a:pt x="3349061" y="0"/>
                </a:lnTo>
                <a:cubicBezTo>
                  <a:pt x="3387900" y="0"/>
                  <a:pt x="3419386" y="31486"/>
                  <a:pt x="3419386" y="70325"/>
                </a:cubicBezTo>
                <a:lnTo>
                  <a:pt x="3419386" y="984498"/>
                </a:lnTo>
                <a:cubicBezTo>
                  <a:pt x="3419386" y="1023338"/>
                  <a:pt x="3387900" y="1054823"/>
                  <a:pt x="3349061" y="1054823"/>
                </a:cubicBezTo>
                <a:lnTo>
                  <a:pt x="70325" y="1054823"/>
                </a:lnTo>
                <a:cubicBezTo>
                  <a:pt x="31486" y="1054823"/>
                  <a:pt x="0" y="1023338"/>
                  <a:pt x="0" y="984498"/>
                </a:cubicBezTo>
                <a:lnTo>
                  <a:pt x="0" y="70325"/>
                </a:lnTo>
                <a:cubicBezTo>
                  <a:pt x="0" y="31512"/>
                  <a:pt x="31512" y="0"/>
                  <a:pt x="7032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419015" y="3129309"/>
            <a:ext cx="320842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停车场特征标签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19015" y="3445756"/>
            <a:ext cx="3208421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与字节对齐停车场特征标签体系，支持基于用户query需求搜索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78372" y="4113811"/>
            <a:ext cx="3419386" cy="826278"/>
          </a:xfrm>
          <a:custGeom>
            <a:avLst/>
            <a:gdLst/>
            <a:ahLst/>
            <a:cxnLst/>
            <a:rect l="l" t="t" r="r" b="b"/>
            <a:pathLst>
              <a:path w="3419386" h="826278">
                <a:moveTo>
                  <a:pt x="70325" y="0"/>
                </a:moveTo>
                <a:lnTo>
                  <a:pt x="3349061" y="0"/>
                </a:lnTo>
                <a:cubicBezTo>
                  <a:pt x="3387900" y="0"/>
                  <a:pt x="3419386" y="31485"/>
                  <a:pt x="3419386" y="70325"/>
                </a:cubicBezTo>
                <a:lnTo>
                  <a:pt x="3419386" y="755954"/>
                </a:lnTo>
                <a:cubicBezTo>
                  <a:pt x="3419386" y="794793"/>
                  <a:pt x="3387900" y="826278"/>
                  <a:pt x="3349061" y="826278"/>
                </a:cubicBezTo>
                <a:lnTo>
                  <a:pt x="70325" y="826278"/>
                </a:lnTo>
                <a:cubicBezTo>
                  <a:pt x="31485" y="826278"/>
                  <a:pt x="0" y="794793"/>
                  <a:pt x="0" y="755954"/>
                </a:cubicBezTo>
                <a:lnTo>
                  <a:pt x="0" y="70325"/>
                </a:lnTo>
                <a:cubicBezTo>
                  <a:pt x="0" y="31511"/>
                  <a:pt x="31511" y="0"/>
                  <a:pt x="70325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419015" y="4254454"/>
            <a:ext cx="320842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区域漫游找车位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19015" y="4570901"/>
            <a:ext cx="3208421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支持抵达区域后，在停车场内漫游寻找可用车位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82767" y="5858665"/>
            <a:ext cx="3410596" cy="501041"/>
          </a:xfrm>
          <a:custGeom>
            <a:avLst/>
            <a:gdLst/>
            <a:ahLst/>
            <a:cxnLst/>
            <a:rect l="l" t="t" r="r" b="b"/>
            <a:pathLst>
              <a:path w="3410596" h="501041">
                <a:moveTo>
                  <a:pt x="70321" y="0"/>
                </a:moveTo>
                <a:lnTo>
                  <a:pt x="3340274" y="0"/>
                </a:lnTo>
                <a:cubicBezTo>
                  <a:pt x="3379112" y="0"/>
                  <a:pt x="3410596" y="31484"/>
                  <a:pt x="3410596" y="70321"/>
                </a:cubicBezTo>
                <a:lnTo>
                  <a:pt x="3410596" y="430720"/>
                </a:lnTo>
                <a:cubicBezTo>
                  <a:pt x="3410596" y="469557"/>
                  <a:pt x="3379112" y="501041"/>
                  <a:pt x="3340274" y="501041"/>
                </a:cubicBezTo>
                <a:lnTo>
                  <a:pt x="70321" y="501041"/>
                </a:lnTo>
                <a:cubicBezTo>
                  <a:pt x="31484" y="501041"/>
                  <a:pt x="0" y="469557"/>
                  <a:pt x="0" y="430720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92644" y="6003703"/>
            <a:ext cx="319084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目标：实现场景1端到端闭环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(830)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二期（830）：拓展漫游与交互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79500"/>
            <a:ext cx="5699125" cy="3365500"/>
          </a:xfrm>
          <a:custGeom>
            <a:avLst/>
            <a:gdLst/>
            <a:ahLst/>
            <a:cxnLst/>
            <a:rect l="l" t="t" r="r" b="b"/>
            <a:pathLst>
              <a:path w="5699125" h="3365500">
                <a:moveTo>
                  <a:pt x="31750" y="0"/>
                </a:moveTo>
                <a:lnTo>
                  <a:pt x="5635618" y="0"/>
                </a:lnTo>
                <a:cubicBezTo>
                  <a:pt x="5670692" y="0"/>
                  <a:pt x="5699125" y="28433"/>
                  <a:pt x="5699125" y="63507"/>
                </a:cubicBezTo>
                <a:lnTo>
                  <a:pt x="5699125" y="3301993"/>
                </a:lnTo>
                <a:cubicBezTo>
                  <a:pt x="5699125" y="3337067"/>
                  <a:pt x="5670692" y="3365500"/>
                  <a:pt x="5635618" y="3365500"/>
                </a:cubicBezTo>
                <a:lnTo>
                  <a:pt x="31750" y="3365500"/>
                </a:lnTo>
                <a:cubicBezTo>
                  <a:pt x="14215" y="3365500"/>
                  <a:pt x="0" y="3351285"/>
                  <a:pt x="0" y="333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079500"/>
            <a:ext cx="31750" cy="3365500"/>
          </a:xfrm>
          <a:custGeom>
            <a:avLst/>
            <a:gdLst/>
            <a:ahLst/>
            <a:cxnLst/>
            <a:rect l="l" t="t" r="r" b="b"/>
            <a:pathLst>
              <a:path w="31750" h="3365500">
                <a:moveTo>
                  <a:pt x="31750" y="0"/>
                </a:moveTo>
                <a:lnTo>
                  <a:pt x="31750" y="0"/>
                </a:lnTo>
                <a:lnTo>
                  <a:pt x="31750" y="3365500"/>
                </a:lnTo>
                <a:lnTo>
                  <a:pt x="31750" y="3365500"/>
                </a:lnTo>
                <a:cubicBezTo>
                  <a:pt x="14227" y="3365500"/>
                  <a:pt x="0" y="3351273"/>
                  <a:pt x="0" y="333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120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Shape 6"/>
          <p:cNvSpPr/>
          <p:nvPr/>
        </p:nvSpPr>
        <p:spPr>
          <a:xfrm>
            <a:off x="567531" y="131762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78594" y="14883"/>
                </a:moveTo>
                <a:cubicBezTo>
                  <a:pt x="178594" y="11441"/>
                  <a:pt x="176826" y="8248"/>
                  <a:pt x="173881" y="6449"/>
                </a:cubicBezTo>
                <a:cubicBezTo>
                  <a:pt x="170935" y="4651"/>
                  <a:pt x="167308" y="4465"/>
                  <a:pt x="164238" y="6015"/>
                </a:cubicBezTo>
                <a:lnTo>
                  <a:pt x="128209" y="24030"/>
                </a:lnTo>
                <a:lnTo>
                  <a:pt x="72585" y="5457"/>
                </a:lnTo>
                <a:cubicBezTo>
                  <a:pt x="70073" y="4620"/>
                  <a:pt x="67376" y="4806"/>
                  <a:pt x="65019" y="5984"/>
                </a:cubicBezTo>
                <a:lnTo>
                  <a:pt x="25332" y="25828"/>
                </a:lnTo>
                <a:cubicBezTo>
                  <a:pt x="21952" y="27533"/>
                  <a:pt x="19844" y="30975"/>
                  <a:pt x="19844" y="34727"/>
                </a:cubicBezTo>
                <a:lnTo>
                  <a:pt x="19844" y="143867"/>
                </a:lnTo>
                <a:cubicBezTo>
                  <a:pt x="19844" y="147309"/>
                  <a:pt x="21611" y="150502"/>
                  <a:pt x="24557" y="152301"/>
                </a:cubicBezTo>
                <a:cubicBezTo>
                  <a:pt x="27502" y="154099"/>
                  <a:pt x="31130" y="154285"/>
                  <a:pt x="34199" y="152735"/>
                </a:cubicBezTo>
                <a:lnTo>
                  <a:pt x="70197" y="134720"/>
                </a:lnTo>
                <a:lnTo>
                  <a:pt x="123930" y="152642"/>
                </a:lnTo>
                <a:cubicBezTo>
                  <a:pt x="122597" y="150657"/>
                  <a:pt x="121295" y="148580"/>
                  <a:pt x="120024" y="146472"/>
                </a:cubicBezTo>
                <a:cubicBezTo>
                  <a:pt x="116613" y="140798"/>
                  <a:pt x="113233" y="134286"/>
                  <a:pt x="110722" y="127310"/>
                </a:cubicBezTo>
                <a:lnTo>
                  <a:pt x="79344" y="116861"/>
                </a:lnTo>
                <a:lnTo>
                  <a:pt x="79344" y="28649"/>
                </a:lnTo>
                <a:lnTo>
                  <a:pt x="119031" y="41889"/>
                </a:lnTo>
                <a:lnTo>
                  <a:pt x="119031" y="72678"/>
                </a:lnTo>
                <a:cubicBezTo>
                  <a:pt x="128643" y="61578"/>
                  <a:pt x="142906" y="54570"/>
                  <a:pt x="158719" y="54570"/>
                </a:cubicBezTo>
                <a:cubicBezTo>
                  <a:pt x="165726" y="54570"/>
                  <a:pt x="172424" y="55935"/>
                  <a:pt x="178563" y="58446"/>
                </a:cubicBezTo>
                <a:lnTo>
                  <a:pt x="178594" y="14883"/>
                </a:lnTo>
                <a:close/>
                <a:moveTo>
                  <a:pt x="158750" y="69453"/>
                </a:moveTo>
                <a:cubicBezTo>
                  <a:pt x="138193" y="69453"/>
                  <a:pt x="121543" y="85824"/>
                  <a:pt x="121543" y="106009"/>
                </a:cubicBezTo>
                <a:cubicBezTo>
                  <a:pt x="121543" y="127372"/>
                  <a:pt x="141418" y="152642"/>
                  <a:pt x="152115" y="164703"/>
                </a:cubicBezTo>
                <a:cubicBezTo>
                  <a:pt x="155711" y="168734"/>
                  <a:pt x="161820" y="168734"/>
                  <a:pt x="165416" y="164703"/>
                </a:cubicBezTo>
                <a:cubicBezTo>
                  <a:pt x="176113" y="152642"/>
                  <a:pt x="195988" y="127372"/>
                  <a:pt x="195988" y="106009"/>
                </a:cubicBezTo>
                <a:cubicBezTo>
                  <a:pt x="195988" y="85824"/>
                  <a:pt x="179338" y="69453"/>
                  <a:pt x="158781" y="69453"/>
                </a:cubicBezTo>
                <a:close/>
                <a:moveTo>
                  <a:pt x="146348" y="106660"/>
                </a:moveTo>
                <a:cubicBezTo>
                  <a:pt x="146348" y="99815"/>
                  <a:pt x="151905" y="94258"/>
                  <a:pt x="158750" y="94258"/>
                </a:cubicBezTo>
                <a:cubicBezTo>
                  <a:pt x="165595" y="94258"/>
                  <a:pt x="171152" y="99815"/>
                  <a:pt x="171152" y="106660"/>
                </a:cubicBezTo>
                <a:cubicBezTo>
                  <a:pt x="171152" y="113505"/>
                  <a:pt x="165595" y="119062"/>
                  <a:pt x="158750" y="119062"/>
                </a:cubicBezTo>
                <a:cubicBezTo>
                  <a:pt x="151905" y="119062"/>
                  <a:pt x="146348" y="113505"/>
                  <a:pt x="146348" y="1066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1285875"/>
            <a:ext cx="120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Arrival Options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682750"/>
            <a:ext cx="549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参考特斯拉，支持4种抵达选项，满足差异化停车需求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196850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079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4688" y="2174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47625" y="63500"/>
                </a:moveTo>
                <a:lnTo>
                  <a:pt x="59531" y="63500"/>
                </a:lnTo>
                <a:cubicBezTo>
                  <a:pt x="63922" y="63500"/>
                  <a:pt x="67469" y="59953"/>
                  <a:pt x="67469" y="55563"/>
                </a:cubicBezTo>
                <a:cubicBezTo>
                  <a:pt x="67469" y="51172"/>
                  <a:pt x="63922" y="47625"/>
                  <a:pt x="59531" y="47625"/>
                </a:cubicBezTo>
                <a:lnTo>
                  <a:pt x="47625" y="47625"/>
                </a:lnTo>
                <a:lnTo>
                  <a:pt x="47625" y="63500"/>
                </a:lnTo>
                <a:close/>
                <a:moveTo>
                  <a:pt x="59531" y="79375"/>
                </a:moveTo>
                <a:lnTo>
                  <a:pt x="47625" y="79375"/>
                </a:lnTo>
                <a:lnTo>
                  <a:pt x="47625" y="87313"/>
                </a:lnTo>
                <a:cubicBezTo>
                  <a:pt x="47625" y="91703"/>
                  <a:pt x="44078" y="95250"/>
                  <a:pt x="39688" y="95250"/>
                </a:cubicBezTo>
                <a:cubicBezTo>
                  <a:pt x="35297" y="95250"/>
                  <a:pt x="31750" y="91703"/>
                  <a:pt x="31750" y="87313"/>
                </a:cubicBezTo>
                <a:lnTo>
                  <a:pt x="31750" y="41672"/>
                </a:lnTo>
                <a:cubicBezTo>
                  <a:pt x="31750" y="36190"/>
                  <a:pt x="36190" y="31750"/>
                  <a:pt x="41672" y="31750"/>
                </a:cubicBezTo>
                <a:lnTo>
                  <a:pt x="59531" y="31750"/>
                </a:lnTo>
                <a:cubicBezTo>
                  <a:pt x="72678" y="31750"/>
                  <a:pt x="83344" y="42416"/>
                  <a:pt x="83344" y="55563"/>
                </a:cubicBezTo>
                <a:cubicBezTo>
                  <a:pt x="83344" y="68709"/>
                  <a:pt x="72678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4250" y="20637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Parking 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4250" y="2254250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露天停车场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257175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26828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6750" y="2778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38" y="7938"/>
                </a:moveTo>
                <a:lnTo>
                  <a:pt x="36637" y="7938"/>
                </a:lnTo>
                <a:cubicBezTo>
                  <a:pt x="29344" y="7938"/>
                  <a:pt x="22969" y="12923"/>
                  <a:pt x="21233" y="19993"/>
                </a:cubicBezTo>
                <a:lnTo>
                  <a:pt x="347" y="104304"/>
                </a:lnTo>
                <a:cubicBezTo>
                  <a:pt x="-1513" y="111795"/>
                  <a:pt x="4167" y="119063"/>
                  <a:pt x="11906" y="119063"/>
                </a:cubicBezTo>
                <a:lnTo>
                  <a:pt x="55538" y="119063"/>
                </a:lnTo>
                <a:lnTo>
                  <a:pt x="55538" y="103188"/>
                </a:lnTo>
                <a:cubicBezTo>
                  <a:pt x="55538" y="98797"/>
                  <a:pt x="59085" y="95250"/>
                  <a:pt x="63475" y="95250"/>
                </a:cubicBezTo>
                <a:cubicBezTo>
                  <a:pt x="67866" y="95250"/>
                  <a:pt x="71413" y="98797"/>
                  <a:pt x="71413" y="103188"/>
                </a:cubicBezTo>
                <a:lnTo>
                  <a:pt x="71413" y="119063"/>
                </a:lnTo>
                <a:lnTo>
                  <a:pt x="115094" y="119063"/>
                </a:lnTo>
                <a:cubicBezTo>
                  <a:pt x="122833" y="119063"/>
                  <a:pt x="128513" y="111795"/>
                  <a:pt x="126653" y="104304"/>
                </a:cubicBezTo>
                <a:lnTo>
                  <a:pt x="105792" y="19993"/>
                </a:lnTo>
                <a:cubicBezTo>
                  <a:pt x="104031" y="12923"/>
                  <a:pt x="97681" y="7938"/>
                  <a:pt x="90363" y="7938"/>
                </a:cubicBezTo>
                <a:lnTo>
                  <a:pt x="71413" y="7938"/>
                </a:lnTo>
                <a:lnTo>
                  <a:pt x="71413" y="23812"/>
                </a:lnTo>
                <a:cubicBezTo>
                  <a:pt x="71413" y="28203"/>
                  <a:pt x="67866" y="31750"/>
                  <a:pt x="63475" y="31750"/>
                </a:cubicBezTo>
                <a:cubicBezTo>
                  <a:pt x="59085" y="31750"/>
                  <a:pt x="55538" y="28203"/>
                  <a:pt x="55538" y="23812"/>
                </a:cubicBezTo>
                <a:lnTo>
                  <a:pt x="55538" y="7938"/>
                </a:lnTo>
                <a:close/>
                <a:moveTo>
                  <a:pt x="71413" y="55563"/>
                </a:moveTo>
                <a:lnTo>
                  <a:pt x="71413" y="71438"/>
                </a:lnTo>
                <a:cubicBezTo>
                  <a:pt x="71413" y="75828"/>
                  <a:pt x="67866" y="79375"/>
                  <a:pt x="63475" y="79375"/>
                </a:cubicBezTo>
                <a:cubicBezTo>
                  <a:pt x="59085" y="79375"/>
                  <a:pt x="55538" y="75828"/>
                  <a:pt x="55538" y="71438"/>
                </a:cubicBezTo>
                <a:lnTo>
                  <a:pt x="55538" y="55563"/>
                </a:lnTo>
                <a:cubicBezTo>
                  <a:pt x="55538" y="51172"/>
                  <a:pt x="59085" y="47625"/>
                  <a:pt x="63475" y="47625"/>
                </a:cubicBezTo>
                <a:cubicBezTo>
                  <a:pt x="67866" y="47625"/>
                  <a:pt x="71413" y="51172"/>
                  <a:pt x="71413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84250" y="2667000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the Street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4250" y="2857500"/>
            <a:ext cx="87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路边合法停车位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17500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32861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625" y="3381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43656" y="87313"/>
                </a:moveTo>
                <a:lnTo>
                  <a:pt x="51594" y="87313"/>
                </a:lnTo>
                <a:cubicBezTo>
                  <a:pt x="55984" y="87313"/>
                  <a:pt x="59531" y="90860"/>
                  <a:pt x="59531" y="95250"/>
                </a:cubicBezTo>
                <a:lnTo>
                  <a:pt x="59531" y="115094"/>
                </a:lnTo>
                <a:lnTo>
                  <a:pt x="35719" y="115094"/>
                </a:lnTo>
                <a:lnTo>
                  <a:pt x="35719" y="95250"/>
                </a:lnTo>
                <a:cubicBezTo>
                  <a:pt x="35719" y="90860"/>
                  <a:pt x="39266" y="87313"/>
                  <a:pt x="43656" y="87313"/>
                </a:cubicBezTo>
                <a:close/>
                <a:moveTo>
                  <a:pt x="23812" y="27781"/>
                </a:moveTo>
                <a:cubicBezTo>
                  <a:pt x="23812" y="25598"/>
                  <a:pt x="25598" y="23812"/>
                  <a:pt x="27781" y="23812"/>
                </a:cubicBezTo>
                <a:lnTo>
                  <a:pt x="35719" y="23812"/>
                </a:lnTo>
                <a:cubicBezTo>
                  <a:pt x="37902" y="23812"/>
                  <a:pt x="39688" y="25598"/>
                  <a:pt x="39688" y="27781"/>
                </a:cubicBezTo>
                <a:lnTo>
                  <a:pt x="39688" y="35719"/>
                </a:lnTo>
                <a:cubicBezTo>
                  <a:pt x="39688" y="37902"/>
                  <a:pt x="37902" y="39688"/>
                  <a:pt x="35719" y="39688"/>
                </a:cubicBezTo>
                <a:lnTo>
                  <a:pt x="27781" y="39688"/>
                </a:lnTo>
                <a:cubicBezTo>
                  <a:pt x="25598" y="39688"/>
                  <a:pt x="23812" y="37902"/>
                  <a:pt x="23812" y="35719"/>
                </a:cubicBezTo>
                <a:lnTo>
                  <a:pt x="23812" y="27781"/>
                </a:lnTo>
                <a:close/>
                <a:moveTo>
                  <a:pt x="59531" y="23812"/>
                </a:moveTo>
                <a:lnTo>
                  <a:pt x="67469" y="23812"/>
                </a:lnTo>
                <a:cubicBezTo>
                  <a:pt x="69652" y="23812"/>
                  <a:pt x="71438" y="25598"/>
                  <a:pt x="71438" y="27781"/>
                </a:cubicBezTo>
                <a:lnTo>
                  <a:pt x="71438" y="35719"/>
                </a:lnTo>
                <a:cubicBezTo>
                  <a:pt x="71438" y="37902"/>
                  <a:pt x="69652" y="39688"/>
                  <a:pt x="67469" y="39688"/>
                </a:cubicBezTo>
                <a:lnTo>
                  <a:pt x="59531" y="39688"/>
                </a:lnTo>
                <a:cubicBezTo>
                  <a:pt x="57348" y="39688"/>
                  <a:pt x="55563" y="37902"/>
                  <a:pt x="55563" y="35719"/>
                </a:cubicBezTo>
                <a:lnTo>
                  <a:pt x="55563" y="27781"/>
                </a:lnTo>
                <a:cubicBezTo>
                  <a:pt x="55563" y="25598"/>
                  <a:pt x="57348" y="23812"/>
                  <a:pt x="59531" y="23812"/>
                </a:cubicBezTo>
                <a:close/>
                <a:moveTo>
                  <a:pt x="23812" y="59531"/>
                </a:moveTo>
                <a:cubicBezTo>
                  <a:pt x="23812" y="57348"/>
                  <a:pt x="25598" y="55563"/>
                  <a:pt x="27781" y="55563"/>
                </a:cubicBezTo>
                <a:lnTo>
                  <a:pt x="35719" y="55563"/>
                </a:lnTo>
                <a:cubicBezTo>
                  <a:pt x="37902" y="55563"/>
                  <a:pt x="39688" y="57348"/>
                  <a:pt x="39688" y="59531"/>
                </a:cubicBezTo>
                <a:lnTo>
                  <a:pt x="39688" y="67469"/>
                </a:lnTo>
                <a:cubicBezTo>
                  <a:pt x="39688" y="69652"/>
                  <a:pt x="37902" y="71438"/>
                  <a:pt x="35719" y="71438"/>
                </a:cubicBezTo>
                <a:lnTo>
                  <a:pt x="27781" y="71438"/>
                </a:lnTo>
                <a:cubicBezTo>
                  <a:pt x="25598" y="71438"/>
                  <a:pt x="23812" y="69652"/>
                  <a:pt x="23812" y="67469"/>
                </a:cubicBezTo>
                <a:lnTo>
                  <a:pt x="23812" y="59531"/>
                </a:lnTo>
                <a:close/>
                <a:moveTo>
                  <a:pt x="59531" y="55563"/>
                </a:moveTo>
                <a:lnTo>
                  <a:pt x="67469" y="55563"/>
                </a:lnTo>
                <a:cubicBezTo>
                  <a:pt x="69652" y="55563"/>
                  <a:pt x="71438" y="57348"/>
                  <a:pt x="71438" y="59531"/>
                </a:cubicBezTo>
                <a:lnTo>
                  <a:pt x="71438" y="67469"/>
                </a:lnTo>
                <a:cubicBezTo>
                  <a:pt x="71438" y="69652"/>
                  <a:pt x="69652" y="71438"/>
                  <a:pt x="67469" y="71438"/>
                </a:cubicBezTo>
                <a:lnTo>
                  <a:pt x="59531" y="71438"/>
                </a:lnTo>
                <a:cubicBezTo>
                  <a:pt x="57348" y="71438"/>
                  <a:pt x="55563" y="69652"/>
                  <a:pt x="55563" y="67469"/>
                </a:cubicBezTo>
                <a:lnTo>
                  <a:pt x="55563" y="59531"/>
                </a:lnTo>
                <a:cubicBezTo>
                  <a:pt x="55563" y="57348"/>
                  <a:pt x="57348" y="55563"/>
                  <a:pt x="59531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4250" y="3270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Parking Garage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4250" y="3460750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地下停车场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377825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38893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82625" y="398462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7625" y="19844"/>
                </a:moveTo>
                <a:cubicBezTo>
                  <a:pt x="55291" y="19844"/>
                  <a:pt x="61516" y="13620"/>
                  <a:pt x="61516" y="5953"/>
                </a:cubicBezTo>
                <a:cubicBezTo>
                  <a:pt x="61516" y="-1713"/>
                  <a:pt x="55291" y="-7937"/>
                  <a:pt x="47625" y="-7937"/>
                </a:cubicBezTo>
                <a:cubicBezTo>
                  <a:pt x="39959" y="-7937"/>
                  <a:pt x="33734" y="-1713"/>
                  <a:pt x="33734" y="5953"/>
                </a:cubicBezTo>
                <a:cubicBezTo>
                  <a:pt x="33734" y="13620"/>
                  <a:pt x="39959" y="19844"/>
                  <a:pt x="47625" y="19844"/>
                </a:cubicBezTo>
                <a:close/>
                <a:moveTo>
                  <a:pt x="26144" y="56530"/>
                </a:moveTo>
                <a:lnTo>
                  <a:pt x="31750" y="50924"/>
                </a:lnTo>
                <a:lnTo>
                  <a:pt x="31750" y="68114"/>
                </a:lnTo>
                <a:cubicBezTo>
                  <a:pt x="31750" y="75059"/>
                  <a:pt x="34776" y="81682"/>
                  <a:pt x="40060" y="86196"/>
                </a:cubicBezTo>
                <a:lnTo>
                  <a:pt x="57770" y="101377"/>
                </a:lnTo>
                <a:cubicBezTo>
                  <a:pt x="59234" y="102642"/>
                  <a:pt x="60201" y="104378"/>
                  <a:pt x="60474" y="106288"/>
                </a:cubicBezTo>
                <a:lnTo>
                  <a:pt x="63599" y="128141"/>
                </a:lnTo>
                <a:cubicBezTo>
                  <a:pt x="64219" y="132482"/>
                  <a:pt x="68238" y="135508"/>
                  <a:pt x="72579" y="134888"/>
                </a:cubicBezTo>
                <a:cubicBezTo>
                  <a:pt x="76919" y="134268"/>
                  <a:pt x="79946" y="130249"/>
                  <a:pt x="79325" y="125909"/>
                </a:cubicBezTo>
                <a:lnTo>
                  <a:pt x="76200" y="104056"/>
                </a:lnTo>
                <a:cubicBezTo>
                  <a:pt x="75381" y="98326"/>
                  <a:pt x="72504" y="93117"/>
                  <a:pt x="68114" y="89346"/>
                </a:cubicBezTo>
                <a:lnTo>
                  <a:pt x="59556" y="82004"/>
                </a:lnTo>
                <a:lnTo>
                  <a:pt x="59556" y="53429"/>
                </a:lnTo>
                <a:lnTo>
                  <a:pt x="60499" y="54595"/>
                </a:lnTo>
                <a:cubicBezTo>
                  <a:pt x="65013" y="60251"/>
                  <a:pt x="71859" y="63525"/>
                  <a:pt x="79102" y="63525"/>
                </a:cubicBezTo>
                <a:lnTo>
                  <a:pt x="87337" y="63525"/>
                </a:lnTo>
                <a:cubicBezTo>
                  <a:pt x="91728" y="63525"/>
                  <a:pt x="95275" y="59978"/>
                  <a:pt x="95275" y="55587"/>
                </a:cubicBezTo>
                <a:cubicBezTo>
                  <a:pt x="95275" y="51197"/>
                  <a:pt x="91728" y="47650"/>
                  <a:pt x="87337" y="47650"/>
                </a:cubicBezTo>
                <a:lnTo>
                  <a:pt x="79102" y="47650"/>
                </a:lnTo>
                <a:cubicBezTo>
                  <a:pt x="76696" y="47650"/>
                  <a:pt x="74414" y="46558"/>
                  <a:pt x="72901" y="44673"/>
                </a:cubicBezTo>
                <a:lnTo>
                  <a:pt x="68461" y="39117"/>
                </a:lnTo>
                <a:cubicBezTo>
                  <a:pt x="62756" y="31973"/>
                  <a:pt x="54099" y="27806"/>
                  <a:pt x="44946" y="27806"/>
                </a:cubicBezTo>
                <a:cubicBezTo>
                  <a:pt x="36959" y="27806"/>
                  <a:pt x="29294" y="30981"/>
                  <a:pt x="23664" y="36637"/>
                </a:cubicBezTo>
                <a:lnTo>
                  <a:pt x="14908" y="45293"/>
                </a:lnTo>
                <a:cubicBezTo>
                  <a:pt x="10443" y="49758"/>
                  <a:pt x="7938" y="55811"/>
                  <a:pt x="7938" y="62136"/>
                </a:cubicBezTo>
                <a:lnTo>
                  <a:pt x="7938" y="71438"/>
                </a:lnTo>
                <a:cubicBezTo>
                  <a:pt x="7938" y="75828"/>
                  <a:pt x="11485" y="79375"/>
                  <a:pt x="15875" y="79375"/>
                </a:cubicBezTo>
                <a:cubicBezTo>
                  <a:pt x="20265" y="79375"/>
                  <a:pt x="23812" y="75828"/>
                  <a:pt x="23812" y="71438"/>
                </a:cubicBezTo>
                <a:lnTo>
                  <a:pt x="23812" y="62136"/>
                </a:lnTo>
                <a:cubicBezTo>
                  <a:pt x="23812" y="60027"/>
                  <a:pt x="24656" y="58018"/>
                  <a:pt x="26144" y="56530"/>
                </a:cubicBezTo>
                <a:close/>
                <a:moveTo>
                  <a:pt x="29220" y="101029"/>
                </a:moveTo>
                <a:cubicBezTo>
                  <a:pt x="28848" y="102319"/>
                  <a:pt x="28153" y="103510"/>
                  <a:pt x="27211" y="104453"/>
                </a:cubicBezTo>
                <a:lnTo>
                  <a:pt x="10269" y="121394"/>
                </a:lnTo>
                <a:cubicBezTo>
                  <a:pt x="7169" y="124495"/>
                  <a:pt x="7169" y="129530"/>
                  <a:pt x="10269" y="132631"/>
                </a:cubicBezTo>
                <a:cubicBezTo>
                  <a:pt x="13370" y="135731"/>
                  <a:pt x="18405" y="135731"/>
                  <a:pt x="21506" y="132631"/>
                </a:cubicBezTo>
                <a:lnTo>
                  <a:pt x="38447" y="115689"/>
                </a:lnTo>
                <a:cubicBezTo>
                  <a:pt x="41300" y="112837"/>
                  <a:pt x="43383" y="109289"/>
                  <a:pt x="44500" y="105395"/>
                </a:cubicBezTo>
                <a:lnTo>
                  <a:pt x="45045" y="103510"/>
                </a:lnTo>
                <a:lnTo>
                  <a:pt x="33635" y="93737"/>
                </a:lnTo>
                <a:cubicBezTo>
                  <a:pt x="33015" y="93191"/>
                  <a:pt x="32395" y="92646"/>
                  <a:pt x="31800" y="92050"/>
                </a:cubicBezTo>
                <a:lnTo>
                  <a:pt x="29220" y="1010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84250" y="38735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the Curbside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4250" y="4064000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路边即停即走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3375" y="4572000"/>
            <a:ext cx="5699125" cy="2667000"/>
          </a:xfrm>
          <a:custGeom>
            <a:avLst/>
            <a:gdLst/>
            <a:ahLst/>
            <a:cxnLst/>
            <a:rect l="l" t="t" r="r" b="b"/>
            <a:pathLst>
              <a:path w="5699125" h="2667000">
                <a:moveTo>
                  <a:pt x="31750" y="0"/>
                </a:moveTo>
                <a:lnTo>
                  <a:pt x="5635624" y="0"/>
                </a:lnTo>
                <a:cubicBezTo>
                  <a:pt x="5670695" y="0"/>
                  <a:pt x="5699125" y="28430"/>
                  <a:pt x="5699125" y="63501"/>
                </a:cubicBezTo>
                <a:lnTo>
                  <a:pt x="5699125" y="2603499"/>
                </a:lnTo>
                <a:cubicBezTo>
                  <a:pt x="5699125" y="2638570"/>
                  <a:pt x="5670695" y="2667000"/>
                  <a:pt x="5635624" y="2667000"/>
                </a:cubicBezTo>
                <a:lnTo>
                  <a:pt x="31750" y="2667000"/>
                </a:lnTo>
                <a:cubicBezTo>
                  <a:pt x="14215" y="2667000"/>
                  <a:pt x="0" y="2652785"/>
                  <a:pt x="0" y="263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333375" y="4572000"/>
            <a:ext cx="31750" cy="2667000"/>
          </a:xfrm>
          <a:custGeom>
            <a:avLst/>
            <a:gdLst/>
            <a:ahLst/>
            <a:cxnLst/>
            <a:rect l="l" t="t" r="r" b="b"/>
            <a:pathLst>
              <a:path w="31750" h="2667000">
                <a:moveTo>
                  <a:pt x="31750" y="0"/>
                </a:moveTo>
                <a:lnTo>
                  <a:pt x="31750" y="0"/>
                </a:lnTo>
                <a:lnTo>
                  <a:pt x="31750" y="2667000"/>
                </a:lnTo>
                <a:lnTo>
                  <a:pt x="31750" y="2667000"/>
                </a:lnTo>
                <a:cubicBezTo>
                  <a:pt x="14227" y="2667000"/>
                  <a:pt x="0" y="2652773"/>
                  <a:pt x="0" y="263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3" name="Shape 31"/>
          <p:cNvSpPr/>
          <p:nvPr/>
        </p:nvSpPr>
        <p:spPr>
          <a:xfrm>
            <a:off x="476250" y="469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4" name="Shape 32"/>
          <p:cNvSpPr/>
          <p:nvPr/>
        </p:nvSpPr>
        <p:spPr>
          <a:xfrm>
            <a:off x="587375" y="4810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29766"/>
                </a:moveTo>
                <a:cubicBezTo>
                  <a:pt x="158750" y="45331"/>
                  <a:pt x="140426" y="68554"/>
                  <a:pt x="132519" y="77825"/>
                </a:cubicBezTo>
                <a:cubicBezTo>
                  <a:pt x="131341" y="79189"/>
                  <a:pt x="129604" y="79716"/>
                  <a:pt x="128023" y="79375"/>
                </a:cubicBezTo>
                <a:lnTo>
                  <a:pt x="99219" y="79375"/>
                </a:lnTo>
                <a:cubicBezTo>
                  <a:pt x="93731" y="79375"/>
                  <a:pt x="89297" y="83809"/>
                  <a:pt x="89297" y="89297"/>
                </a:cubicBezTo>
                <a:cubicBezTo>
                  <a:pt x="89297" y="94785"/>
                  <a:pt x="93731" y="99219"/>
                  <a:pt x="99219" y="99219"/>
                </a:cubicBezTo>
                <a:lnTo>
                  <a:pt x="128984" y="99219"/>
                </a:lnTo>
                <a:cubicBezTo>
                  <a:pt x="145417" y="99219"/>
                  <a:pt x="158750" y="112551"/>
                  <a:pt x="158750" y="128984"/>
                </a:cubicBezTo>
                <a:cubicBezTo>
                  <a:pt x="158750" y="145417"/>
                  <a:pt x="145417" y="158750"/>
                  <a:pt x="128984" y="158750"/>
                </a:cubicBezTo>
                <a:lnTo>
                  <a:pt x="43284" y="158750"/>
                </a:lnTo>
                <a:cubicBezTo>
                  <a:pt x="45982" y="155680"/>
                  <a:pt x="49268" y="151743"/>
                  <a:pt x="52586" y="147340"/>
                </a:cubicBezTo>
                <a:cubicBezTo>
                  <a:pt x="54539" y="144735"/>
                  <a:pt x="56555" y="141883"/>
                  <a:pt x="58477" y="138906"/>
                </a:cubicBezTo>
                <a:lnTo>
                  <a:pt x="128984" y="138906"/>
                </a:lnTo>
                <a:cubicBezTo>
                  <a:pt x="134472" y="138906"/>
                  <a:pt x="138906" y="134472"/>
                  <a:pt x="138906" y="128984"/>
                </a:cubicBezTo>
                <a:cubicBezTo>
                  <a:pt x="138906" y="123496"/>
                  <a:pt x="134472" y="119062"/>
                  <a:pt x="128984" y="119062"/>
                </a:cubicBezTo>
                <a:lnTo>
                  <a:pt x="99219" y="119062"/>
                </a:lnTo>
                <a:cubicBezTo>
                  <a:pt x="82786" y="119062"/>
                  <a:pt x="69453" y="105730"/>
                  <a:pt x="69453" y="89297"/>
                </a:cubicBezTo>
                <a:cubicBezTo>
                  <a:pt x="69453" y="72864"/>
                  <a:pt x="82786" y="59531"/>
                  <a:pt x="99219" y="59531"/>
                </a:cubicBezTo>
                <a:lnTo>
                  <a:pt x="111559" y="59531"/>
                </a:lnTo>
                <a:cubicBezTo>
                  <a:pt x="105048" y="49764"/>
                  <a:pt x="99219" y="38540"/>
                  <a:pt x="99219" y="29766"/>
                </a:cubicBezTo>
                <a:cubicBezTo>
                  <a:pt x="99219" y="13333"/>
                  <a:pt x="112551" y="0"/>
                  <a:pt x="128984" y="0"/>
                </a:cubicBezTo>
                <a:cubicBezTo>
                  <a:pt x="145417" y="0"/>
                  <a:pt x="158750" y="13333"/>
                  <a:pt x="158750" y="29766"/>
                </a:cubicBezTo>
                <a:close/>
                <a:moveTo>
                  <a:pt x="36308" y="151650"/>
                </a:moveTo>
                <a:cubicBezTo>
                  <a:pt x="35130" y="152983"/>
                  <a:pt x="34075" y="154161"/>
                  <a:pt x="33176" y="155153"/>
                </a:cubicBezTo>
                <a:lnTo>
                  <a:pt x="32618" y="155773"/>
                </a:lnTo>
                <a:lnTo>
                  <a:pt x="32556" y="155711"/>
                </a:lnTo>
                <a:cubicBezTo>
                  <a:pt x="30696" y="157138"/>
                  <a:pt x="28029" y="156952"/>
                  <a:pt x="26355" y="155153"/>
                </a:cubicBezTo>
                <a:cubicBezTo>
                  <a:pt x="18542" y="146658"/>
                  <a:pt x="0" y="124799"/>
                  <a:pt x="0" y="109141"/>
                </a:cubicBezTo>
                <a:cubicBezTo>
                  <a:pt x="0" y="92708"/>
                  <a:pt x="13333" y="79375"/>
                  <a:pt x="29766" y="79375"/>
                </a:cubicBezTo>
                <a:cubicBezTo>
                  <a:pt x="46199" y="79375"/>
                  <a:pt x="59531" y="92708"/>
                  <a:pt x="59531" y="109141"/>
                </a:cubicBezTo>
                <a:cubicBezTo>
                  <a:pt x="59531" y="118442"/>
                  <a:pt x="52989" y="129915"/>
                  <a:pt x="46044" y="139495"/>
                </a:cubicBezTo>
                <a:cubicBezTo>
                  <a:pt x="42726" y="144053"/>
                  <a:pt x="39315" y="148177"/>
                  <a:pt x="36494" y="151433"/>
                </a:cubicBezTo>
                <a:lnTo>
                  <a:pt x="36308" y="151650"/>
                </a:lnTo>
                <a:close/>
                <a:moveTo>
                  <a:pt x="39688" y="109141"/>
                </a:moveTo>
                <a:cubicBezTo>
                  <a:pt x="39688" y="103665"/>
                  <a:pt x="35242" y="99219"/>
                  <a:pt x="29766" y="99219"/>
                </a:cubicBezTo>
                <a:cubicBezTo>
                  <a:pt x="24290" y="99219"/>
                  <a:pt x="19844" y="103665"/>
                  <a:pt x="19844" y="109141"/>
                </a:cubicBezTo>
                <a:cubicBezTo>
                  <a:pt x="19844" y="114617"/>
                  <a:pt x="24290" y="119062"/>
                  <a:pt x="29766" y="119062"/>
                </a:cubicBezTo>
                <a:cubicBezTo>
                  <a:pt x="35242" y="119062"/>
                  <a:pt x="39688" y="114617"/>
                  <a:pt x="39688" y="109141"/>
                </a:cubicBezTo>
                <a:close/>
                <a:moveTo>
                  <a:pt x="128984" y="39688"/>
                </a:moveTo>
                <a:cubicBezTo>
                  <a:pt x="134460" y="39688"/>
                  <a:pt x="138906" y="35242"/>
                  <a:pt x="138906" y="29766"/>
                </a:cubicBezTo>
                <a:cubicBezTo>
                  <a:pt x="138906" y="24290"/>
                  <a:pt x="134460" y="19844"/>
                  <a:pt x="128984" y="19844"/>
                </a:cubicBezTo>
                <a:cubicBezTo>
                  <a:pt x="123508" y="19844"/>
                  <a:pt x="119062" y="24290"/>
                  <a:pt x="119062" y="29766"/>
                </a:cubicBezTo>
                <a:cubicBezTo>
                  <a:pt x="119062" y="35242"/>
                  <a:pt x="123508" y="39688"/>
                  <a:pt x="128984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778375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行车场景漫游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6250" y="517525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" y="52705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导航结束后漫游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54927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支持抵达目的地导航结束后，继续漫游找合适停车位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6250" y="584200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" y="5937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无图停车场漫游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1500" y="61595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支持无图场景下的停车场漫游，找静态特征点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6250" y="650875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" y="6604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公开道路静态参照物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" y="6826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支持停在公交车站前、特种车辆前等高频场景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5375" y="1079500"/>
            <a:ext cx="5699125" cy="3016250"/>
          </a:xfrm>
          <a:custGeom>
            <a:avLst/>
            <a:gdLst/>
            <a:ahLst/>
            <a:cxnLst/>
            <a:rect l="l" t="t" r="r" b="b"/>
            <a:pathLst>
              <a:path w="5699125" h="3016250">
                <a:moveTo>
                  <a:pt x="31750" y="0"/>
                </a:moveTo>
                <a:lnTo>
                  <a:pt x="5635633" y="0"/>
                </a:lnTo>
                <a:cubicBezTo>
                  <a:pt x="5670699" y="0"/>
                  <a:pt x="5699125" y="28426"/>
                  <a:pt x="5699125" y="63492"/>
                </a:cubicBezTo>
                <a:lnTo>
                  <a:pt x="5699125" y="2952758"/>
                </a:lnTo>
                <a:cubicBezTo>
                  <a:pt x="5699125" y="2987824"/>
                  <a:pt x="5670699" y="3016250"/>
                  <a:pt x="5635633" y="3016250"/>
                </a:cubicBezTo>
                <a:lnTo>
                  <a:pt x="31750" y="3016250"/>
                </a:lnTo>
                <a:cubicBezTo>
                  <a:pt x="14215" y="3016250"/>
                  <a:pt x="0" y="3002035"/>
                  <a:pt x="0" y="298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175375" y="1079500"/>
            <a:ext cx="31750" cy="3016250"/>
          </a:xfrm>
          <a:custGeom>
            <a:avLst/>
            <a:gdLst/>
            <a:ahLst/>
            <a:cxnLst/>
            <a:rect l="l" t="t" r="r" b="b"/>
            <a:pathLst>
              <a:path w="31750" h="3016250">
                <a:moveTo>
                  <a:pt x="31750" y="0"/>
                </a:moveTo>
                <a:lnTo>
                  <a:pt x="31750" y="0"/>
                </a:lnTo>
                <a:lnTo>
                  <a:pt x="31750" y="3016250"/>
                </a:lnTo>
                <a:lnTo>
                  <a:pt x="31750" y="3016250"/>
                </a:lnTo>
                <a:cubicBezTo>
                  <a:pt x="14227" y="3016250"/>
                  <a:pt x="0" y="3002023"/>
                  <a:pt x="0" y="298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18250" y="120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1317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4434" y="19844"/>
                  <a:pt x="0" y="24278"/>
                  <a:pt x="0" y="29766"/>
                </a:cubicBezTo>
                <a:cubicBezTo>
                  <a:pt x="0" y="35254"/>
                  <a:pt x="4434" y="39688"/>
                  <a:pt x="9922" y="39688"/>
                </a:cubicBezTo>
                <a:lnTo>
                  <a:pt x="36804" y="39688"/>
                </a:lnTo>
                <a:cubicBezTo>
                  <a:pt x="40618" y="48462"/>
                  <a:pt x="49361" y="54570"/>
                  <a:pt x="59531" y="54570"/>
                </a:cubicBezTo>
                <a:cubicBezTo>
                  <a:pt x="69701" y="54570"/>
                  <a:pt x="78445" y="48462"/>
                  <a:pt x="82259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82259" y="19844"/>
                </a:lnTo>
                <a:cubicBezTo>
                  <a:pt x="78445" y="11069"/>
                  <a:pt x="69701" y="4961"/>
                  <a:pt x="59531" y="4961"/>
                </a:cubicBezTo>
                <a:cubicBezTo>
                  <a:pt x="49361" y="4961"/>
                  <a:pt x="40618" y="11069"/>
                  <a:pt x="36804" y="19844"/>
                </a:cubicBezTo>
                <a:lnTo>
                  <a:pt x="9922" y="19844"/>
                </a:lnTo>
                <a:close/>
                <a:moveTo>
                  <a:pt x="9922" y="69453"/>
                </a:move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86413" y="89297"/>
                </a:lnTo>
                <a:cubicBezTo>
                  <a:pt x="90227" y="98072"/>
                  <a:pt x="98971" y="104180"/>
                  <a:pt x="109141" y="104180"/>
                </a:cubicBezTo>
                <a:cubicBezTo>
                  <a:pt x="119311" y="104180"/>
                  <a:pt x="128054" y="98072"/>
                  <a:pt x="131868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131868" y="69453"/>
                </a:lnTo>
                <a:cubicBezTo>
                  <a:pt x="128054" y="60678"/>
                  <a:pt x="119311" y="54570"/>
                  <a:pt x="109141" y="54570"/>
                </a:cubicBezTo>
                <a:cubicBezTo>
                  <a:pt x="98971" y="54570"/>
                  <a:pt x="90227" y="60678"/>
                  <a:pt x="86413" y="69453"/>
                </a:cubicBezTo>
                <a:lnTo>
                  <a:pt x="9922" y="69453"/>
                </a:lnTo>
                <a:close/>
                <a:moveTo>
                  <a:pt x="9922" y="119062"/>
                </a:moveTo>
                <a:cubicBezTo>
                  <a:pt x="4434" y="119062"/>
                  <a:pt x="0" y="123496"/>
                  <a:pt x="0" y="128984"/>
                </a:cubicBezTo>
                <a:cubicBezTo>
                  <a:pt x="0" y="134472"/>
                  <a:pt x="4434" y="138906"/>
                  <a:pt x="9922" y="138906"/>
                </a:cubicBezTo>
                <a:lnTo>
                  <a:pt x="26882" y="138906"/>
                </a:lnTo>
                <a:cubicBezTo>
                  <a:pt x="30696" y="147681"/>
                  <a:pt x="39439" y="153789"/>
                  <a:pt x="49609" y="153789"/>
                </a:cubicBezTo>
                <a:cubicBezTo>
                  <a:pt x="59779" y="153789"/>
                  <a:pt x="68523" y="147681"/>
                  <a:pt x="72337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72337" y="119062"/>
                </a:lnTo>
                <a:cubicBezTo>
                  <a:pt x="68523" y="110288"/>
                  <a:pt x="59779" y="104180"/>
                  <a:pt x="49609" y="104180"/>
                </a:cubicBezTo>
                <a:cubicBezTo>
                  <a:pt x="39439" y="104180"/>
                  <a:pt x="30696" y="110288"/>
                  <a:pt x="26882" y="119062"/>
                </a:cubicBezTo>
                <a:lnTo>
                  <a:pt x="9922" y="1190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94500" y="1285875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驾驶风格升级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8250" y="1682750"/>
            <a:ext cx="5429250" cy="1079500"/>
          </a:xfrm>
          <a:custGeom>
            <a:avLst/>
            <a:gdLst/>
            <a:ahLst/>
            <a:cxnLst/>
            <a:rect l="l" t="t" r="r" b="b"/>
            <a:pathLst>
              <a:path w="5429250" h="1079500">
                <a:moveTo>
                  <a:pt x="63496" y="0"/>
                </a:moveTo>
                <a:lnTo>
                  <a:pt x="5365754" y="0"/>
                </a:lnTo>
                <a:cubicBezTo>
                  <a:pt x="5400822" y="0"/>
                  <a:pt x="5429250" y="28428"/>
                  <a:pt x="5429250" y="63496"/>
                </a:cubicBezTo>
                <a:lnTo>
                  <a:pt x="5429250" y="1016004"/>
                </a:lnTo>
                <a:cubicBezTo>
                  <a:pt x="5429250" y="1051072"/>
                  <a:pt x="5400822" y="1079500"/>
                  <a:pt x="53657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3500" y="1778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精细化指令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3500" y="2032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"往前开一点"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13500" y="2254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"靠左边柱子近点"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13500" y="24765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"停到那辆车后面"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18250" y="2825750"/>
            <a:ext cx="5429250" cy="1079500"/>
          </a:xfrm>
          <a:custGeom>
            <a:avLst/>
            <a:gdLst/>
            <a:ahLst/>
            <a:cxnLst/>
            <a:rect l="l" t="t" r="r" b="b"/>
            <a:pathLst>
              <a:path w="5429250" h="1079500">
                <a:moveTo>
                  <a:pt x="63496" y="0"/>
                </a:moveTo>
                <a:lnTo>
                  <a:pt x="5365754" y="0"/>
                </a:lnTo>
                <a:cubicBezTo>
                  <a:pt x="5400822" y="0"/>
                  <a:pt x="5429250" y="28428"/>
                  <a:pt x="5429250" y="63496"/>
                </a:cubicBezTo>
                <a:lnTo>
                  <a:pt x="5429250" y="1016004"/>
                </a:lnTo>
                <a:cubicBezTo>
                  <a:pt x="5429250" y="1051072"/>
                  <a:pt x="5400822" y="1079500"/>
                  <a:pt x="53657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13500" y="2921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长短期记忆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13500" y="3175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短期记忆：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本次行程的偏好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13500" y="3397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长期记忆：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用户历史习惯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13500" y="36195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自动学习并应用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75375" y="4222750"/>
            <a:ext cx="5699125" cy="3016250"/>
          </a:xfrm>
          <a:custGeom>
            <a:avLst/>
            <a:gdLst/>
            <a:ahLst/>
            <a:cxnLst/>
            <a:rect l="l" t="t" r="r" b="b"/>
            <a:pathLst>
              <a:path w="5699125" h="3016250">
                <a:moveTo>
                  <a:pt x="31750" y="0"/>
                </a:moveTo>
                <a:lnTo>
                  <a:pt x="5635633" y="0"/>
                </a:lnTo>
                <a:cubicBezTo>
                  <a:pt x="5670699" y="0"/>
                  <a:pt x="5699125" y="28426"/>
                  <a:pt x="5699125" y="63492"/>
                </a:cubicBezTo>
                <a:lnTo>
                  <a:pt x="5699125" y="2952758"/>
                </a:lnTo>
                <a:cubicBezTo>
                  <a:pt x="5699125" y="2987824"/>
                  <a:pt x="5670699" y="3016250"/>
                  <a:pt x="5635633" y="3016250"/>
                </a:cubicBezTo>
                <a:lnTo>
                  <a:pt x="31750" y="3016250"/>
                </a:lnTo>
                <a:cubicBezTo>
                  <a:pt x="14215" y="3016250"/>
                  <a:pt x="0" y="3002035"/>
                  <a:pt x="0" y="298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6175375" y="4222750"/>
            <a:ext cx="31750" cy="3016250"/>
          </a:xfrm>
          <a:custGeom>
            <a:avLst/>
            <a:gdLst/>
            <a:ahLst/>
            <a:cxnLst/>
            <a:rect l="l" t="t" r="r" b="b"/>
            <a:pathLst>
              <a:path w="31750" h="3016250">
                <a:moveTo>
                  <a:pt x="31750" y="0"/>
                </a:moveTo>
                <a:lnTo>
                  <a:pt x="31750" y="0"/>
                </a:lnTo>
                <a:lnTo>
                  <a:pt x="31750" y="3016250"/>
                </a:lnTo>
                <a:lnTo>
                  <a:pt x="31750" y="3016250"/>
                </a:lnTo>
                <a:cubicBezTo>
                  <a:pt x="14227" y="3016250"/>
                  <a:pt x="0" y="3002023"/>
                  <a:pt x="0" y="298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2" name="Shape 60"/>
          <p:cNvSpPr/>
          <p:nvPr/>
        </p:nvSpPr>
        <p:spPr>
          <a:xfrm>
            <a:off x="6318250" y="434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3" name="Shape 61"/>
          <p:cNvSpPr/>
          <p:nvPr/>
        </p:nvSpPr>
        <p:spPr>
          <a:xfrm>
            <a:off x="6429375" y="4460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9297" y="9922"/>
                </a:moveTo>
                <a:cubicBezTo>
                  <a:pt x="89297" y="4434"/>
                  <a:pt x="84863" y="0"/>
                  <a:pt x="79375" y="0"/>
                </a:cubicBezTo>
                <a:cubicBezTo>
                  <a:pt x="73887" y="0"/>
                  <a:pt x="69453" y="4434"/>
                  <a:pt x="69453" y="9922"/>
                </a:cubicBezTo>
                <a:lnTo>
                  <a:pt x="69453" y="74414"/>
                </a:lnTo>
                <a:cubicBezTo>
                  <a:pt x="69453" y="77143"/>
                  <a:pt x="67221" y="79375"/>
                  <a:pt x="64492" y="79375"/>
                </a:cubicBezTo>
                <a:cubicBezTo>
                  <a:pt x="61764" y="79375"/>
                  <a:pt x="59531" y="77143"/>
                  <a:pt x="59531" y="74414"/>
                </a:cubicBezTo>
                <a:lnTo>
                  <a:pt x="59531" y="19844"/>
                </a:lnTo>
                <a:cubicBezTo>
                  <a:pt x="59531" y="14356"/>
                  <a:pt x="55097" y="9922"/>
                  <a:pt x="49609" y="9922"/>
                </a:cubicBezTo>
                <a:cubicBezTo>
                  <a:pt x="44121" y="9922"/>
                  <a:pt x="39688" y="14356"/>
                  <a:pt x="39688" y="19844"/>
                </a:cubicBezTo>
                <a:lnTo>
                  <a:pt x="39688" y="104180"/>
                </a:lnTo>
                <a:cubicBezTo>
                  <a:pt x="39688" y="104645"/>
                  <a:pt x="39688" y="105141"/>
                  <a:pt x="39719" y="105606"/>
                </a:cubicBezTo>
                <a:lnTo>
                  <a:pt x="20960" y="87747"/>
                </a:lnTo>
                <a:cubicBezTo>
                  <a:pt x="15999" y="83034"/>
                  <a:pt x="8155" y="83220"/>
                  <a:pt x="3411" y="88181"/>
                </a:cubicBezTo>
                <a:cubicBezTo>
                  <a:pt x="-1333" y="93142"/>
                  <a:pt x="-1116" y="100986"/>
                  <a:pt x="3845" y="105730"/>
                </a:cubicBezTo>
                <a:lnTo>
                  <a:pt x="38695" y="138906"/>
                </a:lnTo>
                <a:cubicBezTo>
                  <a:pt x="52059" y="151650"/>
                  <a:pt x="69825" y="158750"/>
                  <a:pt x="88305" y="158750"/>
                </a:cubicBezTo>
                <a:lnTo>
                  <a:pt x="94258" y="158750"/>
                </a:lnTo>
                <a:cubicBezTo>
                  <a:pt x="124396" y="158750"/>
                  <a:pt x="148828" y="134317"/>
                  <a:pt x="148828" y="104180"/>
                </a:cubicBezTo>
                <a:lnTo>
                  <a:pt x="148828" y="39688"/>
                </a:lnTo>
                <a:cubicBezTo>
                  <a:pt x="148828" y="34199"/>
                  <a:pt x="144394" y="29766"/>
                  <a:pt x="138906" y="29766"/>
                </a:cubicBezTo>
                <a:cubicBezTo>
                  <a:pt x="133418" y="29766"/>
                  <a:pt x="128984" y="34199"/>
                  <a:pt x="128984" y="39688"/>
                </a:cubicBezTo>
                <a:lnTo>
                  <a:pt x="128984" y="74414"/>
                </a:lnTo>
                <a:cubicBezTo>
                  <a:pt x="128984" y="77143"/>
                  <a:pt x="126752" y="79375"/>
                  <a:pt x="124023" y="79375"/>
                </a:cubicBezTo>
                <a:cubicBezTo>
                  <a:pt x="121295" y="79375"/>
                  <a:pt x="119062" y="77143"/>
                  <a:pt x="119062" y="74414"/>
                </a:cubicBezTo>
                <a:lnTo>
                  <a:pt x="119062" y="19844"/>
                </a:lnTo>
                <a:cubicBezTo>
                  <a:pt x="119062" y="14356"/>
                  <a:pt x="114629" y="9922"/>
                  <a:pt x="109141" y="9922"/>
                </a:cubicBezTo>
                <a:cubicBezTo>
                  <a:pt x="103653" y="9922"/>
                  <a:pt x="99219" y="14356"/>
                  <a:pt x="99219" y="19844"/>
                </a:cubicBezTo>
                <a:lnTo>
                  <a:pt x="99219" y="74414"/>
                </a:lnTo>
                <a:cubicBezTo>
                  <a:pt x="99219" y="77143"/>
                  <a:pt x="96986" y="79375"/>
                  <a:pt x="94258" y="79375"/>
                </a:cubicBezTo>
                <a:cubicBezTo>
                  <a:pt x="91529" y="79375"/>
                  <a:pt x="89297" y="77143"/>
                  <a:pt x="89297" y="74414"/>
                </a:cubicBezTo>
                <a:lnTo>
                  <a:pt x="89297" y="99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794500" y="4429125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VLM手势识别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18250" y="4826000"/>
            <a:ext cx="5429250" cy="650875"/>
          </a:xfrm>
          <a:custGeom>
            <a:avLst/>
            <a:gdLst/>
            <a:ahLst/>
            <a:cxnLst/>
            <a:rect l="l" t="t" r="r" b="b"/>
            <a:pathLst>
              <a:path w="5429250" h="650875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87376"/>
                </a:lnTo>
                <a:cubicBezTo>
                  <a:pt x="5429250" y="622445"/>
                  <a:pt x="5400820" y="650875"/>
                  <a:pt x="5365751" y="650875"/>
                </a:cubicBezTo>
                <a:lnTo>
                  <a:pt x="63499" y="650875"/>
                </a:lnTo>
                <a:cubicBezTo>
                  <a:pt x="28430" y="650875"/>
                  <a:pt x="0" y="622445"/>
                  <a:pt x="0" y="5873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413500" y="4921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车内VLM手势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13500" y="5175250"/>
            <a:ext cx="5302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支持乘客通过手势+自然语言指代车外目标，如"停到那个女生旁边"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18250" y="5540375"/>
            <a:ext cx="5429250" cy="650875"/>
          </a:xfrm>
          <a:custGeom>
            <a:avLst/>
            <a:gdLst/>
            <a:ahLst/>
            <a:cxnLst/>
            <a:rect l="l" t="t" r="r" b="b"/>
            <a:pathLst>
              <a:path w="5429250" h="650875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87376"/>
                </a:lnTo>
                <a:cubicBezTo>
                  <a:pt x="5429250" y="622445"/>
                  <a:pt x="5400820" y="650875"/>
                  <a:pt x="5365751" y="650875"/>
                </a:cubicBezTo>
                <a:lnTo>
                  <a:pt x="63499" y="650875"/>
                </a:lnTo>
                <a:cubicBezTo>
                  <a:pt x="28430" y="650875"/>
                  <a:pt x="0" y="622445"/>
                  <a:pt x="0" y="5873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413500" y="5635625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车外VLA手势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13500" y="5889625"/>
            <a:ext cx="5302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支持VLA识别交警手势、保安指挥等外部手势信号，理解并执行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22219" y="6258719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63502" y="0"/>
                </a:moveTo>
                <a:lnTo>
                  <a:pt x="5357811" y="0"/>
                </a:lnTo>
                <a:cubicBezTo>
                  <a:pt x="5392882" y="0"/>
                  <a:pt x="5421313" y="28431"/>
                  <a:pt x="5421313" y="63502"/>
                </a:cubicBezTo>
                <a:lnTo>
                  <a:pt x="5421313" y="325436"/>
                </a:lnTo>
                <a:cubicBezTo>
                  <a:pt x="5421313" y="360507"/>
                  <a:pt x="5392882" y="388938"/>
                  <a:pt x="53578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89688" y="635793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目标：实现场景2感知理解闭环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长期愿景：从"自动驾驶"到"出行智能体"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6743700" cy="3162300"/>
          </a:xfrm>
          <a:custGeom>
            <a:avLst/>
            <a:gdLst/>
            <a:ahLst/>
            <a:cxnLst/>
            <a:rect l="l" t="t" r="r" b="b"/>
            <a:pathLst>
              <a:path w="6743700" h="3162300">
                <a:moveTo>
                  <a:pt x="38100" y="0"/>
                </a:moveTo>
                <a:lnTo>
                  <a:pt x="6667489" y="0"/>
                </a:lnTo>
                <a:cubicBezTo>
                  <a:pt x="6709579" y="0"/>
                  <a:pt x="6743700" y="34121"/>
                  <a:pt x="6743700" y="76211"/>
                </a:cubicBezTo>
                <a:lnTo>
                  <a:pt x="6743700" y="3086089"/>
                </a:lnTo>
                <a:cubicBezTo>
                  <a:pt x="6743700" y="3128179"/>
                  <a:pt x="6709579" y="3162300"/>
                  <a:pt x="6667489" y="3162300"/>
                </a:cubicBezTo>
                <a:lnTo>
                  <a:pt x="38100" y="3162300"/>
                </a:lnTo>
                <a:cubicBezTo>
                  <a:pt x="17058" y="3162300"/>
                  <a:pt x="0" y="3145242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3162300"/>
          </a:xfrm>
          <a:custGeom>
            <a:avLst/>
            <a:gdLst/>
            <a:ahLst/>
            <a:cxnLst/>
            <a:rect l="l" t="t" r="r" b="b"/>
            <a:pathLst>
              <a:path w="38100" h="3162300">
                <a:moveTo>
                  <a:pt x="38100" y="0"/>
                </a:moveTo>
                <a:lnTo>
                  <a:pt x="38100" y="0"/>
                </a:lnTo>
                <a:lnTo>
                  <a:pt x="38100" y="3162300"/>
                </a:lnTo>
                <a:lnTo>
                  <a:pt x="38100" y="3162300"/>
                </a:lnTo>
                <a:cubicBezTo>
                  <a:pt x="17072" y="3162300"/>
                  <a:pt x="0" y="3145228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447800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技术演进路径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10" name="Text 8"/>
          <p:cNvSpPr/>
          <p:nvPr/>
        </p:nvSpPr>
        <p:spPr>
          <a:xfrm>
            <a:off x="734616" y="19621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" y="1828800"/>
            <a:ext cx="5924550" cy="723900"/>
          </a:xfrm>
          <a:custGeom>
            <a:avLst/>
            <a:gdLst/>
            <a:ahLst/>
            <a:cxnLst/>
            <a:rect l="l" t="t" r="r" b="b"/>
            <a:pathLst>
              <a:path w="5924550" h="723900">
                <a:moveTo>
                  <a:pt x="76198" y="0"/>
                </a:moveTo>
                <a:lnTo>
                  <a:pt x="5848352" y="0"/>
                </a:lnTo>
                <a:cubicBezTo>
                  <a:pt x="5890407" y="0"/>
                  <a:pt x="5924550" y="34143"/>
                  <a:pt x="5924550" y="76198"/>
                </a:cubicBezTo>
                <a:lnTo>
                  <a:pt x="5924550" y="647702"/>
                </a:lnTo>
                <a:cubicBezTo>
                  <a:pt x="5924550" y="689757"/>
                  <a:pt x="5890407" y="723900"/>
                  <a:pt x="58483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19431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规则驱动（现在）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2098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基于预设规则和地图，执行固定逻辑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721965" y="27622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" y="2628900"/>
            <a:ext cx="5924550" cy="723900"/>
          </a:xfrm>
          <a:custGeom>
            <a:avLst/>
            <a:gdLst/>
            <a:ahLst/>
            <a:cxnLst/>
            <a:rect l="l" t="t" r="r" b="b"/>
            <a:pathLst>
              <a:path w="5924550" h="723900">
                <a:moveTo>
                  <a:pt x="76198" y="0"/>
                </a:moveTo>
                <a:lnTo>
                  <a:pt x="5848352" y="0"/>
                </a:lnTo>
                <a:cubicBezTo>
                  <a:pt x="5890407" y="0"/>
                  <a:pt x="5924550" y="34143"/>
                  <a:pt x="5924550" y="76198"/>
                </a:cubicBezTo>
                <a:lnTo>
                  <a:pt x="5924550" y="647702"/>
                </a:lnTo>
                <a:cubicBezTo>
                  <a:pt x="5924550" y="689757"/>
                  <a:pt x="5890407" y="723900"/>
                  <a:pt x="58483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27432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数据驱动（530-830）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0099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基于大数据和AI模型，实现感知理解和任务编排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Text 18"/>
          <p:cNvSpPr/>
          <p:nvPr/>
        </p:nvSpPr>
        <p:spPr>
          <a:xfrm>
            <a:off x="721965" y="35623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" y="3429000"/>
            <a:ext cx="5924550" cy="723900"/>
          </a:xfrm>
          <a:custGeom>
            <a:avLst/>
            <a:gdLst/>
            <a:ahLst/>
            <a:cxnLst/>
            <a:rect l="l" t="t" r="r" b="b"/>
            <a:pathLst>
              <a:path w="5924550" h="723900">
                <a:moveTo>
                  <a:pt x="76198" y="0"/>
                </a:moveTo>
                <a:lnTo>
                  <a:pt x="5848352" y="0"/>
                </a:lnTo>
                <a:cubicBezTo>
                  <a:pt x="5890407" y="0"/>
                  <a:pt x="5924550" y="34143"/>
                  <a:pt x="5924550" y="76198"/>
                </a:cubicBezTo>
                <a:lnTo>
                  <a:pt x="5924550" y="647702"/>
                </a:lnTo>
                <a:cubicBezTo>
                  <a:pt x="5924550" y="689757"/>
                  <a:pt x="5890407" y="723900"/>
                  <a:pt x="58483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35433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知识驱动（未来）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81000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基于世界模型和常识推理，实现真正的智能决策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45720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38100" y="0"/>
                </a:moveTo>
                <a:lnTo>
                  <a:pt x="6667500" y="0"/>
                </a:lnTo>
                <a:cubicBezTo>
                  <a:pt x="6709556" y="0"/>
                  <a:pt x="6743700" y="34144"/>
                  <a:pt x="6743700" y="76200"/>
                </a:cubicBezTo>
                <a:lnTo>
                  <a:pt x="6743700" y="1828800"/>
                </a:lnTo>
                <a:cubicBezTo>
                  <a:pt x="6743700" y="1870856"/>
                  <a:pt x="6709556" y="1905000"/>
                  <a:pt x="666750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400050" y="45720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6" name="Shape 24"/>
          <p:cNvSpPr/>
          <p:nvPr/>
        </p:nvSpPr>
        <p:spPr>
          <a:xfrm>
            <a:off x="595313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Text 25"/>
          <p:cNvSpPr/>
          <p:nvPr/>
        </p:nvSpPr>
        <p:spPr>
          <a:xfrm>
            <a:off x="809625" y="4724400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体验演进路径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5105400"/>
            <a:ext cx="2066925" cy="1219200"/>
          </a:xfrm>
          <a:custGeom>
            <a:avLst/>
            <a:gdLst/>
            <a:ahLst/>
            <a:cxnLst/>
            <a:rect l="l" t="t" r="r" b="b"/>
            <a:pathLst>
              <a:path w="2066925" h="1219200">
                <a:moveTo>
                  <a:pt x="76200" y="0"/>
                </a:moveTo>
                <a:lnTo>
                  <a:pt x="1990725" y="0"/>
                </a:lnTo>
                <a:cubicBezTo>
                  <a:pt x="2032781" y="0"/>
                  <a:pt x="2066925" y="34144"/>
                  <a:pt x="2066925" y="76200"/>
                </a:cubicBezTo>
                <a:lnTo>
                  <a:pt x="2066925" y="1143000"/>
                </a:lnTo>
                <a:cubicBezTo>
                  <a:pt x="2066925" y="1185056"/>
                  <a:pt x="2032781" y="1219200"/>
                  <a:pt x="19907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75395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0" name="Shape 28"/>
          <p:cNvSpPr/>
          <p:nvPr/>
        </p:nvSpPr>
        <p:spPr>
          <a:xfrm>
            <a:off x="1520651" y="535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7700" y="57531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功能可用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2463" y="60198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基础能力具备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50790" y="5105400"/>
            <a:ext cx="2066925" cy="1219200"/>
          </a:xfrm>
          <a:custGeom>
            <a:avLst/>
            <a:gdLst/>
            <a:ahLst/>
            <a:cxnLst/>
            <a:rect l="l" t="t" r="r" b="b"/>
            <a:pathLst>
              <a:path w="2066925" h="1219200">
                <a:moveTo>
                  <a:pt x="76200" y="0"/>
                </a:moveTo>
                <a:lnTo>
                  <a:pt x="1990725" y="0"/>
                </a:lnTo>
                <a:cubicBezTo>
                  <a:pt x="2032781" y="0"/>
                  <a:pt x="2066925" y="34144"/>
                  <a:pt x="2066925" y="76200"/>
                </a:cubicBezTo>
                <a:lnTo>
                  <a:pt x="2066925" y="1143000"/>
                </a:lnTo>
                <a:cubicBezTo>
                  <a:pt x="2066925" y="1185056"/>
                  <a:pt x="2032781" y="1219200"/>
                  <a:pt x="19907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554685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35" name="Shape 33"/>
          <p:cNvSpPr/>
          <p:nvPr/>
        </p:nvSpPr>
        <p:spPr>
          <a:xfrm>
            <a:off x="3676129" y="535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826990" y="57531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体验流畅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31753" y="60198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端到端闭环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30080" y="5105400"/>
            <a:ext cx="2066925" cy="1219200"/>
          </a:xfrm>
          <a:custGeom>
            <a:avLst/>
            <a:gdLst/>
            <a:ahLst/>
            <a:cxnLst/>
            <a:rect l="l" t="t" r="r" b="b"/>
            <a:pathLst>
              <a:path w="2066925" h="1219200">
                <a:moveTo>
                  <a:pt x="76200" y="0"/>
                </a:moveTo>
                <a:lnTo>
                  <a:pt x="1990725" y="0"/>
                </a:lnTo>
                <a:cubicBezTo>
                  <a:pt x="2032781" y="0"/>
                  <a:pt x="2066925" y="34144"/>
                  <a:pt x="2066925" y="76200"/>
                </a:cubicBezTo>
                <a:lnTo>
                  <a:pt x="2066925" y="1143000"/>
                </a:lnTo>
                <a:cubicBezTo>
                  <a:pt x="2066925" y="1185056"/>
                  <a:pt x="2032781" y="1219200"/>
                  <a:pt x="19907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F33">
              <a:alpha val="7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33976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0" name="Shape 38"/>
          <p:cNvSpPr/>
          <p:nvPr/>
        </p:nvSpPr>
        <p:spPr>
          <a:xfrm>
            <a:off x="5867326" y="535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06280" y="57531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情感陪伴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11043" y="60198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懂用户、会服务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99945" y="1295400"/>
            <a:ext cx="4514850" cy="4229100"/>
          </a:xfrm>
          <a:custGeom>
            <a:avLst/>
            <a:gdLst/>
            <a:ahLst/>
            <a:cxnLst/>
            <a:rect l="l" t="t" r="r" b="b"/>
            <a:pathLst>
              <a:path w="4514850" h="4229100">
                <a:moveTo>
                  <a:pt x="76208" y="0"/>
                </a:moveTo>
                <a:lnTo>
                  <a:pt x="4438642" y="0"/>
                </a:lnTo>
                <a:cubicBezTo>
                  <a:pt x="4480730" y="0"/>
                  <a:pt x="4514850" y="34120"/>
                  <a:pt x="4514850" y="76208"/>
                </a:cubicBezTo>
                <a:lnTo>
                  <a:pt x="4514850" y="4152892"/>
                </a:lnTo>
                <a:cubicBezTo>
                  <a:pt x="4514850" y="4194980"/>
                  <a:pt x="4480730" y="4229100"/>
                  <a:pt x="4438642" y="4229100"/>
                </a:cubicBezTo>
                <a:lnTo>
                  <a:pt x="76208" y="4229100"/>
                </a:lnTo>
                <a:cubicBezTo>
                  <a:pt x="34120" y="4229100"/>
                  <a:pt x="0" y="4194980"/>
                  <a:pt x="0" y="4152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C2F33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04720" y="14478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商业演进路径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57108" y="1833563"/>
            <a:ext cx="4200525" cy="847725"/>
          </a:xfrm>
          <a:custGeom>
            <a:avLst/>
            <a:gdLst/>
            <a:ahLst/>
            <a:cxnLst/>
            <a:rect l="l" t="t" r="r" b="b"/>
            <a:pathLst>
              <a:path w="4200525" h="847725">
                <a:moveTo>
                  <a:pt x="76202" y="0"/>
                </a:moveTo>
                <a:lnTo>
                  <a:pt x="4124323" y="0"/>
                </a:lnTo>
                <a:cubicBezTo>
                  <a:pt x="4166380" y="0"/>
                  <a:pt x="4200525" y="34145"/>
                  <a:pt x="4200525" y="76202"/>
                </a:cubicBezTo>
                <a:lnTo>
                  <a:pt x="4200525" y="771523"/>
                </a:lnTo>
                <a:cubicBezTo>
                  <a:pt x="4200525" y="813580"/>
                  <a:pt x="4166380" y="847725"/>
                  <a:pt x="412432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76170" y="1952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47" name="Text 45"/>
          <p:cNvSpPr/>
          <p:nvPr/>
        </p:nvSpPr>
        <p:spPr>
          <a:xfrm>
            <a:off x="7701186" y="200977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57170" y="19907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76170" y="233362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车辆本身的价值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498285" y="2762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Shape 49"/>
          <p:cNvSpPr/>
          <p:nvPr/>
        </p:nvSpPr>
        <p:spPr>
          <a:xfrm>
            <a:off x="7457108" y="2995613"/>
            <a:ext cx="4200525" cy="847725"/>
          </a:xfrm>
          <a:custGeom>
            <a:avLst/>
            <a:gdLst/>
            <a:ahLst/>
            <a:cxnLst/>
            <a:rect l="l" t="t" r="r" b="b"/>
            <a:pathLst>
              <a:path w="4200525" h="847725">
                <a:moveTo>
                  <a:pt x="76202" y="0"/>
                </a:moveTo>
                <a:lnTo>
                  <a:pt x="4124323" y="0"/>
                </a:lnTo>
                <a:cubicBezTo>
                  <a:pt x="4166380" y="0"/>
                  <a:pt x="4200525" y="34145"/>
                  <a:pt x="4200525" y="76202"/>
                </a:cubicBezTo>
                <a:lnTo>
                  <a:pt x="4200525" y="771523"/>
                </a:lnTo>
                <a:cubicBezTo>
                  <a:pt x="4200525" y="813580"/>
                  <a:pt x="4166380" y="847725"/>
                  <a:pt x="412432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76170" y="3114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/>
          </a:solidFill>
          <a:ln/>
        </p:spPr>
      </p:sp>
      <p:sp>
        <p:nvSpPr>
          <p:cNvPr id="53" name="Text 51"/>
          <p:cNvSpPr/>
          <p:nvPr/>
        </p:nvSpPr>
        <p:spPr>
          <a:xfrm>
            <a:off x="7688535" y="31718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57170" y="31527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软件订阅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76170" y="349567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智驾、AI功能订阅服务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498285" y="3924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7" name="Shape 55"/>
          <p:cNvSpPr/>
          <p:nvPr/>
        </p:nvSpPr>
        <p:spPr>
          <a:xfrm>
            <a:off x="7457108" y="4157663"/>
            <a:ext cx="4200525" cy="847725"/>
          </a:xfrm>
          <a:custGeom>
            <a:avLst/>
            <a:gdLst/>
            <a:ahLst/>
            <a:cxnLst/>
            <a:rect l="l" t="t" r="r" b="b"/>
            <a:pathLst>
              <a:path w="4200525" h="847725">
                <a:moveTo>
                  <a:pt x="76202" y="0"/>
                </a:moveTo>
                <a:lnTo>
                  <a:pt x="4124323" y="0"/>
                </a:lnTo>
                <a:cubicBezTo>
                  <a:pt x="4166380" y="0"/>
                  <a:pt x="4200525" y="34145"/>
                  <a:pt x="4200525" y="76202"/>
                </a:cubicBezTo>
                <a:lnTo>
                  <a:pt x="4200525" y="771523"/>
                </a:lnTo>
                <a:cubicBezTo>
                  <a:pt x="4200525" y="813580"/>
                  <a:pt x="4166380" y="847725"/>
                  <a:pt x="412432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76170" y="4276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9" name="Text 57"/>
          <p:cNvSpPr/>
          <p:nvPr/>
        </p:nvSpPr>
        <p:spPr>
          <a:xfrm>
            <a:off x="7688535" y="43338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57170" y="43148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服务生态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76170" y="465772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出行服务、内容服务、生活服务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04708" y="5643563"/>
            <a:ext cx="4505325" cy="828675"/>
          </a:xfrm>
          <a:custGeom>
            <a:avLst/>
            <a:gdLst/>
            <a:ahLst/>
            <a:cxnLst/>
            <a:rect l="l" t="t" r="r" b="b"/>
            <a:pathLst>
              <a:path w="4505325" h="828675">
                <a:moveTo>
                  <a:pt x="76197" y="0"/>
                </a:moveTo>
                <a:lnTo>
                  <a:pt x="4429128" y="0"/>
                </a:lnTo>
                <a:cubicBezTo>
                  <a:pt x="4471211" y="0"/>
                  <a:pt x="4505325" y="34114"/>
                  <a:pt x="4505325" y="76197"/>
                </a:cubicBezTo>
                <a:lnTo>
                  <a:pt x="4505325" y="752478"/>
                </a:lnTo>
                <a:cubicBezTo>
                  <a:pt x="4505325" y="794561"/>
                  <a:pt x="4471211" y="828675"/>
                  <a:pt x="4429128" y="828675"/>
                </a:cubicBezTo>
                <a:lnTo>
                  <a:pt x="76197" y="828675"/>
                </a:lnTo>
                <a:cubicBezTo>
                  <a:pt x="34114" y="828675"/>
                  <a:pt x="0" y="794561"/>
                  <a:pt x="0" y="7524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80908" y="5762625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终极目标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000033" y="6119813"/>
            <a:ext cx="311080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打造"懂用户、能决策、会服务"的AI出行伙伴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C6E9E">
                  <a:alpha val="20000"/>
                </a:srgbClr>
              </a:gs>
              <a:gs pos="50000">
                <a:srgbClr val="1A1D21"/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657850" y="11906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50800">
            <a:solidFill>
              <a:srgbClr val="D4A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24550" y="38576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" name="Text 3"/>
          <p:cNvSpPr/>
          <p:nvPr/>
        </p:nvSpPr>
        <p:spPr>
          <a:xfrm>
            <a:off x="2524125" y="1243013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让汽车成为真正的智能伙伴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20431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5"/>
          <p:cNvSpPr/>
          <p:nvPr/>
        </p:nvSpPr>
        <p:spPr>
          <a:xfrm>
            <a:off x="3524250" y="2690813"/>
            <a:ext cx="5143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豆包上车，不仅是技术的融合，更是体验的革命。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从工具到智能体，从指令到对话，从功能到服务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我们正在重新定义人与车的关系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08312" y="4267200"/>
            <a:ext cx="1981200" cy="1533525"/>
          </a:xfrm>
          <a:custGeom>
            <a:avLst/>
            <a:gdLst/>
            <a:ahLst/>
            <a:cxnLst/>
            <a:rect l="l" t="t" r="r" b="b"/>
            <a:pathLst>
              <a:path w="1981200" h="1533525">
                <a:moveTo>
                  <a:pt x="76201" y="0"/>
                </a:moveTo>
                <a:lnTo>
                  <a:pt x="1904999" y="0"/>
                </a:lnTo>
                <a:cubicBezTo>
                  <a:pt x="1947056" y="0"/>
                  <a:pt x="1981200" y="34144"/>
                  <a:pt x="1981200" y="76201"/>
                </a:cubicBezTo>
                <a:lnTo>
                  <a:pt x="1981200" y="1457324"/>
                </a:lnTo>
                <a:cubicBezTo>
                  <a:pt x="1981200" y="1499381"/>
                  <a:pt x="1947056" y="1533525"/>
                  <a:pt x="1904999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27983" y="450056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2994050" y="4995863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更智能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03575" y="533876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Agent深度融入智驾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04879" y="4267200"/>
            <a:ext cx="1981200" cy="1533525"/>
          </a:xfrm>
          <a:custGeom>
            <a:avLst/>
            <a:gdLst/>
            <a:ahLst/>
            <a:cxnLst/>
            <a:rect l="l" t="t" r="r" b="b"/>
            <a:pathLst>
              <a:path w="1981200" h="1533525">
                <a:moveTo>
                  <a:pt x="76201" y="0"/>
                </a:moveTo>
                <a:lnTo>
                  <a:pt x="1904999" y="0"/>
                </a:lnTo>
                <a:cubicBezTo>
                  <a:pt x="1947056" y="0"/>
                  <a:pt x="1981200" y="34144"/>
                  <a:pt x="1981200" y="76201"/>
                </a:cubicBezTo>
                <a:lnTo>
                  <a:pt x="1981200" y="1457324"/>
                </a:lnTo>
                <a:cubicBezTo>
                  <a:pt x="1981200" y="1499381"/>
                  <a:pt x="1947056" y="1533525"/>
                  <a:pt x="1904999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4550" y="450056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110773" y="215585"/>
                </a:moveTo>
                <a:cubicBezTo>
                  <a:pt x="124435" y="234337"/>
                  <a:pt x="146536" y="246459"/>
                  <a:pt x="171450" y="246459"/>
                </a:cubicBezTo>
                <a:cubicBezTo>
                  <a:pt x="196364" y="246459"/>
                  <a:pt x="218465" y="234337"/>
                  <a:pt x="232127" y="215585"/>
                </a:cubicBezTo>
                <a:cubicBezTo>
                  <a:pt x="237351" y="208419"/>
                  <a:pt x="247397" y="206812"/>
                  <a:pt x="254563" y="212035"/>
                </a:cubicBezTo>
                <a:cubicBezTo>
                  <a:pt x="261729" y="217259"/>
                  <a:pt x="263336" y="227305"/>
                  <a:pt x="258113" y="234471"/>
                </a:cubicBezTo>
                <a:cubicBezTo>
                  <a:pt x="238624" y="261193"/>
                  <a:pt x="207079" y="278606"/>
                  <a:pt x="171450" y="278606"/>
                </a:cubicBezTo>
                <a:cubicBezTo>
                  <a:pt x="135821" y="278606"/>
                  <a:pt x="104276" y="261193"/>
                  <a:pt x="84787" y="234471"/>
                </a:cubicBezTo>
                <a:cubicBezTo>
                  <a:pt x="79564" y="227305"/>
                  <a:pt x="81171" y="217259"/>
                  <a:pt x="88337" y="212035"/>
                </a:cubicBezTo>
                <a:cubicBezTo>
                  <a:pt x="95503" y="206812"/>
                  <a:pt x="105549" y="208419"/>
                  <a:pt x="110773" y="215585"/>
                </a:cubicBezTo>
                <a:close/>
                <a:moveTo>
                  <a:pt x="96441" y="139303"/>
                </a:moveTo>
                <a:cubicBezTo>
                  <a:pt x="96441" y="127475"/>
                  <a:pt x="106044" y="117872"/>
                  <a:pt x="117872" y="117872"/>
                </a:cubicBezTo>
                <a:cubicBezTo>
                  <a:pt x="129700" y="117872"/>
                  <a:pt x="139303" y="127475"/>
                  <a:pt x="139303" y="139303"/>
                </a:cubicBezTo>
                <a:cubicBezTo>
                  <a:pt x="139303" y="151131"/>
                  <a:pt x="129700" y="160734"/>
                  <a:pt x="117872" y="160734"/>
                </a:cubicBezTo>
                <a:cubicBezTo>
                  <a:pt x="106044" y="160734"/>
                  <a:pt x="96441" y="151131"/>
                  <a:pt x="96441" y="139303"/>
                </a:cubicBezTo>
                <a:close/>
                <a:moveTo>
                  <a:pt x="225028" y="117872"/>
                </a:moveTo>
                <a:cubicBezTo>
                  <a:pt x="236856" y="117872"/>
                  <a:pt x="246459" y="127475"/>
                  <a:pt x="246459" y="139303"/>
                </a:cubicBezTo>
                <a:cubicBezTo>
                  <a:pt x="246459" y="151131"/>
                  <a:pt x="236856" y="160734"/>
                  <a:pt x="225028" y="160734"/>
                </a:cubicBezTo>
                <a:cubicBezTo>
                  <a:pt x="213200" y="160734"/>
                  <a:pt x="203597" y="151131"/>
                  <a:pt x="203597" y="139303"/>
                </a:cubicBezTo>
                <a:cubicBezTo>
                  <a:pt x="203597" y="127475"/>
                  <a:pt x="213200" y="117872"/>
                  <a:pt x="225028" y="11787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5290617" y="4995863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更自然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0142" y="533876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像与人对话一样简单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1446" y="4267200"/>
            <a:ext cx="1981200" cy="1533525"/>
          </a:xfrm>
          <a:custGeom>
            <a:avLst/>
            <a:gdLst/>
            <a:ahLst/>
            <a:cxnLst/>
            <a:rect l="l" t="t" r="r" b="b"/>
            <a:pathLst>
              <a:path w="1981200" h="1533525">
                <a:moveTo>
                  <a:pt x="76201" y="0"/>
                </a:moveTo>
                <a:lnTo>
                  <a:pt x="1904999" y="0"/>
                </a:lnTo>
                <a:cubicBezTo>
                  <a:pt x="1947056" y="0"/>
                  <a:pt x="1981200" y="34144"/>
                  <a:pt x="1981200" y="76201"/>
                </a:cubicBezTo>
                <a:lnTo>
                  <a:pt x="1981200" y="1457324"/>
                </a:lnTo>
                <a:cubicBezTo>
                  <a:pt x="1981200" y="1499381"/>
                  <a:pt x="1947056" y="1533525"/>
                  <a:pt x="1904999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1117" y="450056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7183" y="4995863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更贴心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96708" y="533876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主动感知，提前服务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76986" y="6262688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理想汽车 AI产品经理 胡含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76986" y="6529388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2026年2月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豆包上车 - 自动驾驶与座舱融合方案</dc:title>
  <dc:subject>豆包上车 - 自动驾驶与座舱融合方案</dc:subject>
  <dc:creator>Kimi</dc:creator>
  <cp:lastModifiedBy>Kimi</cp:lastModifiedBy>
  <cp:revision>1</cp:revision>
  <dcterms:created xsi:type="dcterms:W3CDTF">2026-02-11T09:45:17Z</dcterms:created>
  <dcterms:modified xsi:type="dcterms:W3CDTF">2026-02-11T09:45:17Z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{"Label":"豆包上车 - 自动驾驶与座舱融合方案","ContentProducer":"001191110108MACG2KBH8F10000","ProduceID":"19c4bec1-bcb2-8da8-8000-00009b40fcf9","ReservedCode1":"","ContentPropagator":"001191110108MACG2KBH8F20000","PropagateID":"19c4bec1-bcb2-8da8-8000-00009b40fcf9","ReservedCode2":""}</vt:lpwstr>
  </property>
</Properties>
</file>