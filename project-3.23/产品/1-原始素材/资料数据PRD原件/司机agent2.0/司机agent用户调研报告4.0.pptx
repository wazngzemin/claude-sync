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8"/>
  </p:notesMasterIdLst>
  <p:handoutMasterIdLst>
    <p:handoutMasterId r:id="rId29"/>
  </p:handoutMasterIdLst>
  <p:sldIdLst>
    <p:sldId id="9336323" r:id="rId2"/>
    <p:sldId id="9336416" r:id="rId3"/>
    <p:sldId id="9336362" r:id="rId4"/>
    <p:sldId id="9336393" r:id="rId5"/>
    <p:sldId id="9336394" r:id="rId6"/>
    <p:sldId id="9336395" r:id="rId7"/>
    <p:sldId id="9336396" r:id="rId8"/>
    <p:sldId id="9336397" r:id="rId9"/>
    <p:sldId id="9336398" r:id="rId10"/>
    <p:sldId id="9336399" r:id="rId11"/>
    <p:sldId id="9336400" r:id="rId12"/>
    <p:sldId id="9336401" r:id="rId13"/>
    <p:sldId id="9336402" r:id="rId14"/>
    <p:sldId id="9336403" r:id="rId15"/>
    <p:sldId id="9336404" r:id="rId16"/>
    <p:sldId id="9336405" r:id="rId17"/>
    <p:sldId id="9336406" r:id="rId18"/>
    <p:sldId id="9336407" r:id="rId19"/>
    <p:sldId id="9336408" r:id="rId20"/>
    <p:sldId id="9336409" r:id="rId21"/>
    <p:sldId id="9336410" r:id="rId22"/>
    <p:sldId id="9336411" r:id="rId23"/>
    <p:sldId id="9336412" r:id="rId24"/>
    <p:sldId id="9336413" r:id="rId25"/>
    <p:sldId id="9336414" r:id="rId26"/>
    <p:sldId id="9336314" r:id="rId27"/>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479F7F8-D6F7-4FB5-A6E4-CD1DC14A0B70}">
          <p14:sldIdLst>
            <p14:sldId id="9336323"/>
            <p14:sldId id="9336416"/>
            <p14:sldId id="9336362"/>
            <p14:sldId id="9336393"/>
            <p14:sldId id="9336394"/>
            <p14:sldId id="9336395"/>
            <p14:sldId id="9336396"/>
            <p14:sldId id="9336397"/>
            <p14:sldId id="9336398"/>
            <p14:sldId id="9336399"/>
            <p14:sldId id="9336400"/>
            <p14:sldId id="9336401"/>
            <p14:sldId id="9336402"/>
            <p14:sldId id="9336403"/>
            <p14:sldId id="9336404"/>
            <p14:sldId id="9336405"/>
            <p14:sldId id="9336406"/>
            <p14:sldId id="9336407"/>
            <p14:sldId id="9336408"/>
            <p14:sldId id="9336409"/>
            <p14:sldId id="9336410"/>
            <p14:sldId id="9336411"/>
            <p14:sldId id="9336412"/>
            <p14:sldId id="9336413"/>
            <p14:sldId id="9336414"/>
            <p14:sldId id="9336314"/>
          </p14:sldIdLst>
        </p14:section>
      </p14:sectionLst>
    </p:ext>
    <p:ext uri="{EFAFB233-063F-42B5-8137-9DF3F51BA10A}">
      <p15:sldGuideLst xmlns:p15="http://schemas.microsoft.com/office/powerpoint/2012/main">
        <p15:guide id="1" orient="horz" pos="227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何远明" initials="何远明" lastIdx="1" clrIdx="0"/>
  <p:cmAuthor id="2" name="邢 华洋" initials="邢" lastIdx="1" clrIdx="1"/>
  <p:cmAuthor id="3" name="Vincent Liu" initials="VL"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F3FF"/>
    <a:srgbClr val="FF0000"/>
    <a:srgbClr val="F2F2F2"/>
    <a:srgbClr val="DEDEDE"/>
    <a:srgbClr val="4BC3FF"/>
    <a:srgbClr val="6E737A"/>
    <a:srgbClr val="585858"/>
    <a:srgbClr val="7F7F7F"/>
    <a:srgbClr val="FFFFFF"/>
    <a:srgbClr val="EFF1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15" autoAdjust="0"/>
    <p:restoredTop sz="96395" autoAdjust="0"/>
  </p:normalViewPr>
  <p:slideViewPr>
    <p:cSldViewPr snapToGrid="0" showGuides="1">
      <p:cViewPr>
        <p:scale>
          <a:sx n="75" d="100"/>
          <a:sy n="75" d="100"/>
        </p:scale>
        <p:origin x="1085" y="504"/>
      </p:cViewPr>
      <p:guideLst>
        <p:guide orient="horz" pos="2276"/>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99" d="100"/>
          <a:sy n="99" d="100"/>
        </p:scale>
        <p:origin x="375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 Type="http://schemas.openxmlformats.org/officeDocument/2006/relationships/slide" Target="slides/slide2.xml"/><Relationship Id="rId30" Type="http://schemas.openxmlformats.org/officeDocument/2006/relationships/tags" Target="tags/tag1.xml"/><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D0AD29-D2CB-4930-8D9E-BB08DD7C7803}" type="datetimeFigureOut">
              <a:rPr lang="zh-CN" altLang="en-US" smtClean="0"/>
              <a:t>2026/3/9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0CC26F-C6FF-43E2-A352-9B1ED310C819}"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203191A-92A8-4D0F-9BC0-492B7FA552F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203191A-92A8-4D0F-9BC0-492B7FA552F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21" name="图形 2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0"/>
            <a:ext cx="12192000" cy="6858000"/>
          </a:xfrm>
          <a:prstGeom prst="rect">
            <a:avLst/>
          </a:prstGeom>
        </p:spPr>
      </p:pic>
      <p:grpSp>
        <p:nvGrpSpPr>
          <p:cNvPr id="33" name="组合 32"/>
          <p:cNvGrpSpPr/>
          <p:nvPr userDrawn="1"/>
        </p:nvGrpSpPr>
        <p:grpSpPr>
          <a:xfrm>
            <a:off x="5650534" y="2839475"/>
            <a:ext cx="4995718" cy="1832979"/>
            <a:chOff x="5650534" y="2735779"/>
            <a:chExt cx="4995718" cy="1832979"/>
          </a:xfrm>
        </p:grpSpPr>
        <p:sp>
          <p:nvSpPr>
            <p:cNvPr id="34" name="文本框 33"/>
            <p:cNvSpPr txBox="1"/>
            <p:nvPr/>
          </p:nvSpPr>
          <p:spPr>
            <a:xfrm>
              <a:off x="5650534"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2</a:t>
              </a:r>
              <a:endParaRPr lang="zh-CN" altLang="en-US" sz="9600" dirty="0">
                <a:solidFill>
                  <a:schemeClr val="tx2">
                    <a:alpha val="16000"/>
                  </a:schemeClr>
                </a:solidFill>
                <a:latin typeface="Impact" panose="020B0806030902050204" pitchFamily="34" charset="0"/>
              </a:endParaRPr>
            </a:p>
          </p:txBody>
        </p:sp>
        <p:sp>
          <p:nvSpPr>
            <p:cNvPr id="35" name="文本框 34"/>
            <p:cNvSpPr txBox="1"/>
            <p:nvPr/>
          </p:nvSpPr>
          <p:spPr>
            <a:xfrm>
              <a:off x="6806403"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0</a:t>
              </a:r>
              <a:endParaRPr lang="zh-CN" altLang="en-US" sz="9600" dirty="0">
                <a:solidFill>
                  <a:schemeClr val="tx2">
                    <a:alpha val="16000"/>
                  </a:schemeClr>
                </a:solidFill>
                <a:latin typeface="Impact" panose="020B0806030902050204" pitchFamily="34" charset="0"/>
              </a:endParaRPr>
            </a:p>
          </p:txBody>
        </p:sp>
        <p:sp>
          <p:nvSpPr>
            <p:cNvPr id="36" name="文本框 35"/>
            <p:cNvSpPr txBox="1"/>
            <p:nvPr/>
          </p:nvSpPr>
          <p:spPr>
            <a:xfrm>
              <a:off x="7962271"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2</a:t>
              </a:r>
              <a:endParaRPr lang="zh-CN" altLang="en-US" sz="9600" dirty="0">
                <a:solidFill>
                  <a:schemeClr val="tx2">
                    <a:alpha val="16000"/>
                  </a:schemeClr>
                </a:solidFill>
                <a:latin typeface="Impact" panose="020B0806030902050204" pitchFamily="34" charset="0"/>
              </a:endParaRPr>
            </a:p>
          </p:txBody>
        </p:sp>
        <p:sp>
          <p:nvSpPr>
            <p:cNvPr id="37" name="文本框 36"/>
            <p:cNvSpPr txBox="1"/>
            <p:nvPr/>
          </p:nvSpPr>
          <p:spPr>
            <a:xfrm>
              <a:off x="9118141"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6</a:t>
              </a:r>
              <a:endParaRPr lang="zh-CN" altLang="en-US" sz="9600" dirty="0">
                <a:solidFill>
                  <a:schemeClr val="tx2">
                    <a:alpha val="16000"/>
                  </a:schemeClr>
                </a:solidFill>
                <a:latin typeface="Impact" panose="020B0806030902050204" pitchFamily="34" charset="0"/>
              </a:endParaRPr>
            </a:p>
          </p:txBody>
        </p:sp>
      </p:grpSp>
      <p:sp>
        <p:nvSpPr>
          <p:cNvPr id="39" name="副标题 9800"/>
          <p:cNvSpPr>
            <a:spLocks noGrp="1"/>
          </p:cNvSpPr>
          <p:nvPr>
            <p:ph type="subTitle" idx="1"/>
          </p:nvPr>
        </p:nvSpPr>
        <p:spPr>
          <a:xfrm>
            <a:off x="1041399" y="5633743"/>
            <a:ext cx="7175501" cy="558799"/>
          </a:xfrm>
          <a:prstGeom prst="rect">
            <a:avLst/>
          </a:prstGeom>
        </p:spPr>
        <p:txBody>
          <a:bodyPr anchor="t">
            <a:normAutofit/>
          </a:bodyPr>
          <a:lstStyle>
            <a:lvl1pPr marL="0" indent="0" algn="l">
              <a:buNone/>
              <a:defRPr sz="1600">
                <a:solidFill>
                  <a:srgbClr val="3F82C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0" name="标题 9801"/>
          <p:cNvSpPr>
            <a:spLocks noGrp="1"/>
          </p:cNvSpPr>
          <p:nvPr>
            <p:ph type="ctrTitle"/>
          </p:nvPr>
        </p:nvSpPr>
        <p:spPr>
          <a:xfrm>
            <a:off x="1041399" y="3086100"/>
            <a:ext cx="7175501" cy="2237785"/>
          </a:xfrm>
        </p:spPr>
        <p:txBody>
          <a:bodyPr anchor="b">
            <a:normAutofit/>
          </a:bodyPr>
          <a:lstStyle>
            <a:lvl1pPr algn="l">
              <a:defRPr sz="4000">
                <a:solidFill>
                  <a:srgbClr val="3F82C4"/>
                </a:solidFill>
              </a:defRPr>
            </a:lvl1pPr>
          </a:lstStyle>
          <a:p>
            <a:r>
              <a:rPr lang="en-US" dirty="0"/>
              <a:t>Click to edit Master title style</a:t>
            </a:r>
            <a:endParaRPr lang="zh-CN" altLang="en-US" dirty="0"/>
          </a:p>
        </p:txBody>
      </p:sp>
      <p:sp>
        <p:nvSpPr>
          <p:cNvPr id="41" name="文本占位符 11"/>
          <p:cNvSpPr>
            <a:spLocks noGrp="1"/>
          </p:cNvSpPr>
          <p:nvPr>
            <p:ph type="body" sz="quarter" idx="10" hasCustomPrompt="1"/>
          </p:nvPr>
        </p:nvSpPr>
        <p:spPr>
          <a:xfrm>
            <a:off x="8331199" y="3086100"/>
            <a:ext cx="2565401" cy="245363"/>
          </a:xfrm>
          <a:prstGeom prst="rect">
            <a:avLst/>
          </a:prstGeom>
        </p:spPr>
        <p:txBody>
          <a:bodyPr vert="horz" anchor="ctr">
            <a:noAutofit/>
          </a:bodyPr>
          <a:lstStyle>
            <a:lvl1pPr marL="0" indent="0" algn="l">
              <a:buNone/>
              <a:defRPr sz="1400" b="0">
                <a:solidFill>
                  <a:schemeClr val="accent1">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42" name="文本占位符 12"/>
          <p:cNvSpPr>
            <a:spLocks noGrp="1"/>
          </p:cNvSpPr>
          <p:nvPr>
            <p:ph type="body" sz="quarter" idx="11" hasCustomPrompt="1"/>
          </p:nvPr>
        </p:nvSpPr>
        <p:spPr>
          <a:xfrm>
            <a:off x="8331199" y="3382371"/>
            <a:ext cx="2565401" cy="245363"/>
          </a:xfrm>
          <a:prstGeom prst="rect">
            <a:avLst/>
          </a:prstGeom>
        </p:spPr>
        <p:txBody>
          <a:bodyPr vert="horz" anchor="ctr">
            <a:noAutofit/>
          </a:bodyPr>
          <a:lstStyle>
            <a:lvl1pPr marL="0" indent="0" algn="l">
              <a:buNone/>
              <a:defRPr sz="1400" b="0">
                <a:solidFill>
                  <a:schemeClr val="accent1">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cxnSp>
        <p:nvCxnSpPr>
          <p:cNvPr id="43" name="直接连接符 42"/>
          <p:cNvCxnSpPr/>
          <p:nvPr userDrawn="1"/>
        </p:nvCxnSpPr>
        <p:spPr>
          <a:xfrm>
            <a:off x="1041399" y="5511167"/>
            <a:ext cx="7175501"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44" name="图片 43" descr="3车云logo(1)"/>
          <p:cNvPicPr>
            <a:picLocks noChangeAspect="1"/>
          </p:cNvPicPr>
          <p:nvPr userDrawn="1"/>
        </p:nvPicPr>
        <p:blipFill>
          <a:blip r:embed="rId4"/>
          <a:stretch>
            <a:fillRect/>
          </a:stretch>
        </p:blipFill>
        <p:spPr>
          <a:xfrm>
            <a:off x="5406599" y="463050"/>
            <a:ext cx="2799607" cy="72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45" name="副标题 10"/>
          <p:cNvSpPr txBox="1"/>
          <p:nvPr userDrawn="1"/>
        </p:nvSpPr>
        <p:spPr>
          <a:xfrm>
            <a:off x="1041399" y="5633743"/>
            <a:ext cx="7175501" cy="55879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400" dirty="0">
                <a:solidFill>
                  <a:schemeClr val="accent5"/>
                </a:solidFill>
                <a:latin typeface="+mn-lt"/>
              </a:rPr>
              <a:t>Copyright(c) www.cheyun.com</a:t>
            </a:r>
            <a:endParaRPr lang="zh-CN" altLang="en-US" sz="1400" dirty="0">
              <a:solidFill>
                <a:schemeClr val="accent5"/>
              </a:solidFill>
              <a:latin typeface="+mn-lt"/>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占位符 6"/>
          <p:cNvSpPr>
            <a:spLocks noGrp="1"/>
          </p:cNvSpPr>
          <p:nvPr>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grpSp>
        <p:nvGrpSpPr>
          <p:cNvPr id="3" name="组合 2"/>
          <p:cNvGrpSpPr/>
          <p:nvPr userDrawn="1"/>
        </p:nvGrpSpPr>
        <p:grpSpPr>
          <a:xfrm>
            <a:off x="0" y="0"/>
            <a:ext cx="5467546" cy="360000"/>
            <a:chOff x="0" y="0"/>
            <a:chExt cx="5467546" cy="433637"/>
          </a:xfrm>
        </p:grpSpPr>
        <p:sp>
          <p:nvSpPr>
            <p:cNvPr id="17" name="iṧ1iḑé"/>
            <p:cNvSpPr/>
            <p:nvPr userDrawn="1"/>
          </p:nvSpPr>
          <p:spPr bwMode="auto">
            <a:xfrm>
              <a:off x="0" y="0"/>
              <a:ext cx="1696826" cy="431736"/>
            </a:xfrm>
            <a:prstGeom prst="rect">
              <a:avLst/>
            </a:prstGeom>
            <a:solidFill>
              <a:schemeClr val="accent1">
                <a:lumMod val="100000"/>
              </a:schemeClr>
            </a:solidFill>
            <a:ln w="19050">
              <a:noFill/>
              <a:round/>
            </a:ln>
          </p:spPr>
          <p:txBody>
            <a:bodyPr wrap="square" lIns="91440" tIns="45720" rIns="91440" bIns="45720" anchor="t">
              <a:noAutofit/>
            </a:bodyPr>
            <a:lstStyle/>
            <a:p>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18"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15" name="iṥ1iďé"/>
            <p:cNvSpPr/>
            <p:nvPr userDrawn="1"/>
          </p:nvSpPr>
          <p:spPr bwMode="auto">
            <a:xfrm>
              <a:off x="1706759" y="1901"/>
              <a:ext cx="1984338"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16"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13" name="iṥ1iďé"/>
            <p:cNvSpPr/>
            <p:nvPr userDrawn="1"/>
          </p:nvSpPr>
          <p:spPr bwMode="auto">
            <a:xfrm>
              <a:off x="3700526" y="1901"/>
              <a:ext cx="1767020"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14"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grpSp>
        <p:nvGrpSpPr>
          <p:cNvPr id="9" name="组合 8"/>
          <p:cNvGrpSpPr/>
          <p:nvPr userDrawn="1"/>
        </p:nvGrpSpPr>
        <p:grpSpPr>
          <a:xfrm>
            <a:off x="0" y="0"/>
            <a:ext cx="5467546" cy="360000"/>
            <a:chOff x="0" y="0"/>
            <a:chExt cx="5467546" cy="433637"/>
          </a:xfrm>
        </p:grpSpPr>
        <p:sp>
          <p:nvSpPr>
            <p:cNvPr id="20" name="iṧ1iḑé"/>
            <p:cNvSpPr/>
            <p:nvPr userDrawn="1"/>
          </p:nvSpPr>
          <p:spPr bwMode="auto">
            <a:xfrm>
              <a:off x="0" y="0"/>
              <a:ext cx="1696826" cy="431736"/>
            </a:xfrm>
            <a:prstGeom prst="rect">
              <a:avLst/>
            </a:prstGeom>
            <a:solidFill>
              <a:schemeClr val="bg1">
                <a:lumMod val="65000"/>
              </a:schemeClr>
            </a:solidFill>
            <a:ln w="19050">
              <a:noFill/>
              <a:round/>
            </a:ln>
          </p:spPr>
          <p:txBody>
            <a:bodyPr wrap="square" lIns="91440" tIns="45720" rIns="91440" bIns="45720" anchor="t">
              <a:normAutofit/>
            </a:bodyPr>
            <a:lstStyle/>
            <a:p>
              <a:pPr lvl="0"/>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21"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22" name="iṥ1iďé"/>
            <p:cNvSpPr/>
            <p:nvPr userDrawn="1"/>
          </p:nvSpPr>
          <p:spPr bwMode="auto">
            <a:xfrm>
              <a:off x="1706759" y="1901"/>
              <a:ext cx="1984338" cy="431736"/>
            </a:xfrm>
            <a:prstGeom prst="rect">
              <a:avLst/>
            </a:prstGeom>
            <a:solidFill>
              <a:schemeClr val="accent1">
                <a:lumMod val="100000"/>
              </a:schemeClr>
            </a:solidFill>
            <a:ln w="19050">
              <a:noFill/>
              <a:round/>
            </a:ln>
          </p:spPr>
          <p:txBody>
            <a:bodyPr wrap="square" lIns="91440" tIns="45720" rIns="91440" bIns="45720" anchor="t">
              <a:noAutofit/>
            </a:bodyPr>
            <a:lstStyle/>
            <a:p>
              <a:pPr lvl="0"/>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23"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24" name="iṥ1iďé"/>
            <p:cNvSpPr/>
            <p:nvPr userDrawn="1"/>
          </p:nvSpPr>
          <p:spPr bwMode="auto">
            <a:xfrm>
              <a:off x="3700526" y="1901"/>
              <a:ext cx="1767020"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25"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grpSp>
        <p:nvGrpSpPr>
          <p:cNvPr id="7" name="组合 6"/>
          <p:cNvGrpSpPr/>
          <p:nvPr userDrawn="1"/>
        </p:nvGrpSpPr>
        <p:grpSpPr>
          <a:xfrm>
            <a:off x="0" y="0"/>
            <a:ext cx="5467546" cy="360000"/>
            <a:chOff x="0" y="0"/>
            <a:chExt cx="5467546" cy="433637"/>
          </a:xfrm>
        </p:grpSpPr>
        <p:sp>
          <p:nvSpPr>
            <p:cNvPr id="20" name="iṧ1iḑé"/>
            <p:cNvSpPr/>
            <p:nvPr userDrawn="1"/>
          </p:nvSpPr>
          <p:spPr bwMode="auto">
            <a:xfrm>
              <a:off x="0" y="0"/>
              <a:ext cx="1696826" cy="431736"/>
            </a:xfrm>
            <a:prstGeom prst="rect">
              <a:avLst/>
            </a:prstGeom>
            <a:solidFill>
              <a:schemeClr val="bg1">
                <a:lumMod val="65000"/>
              </a:schemeClr>
            </a:solidFill>
            <a:ln w="19050">
              <a:noFill/>
              <a:round/>
            </a:ln>
          </p:spPr>
          <p:txBody>
            <a:bodyPr wrap="square" lIns="91440" tIns="45720" rIns="91440" bIns="45720" anchor="t">
              <a:normAutofit/>
            </a:bodyPr>
            <a:lstStyle/>
            <a:p>
              <a:pPr lvl="0"/>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21"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22" name="iṥ1iďé"/>
            <p:cNvSpPr/>
            <p:nvPr userDrawn="1"/>
          </p:nvSpPr>
          <p:spPr bwMode="auto">
            <a:xfrm>
              <a:off x="1706759" y="1901"/>
              <a:ext cx="1984338"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23"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24" name="iṥ1iďé"/>
            <p:cNvSpPr/>
            <p:nvPr userDrawn="1"/>
          </p:nvSpPr>
          <p:spPr bwMode="auto">
            <a:xfrm>
              <a:off x="3700526" y="1901"/>
              <a:ext cx="1767020" cy="431736"/>
            </a:xfrm>
            <a:prstGeom prst="rect">
              <a:avLst/>
            </a:prstGeom>
            <a:solidFill>
              <a:schemeClr val="accent1">
                <a:lumMod val="100000"/>
              </a:schemeClr>
            </a:solidFill>
            <a:ln w="19050">
              <a:noFill/>
              <a:round/>
            </a:ln>
          </p:spPr>
          <p:txBody>
            <a:bodyPr wrap="square" lIns="91440" tIns="45720" rIns="91440" bIns="45720" anchor="t">
              <a:noAutofit/>
            </a:bodyPr>
            <a:lstStyle/>
            <a:p>
              <a:pPr lvl="0"/>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25"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14" name="文本占位符 6"/>
          <p:cNvSpPr>
            <a:spLocks noGrp="1"/>
          </p:cNvSpPr>
          <p:nvPr>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2" name="图形 1"/>
          <p:cNvPicPr>
            <a:picLocks noChangeAspect="1"/>
          </p:cNvPicPr>
          <p:nvPr userDrawn="1"/>
        </p:nvPicPr>
        <p:blipFill rotWithShape="1">
          <a:blip r:embed="rId2">
            <a:extLst>
              <a:ext uri="{96DAC541-7B7A-43D3-8B79-37D633B846F1}">
                <asvg:svgBlip xmlns:asvg="http://schemas.microsoft.com/office/drawing/2016/SVG/main" r:embed="rId3"/>
              </a:ext>
            </a:extLst>
          </a:blip>
          <a:srcRect l="469" r="65582"/>
          <a:stretch>
            <a:fillRect/>
          </a:stretch>
        </p:blipFill>
        <p:spPr>
          <a:xfrm flipH="1" flipV="1">
            <a:off x="8013701" y="0"/>
            <a:ext cx="4178299" cy="6858000"/>
          </a:xfrm>
          <a:prstGeom prst="rect">
            <a:avLst/>
          </a:prstGeom>
        </p:spPr>
      </p:pic>
      <p:sp>
        <p:nvSpPr>
          <p:cNvPr id="3" name="标题 19"/>
          <p:cNvSpPr>
            <a:spLocks noGrp="1"/>
          </p:cNvSpPr>
          <p:nvPr>
            <p:ph type="title"/>
          </p:nvPr>
        </p:nvSpPr>
        <p:spPr>
          <a:xfrm>
            <a:off x="2352098" y="2533650"/>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4" name="文本占位符 20"/>
          <p:cNvSpPr>
            <a:spLocks noGrp="1"/>
          </p:cNvSpPr>
          <p:nvPr>
            <p:ph type="body" idx="1"/>
          </p:nvPr>
        </p:nvSpPr>
        <p:spPr>
          <a:xfrm>
            <a:off x="2353214" y="3733086"/>
            <a:ext cx="5419185" cy="1015623"/>
          </a:xfrm>
          <a:prstGeom prst="rect">
            <a:avLst/>
          </a:prstGeom>
        </p:spPr>
        <p:txBody>
          <a:bodyPr anchor="t">
            <a:normAutofit/>
          </a:bodyPr>
          <a:lstStyle>
            <a:lvl1pPr marL="0" indent="0" algn="l">
              <a:lnSpc>
                <a:spcPct val="150000"/>
              </a:lnSpc>
              <a:spcBef>
                <a:spcPts val="0"/>
              </a:spcBef>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cxnSp>
        <p:nvCxnSpPr>
          <p:cNvPr id="5" name="直接连接符 4"/>
          <p:cNvCxnSpPr/>
          <p:nvPr userDrawn="1"/>
        </p:nvCxnSpPr>
        <p:spPr>
          <a:xfrm>
            <a:off x="2352098" y="3590746"/>
            <a:ext cx="7175501"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7" name="图片 6" descr="3车云logo(1)"/>
          <p:cNvPicPr>
            <a:picLocks noChangeAspect="1"/>
          </p:cNvPicPr>
          <p:nvPr userDrawn="1"/>
        </p:nvPicPr>
        <p:blipFill>
          <a:blip r:embed="rId4"/>
          <a:stretch>
            <a:fillRect/>
          </a:stretch>
        </p:blipFill>
        <p:spPr>
          <a:xfrm>
            <a:off x="872810" y="850235"/>
            <a:ext cx="1399808" cy="36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8" name="矩形 7"/>
          <p:cNvSpPr/>
          <p:nvPr userDrawn="1"/>
        </p:nvSpPr>
        <p:spPr>
          <a:xfrm>
            <a:off x="381561" y="0"/>
            <a:ext cx="162000" cy="12102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583265" y="605117"/>
            <a:ext cx="161366" cy="6051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cxnSp>
        <p:nvCxnSpPr>
          <p:cNvPr id="30" name="直接连接符 29"/>
          <p:cNvCxnSpPr/>
          <p:nvPr userDrawn="1"/>
        </p:nvCxnSpPr>
        <p:spPr>
          <a:xfrm>
            <a:off x="1346202" y="4850767"/>
            <a:ext cx="6426198"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23" name="图片 22" descr="3车云logo(1)"/>
          <p:cNvPicPr>
            <a:picLocks noChangeAspect="1"/>
          </p:cNvPicPr>
          <p:nvPr userDrawn="1"/>
        </p:nvPicPr>
        <p:blipFill>
          <a:blip r:embed="rId2"/>
          <a:stretch>
            <a:fillRect/>
          </a:stretch>
        </p:blipFill>
        <p:spPr>
          <a:xfrm>
            <a:off x="8243694" y="2709000"/>
            <a:ext cx="2799607" cy="72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2" name="文本框 1"/>
          <p:cNvSpPr txBox="1"/>
          <p:nvPr userDrawn="1"/>
        </p:nvSpPr>
        <p:spPr>
          <a:xfrm>
            <a:off x="1346202" y="3963374"/>
            <a:ext cx="6426198" cy="646331"/>
          </a:xfrm>
          <a:prstGeom prst="rect">
            <a:avLst/>
          </a:prstGeom>
          <a:noFill/>
        </p:spPr>
        <p:txBody>
          <a:bodyPr wrap="square" rtlCol="0" anchor="b">
            <a:spAutoFit/>
          </a:bodyPr>
          <a:lstStyle/>
          <a:p>
            <a:r>
              <a:rPr lang="en-US" altLang="zh-CN" sz="3600" dirty="0">
                <a:solidFill>
                  <a:schemeClr val="accent4"/>
                </a:solidFill>
                <a:latin typeface="Arial Black" panose="020B0A04020102020204" pitchFamily="34" charset="0"/>
              </a:rPr>
              <a:t>THANKS</a:t>
            </a:r>
            <a:endParaRPr lang="zh-CN" altLang="en-US" sz="3600" dirty="0">
              <a:solidFill>
                <a:schemeClr val="accent4"/>
              </a:solidFill>
              <a:latin typeface="Arial Black" panose="020B0A04020102020204" pitchFamily="34" charset="0"/>
            </a:endParaRPr>
          </a:p>
        </p:txBody>
      </p:sp>
      <p:sp>
        <p:nvSpPr>
          <p:cNvPr id="10" name="文本框 9"/>
          <p:cNvSpPr txBox="1"/>
          <p:nvPr userDrawn="1"/>
        </p:nvSpPr>
        <p:spPr>
          <a:xfrm>
            <a:off x="1346202" y="4905411"/>
            <a:ext cx="6426198" cy="704232"/>
          </a:xfrm>
          <a:prstGeom prst="rect">
            <a:avLst/>
          </a:prstGeom>
          <a:noFill/>
        </p:spPr>
        <p:txBody>
          <a:bodyPr wrap="square" rtlCol="0" anchor="b">
            <a:spAutoFit/>
          </a:bodyPr>
          <a:lstStyle/>
          <a:p>
            <a:pPr>
              <a:lnSpc>
                <a:spcPct val="150000"/>
              </a:lnSpc>
            </a:pPr>
            <a:r>
              <a:rPr lang="en-US" altLang="zh-CN" sz="1400" dirty="0">
                <a:solidFill>
                  <a:schemeClr val="accent4"/>
                </a:solidFill>
                <a:latin typeface="Arial Black" panose="020B0A04020102020204" pitchFamily="34" charset="0"/>
              </a:rPr>
              <a:t>www.cheyun.com</a:t>
            </a:r>
          </a:p>
          <a:p>
            <a:pPr>
              <a:lnSpc>
                <a:spcPct val="150000"/>
              </a:lnSpc>
            </a:pPr>
            <a:r>
              <a:rPr lang="en-US" altLang="zh-CN" sz="1400" dirty="0">
                <a:solidFill>
                  <a:schemeClr val="accent4"/>
                </a:solidFill>
                <a:latin typeface="Arial Black" panose="020B0A04020102020204" pitchFamily="34" charset="0"/>
              </a:rPr>
              <a:t>2026 </a:t>
            </a:r>
            <a:r>
              <a:rPr lang="zh-CN" altLang="en-US" sz="1400" dirty="0">
                <a:solidFill>
                  <a:schemeClr val="accent4"/>
                </a:solidFill>
                <a:latin typeface="Arial Black" panose="020B0A04020102020204" pitchFamily="34" charset="0"/>
              </a:rPr>
              <a:t>年 </a:t>
            </a:r>
            <a:r>
              <a:rPr lang="en-US" altLang="zh-CN" sz="1400" dirty="0">
                <a:solidFill>
                  <a:schemeClr val="accent4"/>
                </a:solidFill>
                <a:latin typeface="Arial Black" panose="020B0A04020102020204" pitchFamily="34" charset="0"/>
              </a:rPr>
              <a:t>03</a:t>
            </a:r>
            <a:r>
              <a:rPr lang="zh-CN" altLang="en-US" sz="1400" dirty="0">
                <a:solidFill>
                  <a:schemeClr val="accent4"/>
                </a:solidFill>
                <a:latin typeface="Arial Black" panose="020B0A04020102020204" pitchFamily="34" charset="0"/>
              </a:rPr>
              <a:t>月</a:t>
            </a: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正文页D">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612001" y="-1"/>
            <a:ext cx="9340585" cy="1048869"/>
          </a:xfrm>
          <a:prstGeom prst="rect">
            <a:avLst/>
          </a:prstGeom>
        </p:spPr>
        <p:txBody>
          <a:bodyPr vert="horz" lIns="0" tIns="36000" rIns="0" bIns="0" rtlCol="0" anchor="ctr" anchorCtr="0">
            <a:noAutofit/>
          </a:bodyPr>
          <a:lstStyle>
            <a:lvl1pPr>
              <a:defRPr sz="2000" spc="200" baseline="0">
                <a:solidFill>
                  <a:schemeClr val="bg1"/>
                </a:solidFill>
              </a:defRPr>
            </a:lvl1pPr>
          </a:lstStyle>
          <a:p>
            <a:r>
              <a:rPr lang="zh-CN" altLang="en-US" dirty="0"/>
              <a:t>单击此处编辑母版标题样式</a:t>
            </a:r>
            <a:endParaRPr lang="en-US" dirty="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3627" y="82564"/>
            <a:ext cx="1877097" cy="883737"/>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内容页">
    <p:spTree>
      <p:nvGrpSpPr>
        <p:cNvPr id="1" name=""/>
        <p:cNvGrpSpPr/>
        <p:nvPr/>
      </p:nvGrpSpPr>
      <p:grpSpPr>
        <a:xfrm>
          <a:off x="0" y="0"/>
          <a:ext cx="0" cy="0"/>
          <a:chOff x="0" y="0"/>
          <a:chExt cx="0" cy="0"/>
        </a:xfrm>
      </p:grpSpPr>
      <p:sp>
        <p:nvSpPr>
          <p:cNvPr id="104" name="TextBox 4"/>
          <p:cNvSpPr txBox="1"/>
          <p:nvPr/>
        </p:nvSpPr>
        <p:spPr>
          <a:xfrm>
            <a:off x="45722" y="-1021933"/>
            <a:ext cx="5656517" cy="830997"/>
          </a:xfrm>
          <a:prstGeom prst="rect">
            <a:avLst/>
          </a:prstGeom>
          <a:ln w="12700">
            <a:miter lim="400000"/>
          </a:ln>
        </p:spPr>
        <p:txBody>
          <a:bodyPr lIns="14466" rIns="14466">
            <a:spAutoFit/>
          </a:bodyPr>
          <a:lstStyle/>
          <a:p>
            <a:pPr>
              <a:defRPr sz="1000">
                <a:latin typeface="HYZhongJianHeiJ Regular"/>
                <a:ea typeface="HYZhongJianHeiJ Regular"/>
                <a:cs typeface="HYZhongJianHeiJ Regular"/>
                <a:sym typeface="HYZhongJianHeiJ Regular"/>
              </a:defRPr>
            </a:pPr>
            <a:r>
              <a:rPr sz="1200"/>
              <a:t>目录标题字体：汉仪粗简黑简  / 字号：30 / 字距：正常（0）</a:t>
            </a:r>
          </a:p>
          <a:p>
            <a:pPr>
              <a:defRPr sz="1000">
                <a:latin typeface="HYZhongJianHeiJ Regular"/>
                <a:ea typeface="HYZhongJianHeiJ Regular"/>
                <a:cs typeface="HYZhongJianHeiJ Regular"/>
                <a:sym typeface="HYZhongJianHeiJ Regular"/>
              </a:defRPr>
            </a:pPr>
            <a:r>
              <a:rPr sz="1200"/>
              <a:t>标题字体：汉仪中简黑简 / 字号：30 / 字距：正常（0）</a:t>
            </a:r>
          </a:p>
          <a:p>
            <a:pPr>
              <a:defRPr sz="1000">
                <a:latin typeface="HYZhongJianHeiJ Regular"/>
                <a:ea typeface="HYZhongJianHeiJ Regular"/>
                <a:cs typeface="HYZhongJianHeiJ Regular"/>
                <a:sym typeface="HYZhongJianHeiJ Regular"/>
              </a:defRPr>
            </a:pPr>
            <a:r>
              <a:rPr sz="1200"/>
              <a:t>副标题字体：汉仪中简黑简 / 字号：16-18 / 字距：1.5 / 字距：正常（0）</a:t>
            </a:r>
          </a:p>
          <a:p>
            <a:pPr defTabSz="288925">
              <a:defRPr sz="1000">
                <a:latin typeface="HYZhongJianHeiJ Regular"/>
                <a:ea typeface="HYZhongJianHeiJ Regular"/>
                <a:cs typeface="HYZhongJianHeiJ Regular"/>
                <a:sym typeface="HYZhongJianHeiJ Regular"/>
              </a:defRPr>
            </a:pPr>
            <a:r>
              <a:rPr sz="1200"/>
              <a:t>正文字体：汉仪中简黑简 / 字号：12 -14/ 行距：1.5 / 字距：正常（0）</a:t>
            </a:r>
          </a:p>
        </p:txBody>
      </p:sp>
      <p:sp>
        <p:nvSpPr>
          <p:cNvPr id="5" name="矩形 4"/>
          <p:cNvSpPr/>
          <p:nvPr userDrawn="1"/>
        </p:nvSpPr>
        <p:spPr>
          <a:xfrm>
            <a:off x="0" y="6154574"/>
            <a:ext cx="510988" cy="403412"/>
          </a:xfrm>
          <a:prstGeom prst="rect">
            <a:avLst/>
          </a:prstGeom>
          <a:solidFill>
            <a:schemeClr val="bg1"/>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6" name="幻灯片编号"/>
          <p:cNvSpPr txBox="1"/>
          <p:nvPr userDrawn="1"/>
        </p:nvSpPr>
        <p:spPr>
          <a:xfrm rot="5400000">
            <a:off x="-68091" y="5848741"/>
            <a:ext cx="541173"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288925" rtl="0" fontAlgn="auto" latinLnBrk="0" hangingPunct="0">
              <a:lnSpc>
                <a:spcPct val="100000"/>
              </a:lnSpc>
              <a:spcBef>
                <a:spcPts val="0"/>
              </a:spcBef>
              <a:spcAft>
                <a:spcPts val="0"/>
              </a:spcAft>
              <a:buClrTx/>
              <a:buSzTx/>
              <a:buFontTx/>
              <a:buNone/>
              <a:defRPr kumimoji="0" sz="1400" b="1" i="0" u="none" strike="noStrike" cap="none" spc="0" normalizeH="0" baseline="0">
                <a:ln>
                  <a:noFill/>
                </a:ln>
                <a:solidFill>
                  <a:srgbClr val="BFBFBF"/>
                </a:solidFill>
                <a:effectLst/>
                <a:uFillTx/>
                <a:latin typeface="DIN Next W1G"/>
                <a:ea typeface="DIN Next W1G"/>
                <a:cs typeface="DIN Next W1G"/>
                <a:sym typeface="DIN Next W1G"/>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5pPr>
            <a:lvl6pPr marL="0" marR="0" indent="22860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6pPr>
            <a:lvl7pPr marL="0" marR="0" indent="2743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7pPr>
            <a:lvl8pPr marL="0" marR="0" indent="3200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8pPr>
            <a:lvl9pPr marL="0" marR="0" indent="3657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9pPr>
          </a:lstStyle>
          <a:p>
            <a:fld id="{86CB4B4D-7CA3-9044-876B-883B54F8677D}" type="slidenum">
              <a:rPr lang="en-US" altLang="zh-CN" smtClean="0"/>
              <a:t>‹#›</a:t>
            </a:fld>
            <a:r>
              <a:rPr lang="en-US" altLang="zh-CN" dirty="0"/>
              <a:t>/5</a:t>
            </a:r>
            <a:endParaRPr lang="zh-CN" alt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10.png"/><Relationship Id="rId19"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433637"/>
            <a:ext cx="10850563" cy="595063"/>
          </a:xfrm>
          <a:prstGeom prst="rect">
            <a:avLst/>
          </a:prstGeom>
        </p:spPr>
        <p:txBody>
          <a:bodyPr vert="horz" lIns="91440" tIns="45720" rIns="91440" bIns="45720" rtlCol="0" anchor="b">
            <a:noAutofit/>
          </a:bodyPr>
          <a:lstStyle/>
          <a:p>
            <a:r>
              <a:rPr lang="en-US" altLang="zh-CN" dirty="0"/>
              <a:t>Click to edit Master title style</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userDrawn="1"/>
        </p:nvSpPr>
        <p:spPr>
          <a:xfrm>
            <a:off x="669924" y="6331974"/>
            <a:ext cx="2722205" cy="261610"/>
          </a:xfrm>
          <a:prstGeom prst="rect">
            <a:avLst/>
          </a:prstGeom>
          <a:noFill/>
        </p:spPr>
        <p:txBody>
          <a:bodyPr wrap="square" rtlCol="0">
            <a:spAutoFit/>
          </a:bodyPr>
          <a:lstStyle/>
          <a:p>
            <a:r>
              <a:rPr lang="en-US" altLang="zh-CN" sz="1100" b="1" dirty="0">
                <a:solidFill>
                  <a:schemeClr val="tx2"/>
                </a:solidFill>
                <a:latin typeface="Arial Black" panose="020B0A04020102020204" pitchFamily="34" charset="0"/>
              </a:rPr>
              <a:t>www.cheyun.com</a:t>
            </a:r>
            <a:endParaRPr lang="zh-CN" altLang="en-US" sz="1100" b="1" dirty="0">
              <a:solidFill>
                <a:schemeClr val="tx2"/>
              </a:solidFill>
              <a:latin typeface="Arial Black" panose="020B0A04020102020204" pitchFamily="34" charset="0"/>
            </a:endParaRPr>
          </a:p>
        </p:txBody>
      </p:sp>
      <p:sp>
        <p:nvSpPr>
          <p:cNvPr id="12" name="文本框 11"/>
          <p:cNvSpPr txBox="1"/>
          <p:nvPr userDrawn="1"/>
        </p:nvSpPr>
        <p:spPr>
          <a:xfrm>
            <a:off x="4734103" y="6331974"/>
            <a:ext cx="2722205" cy="261610"/>
          </a:xfrm>
          <a:prstGeom prst="rect">
            <a:avLst/>
          </a:prstGeom>
          <a:noFill/>
        </p:spPr>
        <p:txBody>
          <a:bodyPr wrap="square" rtlCol="0">
            <a:spAutoFit/>
          </a:bodyPr>
          <a:lstStyle/>
          <a:p>
            <a:pPr algn="ctr"/>
            <a:r>
              <a:rPr lang="en-US" altLang="zh-CN" sz="1100" b="1" dirty="0">
                <a:solidFill>
                  <a:schemeClr val="tx2"/>
                </a:solidFill>
                <a:latin typeface="Arial Black" panose="020B0A04020102020204" pitchFamily="34" charset="0"/>
              </a:rPr>
              <a:t>03-2026</a:t>
            </a:r>
          </a:p>
        </p:txBody>
      </p:sp>
      <p:sp>
        <p:nvSpPr>
          <p:cNvPr id="13" name="文本框 12"/>
          <p:cNvSpPr txBox="1"/>
          <p:nvPr userDrawn="1"/>
        </p:nvSpPr>
        <p:spPr>
          <a:xfrm>
            <a:off x="8798282" y="6331974"/>
            <a:ext cx="2722205" cy="261610"/>
          </a:xfrm>
          <a:prstGeom prst="rect">
            <a:avLst/>
          </a:prstGeom>
          <a:noFill/>
        </p:spPr>
        <p:txBody>
          <a:bodyPr wrap="square" rtlCol="0">
            <a:spAutoFit/>
          </a:bodyPr>
          <a:lstStyle/>
          <a:p>
            <a:pPr algn="r"/>
            <a:r>
              <a:rPr lang="en-US" altLang="zh-CN" sz="1100" b="1" dirty="0">
                <a:solidFill>
                  <a:schemeClr val="tx2"/>
                </a:solidFill>
                <a:latin typeface="Arial Black" panose="020B0A04020102020204" pitchFamily="34" charset="0"/>
              </a:rPr>
              <a:t>- </a:t>
            </a:r>
            <a:fld id="{B82E189C-64F3-4B6C-A562-F6D75348744A}" type="slidenum">
              <a:rPr lang="en-US" altLang="zh-CN" sz="1100" b="1" smtClean="0">
                <a:solidFill>
                  <a:schemeClr val="tx2"/>
                </a:solidFill>
                <a:latin typeface="Arial Black" panose="020B0A04020102020204" pitchFamily="34" charset="0"/>
              </a:rPr>
              <a:t>‹#›</a:t>
            </a:fld>
            <a:r>
              <a:rPr lang="en-US" altLang="zh-CN" sz="1100" b="1" dirty="0">
                <a:solidFill>
                  <a:schemeClr val="tx2"/>
                </a:solidFill>
                <a:latin typeface="Arial Black" panose="020B0A04020102020204" pitchFamily="34" charset="0"/>
              </a:rPr>
              <a:t> -</a:t>
            </a:r>
            <a:endParaRPr lang="zh-CN" altLang="en-US" sz="1100" b="1" dirty="0">
              <a:solidFill>
                <a:schemeClr val="tx2"/>
              </a:solidFill>
              <a:latin typeface="Arial Black" panose="020B0A04020102020204" pitchFamily="34" charset="0"/>
            </a:endParaRPr>
          </a:p>
        </p:txBody>
      </p:sp>
      <p:pic>
        <p:nvPicPr>
          <p:cNvPr id="14" name="图片 13" descr="3车云logo(1)"/>
          <p:cNvPicPr>
            <a:picLocks noChangeAspect="1"/>
          </p:cNvPicPr>
          <p:nvPr userDrawn="1"/>
        </p:nvPicPr>
        <p:blipFill>
          <a:blip r:embed="rId17"/>
          <a:stretch>
            <a:fillRect/>
          </a:stretch>
        </p:blipFill>
        <p:spPr>
          <a:xfrm>
            <a:off x="10731391" y="147480"/>
            <a:ext cx="1399805" cy="36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27" name="矩形 26"/>
          <p:cNvSpPr/>
          <p:nvPr userDrawn="1"/>
        </p:nvSpPr>
        <p:spPr>
          <a:xfrm>
            <a:off x="-1004762" y="1573162"/>
            <a:ext cx="894736" cy="2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solidFill>
                  <a:schemeClr val="accent4"/>
                </a:solidFill>
              </a:rPr>
              <a:t>255/255/255</a:t>
            </a:r>
            <a:endParaRPr lang="zh-CN" altLang="en-US" sz="1000" dirty="0">
              <a:solidFill>
                <a:schemeClr val="accent4"/>
              </a:solidFill>
            </a:endParaRPr>
          </a:p>
        </p:txBody>
      </p:sp>
      <p:sp>
        <p:nvSpPr>
          <p:cNvPr id="42" name="矩形 41"/>
          <p:cNvSpPr/>
          <p:nvPr userDrawn="1"/>
        </p:nvSpPr>
        <p:spPr>
          <a:xfrm>
            <a:off x="-1004762" y="1840398"/>
            <a:ext cx="894736" cy="2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0/0/0</a:t>
            </a:r>
            <a:endParaRPr lang="zh-CN" altLang="en-US" sz="1000" dirty="0"/>
          </a:p>
        </p:txBody>
      </p:sp>
      <p:sp>
        <p:nvSpPr>
          <p:cNvPr id="43" name="矩形 42"/>
          <p:cNvSpPr/>
          <p:nvPr userDrawn="1"/>
        </p:nvSpPr>
        <p:spPr>
          <a:xfrm>
            <a:off x="-1004762" y="2107634"/>
            <a:ext cx="894736" cy="2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solidFill>
                  <a:schemeClr val="accent4"/>
                </a:solidFill>
              </a:rPr>
              <a:t>240/240/240</a:t>
            </a:r>
            <a:endParaRPr lang="zh-CN" altLang="en-US" sz="1000" dirty="0">
              <a:solidFill>
                <a:schemeClr val="accent4"/>
              </a:solidFill>
            </a:endParaRPr>
          </a:p>
        </p:txBody>
      </p:sp>
      <p:sp>
        <p:nvSpPr>
          <p:cNvPr id="44" name="矩形 43"/>
          <p:cNvSpPr/>
          <p:nvPr userDrawn="1"/>
        </p:nvSpPr>
        <p:spPr>
          <a:xfrm>
            <a:off x="-1004762" y="2374869"/>
            <a:ext cx="894736"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118/131/149</a:t>
            </a:r>
            <a:endParaRPr lang="zh-CN" altLang="en-US" sz="1000" dirty="0"/>
          </a:p>
        </p:txBody>
      </p:sp>
      <p:sp>
        <p:nvSpPr>
          <p:cNvPr id="45" name="矩形 44"/>
          <p:cNvSpPr/>
          <p:nvPr userDrawn="1"/>
        </p:nvSpPr>
        <p:spPr>
          <a:xfrm>
            <a:off x="-1004762" y="3213000"/>
            <a:ext cx="894736"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0/143/212</a:t>
            </a:r>
            <a:endParaRPr lang="zh-CN" altLang="en-US" sz="1000" dirty="0"/>
          </a:p>
        </p:txBody>
      </p:sp>
      <p:sp>
        <p:nvSpPr>
          <p:cNvPr id="46" name="矩形 45"/>
          <p:cNvSpPr/>
          <p:nvPr userDrawn="1"/>
        </p:nvSpPr>
        <p:spPr>
          <a:xfrm>
            <a:off x="-1004762" y="3527047"/>
            <a:ext cx="894736" cy="2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75/195/255</a:t>
            </a:r>
            <a:endParaRPr lang="zh-CN" altLang="en-US" sz="1000" dirty="0"/>
          </a:p>
        </p:txBody>
      </p:sp>
      <p:sp>
        <p:nvSpPr>
          <p:cNvPr id="47" name="矩形 46"/>
          <p:cNvSpPr/>
          <p:nvPr userDrawn="1"/>
        </p:nvSpPr>
        <p:spPr>
          <a:xfrm>
            <a:off x="-1004762" y="3841094"/>
            <a:ext cx="894736" cy="2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88/88/88</a:t>
            </a:r>
            <a:endParaRPr lang="zh-CN" altLang="en-US" sz="1000" dirty="0"/>
          </a:p>
        </p:txBody>
      </p:sp>
      <p:sp>
        <p:nvSpPr>
          <p:cNvPr id="48" name="矩形 47"/>
          <p:cNvSpPr/>
          <p:nvPr userDrawn="1"/>
        </p:nvSpPr>
        <p:spPr>
          <a:xfrm>
            <a:off x="-1004762" y="4155141"/>
            <a:ext cx="894736" cy="2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110/115/122</a:t>
            </a:r>
            <a:endParaRPr lang="zh-CN" altLang="en-US" sz="1000" dirty="0"/>
          </a:p>
        </p:txBody>
      </p:sp>
      <p:sp>
        <p:nvSpPr>
          <p:cNvPr id="49" name="矩形 48"/>
          <p:cNvSpPr/>
          <p:nvPr userDrawn="1"/>
        </p:nvSpPr>
        <p:spPr>
          <a:xfrm>
            <a:off x="-1004762" y="4469188"/>
            <a:ext cx="894736" cy="2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147/152/158</a:t>
            </a:r>
            <a:endParaRPr lang="zh-CN" altLang="en-US" sz="1000" dirty="0"/>
          </a:p>
        </p:txBody>
      </p:sp>
      <p:sp>
        <p:nvSpPr>
          <p:cNvPr id="50" name="矩形 49"/>
          <p:cNvSpPr/>
          <p:nvPr userDrawn="1"/>
        </p:nvSpPr>
        <p:spPr>
          <a:xfrm>
            <a:off x="-1004762" y="4783233"/>
            <a:ext cx="894736" cy="2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183/184/185</a:t>
            </a:r>
            <a:endParaRPr lang="zh-CN" altLang="en-US" sz="1000" dirty="0"/>
          </a:p>
        </p:txBody>
      </p:sp>
      <p:sp>
        <p:nvSpPr>
          <p:cNvPr id="5" name="文本框 4"/>
          <p:cNvSpPr txBox="1"/>
          <p:nvPr userDrawn="1"/>
        </p:nvSpPr>
        <p:spPr>
          <a:xfrm>
            <a:off x="-1012723" y="1307690"/>
            <a:ext cx="894736" cy="261610"/>
          </a:xfrm>
          <a:prstGeom prst="rect">
            <a:avLst/>
          </a:prstGeom>
          <a:noFill/>
        </p:spPr>
        <p:txBody>
          <a:bodyPr wrap="square" rtlCol="0">
            <a:spAutoFit/>
          </a:bodyPr>
          <a:lstStyle/>
          <a:p>
            <a:pPr algn="ctr"/>
            <a:r>
              <a:rPr lang="zh-CN" altLang="en-US" sz="1100" dirty="0">
                <a:solidFill>
                  <a:schemeClr val="bg1"/>
                </a:solidFill>
                <a:latin typeface="+mn-ea"/>
                <a:ea typeface="+mn-ea"/>
              </a:rPr>
              <a:t>文字</a:t>
            </a:r>
            <a:r>
              <a:rPr lang="en-US" altLang="zh-CN" sz="1100" dirty="0">
                <a:solidFill>
                  <a:schemeClr val="bg1"/>
                </a:solidFill>
                <a:latin typeface="+mn-ea"/>
                <a:ea typeface="+mn-ea"/>
              </a:rPr>
              <a:t>/</a:t>
            </a:r>
            <a:r>
              <a:rPr lang="zh-CN" altLang="en-US" sz="1100" dirty="0">
                <a:solidFill>
                  <a:schemeClr val="bg1"/>
                </a:solidFill>
                <a:latin typeface="+mn-ea"/>
                <a:ea typeface="+mn-ea"/>
              </a:rPr>
              <a:t>背景</a:t>
            </a:r>
          </a:p>
        </p:txBody>
      </p:sp>
      <p:sp>
        <p:nvSpPr>
          <p:cNvPr id="51" name="文本框 50"/>
          <p:cNvSpPr txBox="1"/>
          <p:nvPr userDrawn="1"/>
        </p:nvSpPr>
        <p:spPr>
          <a:xfrm>
            <a:off x="-1012723" y="2944234"/>
            <a:ext cx="894736" cy="261610"/>
          </a:xfrm>
          <a:prstGeom prst="rect">
            <a:avLst/>
          </a:prstGeom>
          <a:noFill/>
        </p:spPr>
        <p:txBody>
          <a:bodyPr wrap="square" rtlCol="0">
            <a:spAutoFit/>
          </a:bodyPr>
          <a:lstStyle/>
          <a:p>
            <a:pPr algn="ctr"/>
            <a:r>
              <a:rPr lang="zh-CN" altLang="en-US" sz="1100" dirty="0">
                <a:solidFill>
                  <a:schemeClr val="bg1"/>
                </a:solidFill>
                <a:latin typeface="+mn-ea"/>
                <a:ea typeface="+mn-ea"/>
              </a:rPr>
              <a:t>填充色</a:t>
            </a:r>
          </a:p>
        </p:txBody>
      </p:sp>
      <p:pic>
        <p:nvPicPr>
          <p:cNvPr id="52" name="Picture 51" descr="0161fa87-4d0d-4e6a-83a5-4bcacce2ab22_tile.png"/>
          <p:cNvPicPr>
            <a:picLocks noChangeAspect="1"/>
          </p:cNvPicPr>
          <p:nvPr/>
        </p:nvPicPr>
        <p:blipFill>
          <a:blip r:embed="rId18"/>
          <a:stretch>
            <a:fillRect/>
          </a:stretch>
        </p:blipFill>
        <p:spPr>
          <a:xfrm>
            <a:off x="0" y="0"/>
            <a:ext cx="12192000" cy="6858000"/>
          </a:xfrm>
          <a:prstGeom prst="rect">
            <a:avLst/>
          </a:prstGeom>
        </p:spPr>
      </p:pic>
      <p:pic>
        <p:nvPicPr>
          <p:cNvPr id="53" name="Picture 52" descr="9eb71935-6e69-4a06-82d5-28f479be8242_tile.png"/>
          <p:cNvPicPr>
            <a:picLocks noChangeAspect="1"/>
          </p:cNvPicPr>
          <p:nvPr/>
        </p:nvPicPr>
        <p:blipFill>
          <a:blip r:embed="rId19"/>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dt="0"/>
  <p:txStyles>
    <p:titleStyle>
      <a:lvl1pPr algn="l" defTabSz="914400" rtl="0" eaLnBrk="1" latinLnBrk="0" hangingPunct="1">
        <a:lnSpc>
          <a:spcPct val="90000"/>
        </a:lnSpc>
        <a:spcBef>
          <a:spcPct val="0"/>
        </a:spcBef>
        <a:buNone/>
        <a:defRPr lang="zh-CN" altLang="en-US" sz="2400" b="1" kern="1200" dirty="0">
          <a:solidFill>
            <a:schemeClr val="tx1">
              <a:lumMod val="65000"/>
              <a:lumOff val="35000"/>
            </a:schemeClr>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73560" y="1138434"/>
            <a:ext cx="5759910" cy="338554"/>
          </a:xfrm>
          <a:prstGeom prst="rect">
            <a:avLst/>
          </a:prstGeom>
          <a:noFill/>
        </p:spPr>
        <p:txBody>
          <a:bodyPr wrap="none" rtlCol="0">
            <a:spAutoFit/>
          </a:bodyPr>
          <a:lstStyle>
            <a:defPPr>
              <a:defRPr lang="zh-CN"/>
            </a:defPPr>
            <a:lvl1pPr>
              <a:defRPr sz="1400" b="1">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rgbClr val="000000"/>
                </a:solidFill>
              </a:rPr>
              <a:t>3</a:t>
            </a:r>
            <a:r>
              <a:rPr lang="zh-CN" altLang="en-US" sz="1600" b="0" dirty="0">
                <a:solidFill>
                  <a:srgbClr val="000000"/>
                </a:solidFill>
              </a:rPr>
              <a:t>月</a:t>
            </a:r>
            <a:r>
              <a:rPr lang="en-US" altLang="zh-CN" sz="1600" b="0" dirty="0">
                <a:solidFill>
                  <a:srgbClr val="000000"/>
                </a:solidFill>
              </a:rPr>
              <a:t>1</a:t>
            </a:r>
            <a:r>
              <a:rPr lang="zh-CN" altLang="en-US" sz="1600" b="0" dirty="0">
                <a:solidFill>
                  <a:srgbClr val="000000"/>
                </a:solidFill>
              </a:rPr>
              <a:t>日上午进行了乘客组圆桌访谈，下午进行司机组圆桌访谈</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7" name="矩形 36"/>
          <p:cNvSpPr/>
          <p:nvPr/>
        </p:nvSpPr>
        <p:spPr>
          <a:xfrm>
            <a:off x="6364736" y="1584609"/>
            <a:ext cx="4439654" cy="2452021"/>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sp>
        <p:nvSpPr>
          <p:cNvPr id="111" name="椭圆 110"/>
          <p:cNvSpPr/>
          <p:nvPr/>
        </p:nvSpPr>
        <p:spPr>
          <a:xfrm>
            <a:off x="7544801" y="2333371"/>
            <a:ext cx="1901176" cy="1107052"/>
          </a:xfrm>
          <a:prstGeom prst="ellipse">
            <a:avLst/>
          </a:prstGeom>
          <a:solidFill>
            <a:schemeClr val="bg2">
              <a:lumMod val="75000"/>
            </a:schemeClr>
          </a:solidFill>
          <a:ln>
            <a:solidFill>
              <a:schemeClr val="bg1">
                <a:lumMod val="95000"/>
              </a:schemeClr>
            </a:solidFill>
          </a:ln>
        </p:spPr>
        <p:txBody>
          <a:bodyPr wrap="square" rtlCol="0" anchor="ctr">
            <a:spAutoFit/>
          </a:bodyPr>
          <a:lstStyle/>
          <a:p>
            <a:pPr algn="ctr">
              <a:lnSpc>
                <a:spcPct val="125000"/>
              </a:lnSpc>
            </a:pPr>
            <a:endParaRPr lang="zh-CN" altLang="en-US" sz="1400" dirty="0">
              <a:latin typeface="+mn-ea"/>
            </a:endParaRPr>
          </a:p>
        </p:txBody>
      </p:sp>
      <p:sp>
        <p:nvSpPr>
          <p:cNvPr id="2" name="标题 1"/>
          <p:cNvSpPr>
            <a:spLocks noGrp="1"/>
          </p:cNvSpPr>
          <p:nvPr>
            <p:ph type="title" idx="4294967295"/>
          </p:nvPr>
        </p:nvSpPr>
        <p:spPr>
          <a:xfrm>
            <a:off x="669924" y="433637"/>
            <a:ext cx="10850563" cy="595063"/>
          </a:xfrm>
        </p:spPr>
        <p:txBody>
          <a:bodyPr/>
          <a:lstStyle/>
          <a:p>
            <a:r>
              <a:rPr lang="zh-CN" altLang="en-US" b="1" dirty="0">
                <a:sym typeface="Arial" panose="020B0604020202020204" pitchFamily="34" charset="0"/>
              </a:rPr>
              <a:t>项目执行概况 </a:t>
            </a:r>
            <a:r>
              <a:rPr lang="en-US" altLang="zh-CN" dirty="0">
                <a:sym typeface="Arial" panose="020B0604020202020204" pitchFamily="34" charset="0"/>
              </a:rPr>
              <a:t>——</a:t>
            </a:r>
            <a:r>
              <a:rPr lang="zh-CN" altLang="en-US" dirty="0">
                <a:sym typeface="Arial" panose="020B0604020202020204" pitchFamily="34" charset="0"/>
              </a:rPr>
              <a:t>圆桌访谈</a:t>
            </a:r>
            <a:r>
              <a:rPr lang="en-US" altLang="zh-CN" sz="1600" dirty="0">
                <a:sym typeface="Arial" panose="020B0604020202020204" pitchFamily="34" charset="0"/>
              </a:rPr>
              <a:t>(</a:t>
            </a:r>
            <a:r>
              <a:rPr lang="zh-CN" altLang="en-US" sz="1600" b="1" dirty="0">
                <a:sym typeface="Arial" panose="020B0604020202020204" pitchFamily="34" charset="0"/>
              </a:rPr>
              <a:t>定性</a:t>
            </a:r>
            <a:r>
              <a:rPr lang="en-US" altLang="zh-CN" sz="1600" b="1" dirty="0">
                <a:sym typeface="Arial" panose="020B0604020202020204" pitchFamily="34" charset="0"/>
              </a:rPr>
              <a:t>)</a:t>
            </a:r>
            <a:endParaRPr lang="zh-CN" altLang="en-US" sz="1600" dirty="0"/>
          </a:p>
        </p:txBody>
      </p:sp>
      <p:sp>
        <p:nvSpPr>
          <p:cNvPr id="7" name="矩形 6"/>
          <p:cNvSpPr/>
          <p:nvPr/>
        </p:nvSpPr>
        <p:spPr>
          <a:xfrm>
            <a:off x="909627" y="1613116"/>
            <a:ext cx="4437875" cy="2406644"/>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grpSp>
        <p:nvGrpSpPr>
          <p:cNvPr id="130" name="组合 129"/>
          <p:cNvGrpSpPr/>
          <p:nvPr/>
        </p:nvGrpSpPr>
        <p:grpSpPr>
          <a:xfrm>
            <a:off x="2818191" y="3409855"/>
            <a:ext cx="792618" cy="651138"/>
            <a:chOff x="2254134" y="3409855"/>
            <a:chExt cx="792618" cy="651138"/>
          </a:xfrm>
        </p:grpSpPr>
        <p:sp>
          <p:nvSpPr>
            <p:cNvPr id="13" name="businessman-presenter_46787"/>
            <p:cNvSpPr/>
            <p:nvPr/>
          </p:nvSpPr>
          <p:spPr>
            <a:xfrm>
              <a:off x="2470830" y="3409855"/>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p:cNvSpPr txBox="1"/>
            <p:nvPr/>
          </p:nvSpPr>
          <p:spPr>
            <a:xfrm>
              <a:off x="2254134" y="3845549"/>
              <a:ext cx="792618" cy="215444"/>
            </a:xfrm>
            <a:prstGeom prst="rect">
              <a:avLst/>
            </a:prstGeom>
            <a:noFill/>
          </p:spPr>
          <p:txBody>
            <a:bodyPr wrap="square" rtlCol="0">
              <a:spAutoFit/>
            </a:bodyPr>
            <a:lstStyle/>
            <a:p>
              <a:pPr algn="ctr"/>
              <a:r>
                <a:rPr lang="zh-CN" altLang="en-US" sz="800" dirty="0">
                  <a:latin typeface="+mn-ea"/>
                </a:rPr>
                <a:t>主持人</a:t>
              </a:r>
            </a:p>
          </p:txBody>
        </p:sp>
      </p:grpSp>
      <p:grpSp>
        <p:nvGrpSpPr>
          <p:cNvPr id="17" name="组合 16"/>
          <p:cNvGrpSpPr/>
          <p:nvPr/>
        </p:nvGrpSpPr>
        <p:grpSpPr>
          <a:xfrm>
            <a:off x="1892602" y="3098775"/>
            <a:ext cx="868372" cy="627791"/>
            <a:chOff x="910521" y="5817059"/>
            <a:chExt cx="729117" cy="591660"/>
          </a:xfrm>
        </p:grpSpPr>
        <p:sp>
          <p:nvSpPr>
            <p:cNvPr id="32" name="man-with-bow_56788"/>
            <p:cNvSpPr/>
            <p:nvPr/>
          </p:nvSpPr>
          <p:spPr>
            <a:xfrm>
              <a:off x="1083425" y="5817059"/>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文本框 32"/>
            <p:cNvSpPr txBox="1"/>
            <p:nvPr/>
          </p:nvSpPr>
          <p:spPr>
            <a:xfrm>
              <a:off x="910521" y="6089650"/>
              <a:ext cx="729117" cy="319069"/>
            </a:xfrm>
            <a:prstGeom prst="rect">
              <a:avLst/>
            </a:prstGeom>
            <a:noFill/>
          </p:spPr>
          <p:txBody>
            <a:bodyPr wrap="square" rtlCol="0" anchor="ctr">
              <a:spAutoFit/>
            </a:bodyPr>
            <a:lstStyle/>
            <a:p>
              <a:pPr algn="ctr"/>
              <a:r>
                <a:rPr lang="zh-CN" altLang="en-US" sz="800" dirty="0">
                  <a:latin typeface="+mn-ea"/>
                </a:rPr>
                <a:t>外贸业务员</a:t>
              </a:r>
              <a:endParaRPr lang="en-US" altLang="zh-CN" sz="800" dirty="0">
                <a:latin typeface="+mn-ea"/>
              </a:endParaRPr>
            </a:p>
            <a:p>
              <a:pPr algn="ctr"/>
              <a:r>
                <a:rPr lang="zh-CN" altLang="en-US" sz="800" dirty="0">
                  <a:latin typeface="+mn-ea"/>
                </a:rPr>
                <a:t>尤先生（快车）</a:t>
              </a:r>
            </a:p>
          </p:txBody>
        </p:sp>
      </p:grpSp>
      <p:grpSp>
        <p:nvGrpSpPr>
          <p:cNvPr id="18" name="组合 17"/>
          <p:cNvGrpSpPr/>
          <p:nvPr/>
        </p:nvGrpSpPr>
        <p:grpSpPr>
          <a:xfrm>
            <a:off x="1861807" y="1866102"/>
            <a:ext cx="1041934" cy="590167"/>
            <a:chOff x="1451715" y="6221194"/>
            <a:chExt cx="874846" cy="587534"/>
          </a:xfrm>
        </p:grpSpPr>
        <p:sp>
          <p:nvSpPr>
            <p:cNvPr id="30" name="man-with-bow_56788"/>
            <p:cNvSpPr/>
            <p:nvPr/>
          </p:nvSpPr>
          <p:spPr>
            <a:xfrm>
              <a:off x="1731383" y="6221194"/>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文本框 30"/>
            <p:cNvSpPr txBox="1"/>
            <p:nvPr/>
          </p:nvSpPr>
          <p:spPr>
            <a:xfrm>
              <a:off x="1451715" y="6461251"/>
              <a:ext cx="874846" cy="347477"/>
            </a:xfrm>
            <a:prstGeom prst="rect">
              <a:avLst/>
            </a:prstGeom>
            <a:noFill/>
          </p:spPr>
          <p:txBody>
            <a:bodyPr wrap="square" rtlCol="0" anchor="ctr">
              <a:spAutoFit/>
            </a:bodyPr>
            <a:lstStyle/>
            <a:p>
              <a:pPr algn="ctr"/>
              <a:r>
                <a:rPr lang="zh-CN" altLang="en-US" sz="800" dirty="0">
                  <a:latin typeface="+mn-ea"/>
                </a:rPr>
                <a:t>教育教师</a:t>
              </a:r>
              <a:endParaRPr lang="en-US" altLang="zh-CN" sz="800" dirty="0">
                <a:latin typeface="+mn-ea"/>
              </a:endParaRPr>
            </a:p>
            <a:p>
              <a:pPr algn="ctr"/>
              <a:r>
                <a:rPr lang="zh-CN" altLang="en-US" sz="800" dirty="0">
                  <a:latin typeface="+mn-ea"/>
                </a:rPr>
                <a:t>朱先生（快车）</a:t>
              </a:r>
            </a:p>
          </p:txBody>
        </p:sp>
      </p:grpSp>
      <p:sp>
        <p:nvSpPr>
          <p:cNvPr id="29" name="文本框 28"/>
          <p:cNvSpPr txBox="1"/>
          <p:nvPr/>
        </p:nvSpPr>
        <p:spPr>
          <a:xfrm>
            <a:off x="3789227" y="3410526"/>
            <a:ext cx="714107" cy="338554"/>
          </a:xfrm>
          <a:prstGeom prst="rect">
            <a:avLst/>
          </a:prstGeom>
          <a:noFill/>
        </p:spPr>
        <p:txBody>
          <a:bodyPr wrap="square" rtlCol="0" anchor="ctr">
            <a:spAutoFit/>
          </a:bodyPr>
          <a:lstStyle/>
          <a:p>
            <a:pPr algn="ctr"/>
            <a:r>
              <a:rPr lang="zh-CN" altLang="en-US" sz="800" dirty="0">
                <a:latin typeface="+mn-ea"/>
              </a:rPr>
              <a:t>老师贾女士</a:t>
            </a:r>
            <a:endParaRPr lang="en-US" altLang="zh-CN" sz="800" dirty="0">
              <a:latin typeface="+mn-ea"/>
            </a:endParaRPr>
          </a:p>
          <a:p>
            <a:pPr algn="ctr"/>
            <a:r>
              <a:rPr lang="zh-CN" altLang="en-US" sz="800" dirty="0">
                <a:latin typeface="+mn-ea"/>
              </a:rPr>
              <a:t>（快车）</a:t>
            </a:r>
          </a:p>
        </p:txBody>
      </p:sp>
      <p:sp>
        <p:nvSpPr>
          <p:cNvPr id="63" name="矩形 62"/>
          <p:cNvSpPr/>
          <p:nvPr/>
        </p:nvSpPr>
        <p:spPr>
          <a:xfrm>
            <a:off x="909628" y="1732326"/>
            <a:ext cx="594868" cy="523220"/>
          </a:xfrm>
          <a:prstGeom prst="rect">
            <a:avLst/>
          </a:prstGeom>
          <a:noFill/>
          <a:ln>
            <a:noFill/>
          </a:ln>
        </p:spPr>
        <p:txBody>
          <a:bodyPr wrap="square" rtlCol="0" anchor="ctr">
            <a:spAutoFit/>
          </a:bodyPr>
          <a:lstStyle/>
          <a:p>
            <a:pPr algn="ctr"/>
            <a:r>
              <a:rPr lang="zh-CN" altLang="en-US" sz="1400" b="1" dirty="0">
                <a:latin typeface="+mn-ea"/>
              </a:rPr>
              <a:t>乘客圆桌</a:t>
            </a:r>
          </a:p>
        </p:txBody>
      </p:sp>
      <p:sp>
        <p:nvSpPr>
          <p:cNvPr id="64" name="矩形 63"/>
          <p:cNvSpPr/>
          <p:nvPr/>
        </p:nvSpPr>
        <p:spPr>
          <a:xfrm>
            <a:off x="6487111" y="1720589"/>
            <a:ext cx="594868" cy="523220"/>
          </a:xfrm>
          <a:prstGeom prst="rect">
            <a:avLst/>
          </a:prstGeom>
          <a:noFill/>
          <a:ln>
            <a:noFill/>
          </a:ln>
        </p:spPr>
        <p:txBody>
          <a:bodyPr wrap="square" rtlCol="0" anchor="ctr">
            <a:spAutoFit/>
          </a:bodyPr>
          <a:lstStyle/>
          <a:p>
            <a:pPr algn="ctr"/>
            <a:r>
              <a:rPr lang="zh-CN" altLang="en-US" sz="1400" b="1" dirty="0">
                <a:latin typeface="+mn-ea"/>
              </a:rPr>
              <a:t>司机圆桌</a:t>
            </a:r>
          </a:p>
        </p:txBody>
      </p:sp>
      <p:grpSp>
        <p:nvGrpSpPr>
          <p:cNvPr id="65" name="组合 64"/>
          <p:cNvGrpSpPr/>
          <p:nvPr/>
        </p:nvGrpSpPr>
        <p:grpSpPr>
          <a:xfrm>
            <a:off x="909628" y="4115410"/>
            <a:ext cx="4437876" cy="2105983"/>
            <a:chOff x="6308024" y="1891136"/>
            <a:chExt cx="5016139" cy="4960111"/>
          </a:xfrm>
        </p:grpSpPr>
        <p:sp>
          <p:nvSpPr>
            <p:cNvPr id="66" name="矩形: 圆角 65"/>
            <p:cNvSpPr/>
            <p:nvPr/>
          </p:nvSpPr>
          <p:spPr>
            <a:xfrm>
              <a:off x="6571668" y="1891136"/>
              <a:ext cx="4488853" cy="440631"/>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sym typeface="微软雅黑" panose="020B0503020204020204" pitchFamily="34" charset="-122"/>
                </a:rPr>
                <a:t>定性用户画像</a:t>
              </a:r>
            </a:p>
          </p:txBody>
        </p:sp>
        <p:sp>
          <p:nvSpPr>
            <p:cNvPr id="67" name="矩形 66"/>
            <p:cNvSpPr/>
            <p:nvPr/>
          </p:nvSpPr>
          <p:spPr>
            <a:xfrm>
              <a:off x="6308024" y="2547520"/>
              <a:ext cx="5016139" cy="430372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dirty="0"/>
            </a:p>
          </p:txBody>
        </p:sp>
        <p:sp>
          <p:nvSpPr>
            <p:cNvPr id="68" name="文本占位符 4"/>
            <p:cNvSpPr txBox="1"/>
            <p:nvPr/>
          </p:nvSpPr>
          <p:spPr>
            <a:xfrm>
              <a:off x="6841745" y="2594302"/>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年龄与性别构成</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9" name="文本占位符 4"/>
            <p:cNvSpPr txBox="1"/>
            <p:nvPr/>
          </p:nvSpPr>
          <p:spPr>
            <a:xfrm>
              <a:off x="7654115" y="2657479"/>
              <a:ext cx="3617525" cy="45622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乘客群体男女比例均衡，年龄集中在</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25-38</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岁之间，其中</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的乘客年龄在</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岁及以下</a:t>
              </a:r>
            </a:p>
          </p:txBody>
        </p:sp>
        <p:sp>
          <p:nvSpPr>
            <p:cNvPr id="70" name="矩形: 圆角 69"/>
            <p:cNvSpPr/>
            <p:nvPr/>
          </p:nvSpPr>
          <p:spPr>
            <a:xfrm>
              <a:off x="6462601" y="2781886"/>
              <a:ext cx="473928" cy="308020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共性特点</a:t>
              </a:r>
            </a:p>
          </p:txBody>
        </p:sp>
        <p:sp>
          <p:nvSpPr>
            <p:cNvPr id="71" name="矩形: 圆角 70"/>
            <p:cNvSpPr/>
            <p:nvPr/>
          </p:nvSpPr>
          <p:spPr>
            <a:xfrm>
              <a:off x="6462601" y="6104900"/>
              <a:ext cx="473928" cy="55318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差异特点</a:t>
              </a:r>
            </a:p>
          </p:txBody>
        </p:sp>
        <p:sp>
          <p:nvSpPr>
            <p:cNvPr id="72" name="文本占位符 4"/>
            <p:cNvSpPr txBox="1"/>
            <p:nvPr/>
          </p:nvSpPr>
          <p:spPr>
            <a:xfrm>
              <a:off x="6937740" y="2983702"/>
              <a:ext cx="829831" cy="80055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20000"/>
                </a:lnSpc>
                <a:buNone/>
                <a:defRPr/>
              </a:pPr>
              <a:r>
                <a:rPr lang="zh-CN" altLang="en-US" sz="700" b="1" dirty="0">
                  <a:solidFill>
                    <a:srgbClr val="000000"/>
                  </a:solidFill>
                  <a:latin typeface="微软雅黑" panose="020B0503020204020204" pitchFamily="34" charset="-122"/>
                  <a:ea typeface="微软雅黑" panose="020B0503020204020204" pitchFamily="34" charset="-122"/>
                </a:rPr>
                <a:t>常用平台与打车频次</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73" name="文本占位符 4"/>
            <p:cNvSpPr txBox="1"/>
            <p:nvPr/>
          </p:nvSpPr>
          <p:spPr>
            <a:xfrm>
              <a:off x="6819318" y="3499492"/>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学历与职业特征</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4" name="文本占位符 4"/>
            <p:cNvSpPr txBox="1"/>
            <p:nvPr/>
          </p:nvSpPr>
          <p:spPr>
            <a:xfrm>
              <a:off x="7654115" y="2977178"/>
              <a:ext cx="3617525" cy="717189"/>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乘客最常使用的平台以滴滴为主，美团打车为辅；打车频次分布较为分散，其中月均打车</a:t>
              </a:r>
              <a:r>
                <a:rPr lang="en-US" altLang="zh-CN" sz="600" dirty="0">
                  <a:solidFill>
                    <a:srgbClr val="000000"/>
                  </a:solidFill>
                  <a:latin typeface="微软雅黑" panose="020B0503020204020204" pitchFamily="34" charset="-122"/>
                  <a:ea typeface="微软雅黑" panose="020B0503020204020204" pitchFamily="34" charset="-122"/>
                </a:rPr>
                <a:t>20</a:t>
              </a:r>
              <a:r>
                <a:rPr lang="zh-CN" altLang="en-US" sz="600" dirty="0">
                  <a:solidFill>
                    <a:srgbClr val="000000"/>
                  </a:solidFill>
                  <a:latin typeface="微软雅黑" panose="020B0503020204020204" pitchFamily="34" charset="-122"/>
                  <a:ea typeface="微软雅黑" panose="020B0503020204020204" pitchFamily="34" charset="-122"/>
                </a:rPr>
                <a:t>次以上的用户占比较少，</a:t>
              </a:r>
              <a:r>
                <a:rPr lang="en-US" altLang="zh-CN" sz="600" dirty="0">
                  <a:solidFill>
                    <a:srgbClr val="000000"/>
                  </a:solidFill>
                  <a:latin typeface="微软雅黑" panose="020B0503020204020204" pitchFamily="34" charset="-122"/>
                  <a:ea typeface="微软雅黑" panose="020B0503020204020204" pitchFamily="34" charset="-122"/>
                </a:rPr>
                <a:t>10-20</a:t>
              </a:r>
              <a:r>
                <a:rPr lang="zh-CN" altLang="en-US" sz="600" dirty="0">
                  <a:solidFill>
                    <a:srgbClr val="000000"/>
                  </a:solidFill>
                  <a:latin typeface="微软雅黑" panose="020B0503020204020204" pitchFamily="34" charset="-122"/>
                  <a:ea typeface="微软雅黑" panose="020B0503020204020204" pitchFamily="34" charset="-122"/>
                </a:rPr>
                <a:t>次的用户占比明显较多</a:t>
              </a:r>
            </a:p>
          </p:txBody>
        </p:sp>
        <p:sp>
          <p:nvSpPr>
            <p:cNvPr id="75" name="文本占位符 4"/>
            <p:cNvSpPr txBox="1"/>
            <p:nvPr/>
          </p:nvSpPr>
          <p:spPr>
            <a:xfrm>
              <a:off x="7653185" y="3555196"/>
              <a:ext cx="3661252" cy="45622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乘客均为本科学历，乘客多从事教育、外贸、金融等服务业</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6" name="文本占位符 4"/>
            <p:cNvSpPr txBox="1"/>
            <p:nvPr/>
          </p:nvSpPr>
          <p:spPr>
            <a:xfrm>
              <a:off x="6816872" y="6129670"/>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700" b="1" dirty="0">
                  <a:solidFill>
                    <a:srgbClr val="000000"/>
                  </a:solidFill>
                  <a:latin typeface="微软雅黑" panose="020B0503020204020204" pitchFamily="34" charset="-122"/>
                  <a:ea typeface="微软雅黑" panose="020B0503020204020204" pitchFamily="34" charset="-122"/>
                </a:rPr>
                <a:t>不寻常需求</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grpSp>
      <p:sp>
        <p:nvSpPr>
          <p:cNvPr id="81" name="矩形 80"/>
          <p:cNvSpPr/>
          <p:nvPr/>
        </p:nvSpPr>
        <p:spPr>
          <a:xfrm>
            <a:off x="6366515" y="4388296"/>
            <a:ext cx="4437875" cy="183309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dirty="0"/>
          </a:p>
        </p:txBody>
      </p:sp>
      <p:sp>
        <p:nvSpPr>
          <p:cNvPr id="84" name="矩形: 圆角 83"/>
          <p:cNvSpPr/>
          <p:nvPr/>
        </p:nvSpPr>
        <p:spPr>
          <a:xfrm>
            <a:off x="6493548" y="4493608"/>
            <a:ext cx="441274" cy="1225958"/>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共性特点</a:t>
            </a:r>
          </a:p>
        </p:txBody>
      </p:sp>
      <p:sp>
        <p:nvSpPr>
          <p:cNvPr id="85" name="矩形: 圆角 84"/>
          <p:cNvSpPr/>
          <p:nvPr/>
        </p:nvSpPr>
        <p:spPr>
          <a:xfrm>
            <a:off x="6494837" y="5834809"/>
            <a:ext cx="439985" cy="32805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差异特点</a:t>
            </a:r>
          </a:p>
        </p:txBody>
      </p:sp>
      <p:sp>
        <p:nvSpPr>
          <p:cNvPr id="86" name="文本占位符 4"/>
          <p:cNvSpPr txBox="1"/>
          <p:nvPr/>
        </p:nvSpPr>
        <p:spPr>
          <a:xfrm>
            <a:off x="6920848" y="4588493"/>
            <a:ext cx="83404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t>学历与</a:t>
            </a:r>
            <a:r>
              <a:rPr lang="zh-CN" altLang="en-US" sz="700" b="1" dirty="0">
                <a:solidFill>
                  <a:srgbClr val="000000"/>
                </a:solidFill>
                <a:latin typeface="微软雅黑" panose="020B0503020204020204" pitchFamily="34" charset="-122"/>
                <a:ea typeface="微软雅黑" panose="020B0503020204020204" pitchFamily="34" charset="-122"/>
              </a:rPr>
              <a:t>职业特征</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87" name="文本占位符 4"/>
          <p:cNvSpPr txBox="1"/>
          <p:nvPr/>
        </p:nvSpPr>
        <p:spPr>
          <a:xfrm>
            <a:off x="6934102" y="5439543"/>
            <a:ext cx="722983"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buNone/>
              <a:defRPr/>
            </a:pPr>
            <a:r>
              <a:rPr lang="zh-CN" altLang="en-US" sz="700" b="1" dirty="0">
                <a:solidFill>
                  <a:srgbClr val="000000"/>
                </a:solidFill>
                <a:latin typeface="微软雅黑" panose="020B0503020204020204" pitchFamily="34" charset="-122"/>
                <a:ea typeface="微软雅黑" panose="020B0503020204020204" pitchFamily="34" charset="-122"/>
              </a:rPr>
              <a:t>主动提醒</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90" name="文本占位符 4"/>
          <p:cNvSpPr txBox="1"/>
          <p:nvPr/>
        </p:nvSpPr>
        <p:spPr>
          <a:xfrm>
            <a:off x="6943087" y="5849207"/>
            <a:ext cx="87305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工龄与工作时间</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2" name="文本占位符 4"/>
          <p:cNvSpPr txBox="1"/>
          <p:nvPr/>
        </p:nvSpPr>
        <p:spPr>
          <a:xfrm>
            <a:off x="7858927" y="2443994"/>
            <a:ext cx="528035" cy="214482"/>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600" dirty="0">
                <a:solidFill>
                  <a:srgbClr val="000000"/>
                </a:solidFill>
                <a:latin typeface="微软雅黑" panose="020B0503020204020204" pitchFamily="34" charset="-122"/>
                <a:ea typeface="微软雅黑" panose="020B0503020204020204" pitchFamily="34" charset="-122"/>
              </a:rPr>
              <a:t>N=5</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29" name="组合 128"/>
          <p:cNvGrpSpPr/>
          <p:nvPr/>
        </p:nvGrpSpPr>
        <p:grpSpPr>
          <a:xfrm>
            <a:off x="2354048" y="2257098"/>
            <a:ext cx="1720291" cy="1107052"/>
            <a:chOff x="1914215" y="2257098"/>
            <a:chExt cx="1720291" cy="1107052"/>
          </a:xfrm>
        </p:grpSpPr>
        <p:sp>
          <p:nvSpPr>
            <p:cNvPr id="11" name="椭圆 10"/>
            <p:cNvSpPr/>
            <p:nvPr/>
          </p:nvSpPr>
          <p:spPr>
            <a:xfrm>
              <a:off x="1914215" y="2257098"/>
              <a:ext cx="1720291" cy="1107052"/>
            </a:xfrm>
            <a:prstGeom prst="ellipse">
              <a:avLst/>
            </a:prstGeom>
            <a:solidFill>
              <a:schemeClr val="bg2">
                <a:lumMod val="75000"/>
              </a:schemeClr>
            </a:solidFill>
            <a:ln>
              <a:solidFill>
                <a:schemeClr val="bg1">
                  <a:lumMod val="95000"/>
                </a:schemeClr>
              </a:solidFill>
            </a:ln>
          </p:spPr>
          <p:txBody>
            <a:bodyPr wrap="square" rtlCol="0" anchor="ctr">
              <a:spAutoFit/>
            </a:bodyPr>
            <a:lstStyle/>
            <a:p>
              <a:pPr algn="ctr">
                <a:lnSpc>
                  <a:spcPct val="125000"/>
                </a:lnSpc>
              </a:pPr>
              <a:endParaRPr lang="zh-CN" altLang="en-US" sz="1400" dirty="0">
                <a:latin typeface="+mn-ea"/>
              </a:endParaRPr>
            </a:p>
          </p:txBody>
        </p:sp>
        <p:sp>
          <p:nvSpPr>
            <p:cNvPr id="78" name="文本占位符 4"/>
            <p:cNvSpPr txBox="1"/>
            <p:nvPr/>
          </p:nvSpPr>
          <p:spPr>
            <a:xfrm>
              <a:off x="2219603" y="2346781"/>
              <a:ext cx="528035" cy="214482"/>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600" dirty="0">
                  <a:solidFill>
                    <a:srgbClr val="000000"/>
                  </a:solidFill>
                  <a:latin typeface="微软雅黑" panose="020B0503020204020204" pitchFamily="34" charset="-122"/>
                  <a:ea typeface="微软雅黑" panose="020B0503020204020204" pitchFamily="34" charset="-122"/>
                </a:rPr>
                <a:t>N=6</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3" name="文本框 92"/>
            <p:cNvSpPr txBox="1"/>
            <p:nvPr/>
          </p:nvSpPr>
          <p:spPr>
            <a:xfrm>
              <a:off x="2379480" y="2662170"/>
              <a:ext cx="800219" cy="338554"/>
            </a:xfrm>
            <a:prstGeom prst="rect">
              <a:avLst/>
            </a:prstGeom>
            <a:noFill/>
          </p:spPr>
          <p:txBody>
            <a:bodyPr wrap="none" rtlCol="0">
              <a:spAutoFit/>
            </a:bodyPr>
            <a:lstStyle/>
            <a:p>
              <a:r>
                <a:rPr lang="zh-CN" altLang="en-US" sz="1600" dirty="0"/>
                <a:t>乘客组</a:t>
              </a:r>
            </a:p>
          </p:txBody>
        </p:sp>
      </p:grpSp>
      <p:sp>
        <p:nvSpPr>
          <p:cNvPr id="94" name="文本框 93"/>
          <p:cNvSpPr txBox="1"/>
          <p:nvPr/>
        </p:nvSpPr>
        <p:spPr>
          <a:xfrm>
            <a:off x="8118054" y="2678078"/>
            <a:ext cx="800219" cy="338554"/>
          </a:xfrm>
          <a:prstGeom prst="rect">
            <a:avLst/>
          </a:prstGeom>
          <a:noFill/>
        </p:spPr>
        <p:txBody>
          <a:bodyPr wrap="none" rtlCol="0">
            <a:spAutoFit/>
          </a:bodyPr>
          <a:lstStyle/>
          <a:p>
            <a:r>
              <a:rPr lang="zh-CN" altLang="en-US" sz="1600" dirty="0"/>
              <a:t>司机组</a:t>
            </a:r>
          </a:p>
        </p:txBody>
      </p:sp>
      <p:grpSp>
        <p:nvGrpSpPr>
          <p:cNvPr id="5" name="组合 4"/>
          <p:cNvGrpSpPr/>
          <p:nvPr/>
        </p:nvGrpSpPr>
        <p:grpSpPr>
          <a:xfrm>
            <a:off x="4009507" y="2447185"/>
            <a:ext cx="849130" cy="633833"/>
            <a:chOff x="2336261" y="4996776"/>
            <a:chExt cx="712961" cy="582692"/>
          </a:xfrm>
        </p:grpSpPr>
        <p:sp>
          <p:nvSpPr>
            <p:cNvPr id="6"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2336261" y="5268230"/>
              <a:ext cx="712961" cy="311238"/>
            </a:xfrm>
            <a:prstGeom prst="rect">
              <a:avLst/>
            </a:prstGeom>
            <a:noFill/>
          </p:spPr>
          <p:txBody>
            <a:bodyPr wrap="square" rtlCol="0" anchor="ctr">
              <a:spAutoFit/>
            </a:bodyPr>
            <a:lstStyle/>
            <a:p>
              <a:pPr algn="ctr"/>
              <a:r>
                <a:rPr lang="zh-CN" altLang="en-US" sz="800" dirty="0">
                  <a:latin typeface="+mn-ea"/>
                </a:rPr>
                <a:t>海外投资者</a:t>
              </a:r>
              <a:endParaRPr lang="en-US" altLang="zh-CN" sz="800" dirty="0">
                <a:latin typeface="+mn-ea"/>
              </a:endParaRPr>
            </a:p>
            <a:p>
              <a:pPr algn="ctr"/>
              <a:r>
                <a:rPr lang="zh-CN" altLang="en-US" sz="800" dirty="0">
                  <a:latin typeface="+mn-ea"/>
                </a:rPr>
                <a:t>林先生（快车）</a:t>
              </a:r>
            </a:p>
          </p:txBody>
        </p:sp>
      </p:grpSp>
      <p:grpSp>
        <p:nvGrpSpPr>
          <p:cNvPr id="109" name="组合 108"/>
          <p:cNvGrpSpPr/>
          <p:nvPr/>
        </p:nvGrpSpPr>
        <p:grpSpPr>
          <a:xfrm>
            <a:off x="3590008" y="1820983"/>
            <a:ext cx="849130" cy="638962"/>
            <a:chOff x="2802937" y="2046687"/>
            <a:chExt cx="849130" cy="638962"/>
          </a:xfrm>
        </p:grpSpPr>
        <p:sp>
          <p:nvSpPr>
            <p:cNvPr id="27" name="文本框 26"/>
            <p:cNvSpPr txBox="1"/>
            <p:nvPr/>
          </p:nvSpPr>
          <p:spPr>
            <a:xfrm>
              <a:off x="2802937" y="2347095"/>
              <a:ext cx="849130" cy="338554"/>
            </a:xfrm>
            <a:prstGeom prst="rect">
              <a:avLst/>
            </a:prstGeom>
            <a:noFill/>
          </p:spPr>
          <p:txBody>
            <a:bodyPr wrap="square" rtlCol="0" anchor="ctr">
              <a:spAutoFit/>
            </a:bodyPr>
            <a:lstStyle/>
            <a:p>
              <a:pPr algn="ctr"/>
              <a:r>
                <a:rPr lang="zh-CN" altLang="en-US" sz="800" dirty="0">
                  <a:latin typeface="+mn-ea"/>
                </a:rPr>
                <a:t>保险业务员施女士（专车）</a:t>
              </a:r>
            </a:p>
          </p:txBody>
        </p:sp>
        <p:pic>
          <p:nvPicPr>
            <p:cNvPr id="104" name="图片 10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26254" y="2046687"/>
              <a:ext cx="332956" cy="332956"/>
            </a:xfrm>
            <a:prstGeom prst="rect">
              <a:avLst/>
            </a:prstGeom>
          </p:spPr>
        </p:pic>
      </p:grpSp>
      <p:grpSp>
        <p:nvGrpSpPr>
          <p:cNvPr id="108" name="组合 107"/>
          <p:cNvGrpSpPr/>
          <p:nvPr/>
        </p:nvGrpSpPr>
        <p:grpSpPr>
          <a:xfrm>
            <a:off x="1548793" y="2514907"/>
            <a:ext cx="849130" cy="659108"/>
            <a:chOff x="1253643" y="2596532"/>
            <a:chExt cx="918935" cy="724547"/>
          </a:xfrm>
        </p:grpSpPr>
        <p:sp>
          <p:nvSpPr>
            <p:cNvPr id="35" name="文本框 34"/>
            <p:cNvSpPr txBox="1"/>
            <p:nvPr/>
          </p:nvSpPr>
          <p:spPr>
            <a:xfrm>
              <a:off x="1253643" y="2948915"/>
              <a:ext cx="918935" cy="372164"/>
            </a:xfrm>
            <a:prstGeom prst="rect">
              <a:avLst/>
            </a:prstGeom>
            <a:noFill/>
          </p:spPr>
          <p:txBody>
            <a:bodyPr wrap="square" rtlCol="0" anchor="ctr">
              <a:spAutoFit/>
            </a:bodyPr>
            <a:lstStyle/>
            <a:p>
              <a:pPr algn="ctr"/>
              <a:r>
                <a:rPr lang="zh-CN" altLang="en-US" sz="800" dirty="0">
                  <a:latin typeface="+mn-ea"/>
                </a:rPr>
                <a:t>老师王女士（专车）</a:t>
              </a:r>
            </a:p>
          </p:txBody>
        </p:sp>
        <p:pic>
          <p:nvPicPr>
            <p:cNvPr id="105" name="图片 10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pic>
        <p:nvPicPr>
          <p:cNvPr id="107" name="图片 10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4665" y="3071472"/>
            <a:ext cx="344583" cy="344583"/>
          </a:xfrm>
          <a:prstGeom prst="rect">
            <a:avLst/>
          </a:prstGeom>
        </p:spPr>
      </p:pic>
      <p:grpSp>
        <p:nvGrpSpPr>
          <p:cNvPr id="3" name="组合 2"/>
          <p:cNvGrpSpPr/>
          <p:nvPr/>
        </p:nvGrpSpPr>
        <p:grpSpPr>
          <a:xfrm>
            <a:off x="8140704" y="3457298"/>
            <a:ext cx="792618" cy="651138"/>
            <a:chOff x="7905175" y="3418178"/>
            <a:chExt cx="792618" cy="651138"/>
          </a:xfrm>
        </p:grpSpPr>
        <p:sp>
          <p:nvSpPr>
            <p:cNvPr id="112" name="businessman-presenter_46787"/>
            <p:cNvSpPr/>
            <p:nvPr/>
          </p:nvSpPr>
          <p:spPr>
            <a:xfrm>
              <a:off x="8121871" y="3418178"/>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文本框 112"/>
            <p:cNvSpPr txBox="1"/>
            <p:nvPr/>
          </p:nvSpPr>
          <p:spPr>
            <a:xfrm>
              <a:off x="7905175" y="3853872"/>
              <a:ext cx="792618" cy="215444"/>
            </a:xfrm>
            <a:prstGeom prst="rect">
              <a:avLst/>
            </a:prstGeom>
            <a:noFill/>
          </p:spPr>
          <p:txBody>
            <a:bodyPr wrap="square" rtlCol="0">
              <a:spAutoFit/>
            </a:bodyPr>
            <a:lstStyle/>
            <a:p>
              <a:pPr algn="ctr"/>
              <a:r>
                <a:rPr lang="zh-CN" altLang="en-US" sz="800" dirty="0">
                  <a:latin typeface="+mn-ea"/>
                </a:rPr>
                <a:t>主持人</a:t>
              </a:r>
            </a:p>
          </p:txBody>
        </p:sp>
      </p:grpSp>
      <p:grpSp>
        <p:nvGrpSpPr>
          <p:cNvPr id="114" name="组合 113"/>
          <p:cNvGrpSpPr/>
          <p:nvPr/>
        </p:nvGrpSpPr>
        <p:grpSpPr>
          <a:xfrm>
            <a:off x="6998911" y="3085241"/>
            <a:ext cx="849130" cy="636300"/>
            <a:chOff x="1266169" y="2596532"/>
            <a:chExt cx="918935" cy="699471"/>
          </a:xfrm>
        </p:grpSpPr>
        <p:sp>
          <p:nvSpPr>
            <p:cNvPr id="115" name="文本框 114"/>
            <p:cNvSpPr txBox="1"/>
            <p:nvPr/>
          </p:nvSpPr>
          <p:spPr>
            <a:xfrm>
              <a:off x="1266169" y="2923838"/>
              <a:ext cx="918935" cy="372165"/>
            </a:xfrm>
            <a:prstGeom prst="rect">
              <a:avLst/>
            </a:prstGeom>
            <a:noFill/>
          </p:spPr>
          <p:txBody>
            <a:bodyPr wrap="square" rtlCol="0" anchor="ctr">
              <a:spAutoFit/>
            </a:bodyPr>
            <a:lstStyle/>
            <a:p>
              <a:pPr algn="ctr"/>
              <a:r>
                <a:rPr lang="zh-CN" altLang="en-US" sz="800" dirty="0">
                  <a:latin typeface="+mn-ea"/>
                </a:rPr>
                <a:t>专车司机</a:t>
              </a:r>
              <a:endParaRPr lang="en-US" altLang="zh-CN" sz="800" dirty="0">
                <a:latin typeface="+mn-ea"/>
              </a:endParaRPr>
            </a:p>
            <a:p>
              <a:pPr algn="ctr"/>
              <a:r>
                <a:rPr lang="zh-CN" altLang="en-US" sz="800" dirty="0">
                  <a:latin typeface="+mn-ea"/>
                </a:rPr>
                <a:t>黄女士</a:t>
              </a:r>
            </a:p>
          </p:txBody>
        </p:sp>
        <p:pic>
          <p:nvPicPr>
            <p:cNvPr id="116" name="图片 1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grpSp>
        <p:nvGrpSpPr>
          <p:cNvPr id="117" name="组合 116"/>
          <p:cNvGrpSpPr/>
          <p:nvPr/>
        </p:nvGrpSpPr>
        <p:grpSpPr>
          <a:xfrm>
            <a:off x="6934822" y="2309302"/>
            <a:ext cx="849130" cy="624726"/>
            <a:chOff x="1272432" y="2596532"/>
            <a:chExt cx="918935" cy="686748"/>
          </a:xfrm>
        </p:grpSpPr>
        <p:sp>
          <p:nvSpPr>
            <p:cNvPr id="118" name="文本框 117"/>
            <p:cNvSpPr txBox="1"/>
            <p:nvPr/>
          </p:nvSpPr>
          <p:spPr>
            <a:xfrm>
              <a:off x="1272432" y="2911115"/>
              <a:ext cx="918935" cy="372165"/>
            </a:xfrm>
            <a:prstGeom prst="rect">
              <a:avLst/>
            </a:prstGeom>
            <a:noFill/>
          </p:spPr>
          <p:txBody>
            <a:bodyPr wrap="square" rtlCol="0" anchor="ctr">
              <a:spAutoFit/>
            </a:bodyPr>
            <a:lstStyle/>
            <a:p>
              <a:pPr algn="ctr"/>
              <a:r>
                <a:rPr lang="zh-CN" altLang="en-US" sz="800" dirty="0">
                  <a:latin typeface="+mn-ea"/>
                </a:rPr>
                <a:t>快车司机</a:t>
              </a:r>
              <a:endParaRPr lang="en-US" altLang="zh-CN" sz="800" dirty="0">
                <a:latin typeface="+mn-ea"/>
              </a:endParaRPr>
            </a:p>
            <a:p>
              <a:pPr algn="ctr"/>
              <a:r>
                <a:rPr lang="zh-CN" altLang="en-US" sz="800" dirty="0">
                  <a:latin typeface="+mn-ea"/>
                </a:rPr>
                <a:t>戴女士</a:t>
              </a:r>
            </a:p>
          </p:txBody>
        </p:sp>
        <p:pic>
          <p:nvPicPr>
            <p:cNvPr id="119" name="图片 1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grpSp>
        <p:nvGrpSpPr>
          <p:cNvPr id="120" name="组合 119"/>
          <p:cNvGrpSpPr/>
          <p:nvPr/>
        </p:nvGrpSpPr>
        <p:grpSpPr>
          <a:xfrm>
            <a:off x="8133238" y="1712947"/>
            <a:ext cx="772287" cy="633834"/>
            <a:chOff x="2307107" y="4996776"/>
            <a:chExt cx="648441" cy="582692"/>
          </a:xfrm>
        </p:grpSpPr>
        <p:sp>
          <p:nvSpPr>
            <p:cNvPr id="121"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文本框 121"/>
            <p:cNvSpPr txBox="1"/>
            <p:nvPr/>
          </p:nvSpPr>
          <p:spPr>
            <a:xfrm>
              <a:off x="2307107" y="5268231"/>
              <a:ext cx="648441" cy="311237"/>
            </a:xfrm>
            <a:prstGeom prst="rect">
              <a:avLst/>
            </a:prstGeom>
            <a:noFill/>
          </p:spPr>
          <p:txBody>
            <a:bodyPr wrap="square" rtlCol="0" anchor="ctr">
              <a:spAutoFit/>
            </a:bodyPr>
            <a:lstStyle/>
            <a:p>
              <a:pPr algn="ctr"/>
              <a:r>
                <a:rPr lang="zh-CN" altLang="en-US" sz="800" dirty="0">
                  <a:latin typeface="+mn-ea"/>
                </a:rPr>
                <a:t>快车司机</a:t>
              </a:r>
              <a:endParaRPr lang="en-US" altLang="zh-CN" sz="800" dirty="0">
                <a:latin typeface="+mn-ea"/>
              </a:endParaRPr>
            </a:p>
            <a:p>
              <a:pPr algn="ctr"/>
              <a:r>
                <a:rPr lang="zh-CN" altLang="en-US" sz="800" dirty="0">
                  <a:latin typeface="+mn-ea"/>
                </a:rPr>
                <a:t>陈先生</a:t>
              </a:r>
              <a:endParaRPr lang="en-US" altLang="zh-CN" sz="800" dirty="0">
                <a:latin typeface="+mn-ea"/>
              </a:endParaRPr>
            </a:p>
          </p:txBody>
        </p:sp>
      </p:grpSp>
      <p:grpSp>
        <p:nvGrpSpPr>
          <p:cNvPr id="123" name="组合 122"/>
          <p:cNvGrpSpPr/>
          <p:nvPr/>
        </p:nvGrpSpPr>
        <p:grpSpPr>
          <a:xfrm>
            <a:off x="9467395" y="2269404"/>
            <a:ext cx="772287" cy="633834"/>
            <a:chOff x="2307107" y="4996776"/>
            <a:chExt cx="648441" cy="582692"/>
          </a:xfrm>
        </p:grpSpPr>
        <p:sp>
          <p:nvSpPr>
            <p:cNvPr id="124"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文本框 124"/>
            <p:cNvSpPr txBox="1"/>
            <p:nvPr/>
          </p:nvSpPr>
          <p:spPr>
            <a:xfrm>
              <a:off x="2307107" y="5268231"/>
              <a:ext cx="648441" cy="311237"/>
            </a:xfrm>
            <a:prstGeom prst="rect">
              <a:avLst/>
            </a:prstGeom>
            <a:noFill/>
          </p:spPr>
          <p:txBody>
            <a:bodyPr wrap="square" rtlCol="0" anchor="ctr">
              <a:spAutoFit/>
            </a:bodyPr>
            <a:lstStyle/>
            <a:p>
              <a:pPr algn="ctr"/>
              <a:r>
                <a:rPr lang="zh-CN" altLang="en-US" sz="800" dirty="0">
                  <a:latin typeface="+mn-ea"/>
                </a:rPr>
                <a:t>专车司机</a:t>
              </a:r>
              <a:endParaRPr lang="en-US" altLang="zh-CN" sz="800" dirty="0">
                <a:latin typeface="+mn-ea"/>
              </a:endParaRPr>
            </a:p>
            <a:p>
              <a:pPr algn="ctr"/>
              <a:r>
                <a:rPr lang="zh-CN" altLang="en-US" sz="800" dirty="0">
                  <a:latin typeface="+mn-ea"/>
                </a:rPr>
                <a:t>杨先生</a:t>
              </a:r>
              <a:endParaRPr lang="en-US" altLang="zh-CN" sz="800" dirty="0">
                <a:latin typeface="+mn-ea"/>
              </a:endParaRPr>
            </a:p>
          </p:txBody>
        </p:sp>
      </p:grpSp>
      <p:grpSp>
        <p:nvGrpSpPr>
          <p:cNvPr id="126" name="组合 125"/>
          <p:cNvGrpSpPr/>
          <p:nvPr/>
        </p:nvGrpSpPr>
        <p:grpSpPr>
          <a:xfrm>
            <a:off x="9290296" y="3023467"/>
            <a:ext cx="849130" cy="674345"/>
            <a:chOff x="2307107" y="4996776"/>
            <a:chExt cx="712961" cy="619934"/>
          </a:xfrm>
        </p:grpSpPr>
        <p:sp>
          <p:nvSpPr>
            <p:cNvPr id="127"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文本框 127"/>
            <p:cNvSpPr txBox="1"/>
            <p:nvPr/>
          </p:nvSpPr>
          <p:spPr>
            <a:xfrm>
              <a:off x="2307107" y="5305473"/>
              <a:ext cx="712961" cy="311237"/>
            </a:xfrm>
            <a:prstGeom prst="rect">
              <a:avLst/>
            </a:prstGeom>
            <a:noFill/>
          </p:spPr>
          <p:txBody>
            <a:bodyPr wrap="square" rtlCol="0" anchor="ctr">
              <a:spAutoFit/>
            </a:bodyPr>
            <a:lstStyle/>
            <a:p>
              <a:pPr algn="ctr"/>
              <a:r>
                <a:rPr lang="zh-CN" altLang="en-US" sz="800" dirty="0">
                  <a:latin typeface="+mn-ea"/>
                </a:rPr>
                <a:t>专车</a:t>
              </a:r>
              <a:r>
                <a:rPr lang="en-US" altLang="zh-CN" sz="800" dirty="0">
                  <a:latin typeface="+mn-ea"/>
                </a:rPr>
                <a:t>/</a:t>
              </a:r>
              <a:r>
                <a:rPr lang="zh-CN" altLang="en-US" sz="800" dirty="0">
                  <a:latin typeface="+mn-ea"/>
                </a:rPr>
                <a:t>快车司机</a:t>
              </a:r>
              <a:endParaRPr lang="en-US" altLang="zh-CN" sz="800" dirty="0">
                <a:latin typeface="+mn-ea"/>
              </a:endParaRPr>
            </a:p>
            <a:p>
              <a:pPr algn="ctr"/>
              <a:r>
                <a:rPr lang="zh-CN" altLang="en-US" sz="800" dirty="0">
                  <a:latin typeface="+mn-ea"/>
                </a:rPr>
                <a:t>徐先生</a:t>
              </a:r>
              <a:endParaRPr lang="en-US" altLang="zh-CN" sz="800" dirty="0">
                <a:latin typeface="+mn-ea"/>
              </a:endParaRPr>
            </a:p>
          </p:txBody>
        </p:sp>
      </p:grpSp>
      <p:sp>
        <p:nvSpPr>
          <p:cNvPr id="131" name="文本占位符 4"/>
          <p:cNvSpPr txBox="1"/>
          <p:nvPr/>
        </p:nvSpPr>
        <p:spPr>
          <a:xfrm>
            <a:off x="1395464" y="5209312"/>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需求频次</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2" name="文本占位符 4"/>
          <p:cNvSpPr txBox="1"/>
          <p:nvPr/>
        </p:nvSpPr>
        <p:spPr>
          <a:xfrm>
            <a:off x="2072179" y="5230704"/>
            <a:ext cx="3186757"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普遍乐于主动与司机沟通需求，</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用户在问卷中表示“经常”主动向司机提需求，互动意愿强烈</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3" name="文本占位符 4"/>
          <p:cNvSpPr txBox="1"/>
          <p:nvPr/>
        </p:nvSpPr>
        <p:spPr>
          <a:xfrm>
            <a:off x="1392554" y="5621779"/>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寻常需求</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4" name="文本占位符 4"/>
          <p:cNvSpPr txBox="1"/>
          <p:nvPr/>
        </p:nvSpPr>
        <p:spPr>
          <a:xfrm>
            <a:off x="2070361" y="5654056"/>
            <a:ext cx="3186757"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核心需求集中在“环境舒适度”与“物理安全” 两方面，</a:t>
            </a:r>
            <a:r>
              <a:rPr lang="zh-CN" altLang="en-US" sz="600" dirty="0">
                <a:solidFill>
                  <a:srgbClr val="000000"/>
                </a:solidFill>
                <a:latin typeface="微软雅黑" panose="020B0503020204020204" pitchFamily="34" charset="-122"/>
                <a:ea typeface="微软雅黑" panose="020B0503020204020204" pitchFamily="34" charset="-122"/>
              </a:rPr>
              <a:t>几乎所有</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乘客都提到过要求开关窗、调节空调温度，以及确认或更换路线</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5" name="文本占位符 4"/>
          <p:cNvSpPr txBox="1"/>
          <p:nvPr/>
        </p:nvSpPr>
        <p:spPr>
          <a:xfrm>
            <a:off x="2061397" y="5887122"/>
            <a:ext cx="3094704"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在特殊场景下的需求呈现个性化、碎片化特点，包括：更换目的地、中途上下车、借用餐巾纸</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充电宝、要求调低或关闭手机外放声音，以及携带宠物上车等</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6" name="文本占位符 4"/>
          <p:cNvSpPr txBox="1"/>
          <p:nvPr/>
        </p:nvSpPr>
        <p:spPr>
          <a:xfrm>
            <a:off x="6919761" y="4435078"/>
            <a:ext cx="884262"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年龄与性别构成</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7" name="文本占位符 4"/>
          <p:cNvSpPr txBox="1"/>
          <p:nvPr/>
        </p:nvSpPr>
        <p:spPr>
          <a:xfrm>
            <a:off x="1392554" y="5442924"/>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路线问题</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8" name="文本占位符 4"/>
          <p:cNvSpPr txBox="1"/>
          <p:nvPr/>
        </p:nvSpPr>
        <p:spPr>
          <a:xfrm>
            <a:off x="2070361" y="5505345"/>
            <a:ext cx="3137939"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遇到司机路线与预期不一致时</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，用户会选择直接与司机沟通并协商</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9" name="文本占位符 4"/>
          <p:cNvSpPr txBox="1"/>
          <p:nvPr/>
        </p:nvSpPr>
        <p:spPr>
          <a:xfrm>
            <a:off x="7670864" y="4474005"/>
            <a:ext cx="3200495"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司机组以男性为主，年龄介于</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26</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至</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38</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岁之间，平均年龄约</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35</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a:t>
            </a:r>
          </a:p>
        </p:txBody>
      </p:sp>
      <p:sp>
        <p:nvSpPr>
          <p:cNvPr id="141" name="文本占位符 4"/>
          <p:cNvSpPr txBox="1"/>
          <p:nvPr/>
        </p:nvSpPr>
        <p:spPr>
          <a:xfrm>
            <a:off x="6945281" y="4834942"/>
            <a:ext cx="64078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solidFill>
                  <a:srgbClr val="000000"/>
                </a:solidFill>
                <a:latin typeface="微软雅黑" panose="020B0503020204020204" pitchFamily="34" charset="-122"/>
                <a:ea typeface="微软雅黑" panose="020B0503020204020204" pitchFamily="34" charset="-122"/>
              </a:rPr>
              <a:t>路线问题</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142" name="文本占位符 4"/>
          <p:cNvSpPr txBox="1"/>
          <p:nvPr/>
        </p:nvSpPr>
        <p:spPr>
          <a:xfrm>
            <a:off x="6930327" y="5096757"/>
            <a:ext cx="83404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solidFill>
                  <a:srgbClr val="000000"/>
                </a:solidFill>
                <a:latin typeface="微软雅黑" panose="020B0503020204020204" pitchFamily="34" charset="-122"/>
                <a:ea typeface="微软雅黑" panose="020B0503020204020204" pitchFamily="34" charset="-122"/>
              </a:rPr>
              <a:t>调整服务频次</a:t>
            </a:r>
          </a:p>
        </p:txBody>
      </p:sp>
      <p:sp>
        <p:nvSpPr>
          <p:cNvPr id="143" name="矩形: 圆角 142"/>
          <p:cNvSpPr/>
          <p:nvPr/>
        </p:nvSpPr>
        <p:spPr>
          <a:xfrm>
            <a:off x="6733829" y="4118920"/>
            <a:ext cx="3971376" cy="187085"/>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sym typeface="微软雅黑" panose="020B0503020204020204" pitchFamily="34" charset="-122"/>
              </a:rPr>
              <a:t>定性用户画像</a:t>
            </a:r>
          </a:p>
        </p:txBody>
      </p:sp>
      <p:sp>
        <p:nvSpPr>
          <p:cNvPr id="144" name="文本占位符 4"/>
          <p:cNvSpPr txBox="1"/>
          <p:nvPr/>
        </p:nvSpPr>
        <p:spPr>
          <a:xfrm>
            <a:off x="7683067" y="4616786"/>
            <a:ext cx="3200495"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本科</a:t>
            </a:r>
            <a:r>
              <a:rPr lang="zh-CN" altLang="en-US" sz="600" dirty="0">
                <a:solidFill>
                  <a:srgbClr val="000000"/>
                </a:solidFill>
                <a:latin typeface="微软雅黑" panose="020B0503020204020204" pitchFamily="34" charset="-122"/>
                <a:ea typeface="微软雅黑" panose="020B0503020204020204" pitchFamily="34" charset="-122"/>
              </a:rPr>
              <a:t>学历占比较高</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，专车司机和快车司机占比相当，另</a:t>
            </a:r>
            <a:r>
              <a:rPr lang="zh-CN" altLang="en-US" sz="600" dirty="0">
                <a:solidFill>
                  <a:srgbClr val="000000"/>
                </a:solidFill>
                <a:latin typeface="微软雅黑" panose="020B0503020204020204" pitchFamily="34" charset="-122"/>
                <a:ea typeface="微软雅黑" panose="020B0503020204020204" pitchFamily="34" charset="-122"/>
              </a:rPr>
              <a:t>有少数</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兼营专车与快车的司机</a:t>
            </a:r>
          </a:p>
        </p:txBody>
      </p:sp>
      <p:sp>
        <p:nvSpPr>
          <p:cNvPr id="145" name="文本占位符 4"/>
          <p:cNvSpPr txBox="1"/>
          <p:nvPr/>
        </p:nvSpPr>
        <p:spPr>
          <a:xfrm>
            <a:off x="7670865" y="4870798"/>
            <a:ext cx="3143610"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在面对路线分歧时，</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司机会优先尊重乘客意愿，按乘客指定路线行驶，</a:t>
            </a:r>
            <a:r>
              <a:rPr lang="zh-CN" altLang="en-US" sz="600" dirty="0">
                <a:solidFill>
                  <a:srgbClr val="000000"/>
                </a:solidFill>
                <a:latin typeface="微软雅黑" panose="020B0503020204020204" pitchFamily="34" charset="-122"/>
                <a:ea typeface="微软雅黑" panose="020B0503020204020204" pitchFamily="34" charset="-122"/>
              </a:rPr>
              <a:t>少数司机会</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则遵循导航或平台规则</a:t>
            </a:r>
          </a:p>
        </p:txBody>
      </p:sp>
      <p:sp>
        <p:nvSpPr>
          <p:cNvPr id="146" name="文本占位符 4"/>
          <p:cNvSpPr txBox="1"/>
          <p:nvPr/>
        </p:nvSpPr>
        <p:spPr>
          <a:xfrm>
            <a:off x="7672027" y="5136573"/>
            <a:ext cx="3132363"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司机会“经常”根据乘客状态主动调整服务方式（如驾驶风格、临时需求），仅</a:t>
            </a:r>
            <a:r>
              <a:rPr lang="zh-CN" altLang="en-US" sz="600" dirty="0">
                <a:solidFill>
                  <a:srgbClr val="000000"/>
                </a:solidFill>
                <a:latin typeface="微软雅黑" panose="020B0503020204020204" pitchFamily="34" charset="-122"/>
                <a:ea typeface="微软雅黑" panose="020B0503020204020204" pitchFamily="34" charset="-122"/>
              </a:rPr>
              <a:t>少部分司机</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偶尔”调整</a:t>
            </a:r>
          </a:p>
        </p:txBody>
      </p:sp>
      <p:sp>
        <p:nvSpPr>
          <p:cNvPr id="147" name="文本占位符 4"/>
          <p:cNvSpPr txBox="1"/>
          <p:nvPr/>
        </p:nvSpPr>
        <p:spPr>
          <a:xfrm>
            <a:off x="7670864" y="5434708"/>
            <a:ext cx="3182776"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所有司机均会主动提醒乘客系好安全带、下车携带随身物品，并在场站提醒检查证件等安全事项</a:t>
            </a:r>
          </a:p>
        </p:txBody>
      </p:sp>
      <p:sp>
        <p:nvSpPr>
          <p:cNvPr id="148" name="文本占位符 4"/>
          <p:cNvSpPr txBox="1"/>
          <p:nvPr/>
        </p:nvSpPr>
        <p:spPr>
          <a:xfrm>
            <a:off x="7653144" y="5842059"/>
            <a:ext cx="3132363"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司机从业工龄比较分化，</a:t>
            </a:r>
            <a:r>
              <a:rPr lang="zh-CN" altLang="en-US" sz="600" dirty="0">
                <a:solidFill>
                  <a:srgbClr val="000000"/>
                </a:solidFill>
                <a:latin typeface="微软雅黑" panose="020B0503020204020204" pitchFamily="34" charset="-122"/>
                <a:ea typeface="微软雅黑" panose="020B0503020204020204" pitchFamily="34" charset="-122"/>
              </a:rPr>
              <a:t>多数司从业时间在</a:t>
            </a:r>
            <a:r>
              <a:rPr lang="en-US" altLang="zh-CN" sz="600" dirty="0">
                <a:solidFill>
                  <a:srgbClr val="000000"/>
                </a:solidFill>
                <a:latin typeface="微软雅黑" panose="020B0503020204020204" pitchFamily="34" charset="-122"/>
                <a:ea typeface="微软雅黑" panose="020B0503020204020204" pitchFamily="34" charset="-122"/>
              </a:rPr>
              <a:t>6-10</a:t>
            </a:r>
            <a:r>
              <a:rPr lang="zh-CN" altLang="en-US" sz="600" dirty="0">
                <a:solidFill>
                  <a:srgbClr val="000000"/>
                </a:solidFill>
                <a:latin typeface="微软雅黑" panose="020B0503020204020204" pitchFamily="34" charset="-122"/>
                <a:ea typeface="微软雅黑" panose="020B0503020204020204" pitchFamily="34" charset="-122"/>
              </a:rPr>
              <a:t>年，</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有</a:t>
            </a:r>
            <a:r>
              <a:rPr lang="zh-CN" altLang="en-US" sz="600" dirty="0">
                <a:solidFill>
                  <a:srgbClr val="000000"/>
                </a:solidFill>
                <a:latin typeface="微软雅黑" panose="020B0503020204020204" pitchFamily="34" charset="-122"/>
                <a:ea typeface="微软雅黑" panose="020B0503020204020204" pitchFamily="34" charset="-122"/>
              </a:rPr>
              <a:t>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司机从业仅</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年；每周工作时间至少</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天，全职</a:t>
            </a:r>
            <a:r>
              <a:rPr lang="zh-CN" altLang="en-US" sz="600" dirty="0">
                <a:solidFill>
                  <a:srgbClr val="000000"/>
                </a:solidFill>
                <a:latin typeface="微软雅黑" panose="020B0503020204020204" pitchFamily="34" charset="-122"/>
                <a:ea typeface="微软雅黑" panose="020B0503020204020204" pitchFamily="34" charset="-122"/>
              </a:rPr>
              <a:t>司机数量占多数</a:t>
            </a:r>
            <a:endPar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文本占位符 4"/>
          <p:cNvSpPr txBox="1"/>
          <p:nvPr/>
        </p:nvSpPr>
        <p:spPr>
          <a:xfrm>
            <a:off x="1358171" y="4946003"/>
            <a:ext cx="884262"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乘车类型</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占位符 4"/>
          <p:cNvSpPr txBox="1"/>
          <p:nvPr/>
        </p:nvSpPr>
        <p:spPr>
          <a:xfrm>
            <a:off x="2098528" y="4979112"/>
            <a:ext cx="3186757"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快车与专车用户均有</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8410758" y="1620985"/>
            <a:ext cx="3322544" cy="1858950"/>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sp>
        <p:nvSpPr>
          <p:cNvPr id="41" name="文本框 40"/>
          <p:cNvSpPr txBox="1"/>
          <p:nvPr/>
        </p:nvSpPr>
        <p:spPr>
          <a:xfrm>
            <a:off x="692610" y="1138434"/>
            <a:ext cx="7835799" cy="338554"/>
          </a:xfrm>
          <a:prstGeom prst="rect">
            <a:avLst/>
          </a:prstGeom>
          <a:noFill/>
        </p:spPr>
        <p:txBody>
          <a:bodyPr wrap="none" rtlCol="0">
            <a:spAutoFit/>
          </a:bodyPr>
          <a:lstStyle>
            <a:defPPr>
              <a:defRPr lang="zh-CN"/>
            </a:defPPr>
            <a:lvl1pPr>
              <a:defRPr sz="1400" b="1">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a:solidFill>
                  <a:srgbClr val="000000"/>
                </a:solidFill>
              </a:rPr>
              <a:t>3</a:t>
            </a:r>
            <a:r>
              <a:rPr lang="zh-CN" altLang="en-US" sz="1600" b="0">
                <a:solidFill>
                  <a:srgbClr val="000000"/>
                </a:solidFill>
              </a:rPr>
              <a:t>月</a:t>
            </a:r>
            <a:r>
              <a:rPr lang="en-US" altLang="zh-CN" sz="1600" b="0">
                <a:solidFill>
                  <a:srgbClr val="000000"/>
                </a:solidFill>
              </a:rPr>
              <a:t>5</a:t>
            </a:r>
            <a:r>
              <a:rPr lang="zh-CN" altLang="en-US" sz="1600" b="0">
                <a:solidFill>
                  <a:srgbClr val="000000"/>
                </a:solidFill>
              </a:rPr>
              <a:t>日</a:t>
            </a:r>
            <a:r>
              <a:rPr lang="zh-CN" altLang="en-US" sz="1600" b="0">
                <a:solidFill>
                  <a:srgbClr val="000000"/>
                </a:solidFill>
                <a:sym typeface="+mn-ea"/>
              </a:rPr>
              <a:t>进行了私人司机</a:t>
            </a:r>
            <a:r>
              <a:rPr lang="en-US" altLang="zh-CN" sz="1600" b="0">
                <a:solidFill>
                  <a:srgbClr val="000000"/>
                </a:solidFill>
                <a:sym typeface="+mn-ea"/>
              </a:rPr>
              <a:t>1</a:t>
            </a:r>
            <a:r>
              <a:rPr lang="zh-CN" altLang="en-US" sz="1600" b="0">
                <a:solidFill>
                  <a:srgbClr val="000000"/>
                </a:solidFill>
                <a:sym typeface="+mn-ea"/>
              </a:rPr>
              <a:t>对</a:t>
            </a:r>
            <a:r>
              <a:rPr lang="en-US" altLang="zh-CN" sz="1600" b="0">
                <a:solidFill>
                  <a:srgbClr val="000000"/>
                </a:solidFill>
                <a:sym typeface="+mn-ea"/>
              </a:rPr>
              <a:t>1</a:t>
            </a:r>
            <a:r>
              <a:rPr lang="zh-CN" altLang="en-US" sz="1600" b="0">
                <a:solidFill>
                  <a:srgbClr val="000000"/>
                </a:solidFill>
                <a:sym typeface="+mn-ea"/>
              </a:rPr>
              <a:t>深度访谈，</a:t>
            </a:r>
            <a:r>
              <a:rPr lang="en-US" altLang="zh-CN" sz="1600" b="0">
                <a:solidFill>
                  <a:srgbClr val="000000"/>
                </a:solidFill>
                <a:sym typeface="+mn-ea"/>
              </a:rPr>
              <a:t>3</a:t>
            </a:r>
            <a:r>
              <a:rPr lang="zh-CN" altLang="en-US" sz="1600" b="0">
                <a:solidFill>
                  <a:srgbClr val="000000"/>
                </a:solidFill>
                <a:sym typeface="+mn-ea"/>
              </a:rPr>
              <a:t>月</a:t>
            </a:r>
            <a:r>
              <a:rPr lang="en-US" altLang="zh-CN" sz="1600" b="0">
                <a:solidFill>
                  <a:srgbClr val="000000"/>
                </a:solidFill>
              </a:rPr>
              <a:t>9-11</a:t>
            </a:r>
            <a:r>
              <a:rPr lang="zh-CN" altLang="en-US" sz="1600" b="0">
                <a:solidFill>
                  <a:srgbClr val="000000"/>
                </a:solidFill>
              </a:rPr>
              <a:t>日进行了萝卜快跑乘客</a:t>
            </a:r>
            <a:r>
              <a:rPr lang="en-US" altLang="zh-CN" sz="1600" b="0">
                <a:solidFill>
                  <a:srgbClr val="000000"/>
                </a:solidFill>
              </a:rPr>
              <a:t>1</a:t>
            </a:r>
            <a:r>
              <a:rPr lang="zh-CN" altLang="en-US" sz="1600" b="0">
                <a:solidFill>
                  <a:srgbClr val="000000"/>
                </a:solidFill>
              </a:rPr>
              <a:t>对</a:t>
            </a:r>
            <a:r>
              <a:rPr lang="en-US" altLang="zh-CN" sz="1600" b="0">
                <a:solidFill>
                  <a:srgbClr val="000000"/>
                </a:solidFill>
              </a:rPr>
              <a:t>1</a:t>
            </a:r>
            <a:r>
              <a:rPr lang="zh-CN" altLang="en-US" sz="1600" b="0">
                <a:solidFill>
                  <a:srgbClr val="000000"/>
                </a:solidFill>
              </a:rPr>
              <a:t>深度访谈</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idx="4294967295"/>
          </p:nvPr>
        </p:nvSpPr>
        <p:spPr>
          <a:xfrm>
            <a:off x="669924" y="433637"/>
            <a:ext cx="10850563" cy="595063"/>
          </a:xfrm>
        </p:spPr>
        <p:txBody>
          <a:bodyPr/>
          <a:lstStyle/>
          <a:p>
            <a:r>
              <a:rPr lang="zh-CN" altLang="en-US" b="1" dirty="0">
                <a:sym typeface="Arial" panose="020B0604020202020204" pitchFamily="34" charset="0"/>
              </a:rPr>
              <a:t>项目执行概况 </a:t>
            </a:r>
            <a:r>
              <a:rPr lang="en-US" altLang="zh-CN" b="1" dirty="0">
                <a:sym typeface="Arial" panose="020B0604020202020204" pitchFamily="34" charset="0"/>
              </a:rPr>
              <a:t>——</a:t>
            </a:r>
            <a:r>
              <a:rPr lang="en-US" altLang="zh-CN" dirty="0">
                <a:sym typeface="Arial" panose="020B0604020202020204" pitchFamily="34" charset="0"/>
              </a:rPr>
              <a:t>1V1</a:t>
            </a:r>
            <a:r>
              <a:rPr lang="zh-CN" altLang="en-US" dirty="0">
                <a:sym typeface="Arial" panose="020B0604020202020204" pitchFamily="34" charset="0"/>
              </a:rPr>
              <a:t>深访</a:t>
            </a:r>
            <a:r>
              <a:rPr lang="en-US" altLang="zh-CN" sz="1600" dirty="0">
                <a:sym typeface="Arial" panose="020B0604020202020204" pitchFamily="34" charset="0"/>
              </a:rPr>
              <a:t>(</a:t>
            </a:r>
            <a:r>
              <a:rPr lang="zh-CN" altLang="en-US" sz="1600" b="1" dirty="0">
                <a:sym typeface="Arial" panose="020B0604020202020204" pitchFamily="34" charset="0"/>
              </a:rPr>
              <a:t>定性</a:t>
            </a:r>
            <a:r>
              <a:rPr lang="en-US" altLang="zh-CN" sz="1600" b="1" dirty="0">
                <a:sym typeface="Arial" panose="020B0604020202020204" pitchFamily="34" charset="0"/>
              </a:rPr>
              <a:t>)</a:t>
            </a:r>
            <a:endParaRPr lang="zh-CN" altLang="en-US" sz="1600" dirty="0"/>
          </a:p>
        </p:txBody>
      </p:sp>
      <p:sp>
        <p:nvSpPr>
          <p:cNvPr id="66" name="矩形: 圆角 65"/>
          <p:cNvSpPr/>
          <p:nvPr/>
        </p:nvSpPr>
        <p:spPr>
          <a:xfrm>
            <a:off x="5055726" y="3582800"/>
            <a:ext cx="3301148" cy="339901"/>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a:latin typeface="微软雅黑" panose="020B0503020204020204" pitchFamily="34" charset="-122"/>
                <a:ea typeface="微软雅黑" panose="020B0503020204020204" pitchFamily="34" charset="-122"/>
                <a:sym typeface="微软雅黑" panose="020B0503020204020204" pitchFamily="34" charset="-122"/>
              </a:rPr>
              <a:t>用户特征</a:t>
            </a:r>
            <a:endParaRPr lang="zh-CN" altLang="en-US" sz="10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7" name="矩形 66"/>
          <p:cNvSpPr/>
          <p:nvPr/>
        </p:nvSpPr>
        <p:spPr>
          <a:xfrm>
            <a:off x="5034687" y="3997399"/>
            <a:ext cx="3322187" cy="234958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3" name="文本占位符 4"/>
          <p:cNvSpPr txBox="1"/>
          <p:nvPr/>
        </p:nvSpPr>
        <p:spPr>
          <a:xfrm>
            <a:off x="4278959" y="4345457"/>
            <a:ext cx="961086"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900" b="1">
                <a:solidFill>
                  <a:srgbClr val="000000"/>
                </a:solidFill>
                <a:latin typeface="微软雅黑" panose="020B0503020204020204" pitchFamily="34" charset="-122"/>
                <a:ea typeface="微软雅黑" panose="020B0503020204020204" pitchFamily="34" charset="-122"/>
              </a:rPr>
              <a:t>需求频次</a:t>
            </a:r>
            <a:endParaRPr lang="en-US" altLang="zh-CN" sz="900" b="1" dirty="0">
              <a:solidFill>
                <a:srgbClr val="000000"/>
              </a:solidFill>
              <a:latin typeface="微软雅黑" panose="020B0503020204020204" pitchFamily="34" charset="-122"/>
              <a:ea typeface="微软雅黑" panose="020B0503020204020204" pitchFamily="34" charset="-122"/>
            </a:endParaRPr>
          </a:p>
        </p:txBody>
      </p:sp>
      <p:sp>
        <p:nvSpPr>
          <p:cNvPr id="133" name="文本占位符 4"/>
          <p:cNvSpPr txBox="1"/>
          <p:nvPr/>
        </p:nvSpPr>
        <p:spPr>
          <a:xfrm>
            <a:off x="4355502" y="4960297"/>
            <a:ext cx="831856"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900" b="1">
                <a:solidFill>
                  <a:srgbClr val="000000"/>
                </a:solidFill>
                <a:latin typeface="微软雅黑" panose="020B0503020204020204" pitchFamily="34" charset="-122"/>
                <a:ea typeface="微软雅黑" panose="020B0503020204020204" pitchFamily="34" charset="-122"/>
              </a:rPr>
              <a:t>满意之处</a:t>
            </a:r>
            <a:endParaRPr kumimoji="0" lang="en-US" altLang="zh-CN" sz="9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5055726" y="1604948"/>
            <a:ext cx="3301148" cy="1858950"/>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grpSp>
        <p:nvGrpSpPr>
          <p:cNvPr id="20" name="组合 19"/>
          <p:cNvGrpSpPr/>
          <p:nvPr/>
        </p:nvGrpSpPr>
        <p:grpSpPr>
          <a:xfrm>
            <a:off x="6365926" y="2786180"/>
            <a:ext cx="792618" cy="651138"/>
            <a:chOff x="2254134" y="3409855"/>
            <a:chExt cx="792618" cy="651138"/>
          </a:xfrm>
        </p:grpSpPr>
        <p:sp>
          <p:nvSpPr>
            <p:cNvPr id="21" name="businessman-presenter_46787"/>
            <p:cNvSpPr/>
            <p:nvPr/>
          </p:nvSpPr>
          <p:spPr>
            <a:xfrm>
              <a:off x="2470830" y="3409855"/>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文本框 21"/>
            <p:cNvSpPr txBox="1"/>
            <p:nvPr/>
          </p:nvSpPr>
          <p:spPr>
            <a:xfrm>
              <a:off x="2254134" y="3845549"/>
              <a:ext cx="792618" cy="215444"/>
            </a:xfrm>
            <a:prstGeom prst="rect">
              <a:avLst/>
            </a:prstGeom>
            <a:noFill/>
          </p:spPr>
          <p:txBody>
            <a:bodyPr wrap="square" rtlCol="0">
              <a:spAutoFit/>
            </a:bodyPr>
            <a:lstStyle/>
            <a:p>
              <a:pPr algn="ctr"/>
              <a:r>
                <a:rPr lang="zh-CN" altLang="en-US" sz="800" dirty="0">
                  <a:latin typeface="+mn-ea"/>
                </a:rPr>
                <a:t>主持人</a:t>
              </a:r>
            </a:p>
          </p:txBody>
        </p:sp>
      </p:grpSp>
      <p:sp>
        <p:nvSpPr>
          <p:cNvPr id="38" name="矩形 37"/>
          <p:cNvSpPr/>
          <p:nvPr/>
        </p:nvSpPr>
        <p:spPr>
          <a:xfrm>
            <a:off x="5043026" y="1607470"/>
            <a:ext cx="1189879" cy="461665"/>
          </a:xfrm>
          <a:prstGeom prst="rect">
            <a:avLst/>
          </a:prstGeom>
          <a:noFill/>
          <a:ln>
            <a:noFill/>
          </a:ln>
        </p:spPr>
        <p:txBody>
          <a:bodyPr wrap="square" rtlCol="0" anchor="ctr">
            <a:spAutoFit/>
          </a:bodyPr>
          <a:lstStyle/>
          <a:p>
            <a:pPr algn="ctr"/>
            <a:r>
              <a:rPr lang="zh-CN" altLang="en-US" sz="1200" b="1">
                <a:latin typeface="+mn-ea"/>
              </a:rPr>
              <a:t>萝卜快跑</a:t>
            </a:r>
          </a:p>
          <a:p>
            <a:pPr algn="ctr"/>
            <a:r>
              <a:rPr lang="zh-CN" altLang="en-US" sz="1200" b="1">
                <a:latin typeface="+mn-ea"/>
              </a:rPr>
              <a:t>乘客深度访谈</a:t>
            </a:r>
            <a:endParaRPr lang="zh-CN" altLang="en-US" sz="1200" b="1" dirty="0">
              <a:latin typeface="+mn-ea"/>
            </a:endParaRPr>
          </a:p>
        </p:txBody>
      </p:sp>
      <p:grpSp>
        <p:nvGrpSpPr>
          <p:cNvPr id="50" name="组合 49"/>
          <p:cNvGrpSpPr/>
          <p:nvPr/>
        </p:nvGrpSpPr>
        <p:grpSpPr>
          <a:xfrm>
            <a:off x="6235115" y="1895981"/>
            <a:ext cx="1139647" cy="697976"/>
            <a:chOff x="2802937" y="2118307"/>
            <a:chExt cx="899174" cy="524837"/>
          </a:xfrm>
        </p:grpSpPr>
        <p:sp>
          <p:nvSpPr>
            <p:cNvPr id="51" name="文本框 50"/>
            <p:cNvSpPr txBox="1"/>
            <p:nvPr/>
          </p:nvSpPr>
          <p:spPr>
            <a:xfrm>
              <a:off x="2802937" y="2389601"/>
              <a:ext cx="899174" cy="253543"/>
            </a:xfrm>
            <a:prstGeom prst="rect">
              <a:avLst/>
            </a:prstGeom>
            <a:noFill/>
          </p:spPr>
          <p:txBody>
            <a:bodyPr wrap="square" rtlCol="0" anchor="ctr">
              <a:spAutoFit/>
            </a:bodyPr>
            <a:lstStyle/>
            <a:p>
              <a:pPr algn="ctr"/>
              <a:r>
                <a:rPr lang="zh-CN" altLang="en-US" sz="800">
                  <a:latin typeface="+mn-ea"/>
                </a:rPr>
                <a:t>餐饮行业互联网运营</a:t>
              </a:r>
              <a:endParaRPr lang="en-US" altLang="zh-CN" sz="800">
                <a:latin typeface="+mn-ea"/>
              </a:endParaRPr>
            </a:p>
            <a:p>
              <a:pPr algn="ctr"/>
              <a:r>
                <a:rPr lang="zh-CN" altLang="en-US" sz="800">
                  <a:latin typeface="+mn-ea"/>
                </a:rPr>
                <a:t>田女士未婚</a:t>
              </a:r>
              <a:r>
                <a:rPr lang="en-US" altLang="zh-CN" sz="800">
                  <a:latin typeface="+mn-ea"/>
                </a:rPr>
                <a:t>30</a:t>
              </a:r>
              <a:r>
                <a:rPr lang="zh-CN" altLang="en-US" sz="800">
                  <a:latin typeface="+mn-ea"/>
                </a:rPr>
                <a:t>岁</a:t>
              </a:r>
              <a:endParaRPr lang="zh-CN" altLang="en-US" sz="800" dirty="0">
                <a:latin typeface="+mn-ea"/>
              </a:endParaRPr>
            </a:p>
          </p:txBody>
        </p: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799" y="2118307"/>
              <a:ext cx="259871" cy="259871"/>
            </a:xfrm>
            <a:prstGeom prst="rect">
              <a:avLst/>
            </a:prstGeom>
          </p:spPr>
        </p:pic>
      </p:grpSp>
      <p:sp>
        <p:nvSpPr>
          <p:cNvPr id="3" name="文本占位符 4"/>
          <p:cNvSpPr txBox="1"/>
          <p:nvPr/>
        </p:nvSpPr>
        <p:spPr>
          <a:xfrm>
            <a:off x="5240044" y="4394970"/>
            <a:ext cx="3095790"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高频用户，</a:t>
            </a:r>
            <a:r>
              <a:rPr lang="en-US" altLang="zh-CN" sz="700">
                <a:solidFill>
                  <a:srgbClr val="000000"/>
                </a:solidFill>
                <a:latin typeface="微软雅黑" panose="020B0503020204020204" pitchFamily="34" charset="-122"/>
                <a:ea typeface="微软雅黑" panose="020B0503020204020204" pitchFamily="34" charset="-122"/>
              </a:rPr>
              <a:t>2026</a:t>
            </a:r>
            <a:r>
              <a:rPr lang="zh-CN" altLang="en-US" sz="700">
                <a:solidFill>
                  <a:srgbClr val="000000"/>
                </a:solidFill>
                <a:latin typeface="微软雅黑" panose="020B0503020204020204" pitchFamily="34" charset="-122"/>
                <a:ea typeface="微软雅黑" panose="020B0503020204020204" pitchFamily="34" charset="-122"/>
              </a:rPr>
              <a:t>年</a:t>
            </a:r>
            <a:r>
              <a:rPr lang="en-US" altLang="zh-CN" sz="700">
                <a:solidFill>
                  <a:srgbClr val="000000"/>
                </a:solidFill>
                <a:latin typeface="微软雅黑" panose="020B0503020204020204" pitchFamily="34" charset="-122"/>
                <a:ea typeface="微软雅黑" panose="020B0503020204020204" pitchFamily="34" charset="-122"/>
              </a:rPr>
              <a:t>2</a:t>
            </a:r>
            <a:r>
              <a:rPr lang="zh-CN" altLang="en-US" sz="700">
                <a:solidFill>
                  <a:srgbClr val="000000"/>
                </a:solidFill>
                <a:latin typeface="微软雅黑" panose="020B0503020204020204" pitchFamily="34" charset="-122"/>
                <a:ea typeface="微软雅黑" panose="020B0503020204020204" pitchFamily="34" charset="-122"/>
              </a:rPr>
              <a:t>月使用</a:t>
            </a:r>
            <a:r>
              <a:rPr lang="en-US" altLang="zh-CN" sz="700">
                <a:solidFill>
                  <a:srgbClr val="000000"/>
                </a:solidFill>
                <a:latin typeface="微软雅黑" panose="020B0503020204020204" pitchFamily="34" charset="-122"/>
                <a:ea typeface="微软雅黑" panose="020B0503020204020204" pitchFamily="34" charset="-122"/>
              </a:rPr>
              <a:t>17</a:t>
            </a:r>
            <a:r>
              <a:rPr lang="zh-CN" altLang="en-US" sz="700">
                <a:solidFill>
                  <a:srgbClr val="000000"/>
                </a:solidFill>
                <a:latin typeface="微软雅黑" panose="020B0503020204020204" pitchFamily="34" charset="-122"/>
                <a:ea typeface="微软雅黑" panose="020B0503020204020204" pitchFamily="34" charset="-122"/>
              </a:rPr>
              <a:t>次，</a:t>
            </a:r>
            <a:r>
              <a:rPr lang="en-US" altLang="zh-CN" sz="700">
                <a:solidFill>
                  <a:srgbClr val="000000"/>
                </a:solidFill>
                <a:latin typeface="微软雅黑" panose="020B0503020204020204" pitchFamily="34" charset="-122"/>
                <a:ea typeface="微软雅黑" panose="020B0503020204020204" pitchFamily="34" charset="-122"/>
              </a:rPr>
              <a:t>3</a:t>
            </a:r>
            <a:r>
              <a:rPr lang="zh-CN" altLang="en-US" sz="700">
                <a:solidFill>
                  <a:srgbClr val="000000"/>
                </a:solidFill>
                <a:latin typeface="微软雅黑" panose="020B0503020204020204" pitchFamily="34" charset="-122"/>
                <a:ea typeface="微软雅黑" panose="020B0503020204020204" pitchFamily="34" charset="-122"/>
              </a:rPr>
              <a:t>月已叫车</a:t>
            </a:r>
            <a:r>
              <a:rPr lang="en-US" altLang="zh-CN" sz="700">
                <a:solidFill>
                  <a:srgbClr val="000000"/>
                </a:solidFill>
                <a:latin typeface="微软雅黑" panose="020B0503020204020204" pitchFamily="34" charset="-122"/>
                <a:ea typeface="微软雅黑" panose="020B0503020204020204" pitchFamily="34" charset="-122"/>
              </a:rPr>
              <a:t>3</a:t>
            </a:r>
            <a:r>
              <a:rPr lang="zh-CN" altLang="en-US" sz="700">
                <a:solidFill>
                  <a:srgbClr val="000000"/>
                </a:solidFill>
                <a:latin typeface="微软雅黑" panose="020B0503020204020204" pitchFamily="34" charset="-122"/>
                <a:ea typeface="微软雅黑" panose="020B0503020204020204" pitchFamily="34" charset="-122"/>
              </a:rPr>
              <a:t>次，喜欢使用融合平台，如百度地图</a:t>
            </a:r>
            <a:endParaRPr kumimoji="0" lang="zh-CN" altLang="en-US"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 name="文本占位符 4"/>
          <p:cNvSpPr txBox="1"/>
          <p:nvPr/>
        </p:nvSpPr>
        <p:spPr>
          <a:xfrm>
            <a:off x="4355502" y="4658766"/>
            <a:ext cx="799074"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900" b="1">
                <a:solidFill>
                  <a:srgbClr val="000000"/>
                </a:solidFill>
                <a:latin typeface="微软雅黑" panose="020B0503020204020204" pitchFamily="34" charset="-122"/>
                <a:ea typeface="微软雅黑" panose="020B0503020204020204" pitchFamily="34" charset="-122"/>
              </a:rPr>
              <a:t>选择原因</a:t>
            </a:r>
            <a:endParaRPr kumimoji="0" lang="en-US" altLang="zh-CN" sz="9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本占位符 4"/>
          <p:cNvSpPr txBox="1"/>
          <p:nvPr/>
        </p:nvSpPr>
        <p:spPr>
          <a:xfrm>
            <a:off x="8571340" y="4406551"/>
            <a:ext cx="3161963"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中频用户，</a:t>
            </a:r>
            <a:r>
              <a:rPr lang="en-US" altLang="zh-CN" sz="700">
                <a:solidFill>
                  <a:srgbClr val="000000"/>
                </a:solidFill>
                <a:latin typeface="微软雅黑" panose="020B0503020204020204" pitchFamily="34" charset="-122"/>
                <a:ea typeface="微软雅黑" panose="020B0503020204020204" pitchFamily="34" charset="-122"/>
              </a:rPr>
              <a:t>2025</a:t>
            </a:r>
            <a:r>
              <a:rPr lang="zh-CN" altLang="en-US" sz="700">
                <a:solidFill>
                  <a:srgbClr val="000000"/>
                </a:solidFill>
                <a:latin typeface="微软雅黑" panose="020B0503020204020204" pitchFamily="34" charset="-122"/>
                <a:ea typeface="微软雅黑" panose="020B0503020204020204" pitchFamily="34" charset="-122"/>
              </a:rPr>
              <a:t>年</a:t>
            </a:r>
            <a:r>
              <a:rPr lang="en-US" altLang="zh-CN" sz="700">
                <a:solidFill>
                  <a:srgbClr val="000000"/>
                </a:solidFill>
                <a:latin typeface="微软雅黑" panose="020B0503020204020204" pitchFamily="34" charset="-122"/>
                <a:ea typeface="微软雅黑" panose="020B0503020204020204" pitchFamily="34" charset="-122"/>
              </a:rPr>
              <a:t>11–12</a:t>
            </a:r>
            <a:r>
              <a:rPr lang="zh-CN" altLang="en-US" sz="700">
                <a:solidFill>
                  <a:srgbClr val="000000"/>
                </a:solidFill>
                <a:latin typeface="微软雅黑" panose="020B0503020204020204" pitchFamily="34" charset="-122"/>
                <a:ea typeface="微软雅黑" panose="020B0503020204020204" pitchFamily="34" charset="-122"/>
              </a:rPr>
              <a:t>月每月</a:t>
            </a:r>
            <a:r>
              <a:rPr lang="en-US" altLang="zh-CN" sz="700">
                <a:solidFill>
                  <a:srgbClr val="000000"/>
                </a:solidFill>
                <a:latin typeface="微软雅黑" panose="020B0503020204020204" pitchFamily="34" charset="-122"/>
                <a:ea typeface="微软雅黑" panose="020B0503020204020204" pitchFamily="34" charset="-122"/>
              </a:rPr>
              <a:t>5–6</a:t>
            </a:r>
            <a:r>
              <a:rPr lang="zh-CN" altLang="en-US" sz="700">
                <a:solidFill>
                  <a:srgbClr val="000000"/>
                </a:solidFill>
                <a:latin typeface="微软雅黑" panose="020B0503020204020204" pitchFamily="34" charset="-122"/>
                <a:ea typeface="微软雅黑" panose="020B0503020204020204" pitchFamily="34" charset="-122"/>
              </a:rPr>
              <a:t>单，在熟悉地点喜欢使用萝卜快跑</a:t>
            </a:r>
            <a:endParaRPr kumimoji="0" lang="en-US" altLang="zh-CN"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4094" y="2094031"/>
            <a:ext cx="182393" cy="182393"/>
          </a:xfrm>
          <a:prstGeom prst="rect">
            <a:avLst/>
          </a:prstGeom>
        </p:spPr>
      </p:pic>
      <p:sp>
        <p:nvSpPr>
          <p:cNvPr id="28" name="文本占位符 4"/>
          <p:cNvSpPr txBox="1"/>
          <p:nvPr/>
        </p:nvSpPr>
        <p:spPr>
          <a:xfrm>
            <a:off x="5240044" y="4698213"/>
            <a:ext cx="3095791"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司机不挑单，接单稳定；无人驾驶私密性强，乘坐自由；对气味敏感，萝卜车内无异味</a:t>
            </a:r>
          </a:p>
        </p:txBody>
      </p:sp>
      <p:sp>
        <p:nvSpPr>
          <p:cNvPr id="29" name="文本占位符 4"/>
          <p:cNvSpPr txBox="1"/>
          <p:nvPr/>
        </p:nvSpPr>
        <p:spPr>
          <a:xfrm>
            <a:off x="5187358" y="4980248"/>
            <a:ext cx="3109137"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舒适度高，座椅比普通车更舒适；音响环绕声和</a:t>
            </a:r>
            <a:r>
              <a:rPr lang="en-US" altLang="zh-CN" sz="700">
                <a:solidFill>
                  <a:srgbClr val="000000"/>
                </a:solidFill>
                <a:latin typeface="微软雅黑" panose="020B0503020204020204" pitchFamily="34" charset="-122"/>
                <a:ea typeface="微软雅黑" panose="020B0503020204020204" pitchFamily="34" charset="-122"/>
              </a:rPr>
              <a:t>AI</a:t>
            </a:r>
            <a:r>
              <a:rPr lang="zh-CN" altLang="en-US" sz="700">
                <a:solidFill>
                  <a:srgbClr val="000000"/>
                </a:solidFill>
                <a:latin typeface="微软雅黑" panose="020B0503020204020204" pitchFamily="34" charset="-122"/>
                <a:ea typeface="微软雅黑" panose="020B0503020204020204" pitchFamily="34" charset="-122"/>
              </a:rPr>
              <a:t>助手的交互体验好；新车型（第六代）驾驶更平稳，甚至能超车、按喇叭</a:t>
            </a:r>
            <a:endParaRPr kumimoji="0" lang="zh-CN" altLang="en-US"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 name="文本占位符 4"/>
          <p:cNvSpPr txBox="1"/>
          <p:nvPr/>
        </p:nvSpPr>
        <p:spPr>
          <a:xfrm>
            <a:off x="4355502" y="5302789"/>
            <a:ext cx="831856"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900" b="1">
                <a:solidFill>
                  <a:srgbClr val="000000"/>
                </a:solidFill>
                <a:latin typeface="微软雅黑" panose="020B0503020204020204" pitchFamily="34" charset="-122"/>
                <a:ea typeface="微软雅黑" panose="020B0503020204020204" pitchFamily="34" charset="-122"/>
              </a:rPr>
              <a:t>不满之处</a:t>
            </a:r>
            <a:endParaRPr kumimoji="0" lang="en-US" altLang="zh-CN" sz="9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1" name="文本占位符 4"/>
          <p:cNvSpPr txBox="1"/>
          <p:nvPr/>
        </p:nvSpPr>
        <p:spPr>
          <a:xfrm>
            <a:off x="5135340" y="5288668"/>
            <a:ext cx="3161156"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上下车点固定且不合理，尤其在陌生地段。旧版车驾驶体验差（急刹急停）；等待时间仅</a:t>
            </a:r>
            <a:r>
              <a:rPr lang="en-US" altLang="zh-CN" sz="700">
                <a:solidFill>
                  <a:srgbClr val="000000"/>
                </a:solidFill>
                <a:latin typeface="微软雅黑" panose="020B0503020204020204" pitchFamily="34" charset="-122"/>
                <a:ea typeface="微软雅黑" panose="020B0503020204020204" pitchFamily="34" charset="-122"/>
              </a:rPr>
              <a:t>3</a:t>
            </a:r>
            <a:r>
              <a:rPr lang="zh-CN" altLang="en-US" sz="700">
                <a:solidFill>
                  <a:srgbClr val="000000"/>
                </a:solidFill>
                <a:latin typeface="微软雅黑" panose="020B0503020204020204" pitchFamily="34" charset="-122"/>
                <a:ea typeface="微软雅黑" panose="020B0503020204020204" pitchFamily="34" charset="-122"/>
              </a:rPr>
              <a:t>分钟，时间预估不准，容易错过车。派单距离远，接车慢</a:t>
            </a:r>
            <a:endParaRPr kumimoji="0" lang="zh-CN" altLang="en-US"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2" name="文本占位符 4"/>
          <p:cNvSpPr txBox="1"/>
          <p:nvPr/>
        </p:nvSpPr>
        <p:spPr>
          <a:xfrm>
            <a:off x="4292443" y="5598552"/>
            <a:ext cx="831856"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900" b="1">
                <a:solidFill>
                  <a:srgbClr val="000000"/>
                </a:solidFill>
                <a:latin typeface="微软雅黑" panose="020B0503020204020204" pitchFamily="34" charset="-122"/>
                <a:ea typeface="微软雅黑" panose="020B0503020204020204" pitchFamily="34" charset="-122"/>
              </a:rPr>
              <a:t>不寻常需求</a:t>
            </a:r>
            <a:endParaRPr lang="en-US" altLang="zh-CN" sz="900" b="1" dirty="0">
              <a:solidFill>
                <a:srgbClr val="000000"/>
              </a:solidFill>
              <a:latin typeface="微软雅黑" panose="020B0503020204020204" pitchFamily="34" charset="-122"/>
              <a:ea typeface="微软雅黑" panose="020B0503020204020204" pitchFamily="34" charset="-122"/>
            </a:endParaRPr>
          </a:p>
        </p:txBody>
      </p:sp>
      <p:sp>
        <p:nvSpPr>
          <p:cNvPr id="33" name="文本占位符 4"/>
          <p:cNvSpPr txBox="1"/>
          <p:nvPr/>
        </p:nvSpPr>
        <p:spPr>
          <a:xfrm>
            <a:off x="5135340" y="5629159"/>
            <a:ext cx="3141920" cy="598434"/>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希望车内增加以下功能：无线充电功能；后备箱改为自动贩卖机（卖饮料、零食）；愿意为更专业的按摩座椅和</a:t>
            </a:r>
            <a:r>
              <a:rPr lang="en-US" altLang="zh-CN" sz="700">
                <a:solidFill>
                  <a:srgbClr val="000000"/>
                </a:solidFill>
                <a:latin typeface="微软雅黑" panose="020B0503020204020204" pitchFamily="34" charset="-122"/>
                <a:ea typeface="微软雅黑" panose="020B0503020204020204" pitchFamily="34" charset="-122"/>
              </a:rPr>
              <a:t>K</a:t>
            </a:r>
            <a:r>
              <a:rPr lang="zh-CN" altLang="en-US" sz="700">
                <a:solidFill>
                  <a:srgbClr val="000000"/>
                </a:solidFill>
                <a:latin typeface="微软雅黑" panose="020B0503020204020204" pitchFamily="34" charset="-122"/>
                <a:ea typeface="微软雅黑" panose="020B0503020204020204" pitchFamily="34" charset="-122"/>
              </a:rPr>
              <a:t>歌麦克风付费；</a:t>
            </a:r>
            <a:r>
              <a:rPr lang="en-US" altLang="zh-CN" sz="700">
                <a:solidFill>
                  <a:srgbClr val="000000"/>
                </a:solidFill>
                <a:latin typeface="微软雅黑" panose="020B0503020204020204" pitchFamily="34" charset="-122"/>
                <a:ea typeface="微软雅黑" panose="020B0503020204020204" pitchFamily="34" charset="-122"/>
              </a:rPr>
              <a:t>AI</a:t>
            </a:r>
            <a:r>
              <a:rPr lang="zh-CN" altLang="en-US" sz="700">
                <a:solidFill>
                  <a:srgbClr val="000000"/>
                </a:solidFill>
                <a:latin typeface="微软雅黑" panose="020B0503020204020204" pitchFamily="34" charset="-122"/>
                <a:ea typeface="微软雅黑" panose="020B0503020204020204" pitchFamily="34" charset="-122"/>
              </a:rPr>
              <a:t>助手能记忆个人偏好（如自动放歌、开按摩）；更灵活的上下车点选择，避免“翻栏杆”式上车</a:t>
            </a:r>
          </a:p>
        </p:txBody>
      </p:sp>
      <p:sp>
        <p:nvSpPr>
          <p:cNvPr id="34" name="矩形 33"/>
          <p:cNvSpPr/>
          <p:nvPr/>
        </p:nvSpPr>
        <p:spPr>
          <a:xfrm>
            <a:off x="8411116" y="3997399"/>
            <a:ext cx="3322187" cy="234958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37" name="组合 36"/>
          <p:cNvGrpSpPr/>
          <p:nvPr/>
        </p:nvGrpSpPr>
        <p:grpSpPr>
          <a:xfrm>
            <a:off x="9549786" y="1838083"/>
            <a:ext cx="1041400" cy="694690"/>
            <a:chOff x="2310721" y="5016489"/>
            <a:chExt cx="874398" cy="638632"/>
          </a:xfrm>
        </p:grpSpPr>
        <p:sp>
          <p:nvSpPr>
            <p:cNvPr id="39" name="man-with-bow_56788"/>
            <p:cNvSpPr/>
            <p:nvPr/>
          </p:nvSpPr>
          <p:spPr>
            <a:xfrm>
              <a:off x="2505382" y="5016489"/>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文本框 39"/>
            <p:cNvSpPr txBox="1"/>
            <p:nvPr/>
          </p:nvSpPr>
          <p:spPr>
            <a:xfrm>
              <a:off x="2310721" y="5345145"/>
              <a:ext cx="874398" cy="309976"/>
            </a:xfrm>
            <a:prstGeom prst="rect">
              <a:avLst/>
            </a:prstGeom>
            <a:noFill/>
          </p:spPr>
          <p:txBody>
            <a:bodyPr wrap="square" rtlCol="0" anchor="ctr">
              <a:spAutoFit/>
            </a:bodyPr>
            <a:lstStyle/>
            <a:p>
              <a:pPr algn="ctr"/>
              <a:r>
                <a:rPr lang="zh-CN" altLang="en-US" sz="800">
                  <a:latin typeface="+mn-ea"/>
                </a:rPr>
                <a:t>建材行业行政</a:t>
              </a:r>
              <a:endParaRPr lang="en-US" altLang="zh-CN" sz="800" dirty="0">
                <a:latin typeface="+mn-ea"/>
              </a:endParaRPr>
            </a:p>
            <a:p>
              <a:pPr algn="ctr"/>
              <a:r>
                <a:rPr lang="zh-CN" altLang="en-US" sz="800">
                  <a:latin typeface="+mn-ea"/>
                </a:rPr>
                <a:t>喻先生恋爱中</a:t>
              </a:r>
              <a:r>
                <a:rPr lang="en-US" altLang="zh-CN" sz="800">
                  <a:latin typeface="+mn-ea"/>
                </a:rPr>
                <a:t>26</a:t>
              </a:r>
              <a:r>
                <a:rPr lang="zh-CN" altLang="en-US" sz="800">
                  <a:latin typeface="+mn-ea"/>
                </a:rPr>
                <a:t>岁</a:t>
              </a:r>
              <a:endParaRPr lang="en-US" altLang="zh-CN" sz="800" dirty="0">
                <a:latin typeface="+mn-ea"/>
              </a:endParaRPr>
            </a:p>
          </p:txBody>
        </p:sp>
      </p:grpSp>
      <p:sp>
        <p:nvSpPr>
          <p:cNvPr id="46" name="文本占位符 4"/>
          <p:cNvSpPr txBox="1"/>
          <p:nvPr/>
        </p:nvSpPr>
        <p:spPr>
          <a:xfrm>
            <a:off x="8583289" y="4720953"/>
            <a:ext cx="3075654"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科技感强，私密性高；可以自主调节空调、按摩等，乘车质量可控</a:t>
            </a:r>
          </a:p>
        </p:txBody>
      </p:sp>
      <p:sp>
        <p:nvSpPr>
          <p:cNvPr id="47" name="文本占位符 4"/>
          <p:cNvSpPr txBox="1"/>
          <p:nvPr/>
        </p:nvSpPr>
        <p:spPr>
          <a:xfrm>
            <a:off x="8583289" y="4960297"/>
            <a:ext cx="3075654"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可登录个人账号，听歌、调节座椅、按摩等；蓝牙钥匙无感开门，科技感强；遗落物品后客服响应及时，处理流程完善</a:t>
            </a:r>
          </a:p>
        </p:txBody>
      </p:sp>
      <p:sp>
        <p:nvSpPr>
          <p:cNvPr id="48" name="文本占位符 4"/>
          <p:cNvSpPr txBox="1"/>
          <p:nvPr/>
        </p:nvSpPr>
        <p:spPr>
          <a:xfrm>
            <a:off x="8589191" y="5292508"/>
            <a:ext cx="3161963" cy="33990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经常叫不到车，尤其在春节等时段；上下车点固定，不能灵活调整；行车路线单一，无法选择或避堵；驾驶风格单一，不能切换模式（如激进</a:t>
            </a:r>
            <a:r>
              <a:rPr lang="en-US" altLang="zh-CN" sz="700">
                <a:solidFill>
                  <a:srgbClr val="000000"/>
                </a:solidFill>
                <a:latin typeface="微软雅黑" panose="020B0503020204020204" pitchFamily="34" charset="-122"/>
                <a:ea typeface="微软雅黑" panose="020B0503020204020204" pitchFamily="34" charset="-122"/>
              </a:rPr>
              <a:t>/</a:t>
            </a:r>
            <a:r>
              <a:rPr lang="zh-CN" altLang="en-US" sz="700">
                <a:solidFill>
                  <a:srgbClr val="000000"/>
                </a:solidFill>
                <a:latin typeface="微软雅黑" panose="020B0503020204020204" pitchFamily="34" charset="-122"/>
                <a:ea typeface="微软雅黑" panose="020B0503020204020204" pitchFamily="34" charset="-122"/>
              </a:rPr>
              <a:t>平稳）</a:t>
            </a:r>
            <a:endParaRPr kumimoji="0" lang="en-US" altLang="zh-CN"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文本占位符 4"/>
          <p:cNvSpPr txBox="1"/>
          <p:nvPr/>
        </p:nvSpPr>
        <p:spPr>
          <a:xfrm>
            <a:off x="8583288" y="5625072"/>
            <a:ext cx="3167865" cy="727700"/>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希望增加以下功能：可选择驾驶模式（如安全优先、武汉本地风格等）；增加冰箱</a:t>
            </a:r>
            <a:r>
              <a:rPr lang="en-US" altLang="zh-CN" sz="700">
                <a:solidFill>
                  <a:srgbClr val="000000"/>
                </a:solidFill>
                <a:latin typeface="微软雅黑" panose="020B0503020204020204" pitchFamily="34" charset="-122"/>
                <a:ea typeface="微软雅黑" panose="020B0503020204020204" pitchFamily="34" charset="-122"/>
              </a:rPr>
              <a:t>/</a:t>
            </a:r>
            <a:r>
              <a:rPr lang="zh-CN" altLang="en-US" sz="700">
                <a:solidFill>
                  <a:srgbClr val="000000"/>
                </a:solidFill>
                <a:latin typeface="微软雅黑" panose="020B0503020204020204" pitchFamily="34" charset="-122"/>
                <a:ea typeface="微软雅黑" panose="020B0503020204020204" pitchFamily="34" charset="-122"/>
              </a:rPr>
              <a:t>自动贩卖机，提供饮料、果盘等付费服务；增加途经点功能；</a:t>
            </a:r>
            <a:r>
              <a:rPr lang="en-US" altLang="zh-CN" sz="700">
                <a:solidFill>
                  <a:srgbClr val="000000"/>
                </a:solidFill>
                <a:latin typeface="微软雅黑" panose="020B0503020204020204" pitchFamily="34" charset="-122"/>
                <a:ea typeface="微软雅黑" panose="020B0503020204020204" pitchFamily="34" charset="-122"/>
              </a:rPr>
              <a:t>AI</a:t>
            </a:r>
            <a:r>
              <a:rPr lang="zh-CN" altLang="en-US" sz="700">
                <a:solidFill>
                  <a:srgbClr val="000000"/>
                </a:solidFill>
                <a:latin typeface="微软雅黑" panose="020B0503020204020204" pitchFamily="34" charset="-122"/>
                <a:ea typeface="微软雅黑" panose="020B0503020204020204" pitchFamily="34" charset="-122"/>
              </a:rPr>
              <a:t>助手能主动提供服务（如根据天气调温、根据行程推荐模式）；有路线选择权（如多条路线、红绿灯数、拥堵提示）；增加手机</a:t>
            </a:r>
            <a:r>
              <a:rPr lang="en-US" altLang="zh-CN" sz="700">
                <a:solidFill>
                  <a:srgbClr val="000000"/>
                </a:solidFill>
                <a:latin typeface="微软雅黑" panose="020B0503020204020204" pitchFamily="34" charset="-122"/>
                <a:ea typeface="微软雅黑" panose="020B0503020204020204" pitchFamily="34" charset="-122"/>
              </a:rPr>
              <a:t>APP</a:t>
            </a:r>
            <a:r>
              <a:rPr lang="zh-CN" altLang="en-US" sz="700">
                <a:solidFill>
                  <a:srgbClr val="000000"/>
                </a:solidFill>
                <a:latin typeface="微软雅黑" panose="020B0503020204020204" pitchFamily="34" charset="-122"/>
                <a:ea typeface="微软雅黑" panose="020B0503020204020204" pitchFamily="34" charset="-122"/>
              </a:rPr>
              <a:t>灵动岛提醒功能，避免忘记行程</a:t>
            </a:r>
          </a:p>
        </p:txBody>
      </p:sp>
      <p:pic>
        <p:nvPicPr>
          <p:cNvPr id="55" name="图片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60499" y="2024733"/>
            <a:ext cx="175291" cy="175291"/>
          </a:xfrm>
          <a:prstGeom prst="rect">
            <a:avLst/>
          </a:prstGeom>
        </p:spPr>
      </p:pic>
      <p:grpSp>
        <p:nvGrpSpPr>
          <p:cNvPr id="57" name="组合 56"/>
          <p:cNvGrpSpPr/>
          <p:nvPr/>
        </p:nvGrpSpPr>
        <p:grpSpPr>
          <a:xfrm>
            <a:off x="9583925" y="2812760"/>
            <a:ext cx="792618" cy="651138"/>
            <a:chOff x="2254134" y="3409855"/>
            <a:chExt cx="792618" cy="651138"/>
          </a:xfrm>
        </p:grpSpPr>
        <p:sp>
          <p:nvSpPr>
            <p:cNvPr id="58" name="businessman-presenter_46787"/>
            <p:cNvSpPr/>
            <p:nvPr/>
          </p:nvSpPr>
          <p:spPr>
            <a:xfrm>
              <a:off x="2470830" y="3409855"/>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文本框 58"/>
            <p:cNvSpPr txBox="1"/>
            <p:nvPr/>
          </p:nvSpPr>
          <p:spPr>
            <a:xfrm>
              <a:off x="2254134" y="3845549"/>
              <a:ext cx="792618" cy="215444"/>
            </a:xfrm>
            <a:prstGeom prst="rect">
              <a:avLst/>
            </a:prstGeom>
            <a:noFill/>
          </p:spPr>
          <p:txBody>
            <a:bodyPr wrap="square" rtlCol="0">
              <a:spAutoFit/>
            </a:bodyPr>
            <a:lstStyle/>
            <a:p>
              <a:pPr algn="ctr"/>
              <a:r>
                <a:rPr lang="zh-CN" altLang="en-US" sz="800" dirty="0">
                  <a:latin typeface="+mn-ea"/>
                </a:rPr>
                <a:t>主持人</a:t>
              </a:r>
            </a:p>
          </p:txBody>
        </p:sp>
      </p:grpSp>
      <p:sp>
        <p:nvSpPr>
          <p:cNvPr id="60" name="矩形: 圆角 59"/>
          <p:cNvSpPr/>
          <p:nvPr/>
        </p:nvSpPr>
        <p:spPr>
          <a:xfrm>
            <a:off x="8432154" y="3578504"/>
            <a:ext cx="3301148" cy="339901"/>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a:latin typeface="微软雅黑" panose="020B0503020204020204" pitchFamily="34" charset="-122"/>
                <a:ea typeface="微软雅黑" panose="020B0503020204020204" pitchFamily="34" charset="-122"/>
                <a:sym typeface="微软雅黑" panose="020B0503020204020204" pitchFamily="34" charset="-122"/>
              </a:rPr>
              <a:t>用户特征</a:t>
            </a:r>
            <a:endParaRPr lang="zh-CN" altLang="en-US" sz="10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0" name="矩形 79"/>
          <p:cNvSpPr/>
          <p:nvPr/>
        </p:nvSpPr>
        <p:spPr>
          <a:xfrm>
            <a:off x="8405775" y="1647310"/>
            <a:ext cx="1189879" cy="461665"/>
          </a:xfrm>
          <a:prstGeom prst="rect">
            <a:avLst/>
          </a:prstGeom>
          <a:noFill/>
          <a:ln>
            <a:noFill/>
          </a:ln>
        </p:spPr>
        <p:txBody>
          <a:bodyPr wrap="square" rtlCol="0" anchor="ctr">
            <a:spAutoFit/>
          </a:bodyPr>
          <a:lstStyle/>
          <a:p>
            <a:pPr algn="ctr"/>
            <a:r>
              <a:rPr lang="zh-CN" altLang="en-US" sz="1200" b="1">
                <a:latin typeface="+mn-ea"/>
              </a:rPr>
              <a:t>萝卜快跑</a:t>
            </a:r>
          </a:p>
          <a:p>
            <a:pPr algn="ctr"/>
            <a:r>
              <a:rPr lang="zh-CN" altLang="en-US" sz="1200" b="1">
                <a:latin typeface="+mn-ea"/>
              </a:rPr>
              <a:t>乘客深度访谈</a:t>
            </a:r>
            <a:endParaRPr lang="zh-CN" altLang="en-US" sz="1200" b="1" dirty="0">
              <a:latin typeface="+mn-ea"/>
            </a:endParaRPr>
          </a:p>
        </p:txBody>
      </p:sp>
      <p:sp>
        <p:nvSpPr>
          <p:cNvPr id="7" name="文本占位符 4"/>
          <p:cNvSpPr txBox="1"/>
          <p:nvPr/>
        </p:nvSpPr>
        <p:spPr>
          <a:xfrm>
            <a:off x="4274496" y="4006205"/>
            <a:ext cx="961086" cy="27558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900" b="1">
                <a:solidFill>
                  <a:srgbClr val="000000"/>
                </a:solidFill>
                <a:latin typeface="微软雅黑" panose="020B0503020204020204" pitchFamily="34" charset="-122"/>
                <a:ea typeface="微软雅黑" panose="020B0503020204020204" pitchFamily="34" charset="-122"/>
              </a:rPr>
              <a:t>个人标签</a:t>
            </a:r>
            <a:endParaRPr lang="en-US" altLang="zh-CN" sz="900" b="1" dirty="0">
              <a:solidFill>
                <a:srgbClr val="000000"/>
              </a:solidFill>
              <a:latin typeface="微软雅黑" panose="020B0503020204020204" pitchFamily="34" charset="-122"/>
              <a:ea typeface="微软雅黑" panose="020B0503020204020204" pitchFamily="34" charset="-122"/>
            </a:endParaRPr>
          </a:p>
        </p:txBody>
      </p:sp>
      <p:sp>
        <p:nvSpPr>
          <p:cNvPr id="8" name="文本占位符 4"/>
          <p:cNvSpPr txBox="1"/>
          <p:nvPr/>
        </p:nvSpPr>
        <p:spPr>
          <a:xfrm>
            <a:off x="5235582" y="4084002"/>
            <a:ext cx="3095790"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气味敏感者、私密性优先 、车载娱乐控、付费意愿强</a:t>
            </a:r>
            <a:endParaRPr kumimoji="0" lang="zh-CN" altLang="en-US"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文本占位符 4"/>
          <p:cNvSpPr txBox="1"/>
          <p:nvPr/>
        </p:nvSpPr>
        <p:spPr>
          <a:xfrm>
            <a:off x="8596998" y="4111693"/>
            <a:ext cx="3161963"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rPr>
              <a:t>科技极客、个性化控、隐私关注者、</a:t>
            </a:r>
            <a:r>
              <a:rPr lang="en-US" altLang="zh-CN" sz="700">
                <a:solidFill>
                  <a:srgbClr val="000000"/>
                </a:solidFill>
                <a:latin typeface="微软雅黑" panose="020B0503020204020204" pitchFamily="34" charset="-122"/>
                <a:ea typeface="微软雅黑" panose="020B0503020204020204" pitchFamily="34" charset="-122"/>
              </a:rPr>
              <a:t> </a:t>
            </a:r>
            <a:r>
              <a:rPr lang="zh-CN" altLang="en-US" sz="700">
                <a:solidFill>
                  <a:srgbClr val="000000"/>
                </a:solidFill>
                <a:latin typeface="微软雅黑" panose="020B0503020204020204" pitchFamily="34" charset="-122"/>
                <a:ea typeface="微软雅黑" panose="020B0503020204020204" pitchFamily="34" charset="-122"/>
              </a:rPr>
              <a:t>场景拓展需求</a:t>
            </a:r>
            <a:endParaRPr kumimoji="0" lang="en-US" altLang="zh-CN" sz="7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nvSpPr>
        <p:spPr>
          <a:xfrm>
            <a:off x="1119125" y="1620923"/>
            <a:ext cx="3322544" cy="1858950"/>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sp>
        <p:nvSpPr>
          <p:cNvPr id="13" name="文本框 12"/>
          <p:cNvSpPr txBox="1"/>
          <p:nvPr/>
        </p:nvSpPr>
        <p:spPr>
          <a:xfrm>
            <a:off x="2306794" y="2267192"/>
            <a:ext cx="986901" cy="338554"/>
          </a:xfrm>
          <a:prstGeom prst="rect">
            <a:avLst/>
          </a:prstGeom>
          <a:noFill/>
        </p:spPr>
        <p:txBody>
          <a:bodyPr wrap="square" rtlCol="0" anchor="ctr">
            <a:spAutoFit/>
          </a:bodyPr>
          <a:lstStyle/>
          <a:p>
            <a:pPr algn="ctr"/>
            <a:r>
              <a:rPr lang="zh-CN" altLang="en-US" sz="800">
                <a:latin typeface="+mn-ea"/>
              </a:rPr>
              <a:t>私人司机王先生已婚有孩</a:t>
            </a:r>
            <a:r>
              <a:rPr lang="en-US" altLang="zh-CN" sz="800">
                <a:latin typeface="+mn-ea"/>
              </a:rPr>
              <a:t>36</a:t>
            </a:r>
            <a:r>
              <a:rPr lang="zh-CN" altLang="en-US" sz="800">
                <a:latin typeface="+mn-ea"/>
              </a:rPr>
              <a:t>岁</a:t>
            </a:r>
            <a:endParaRPr lang="zh-CN" altLang="en-US" sz="800" dirty="0">
              <a:latin typeface="+mn-ea"/>
            </a:endParaRPr>
          </a:p>
        </p:txBody>
      </p:sp>
      <p:sp>
        <p:nvSpPr>
          <p:cNvPr id="15" name="矩形 14"/>
          <p:cNvSpPr/>
          <p:nvPr/>
        </p:nvSpPr>
        <p:spPr>
          <a:xfrm>
            <a:off x="1090907" y="3997398"/>
            <a:ext cx="3322187" cy="234958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16" name="组合 15"/>
          <p:cNvGrpSpPr/>
          <p:nvPr/>
        </p:nvGrpSpPr>
        <p:grpSpPr>
          <a:xfrm>
            <a:off x="2456929" y="2810158"/>
            <a:ext cx="792618" cy="651138"/>
            <a:chOff x="2254134" y="3409855"/>
            <a:chExt cx="792618" cy="651138"/>
          </a:xfrm>
        </p:grpSpPr>
        <p:sp>
          <p:nvSpPr>
            <p:cNvPr id="17" name="businessman-presenter_46787"/>
            <p:cNvSpPr/>
            <p:nvPr/>
          </p:nvSpPr>
          <p:spPr>
            <a:xfrm>
              <a:off x="2470830" y="3409855"/>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nvSpPr>
          <p:spPr>
            <a:xfrm>
              <a:off x="2254134" y="3845549"/>
              <a:ext cx="792618" cy="215444"/>
            </a:xfrm>
            <a:prstGeom prst="rect">
              <a:avLst/>
            </a:prstGeom>
            <a:noFill/>
          </p:spPr>
          <p:txBody>
            <a:bodyPr wrap="square" rtlCol="0">
              <a:spAutoFit/>
            </a:bodyPr>
            <a:lstStyle/>
            <a:p>
              <a:pPr algn="ctr"/>
              <a:r>
                <a:rPr lang="zh-CN" altLang="en-US" sz="800" dirty="0">
                  <a:latin typeface="+mn-ea"/>
                </a:rPr>
                <a:t>主持人</a:t>
              </a:r>
            </a:p>
          </p:txBody>
        </p:sp>
      </p:grpSp>
      <p:sp>
        <p:nvSpPr>
          <p:cNvPr id="42" name="矩形: 圆角 78"/>
          <p:cNvSpPr/>
          <p:nvPr/>
        </p:nvSpPr>
        <p:spPr>
          <a:xfrm>
            <a:off x="1110695" y="3580664"/>
            <a:ext cx="3330973" cy="339901"/>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a:latin typeface="微软雅黑" panose="020B0503020204020204" pitchFamily="34" charset="-122"/>
                <a:ea typeface="微软雅黑" panose="020B0503020204020204" pitchFamily="34" charset="-122"/>
                <a:sym typeface="微软雅黑" panose="020B0503020204020204" pitchFamily="34" charset="-122"/>
              </a:rPr>
              <a:t>用户特征</a:t>
            </a:r>
            <a:endParaRPr lang="zh-CN" altLang="en-US" sz="10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2"/>
          <p:cNvSpPr/>
          <p:nvPr/>
        </p:nvSpPr>
        <p:spPr>
          <a:xfrm>
            <a:off x="1169840" y="1654330"/>
            <a:ext cx="1136954" cy="460375"/>
          </a:xfrm>
          <a:prstGeom prst="rect">
            <a:avLst/>
          </a:prstGeom>
          <a:noFill/>
          <a:ln>
            <a:noFill/>
          </a:ln>
        </p:spPr>
        <p:txBody>
          <a:bodyPr wrap="square" rtlCol="0" anchor="ctr">
            <a:spAutoFit/>
          </a:bodyPr>
          <a:lstStyle/>
          <a:p>
            <a:pPr algn="ctr"/>
            <a:r>
              <a:rPr lang="zh-CN" altLang="en-US" sz="1200" b="1">
                <a:latin typeface="+mn-ea"/>
              </a:rPr>
              <a:t>私人司机</a:t>
            </a:r>
          </a:p>
          <a:p>
            <a:pPr algn="ctr"/>
            <a:r>
              <a:rPr lang="zh-CN" altLang="en-US" sz="1200" b="1">
                <a:latin typeface="+mn-ea"/>
              </a:rPr>
              <a:t>乘客深度访谈</a:t>
            </a:r>
            <a:endParaRPr lang="zh-CN" altLang="en-US" sz="1200" b="1" dirty="0">
              <a:latin typeface="+mn-ea"/>
            </a:endParaRPr>
          </a:p>
        </p:txBody>
      </p:sp>
      <p:sp>
        <p:nvSpPr>
          <p:cNvPr id="44" name="文本占位符 4"/>
          <p:cNvSpPr txBox="1"/>
          <p:nvPr/>
        </p:nvSpPr>
        <p:spPr>
          <a:xfrm>
            <a:off x="1303585" y="4083933"/>
            <a:ext cx="3161963" cy="219710"/>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700" i="0" u="none" strike="noStrike" kern="1200" cap="none" spc="0" normalizeH="0" baseline="0">
                <a:solidFill>
                  <a:srgbClr val="000000"/>
                </a:solidFill>
                <a:latin typeface="微软雅黑" panose="020B0503020204020204" pitchFamily="34" charset="-122"/>
                <a:ea typeface="微软雅黑" panose="020B0503020204020204" pitchFamily="34" charset="-122"/>
                <a:cs typeface="+mn-cs"/>
              </a:rPr>
              <a:t>资深私人司机、高净值家庭专属司机、多客户适配型司机</a:t>
            </a:r>
            <a:endParaRPr kumimoji="0" lang="zh-CN" altLang="en-US" sz="7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5" name="man-with-bow_56788"/>
          <p:cNvSpPr/>
          <p:nvPr/>
        </p:nvSpPr>
        <p:spPr>
          <a:xfrm>
            <a:off x="2669968" y="1926804"/>
            <a:ext cx="332956" cy="308178"/>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85979" y="2049758"/>
            <a:ext cx="175291" cy="175291"/>
          </a:xfrm>
          <a:prstGeom prst="rect">
            <a:avLst/>
          </a:prstGeom>
        </p:spPr>
      </p:pic>
      <p:sp>
        <p:nvSpPr>
          <p:cNvPr id="56" name="文本占位符 4"/>
          <p:cNvSpPr txBox="1"/>
          <p:nvPr/>
        </p:nvSpPr>
        <p:spPr>
          <a:xfrm>
            <a:off x="484505" y="4006850"/>
            <a:ext cx="694690" cy="361950"/>
          </a:xfrm>
          <a:prstGeom prst="rect">
            <a:avLst/>
          </a:prstGeom>
        </p:spPr>
        <p:txBody>
          <a:bodyPr wrap="square">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900" b="1">
                <a:solidFill>
                  <a:srgbClr val="000000"/>
                </a:solidFill>
                <a:latin typeface="微软雅黑" panose="020B0503020204020204" pitchFamily="34" charset="-122"/>
                <a:ea typeface="微软雅黑" panose="020B0503020204020204" pitchFamily="34" charset="-122"/>
              </a:rPr>
              <a:t>个人标签</a:t>
            </a:r>
            <a:endParaRPr lang="en-US" altLang="zh-CN" sz="900" b="1" dirty="0">
              <a:solidFill>
                <a:srgbClr val="000000"/>
              </a:solidFill>
              <a:latin typeface="微软雅黑" panose="020B0503020204020204" pitchFamily="34" charset="-122"/>
              <a:ea typeface="微软雅黑" panose="020B0503020204020204" pitchFamily="34" charset="-122"/>
            </a:endParaRPr>
          </a:p>
        </p:txBody>
      </p:sp>
      <p:sp>
        <p:nvSpPr>
          <p:cNvPr id="70" name="文本占位符 4"/>
          <p:cNvSpPr txBox="1"/>
          <p:nvPr/>
        </p:nvSpPr>
        <p:spPr>
          <a:xfrm>
            <a:off x="348926" y="4930320"/>
            <a:ext cx="961086" cy="29908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buClrTx/>
              <a:buSzTx/>
              <a:buNone/>
              <a:defRPr/>
            </a:pPr>
            <a:r>
              <a:rPr lang="zh-CN" altLang="en-US" sz="900" b="1">
                <a:solidFill>
                  <a:srgbClr val="000000"/>
                </a:solidFill>
                <a:latin typeface="微软雅黑" panose="020B0503020204020204" pitchFamily="34" charset="-122"/>
                <a:ea typeface="微软雅黑" panose="020B0503020204020204" pitchFamily="34" charset="-122"/>
                <a:sym typeface="+mn-ea"/>
              </a:rPr>
              <a:t>核心特质</a:t>
            </a:r>
            <a:endParaRPr lang="zh-CN" altLang="en-US" sz="900" b="1">
              <a:solidFill>
                <a:srgbClr val="000000"/>
              </a:solidFill>
              <a:latin typeface="微软雅黑" panose="020B0503020204020204" pitchFamily="34" charset="-122"/>
              <a:ea typeface="微软雅黑" panose="020B0503020204020204" pitchFamily="34" charset="-122"/>
            </a:endParaRPr>
          </a:p>
        </p:txBody>
      </p:sp>
      <p:sp>
        <p:nvSpPr>
          <p:cNvPr id="71" name="文本占位符 4"/>
          <p:cNvSpPr txBox="1"/>
          <p:nvPr/>
        </p:nvSpPr>
        <p:spPr>
          <a:xfrm>
            <a:off x="357181" y="5254311"/>
            <a:ext cx="961086" cy="29908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buClrTx/>
              <a:buSzTx/>
              <a:buNone/>
              <a:defRPr/>
            </a:pPr>
            <a:r>
              <a:rPr lang="zh-CN" altLang="en-US" sz="900" b="1">
                <a:solidFill>
                  <a:srgbClr val="000000"/>
                </a:solidFill>
                <a:latin typeface="微软雅黑" panose="020B0503020204020204" pitchFamily="34" charset="-122"/>
                <a:ea typeface="微软雅黑" panose="020B0503020204020204" pitchFamily="34" charset="-122"/>
                <a:sym typeface="+mn-ea"/>
              </a:rPr>
              <a:t>需求痛点</a:t>
            </a:r>
            <a:endParaRPr lang="zh-CN" altLang="en-US" sz="900" b="1">
              <a:solidFill>
                <a:srgbClr val="000000"/>
              </a:solidFill>
              <a:latin typeface="微软雅黑" panose="020B0503020204020204" pitchFamily="34" charset="-122"/>
              <a:ea typeface="微软雅黑" panose="020B0503020204020204" pitchFamily="34" charset="-122"/>
            </a:endParaRPr>
          </a:p>
        </p:txBody>
      </p:sp>
      <p:sp>
        <p:nvSpPr>
          <p:cNvPr id="75" name="文本占位符 4"/>
          <p:cNvSpPr txBox="1"/>
          <p:nvPr/>
        </p:nvSpPr>
        <p:spPr>
          <a:xfrm>
            <a:off x="355911" y="5787810"/>
            <a:ext cx="961086" cy="368300"/>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00000"/>
              </a:lnSpc>
              <a:spcBef>
                <a:spcPts val="0"/>
              </a:spcBef>
              <a:spcAft>
                <a:spcPts val="0"/>
              </a:spcAft>
              <a:buClrTx/>
              <a:buSzTx/>
              <a:buNone/>
              <a:defRPr/>
            </a:pPr>
            <a:r>
              <a:rPr lang="zh-CN" altLang="en-US" sz="900" b="1" dirty="0">
                <a:solidFill>
                  <a:srgbClr val="000000"/>
                </a:solidFill>
                <a:latin typeface="微软雅黑" panose="020B0503020204020204" pitchFamily="34" charset="-122"/>
                <a:ea typeface="微软雅黑" panose="020B0503020204020204" pitchFamily="34" charset="-122"/>
                <a:sym typeface="+mn-ea"/>
              </a:rPr>
              <a:t>理想服务</a:t>
            </a:r>
          </a:p>
          <a:p>
            <a:pPr marL="0" lvl="0" algn="ctr">
              <a:lnSpc>
                <a:spcPct val="100000"/>
              </a:lnSpc>
              <a:spcBef>
                <a:spcPts val="0"/>
              </a:spcBef>
              <a:spcAft>
                <a:spcPts val="0"/>
              </a:spcAft>
              <a:buClrTx/>
              <a:buSzTx/>
              <a:buNone/>
              <a:defRPr/>
            </a:pPr>
            <a:r>
              <a:rPr lang="zh-CN" altLang="en-US" sz="900" b="1" dirty="0">
                <a:solidFill>
                  <a:srgbClr val="000000"/>
                </a:solidFill>
                <a:latin typeface="微软雅黑" panose="020B0503020204020204" pitchFamily="34" charset="-122"/>
                <a:ea typeface="微软雅黑" panose="020B0503020204020204" pitchFamily="34" charset="-122"/>
                <a:sym typeface="+mn-ea"/>
              </a:rPr>
              <a:t>状态</a:t>
            </a:r>
            <a:endParaRPr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76" name="文本占位符 4"/>
          <p:cNvSpPr txBox="1"/>
          <p:nvPr/>
        </p:nvSpPr>
        <p:spPr>
          <a:xfrm>
            <a:off x="355276" y="4658400"/>
            <a:ext cx="961086" cy="29908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buClrTx/>
              <a:buSzTx/>
              <a:buNone/>
              <a:defRPr/>
            </a:pPr>
            <a:r>
              <a:rPr lang="zh-CN" altLang="en-US" sz="900" b="1">
                <a:solidFill>
                  <a:srgbClr val="000000"/>
                </a:solidFill>
                <a:latin typeface="微软雅黑" panose="020B0503020204020204" pitchFamily="34" charset="-122"/>
                <a:ea typeface="微软雅黑" panose="020B0503020204020204" pitchFamily="34" charset="-122"/>
                <a:sym typeface="+mn-ea"/>
              </a:rPr>
              <a:t>服务场景</a:t>
            </a:r>
            <a:endParaRPr lang="zh-CN" altLang="en-US" sz="900" b="1">
              <a:solidFill>
                <a:srgbClr val="000000"/>
              </a:solidFill>
              <a:latin typeface="微软雅黑" panose="020B0503020204020204" pitchFamily="34" charset="-122"/>
              <a:ea typeface="微软雅黑" panose="020B0503020204020204" pitchFamily="34" charset="-122"/>
            </a:endParaRPr>
          </a:p>
        </p:txBody>
      </p:sp>
      <p:sp>
        <p:nvSpPr>
          <p:cNvPr id="82" name="文本占位符 4"/>
          <p:cNvSpPr txBox="1"/>
          <p:nvPr/>
        </p:nvSpPr>
        <p:spPr>
          <a:xfrm>
            <a:off x="307975" y="4345200"/>
            <a:ext cx="1052830" cy="361950"/>
          </a:xfrm>
          <a:prstGeom prst="rect">
            <a:avLst/>
          </a:prstGeom>
        </p:spPr>
        <p:txBody>
          <a:bodyPr wrap="square">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spcAft>
                <a:spcPts val="0"/>
              </a:spcAft>
              <a:buNone/>
              <a:defRPr/>
            </a:pPr>
            <a:r>
              <a:rPr lang="zh-CN" altLang="en-US" sz="900" b="1" dirty="0">
                <a:solidFill>
                  <a:srgbClr val="000000"/>
                </a:solidFill>
                <a:latin typeface="微软雅黑" panose="020B0503020204020204" pitchFamily="34" charset="-122"/>
                <a:ea typeface="微软雅黑" panose="020B0503020204020204" pitchFamily="34" charset="-122"/>
                <a:sym typeface="+mn-ea"/>
              </a:rPr>
              <a:t>学历与</a:t>
            </a:r>
            <a:r>
              <a:rPr lang="zh-CN" altLang="en-US" sz="900" b="1" dirty="0">
                <a:solidFill>
                  <a:srgbClr val="000000"/>
                </a:solidFill>
                <a:latin typeface="微软雅黑" panose="020B0503020204020204" pitchFamily="34" charset="-122"/>
                <a:ea typeface="微软雅黑" panose="020B0503020204020204" pitchFamily="34" charset="-122"/>
              </a:rPr>
              <a:t>职</a:t>
            </a:r>
          </a:p>
          <a:p>
            <a:pPr marL="0" lvl="0" indent="0" algn="ctr">
              <a:lnSpc>
                <a:spcPct val="100000"/>
              </a:lnSpc>
              <a:spcBef>
                <a:spcPts val="0"/>
              </a:spcBef>
              <a:spcAft>
                <a:spcPts val="0"/>
              </a:spcAft>
              <a:buNone/>
              <a:defRPr/>
            </a:pPr>
            <a:r>
              <a:rPr lang="zh-CN" altLang="en-US" sz="900" b="1" dirty="0">
                <a:solidFill>
                  <a:srgbClr val="000000"/>
                </a:solidFill>
                <a:latin typeface="微软雅黑" panose="020B0503020204020204" pitchFamily="34" charset="-122"/>
                <a:ea typeface="微软雅黑" panose="020B0503020204020204" pitchFamily="34" charset="-122"/>
              </a:rPr>
              <a:t>业特征</a:t>
            </a:r>
          </a:p>
        </p:txBody>
      </p:sp>
      <p:sp>
        <p:nvSpPr>
          <p:cNvPr id="83" name="文本框 82"/>
          <p:cNvSpPr txBox="1"/>
          <p:nvPr/>
        </p:nvSpPr>
        <p:spPr>
          <a:xfrm>
            <a:off x="1304290" y="4435475"/>
            <a:ext cx="3093720" cy="1862455"/>
          </a:xfrm>
          <a:prstGeom prst="rect">
            <a:avLst/>
          </a:prstGeom>
          <a:noFill/>
        </p:spPr>
        <p:txBody>
          <a:bodyPr wrap="square" rtlCol="0" anchor="t">
            <a:spAutoFit/>
          </a:bodyPr>
          <a:lstStyle/>
          <a:p>
            <a:pPr marL="0" marR="0" lvl="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sym typeface="+mn-ea"/>
              </a:rPr>
              <a:t>大专，从事司机</a:t>
            </a:r>
            <a:r>
              <a:rPr lang="en-US" altLang="zh-CN" sz="700">
                <a:solidFill>
                  <a:srgbClr val="000000"/>
                </a:solidFill>
                <a:latin typeface="微软雅黑" panose="020B0503020204020204" pitchFamily="34" charset="-122"/>
                <a:ea typeface="微软雅黑" panose="020B0503020204020204" pitchFamily="34" charset="-122"/>
                <a:sym typeface="+mn-ea"/>
              </a:rPr>
              <a:t>5</a:t>
            </a:r>
            <a:r>
              <a:rPr lang="zh-CN" altLang="en-US" sz="700">
                <a:solidFill>
                  <a:srgbClr val="000000"/>
                </a:solidFill>
                <a:latin typeface="微软雅黑" panose="020B0503020204020204" pitchFamily="34" charset="-122"/>
                <a:ea typeface="微软雅黑" panose="020B0503020204020204" pitchFamily="34" charset="-122"/>
                <a:sym typeface="+mn-ea"/>
              </a:rPr>
              <a:t>年，专职私人司机</a:t>
            </a:r>
            <a:endParaRPr kumimoji="0" lang="zh-CN" altLang="en-US" sz="700" i="0" u="none" strike="noStrike" kern="1200" cap="none" spc="0" normalizeH="0" baseline="0">
              <a:solidFill>
                <a:srgbClr val="000000"/>
              </a:solidFill>
              <a:latin typeface="微软雅黑" panose="020B0503020204020204" pitchFamily="34" charset="-122"/>
              <a:ea typeface="微软雅黑" panose="020B0503020204020204" pitchFamily="34" charset="-122"/>
              <a:cs typeface="+mn-cs"/>
            </a:endParaRPr>
          </a:p>
          <a:p>
            <a:pPr marL="0" marR="0" lvl="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sym typeface="+mn-ea"/>
              </a:rPr>
              <a:t>日常接送、商务出行、高尔夫、应酬接送、医院通勤、跨城出行</a:t>
            </a:r>
            <a:endParaRPr kumimoji="0" lang="zh-CN" altLang="en-US" sz="700" i="0" u="none" strike="noStrike" kern="1200" cap="none" spc="0" normalizeH="0" baseline="0">
              <a:solidFill>
                <a:srgbClr val="000000"/>
              </a:solidFill>
              <a:latin typeface="微软雅黑" panose="020B0503020204020204" pitchFamily="34" charset="-122"/>
              <a:ea typeface="微软雅黑" panose="020B0503020204020204" pitchFamily="34" charset="-122"/>
              <a:cs typeface="+mn-cs"/>
            </a:endParaRPr>
          </a:p>
          <a:p>
            <a:pPr marL="0" marR="0" lvl="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sym typeface="+mn-ea"/>
              </a:rPr>
              <a:t>高观察力、强分寸感、重责任心、高适配性与守规重信</a:t>
            </a:r>
            <a:endParaRPr kumimoji="0" lang="zh-CN" altLang="en-US" sz="700" i="0" u="none" strike="noStrike" kern="1200" cap="none" spc="0" normalizeH="0" baseline="0">
              <a:solidFill>
                <a:srgbClr val="000000"/>
              </a:solidFill>
              <a:latin typeface="微软雅黑" panose="020B0503020204020204" pitchFamily="34" charset="-122"/>
              <a:ea typeface="微软雅黑" panose="020B0503020204020204" pitchFamily="34" charset="-122"/>
              <a:cs typeface="+mn-cs"/>
            </a:endParaRPr>
          </a:p>
          <a:p>
            <a:pPr marL="0" marR="0" lvl="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sym typeface="+mn-ea"/>
              </a:rPr>
              <a:t>在建立信任初期面临巨大的心理压力与尴尬感，需时刻谨小慎微观察脸色；同时需应对车辆突发故障、导航失灵导致绕路、以及客户在禁停路段突发生理需求等需要在违章风险与客户体验间艰难抉择的棘手状况</a:t>
            </a:r>
            <a:endParaRPr kumimoji="0" lang="zh-CN" altLang="en-US" sz="700" i="0" u="none" strike="noStrike" kern="1200" cap="none" spc="0" normalizeH="0" baseline="0">
              <a:solidFill>
                <a:srgbClr val="000000"/>
              </a:solidFill>
              <a:latin typeface="微软雅黑" panose="020B0503020204020204" pitchFamily="34" charset="-122"/>
              <a:ea typeface="微软雅黑" panose="020B0503020204020204" pitchFamily="34" charset="-122"/>
              <a:cs typeface="+mn-cs"/>
            </a:endParaRPr>
          </a:p>
          <a:p>
            <a:pPr marL="0" marR="0" lvl="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sz="700">
                <a:solidFill>
                  <a:srgbClr val="000000"/>
                </a:solidFill>
                <a:latin typeface="微软雅黑" panose="020B0503020204020204" pitchFamily="34" charset="-122"/>
                <a:ea typeface="微软雅黑" panose="020B0503020204020204" pitchFamily="34" charset="-122"/>
                <a:sym typeface="+mn-ea"/>
              </a:rPr>
              <a:t>期望达到与客户高度默契的“熟悉”状态，获得充分信任从而拥有更多自由度（如迟到宽容、违章报销），并希望行程安排具有确定性以减少等待焦虑，同时在产生额外费用或不可抗力时能得到客户的理解与包容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D4493C8-C306-96E0-430C-BD11F33A96A0}"/>
              </a:ext>
            </a:extLst>
          </p:cNvPr>
          <p:cNvSpPr/>
          <p:nvPr/>
        </p:nvSpPr>
        <p:spPr>
          <a:xfrm>
            <a:off x="488238"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上车前阶段</a:t>
            </a:r>
          </a:p>
        </p:txBody>
      </p:sp>
      <p:sp>
        <p:nvSpPr>
          <p:cNvPr id="5" name="矩形 4">
            <a:extLst>
              <a:ext uri="{FF2B5EF4-FFF2-40B4-BE49-F238E27FC236}">
                <a16:creationId xmlns:a16="http://schemas.microsoft.com/office/drawing/2014/main" id="{71E24D33-F009-DA72-E8C1-2EA25FDE1161}"/>
              </a:ext>
            </a:extLst>
          </p:cNvPr>
          <p:cNvSpPr/>
          <p:nvPr/>
        </p:nvSpPr>
        <p:spPr>
          <a:xfrm>
            <a:off x="2706679"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上车时阶段</a:t>
            </a:r>
          </a:p>
        </p:txBody>
      </p:sp>
      <p:sp>
        <p:nvSpPr>
          <p:cNvPr id="6" name="矩形 5">
            <a:extLst>
              <a:ext uri="{FF2B5EF4-FFF2-40B4-BE49-F238E27FC236}">
                <a16:creationId xmlns:a16="http://schemas.microsoft.com/office/drawing/2014/main" id="{886060FE-F043-7238-BB52-3196C4E6AA8C}"/>
              </a:ext>
            </a:extLst>
          </p:cNvPr>
          <p:cNvSpPr/>
          <p:nvPr/>
        </p:nvSpPr>
        <p:spPr>
          <a:xfrm>
            <a:off x="4925120"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行驶阶段</a:t>
            </a:r>
          </a:p>
        </p:txBody>
      </p:sp>
      <p:sp>
        <p:nvSpPr>
          <p:cNvPr id="7" name="矩形 6">
            <a:extLst>
              <a:ext uri="{FF2B5EF4-FFF2-40B4-BE49-F238E27FC236}">
                <a16:creationId xmlns:a16="http://schemas.microsoft.com/office/drawing/2014/main" id="{1F285846-5D14-71B5-1919-296EC9597FAA}"/>
              </a:ext>
            </a:extLst>
          </p:cNvPr>
          <p:cNvSpPr/>
          <p:nvPr/>
        </p:nvSpPr>
        <p:spPr>
          <a:xfrm>
            <a:off x="7143561"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下车时</a:t>
            </a:r>
            <a:r>
              <a:rPr lang="en-US" altLang="zh-CN" sz="1200" dirty="0"/>
              <a:t>&amp;</a:t>
            </a:r>
            <a:r>
              <a:rPr lang="zh-CN" altLang="en-US" sz="1200" dirty="0"/>
              <a:t>下车后</a:t>
            </a:r>
          </a:p>
        </p:txBody>
      </p:sp>
      <p:sp>
        <p:nvSpPr>
          <p:cNvPr id="8" name="矩形 7">
            <a:extLst>
              <a:ext uri="{FF2B5EF4-FFF2-40B4-BE49-F238E27FC236}">
                <a16:creationId xmlns:a16="http://schemas.microsoft.com/office/drawing/2014/main" id="{410CAA9F-BDA8-10A0-002B-5A9520F1650C}"/>
              </a:ext>
            </a:extLst>
          </p:cNvPr>
          <p:cNvSpPr/>
          <p:nvPr/>
        </p:nvSpPr>
        <p:spPr>
          <a:xfrm>
            <a:off x="557367" y="4826497"/>
            <a:ext cx="8499835"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跨阶段</a:t>
            </a:r>
          </a:p>
        </p:txBody>
      </p:sp>
      <p:sp>
        <p:nvSpPr>
          <p:cNvPr id="10" name="矩形 9">
            <a:extLst>
              <a:ext uri="{FF2B5EF4-FFF2-40B4-BE49-F238E27FC236}">
                <a16:creationId xmlns:a16="http://schemas.microsoft.com/office/drawing/2014/main" id="{399DAE07-F27B-F93B-3E5A-9B9BC418EEF2}"/>
              </a:ext>
            </a:extLst>
          </p:cNvPr>
          <p:cNvSpPr/>
          <p:nvPr/>
        </p:nvSpPr>
        <p:spPr>
          <a:xfrm>
            <a:off x="884165" y="323706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定位与接驾</a:t>
            </a:r>
          </a:p>
        </p:txBody>
      </p:sp>
      <p:sp>
        <p:nvSpPr>
          <p:cNvPr id="12" name="矩形 11">
            <a:extLst>
              <a:ext uri="{FF2B5EF4-FFF2-40B4-BE49-F238E27FC236}">
                <a16:creationId xmlns:a16="http://schemas.microsoft.com/office/drawing/2014/main" id="{DC8D08F5-C43B-2EFC-86D8-0FEF3C9372A5}"/>
              </a:ext>
            </a:extLst>
          </p:cNvPr>
          <p:cNvSpPr/>
          <p:nvPr/>
        </p:nvSpPr>
        <p:spPr>
          <a:xfrm>
            <a:off x="884165"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行前沟通</a:t>
            </a:r>
          </a:p>
        </p:txBody>
      </p:sp>
      <p:sp>
        <p:nvSpPr>
          <p:cNvPr id="13" name="矩形 12">
            <a:extLst>
              <a:ext uri="{FF2B5EF4-FFF2-40B4-BE49-F238E27FC236}">
                <a16:creationId xmlns:a16="http://schemas.microsoft.com/office/drawing/2014/main" id="{0BBC0739-862A-6A4B-0583-86A77BB420B9}"/>
              </a:ext>
            </a:extLst>
          </p:cNvPr>
          <p:cNvSpPr/>
          <p:nvPr/>
        </p:nvSpPr>
        <p:spPr>
          <a:xfrm>
            <a:off x="3170162"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协助上车</a:t>
            </a:r>
          </a:p>
        </p:txBody>
      </p:sp>
      <p:sp>
        <p:nvSpPr>
          <p:cNvPr id="15" name="矩形 14">
            <a:extLst>
              <a:ext uri="{FF2B5EF4-FFF2-40B4-BE49-F238E27FC236}">
                <a16:creationId xmlns:a16="http://schemas.microsoft.com/office/drawing/2014/main" id="{D71C3AB3-3E70-C560-7D1D-5209B088214D}"/>
              </a:ext>
            </a:extLst>
          </p:cNvPr>
          <p:cNvSpPr/>
          <p:nvPr/>
        </p:nvSpPr>
        <p:spPr>
          <a:xfrm>
            <a:off x="3165660" y="329205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行程确认</a:t>
            </a:r>
          </a:p>
        </p:txBody>
      </p:sp>
      <p:sp>
        <p:nvSpPr>
          <p:cNvPr id="16" name="矩形 15">
            <a:extLst>
              <a:ext uri="{FF2B5EF4-FFF2-40B4-BE49-F238E27FC236}">
                <a16:creationId xmlns:a16="http://schemas.microsoft.com/office/drawing/2014/main" id="{011CC8FA-C9E8-F91D-400F-714C60F85911}"/>
              </a:ext>
            </a:extLst>
          </p:cNvPr>
          <p:cNvSpPr/>
          <p:nvPr/>
        </p:nvSpPr>
        <p:spPr>
          <a:xfrm>
            <a:off x="5316331"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车辆环境舒适调整</a:t>
            </a:r>
          </a:p>
        </p:txBody>
      </p:sp>
      <p:sp>
        <p:nvSpPr>
          <p:cNvPr id="19" name="矩形 18">
            <a:extLst>
              <a:ext uri="{FF2B5EF4-FFF2-40B4-BE49-F238E27FC236}">
                <a16:creationId xmlns:a16="http://schemas.microsoft.com/office/drawing/2014/main" id="{34ACF7CD-206E-980D-F6F3-CFD38D4BFD33}"/>
              </a:ext>
            </a:extLst>
          </p:cNvPr>
          <p:cNvSpPr/>
          <p:nvPr/>
        </p:nvSpPr>
        <p:spPr>
          <a:xfrm>
            <a:off x="5316328" y="4391365"/>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临时性停车需求</a:t>
            </a:r>
          </a:p>
        </p:txBody>
      </p:sp>
      <p:sp>
        <p:nvSpPr>
          <p:cNvPr id="20" name="矩形 19">
            <a:extLst>
              <a:ext uri="{FF2B5EF4-FFF2-40B4-BE49-F238E27FC236}">
                <a16:creationId xmlns:a16="http://schemas.microsoft.com/office/drawing/2014/main" id="{7D282A68-BF0C-67B4-4EE0-CF3C4877D952}"/>
              </a:ext>
            </a:extLst>
          </p:cNvPr>
          <p:cNvSpPr/>
          <p:nvPr/>
        </p:nvSpPr>
        <p:spPr>
          <a:xfrm>
            <a:off x="5316329" y="315222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行车控制（</a:t>
            </a:r>
            <a:r>
              <a:rPr lang="en-US" altLang="zh-CN" sz="1200" dirty="0"/>
              <a:t>Robotaxi</a:t>
            </a:r>
            <a:r>
              <a:rPr lang="zh-CN" altLang="en-US" sz="1200" dirty="0"/>
              <a:t>）</a:t>
            </a:r>
          </a:p>
        </p:txBody>
      </p:sp>
      <p:sp>
        <p:nvSpPr>
          <p:cNvPr id="21" name="矩形 20">
            <a:extLst>
              <a:ext uri="{FF2B5EF4-FFF2-40B4-BE49-F238E27FC236}">
                <a16:creationId xmlns:a16="http://schemas.microsoft.com/office/drawing/2014/main" id="{256974E4-5261-0618-D774-2B1F33B29774}"/>
              </a:ext>
            </a:extLst>
          </p:cNvPr>
          <p:cNvSpPr/>
          <p:nvPr/>
        </p:nvSpPr>
        <p:spPr>
          <a:xfrm>
            <a:off x="7454642"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停车位置沟通</a:t>
            </a:r>
          </a:p>
        </p:txBody>
      </p:sp>
      <p:sp>
        <p:nvSpPr>
          <p:cNvPr id="23" name="矩形 22">
            <a:extLst>
              <a:ext uri="{FF2B5EF4-FFF2-40B4-BE49-F238E27FC236}">
                <a16:creationId xmlns:a16="http://schemas.microsoft.com/office/drawing/2014/main" id="{6CD1F1CB-6898-1C23-0827-069B34A5E965}"/>
              </a:ext>
            </a:extLst>
          </p:cNvPr>
          <p:cNvSpPr/>
          <p:nvPr/>
        </p:nvSpPr>
        <p:spPr>
          <a:xfrm>
            <a:off x="7454642" y="3066848"/>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安全提醒</a:t>
            </a:r>
          </a:p>
        </p:txBody>
      </p:sp>
      <p:sp>
        <p:nvSpPr>
          <p:cNvPr id="24" name="矩形 23">
            <a:extLst>
              <a:ext uri="{FF2B5EF4-FFF2-40B4-BE49-F238E27FC236}">
                <a16:creationId xmlns:a16="http://schemas.microsoft.com/office/drawing/2014/main" id="{42CED8D3-AF98-168A-3224-90DEBAE2FCFF}"/>
              </a:ext>
            </a:extLst>
          </p:cNvPr>
          <p:cNvSpPr/>
          <p:nvPr/>
        </p:nvSpPr>
        <p:spPr>
          <a:xfrm>
            <a:off x="7467000" y="368011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额外与服务评价</a:t>
            </a:r>
          </a:p>
        </p:txBody>
      </p:sp>
      <p:cxnSp>
        <p:nvCxnSpPr>
          <p:cNvPr id="28" name="直接箭头连接符 27">
            <a:extLst>
              <a:ext uri="{FF2B5EF4-FFF2-40B4-BE49-F238E27FC236}">
                <a16:creationId xmlns:a16="http://schemas.microsoft.com/office/drawing/2014/main" id="{038559B0-F831-5000-1B02-8376FB6829AA}"/>
              </a:ext>
            </a:extLst>
          </p:cNvPr>
          <p:cNvCxnSpPr>
            <a:cxnSpLocks/>
            <a:stCxn id="12" idx="2"/>
            <a:endCxn id="10" idx="0"/>
          </p:cNvCxnSpPr>
          <p:nvPr/>
        </p:nvCxnSpPr>
        <p:spPr>
          <a:xfrm>
            <a:off x="1449774" y="2870460"/>
            <a:ext cx="0" cy="366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425C86A8-7B76-2371-83D8-5C8AC560F9B5}"/>
              </a:ext>
            </a:extLst>
          </p:cNvPr>
          <p:cNvCxnSpPr>
            <a:endCxn id="12" idx="1"/>
          </p:cNvCxnSpPr>
          <p:nvPr/>
        </p:nvCxnSpPr>
        <p:spPr>
          <a:xfrm rot="16200000" flipH="1">
            <a:off x="555405" y="2355519"/>
            <a:ext cx="412421" cy="2450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8B533BDF-F379-D9F4-9D76-C8FE3A4DF995}"/>
              </a:ext>
            </a:extLst>
          </p:cNvPr>
          <p:cNvCxnSpPr>
            <a:endCxn id="13" idx="1"/>
          </p:cNvCxnSpPr>
          <p:nvPr/>
        </p:nvCxnSpPr>
        <p:spPr>
          <a:xfrm rot="16200000" flipH="1">
            <a:off x="2806052" y="2320170"/>
            <a:ext cx="412422" cy="3157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7CD3EA91-6AC9-430C-AAF2-5852BAF676A2}"/>
              </a:ext>
            </a:extLst>
          </p:cNvPr>
          <p:cNvCxnSpPr>
            <a:endCxn id="16" idx="1"/>
          </p:cNvCxnSpPr>
          <p:nvPr/>
        </p:nvCxnSpPr>
        <p:spPr>
          <a:xfrm rot="16200000" flipH="1">
            <a:off x="4972646" y="2340594"/>
            <a:ext cx="412423" cy="2749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9DFEBCD1-5035-B5BB-7E16-ADB11D2B0913}"/>
              </a:ext>
            </a:extLst>
          </p:cNvPr>
          <p:cNvCxnSpPr>
            <a:endCxn id="21" idx="1"/>
          </p:cNvCxnSpPr>
          <p:nvPr/>
        </p:nvCxnSpPr>
        <p:spPr>
          <a:xfrm rot="16200000" flipH="1">
            <a:off x="7158878" y="2388515"/>
            <a:ext cx="412425" cy="1791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7D167FA8-D8FA-B3B7-3C51-0EF7DC75C871}"/>
              </a:ext>
            </a:extLst>
          </p:cNvPr>
          <p:cNvCxnSpPr>
            <a:cxnSpLocks/>
            <a:stCxn id="13" idx="2"/>
            <a:endCxn id="15" idx="0"/>
          </p:cNvCxnSpPr>
          <p:nvPr/>
        </p:nvCxnSpPr>
        <p:spPr>
          <a:xfrm flipH="1">
            <a:off x="3731269" y="2870460"/>
            <a:ext cx="4502" cy="42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B22E1D9-15CD-129B-441D-136F5EE58916}"/>
              </a:ext>
            </a:extLst>
          </p:cNvPr>
          <p:cNvCxnSpPr>
            <a:cxnSpLocks/>
            <a:stCxn id="16" idx="2"/>
            <a:endCxn id="20" idx="0"/>
          </p:cNvCxnSpPr>
          <p:nvPr/>
        </p:nvCxnSpPr>
        <p:spPr>
          <a:xfrm flipH="1">
            <a:off x="5881938" y="2870460"/>
            <a:ext cx="2" cy="28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6C6494C0-F77E-ED34-0F04-73C4F160B7D9}"/>
              </a:ext>
            </a:extLst>
          </p:cNvPr>
          <p:cNvCxnSpPr>
            <a:cxnSpLocks/>
            <a:stCxn id="20" idx="2"/>
            <a:endCxn id="27" idx="0"/>
          </p:cNvCxnSpPr>
          <p:nvPr/>
        </p:nvCxnSpPr>
        <p:spPr>
          <a:xfrm flipH="1">
            <a:off x="5881937" y="3524580"/>
            <a:ext cx="1" cy="228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D6B3B49-9A2E-EA75-1BE4-53ADE7648C5F}"/>
              </a:ext>
            </a:extLst>
          </p:cNvPr>
          <p:cNvCxnSpPr>
            <a:stCxn id="21" idx="2"/>
            <a:endCxn id="23" idx="0"/>
          </p:cNvCxnSpPr>
          <p:nvPr/>
        </p:nvCxnSpPr>
        <p:spPr>
          <a:xfrm>
            <a:off x="8020251" y="2870460"/>
            <a:ext cx="0" cy="19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9EC94BE0-ECE7-36EB-932F-7B0C183BD8ED}"/>
              </a:ext>
            </a:extLst>
          </p:cNvPr>
          <p:cNvCxnSpPr>
            <a:cxnSpLocks/>
            <a:stCxn id="23" idx="2"/>
          </p:cNvCxnSpPr>
          <p:nvPr/>
        </p:nvCxnSpPr>
        <p:spPr>
          <a:xfrm>
            <a:off x="8020251" y="3439208"/>
            <a:ext cx="0" cy="170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3AC9D1E2-0C33-61AA-A7A4-D5F69894831E}"/>
              </a:ext>
            </a:extLst>
          </p:cNvPr>
          <p:cNvSpPr/>
          <p:nvPr/>
        </p:nvSpPr>
        <p:spPr>
          <a:xfrm>
            <a:off x="951723" y="557960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驾驶风格</a:t>
            </a:r>
          </a:p>
        </p:txBody>
      </p:sp>
      <p:sp>
        <p:nvSpPr>
          <p:cNvPr id="62" name="矩形 61">
            <a:extLst>
              <a:ext uri="{FF2B5EF4-FFF2-40B4-BE49-F238E27FC236}">
                <a16:creationId xmlns:a16="http://schemas.microsoft.com/office/drawing/2014/main" id="{E8BCEF1A-F47F-8D9B-2DE7-7E9CAC7534BB}"/>
              </a:ext>
            </a:extLst>
          </p:cNvPr>
          <p:cNvSpPr/>
          <p:nvPr/>
        </p:nvSpPr>
        <p:spPr>
          <a:xfrm>
            <a:off x="2945490" y="557960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司机素质与品格</a:t>
            </a:r>
          </a:p>
        </p:txBody>
      </p:sp>
      <p:cxnSp>
        <p:nvCxnSpPr>
          <p:cNvPr id="65" name="直接箭头连接符 64">
            <a:extLst>
              <a:ext uri="{FF2B5EF4-FFF2-40B4-BE49-F238E27FC236}">
                <a16:creationId xmlns:a16="http://schemas.microsoft.com/office/drawing/2014/main" id="{BC0A3C6B-4EBE-0A6C-6A67-EEA0D3C530DF}"/>
              </a:ext>
            </a:extLst>
          </p:cNvPr>
          <p:cNvCxnSpPr>
            <a:endCxn id="61" idx="0"/>
          </p:cNvCxnSpPr>
          <p:nvPr/>
        </p:nvCxnSpPr>
        <p:spPr>
          <a:xfrm>
            <a:off x="1517331" y="5354398"/>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F84069EF-07C5-C961-3C55-2E37F10AED7E}"/>
              </a:ext>
            </a:extLst>
          </p:cNvPr>
          <p:cNvCxnSpPr>
            <a:endCxn id="62" idx="0"/>
          </p:cNvCxnSpPr>
          <p:nvPr/>
        </p:nvCxnSpPr>
        <p:spPr>
          <a:xfrm>
            <a:off x="3511098" y="5354398"/>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572C42B3-86D0-8642-9517-28DDB71BCF18}"/>
              </a:ext>
            </a:extLst>
          </p:cNvPr>
          <p:cNvSpPr/>
          <p:nvPr/>
        </p:nvSpPr>
        <p:spPr>
          <a:xfrm>
            <a:off x="5475900" y="5587304"/>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乘客个性化</a:t>
            </a:r>
          </a:p>
        </p:txBody>
      </p:sp>
      <p:cxnSp>
        <p:nvCxnSpPr>
          <p:cNvPr id="71" name="直接箭头连接符 70">
            <a:extLst>
              <a:ext uri="{FF2B5EF4-FFF2-40B4-BE49-F238E27FC236}">
                <a16:creationId xmlns:a16="http://schemas.microsoft.com/office/drawing/2014/main" id="{3544089B-1BE3-8029-5A10-70CF0817547A}"/>
              </a:ext>
            </a:extLst>
          </p:cNvPr>
          <p:cNvCxnSpPr/>
          <p:nvPr/>
        </p:nvCxnSpPr>
        <p:spPr>
          <a:xfrm>
            <a:off x="6041508" y="5335653"/>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2FB0520-4844-EBE7-DFFE-768C6491FB74}"/>
              </a:ext>
            </a:extLst>
          </p:cNvPr>
          <p:cNvSpPr txBox="1"/>
          <p:nvPr/>
        </p:nvSpPr>
        <p:spPr>
          <a:xfrm>
            <a:off x="639066" y="583683"/>
            <a:ext cx="6462025" cy="424732"/>
          </a:xfrm>
          <a:prstGeom prst="rect">
            <a:avLst/>
          </a:prstGeom>
          <a:noFill/>
        </p:spPr>
        <p:txBody>
          <a:bodyPr wrap="none" rtlCol="0">
            <a:spAutoFit/>
          </a:bodyPr>
          <a:lstStyle/>
          <a:p>
            <a:pPr>
              <a:lnSpc>
                <a:spcPct val="90000"/>
              </a:lnSpc>
              <a:spcBef>
                <a:spcPct val="0"/>
              </a:spcBef>
            </a:pPr>
            <a:r>
              <a:rPr lang="zh-CN" altLang="en-US" sz="2400" b="1" dirty="0">
                <a:solidFill>
                  <a:schemeClr val="tx1">
                    <a:lumMod val="65000"/>
                    <a:lumOff val="35000"/>
                  </a:schemeClr>
                </a:solidFill>
                <a:latin typeface="+mn-ea"/>
                <a:cs typeface="+mj-cs"/>
              </a:rPr>
              <a:t>乘客的</a:t>
            </a:r>
            <a:r>
              <a:rPr lang="en-US" altLang="zh-CN" sz="2400" b="1" dirty="0">
                <a:solidFill>
                  <a:schemeClr val="tx1">
                    <a:lumMod val="65000"/>
                    <a:lumOff val="35000"/>
                  </a:schemeClr>
                </a:solidFill>
                <a:latin typeface="+mn-ea"/>
                <a:cs typeface="+mj-cs"/>
              </a:rPr>
              <a:t>User Journey</a:t>
            </a:r>
            <a:r>
              <a:rPr lang="zh-CN" altLang="en-US" sz="2400" b="1" dirty="0">
                <a:solidFill>
                  <a:schemeClr val="tx1">
                    <a:lumMod val="65000"/>
                    <a:lumOff val="35000"/>
                  </a:schemeClr>
                </a:solidFill>
                <a:latin typeface="+mn-ea"/>
                <a:cs typeface="+mj-cs"/>
              </a:rPr>
              <a:t>分析框架与功能分析维度</a:t>
            </a:r>
          </a:p>
        </p:txBody>
      </p:sp>
      <p:sp>
        <p:nvSpPr>
          <p:cNvPr id="9" name="文本框 8">
            <a:extLst>
              <a:ext uri="{FF2B5EF4-FFF2-40B4-BE49-F238E27FC236}">
                <a16:creationId xmlns:a16="http://schemas.microsoft.com/office/drawing/2014/main" id="{31C56EB3-6AAF-F54E-5114-F3C3A663C03D}"/>
              </a:ext>
            </a:extLst>
          </p:cNvPr>
          <p:cNvSpPr txBox="1"/>
          <p:nvPr/>
        </p:nvSpPr>
        <p:spPr>
          <a:xfrm>
            <a:off x="9454371" y="2040755"/>
            <a:ext cx="902811" cy="307777"/>
          </a:xfrm>
          <a:prstGeom prst="rect">
            <a:avLst/>
          </a:prstGeom>
          <a:noFill/>
        </p:spPr>
        <p:txBody>
          <a:bodyPr wrap="none" rtlCol="0">
            <a:spAutoFit/>
          </a:bodyPr>
          <a:lstStyle/>
          <a:p>
            <a:r>
              <a:rPr lang="zh-CN" altLang="en-US" sz="1400" b="1" dirty="0"/>
              <a:t>已做到：</a:t>
            </a:r>
          </a:p>
        </p:txBody>
      </p:sp>
      <p:sp>
        <p:nvSpPr>
          <p:cNvPr id="11" name="文本框 10">
            <a:extLst>
              <a:ext uri="{FF2B5EF4-FFF2-40B4-BE49-F238E27FC236}">
                <a16:creationId xmlns:a16="http://schemas.microsoft.com/office/drawing/2014/main" id="{E47833C3-4D52-4DD8-E44F-8D383145989A}"/>
              </a:ext>
            </a:extLst>
          </p:cNvPr>
          <p:cNvSpPr txBox="1"/>
          <p:nvPr/>
        </p:nvSpPr>
        <p:spPr>
          <a:xfrm>
            <a:off x="9454370" y="3292053"/>
            <a:ext cx="902811" cy="307777"/>
          </a:xfrm>
          <a:prstGeom prst="rect">
            <a:avLst/>
          </a:prstGeom>
          <a:noFill/>
        </p:spPr>
        <p:txBody>
          <a:bodyPr wrap="none" rtlCol="0">
            <a:spAutoFit/>
          </a:bodyPr>
          <a:lstStyle/>
          <a:p>
            <a:r>
              <a:rPr lang="zh-CN" altLang="en-US" sz="1400" b="1" dirty="0"/>
              <a:t>机会点：</a:t>
            </a:r>
          </a:p>
        </p:txBody>
      </p:sp>
      <p:sp>
        <p:nvSpPr>
          <p:cNvPr id="14" name="文本框 13">
            <a:extLst>
              <a:ext uri="{FF2B5EF4-FFF2-40B4-BE49-F238E27FC236}">
                <a16:creationId xmlns:a16="http://schemas.microsoft.com/office/drawing/2014/main" id="{30DA7D64-AA52-0C47-22CB-03BA3ED33557}"/>
              </a:ext>
            </a:extLst>
          </p:cNvPr>
          <p:cNvSpPr txBox="1"/>
          <p:nvPr/>
        </p:nvSpPr>
        <p:spPr>
          <a:xfrm>
            <a:off x="9480019" y="4303200"/>
            <a:ext cx="723275" cy="307777"/>
          </a:xfrm>
          <a:prstGeom prst="rect">
            <a:avLst/>
          </a:prstGeom>
          <a:noFill/>
        </p:spPr>
        <p:txBody>
          <a:bodyPr wrap="none" rtlCol="0">
            <a:spAutoFit/>
          </a:bodyPr>
          <a:lstStyle/>
          <a:p>
            <a:r>
              <a:rPr lang="zh-CN" altLang="en-US" sz="1400" b="1" dirty="0"/>
              <a:t>展望：</a:t>
            </a:r>
          </a:p>
        </p:txBody>
      </p:sp>
      <p:sp>
        <p:nvSpPr>
          <p:cNvPr id="17" name="文本框 16">
            <a:extLst>
              <a:ext uri="{FF2B5EF4-FFF2-40B4-BE49-F238E27FC236}">
                <a16:creationId xmlns:a16="http://schemas.microsoft.com/office/drawing/2014/main" id="{25748D43-0688-1C04-7771-62BE39E01241}"/>
              </a:ext>
            </a:extLst>
          </p:cNvPr>
          <p:cNvSpPr txBox="1"/>
          <p:nvPr/>
        </p:nvSpPr>
        <p:spPr>
          <a:xfrm>
            <a:off x="9887209" y="2529398"/>
            <a:ext cx="1932316" cy="430887"/>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当前优秀座舱与智驾支持，可以做到的功能</a:t>
            </a:r>
          </a:p>
        </p:txBody>
      </p:sp>
      <p:sp>
        <p:nvSpPr>
          <p:cNvPr id="18" name="文本框 17">
            <a:extLst>
              <a:ext uri="{FF2B5EF4-FFF2-40B4-BE49-F238E27FC236}">
                <a16:creationId xmlns:a16="http://schemas.microsoft.com/office/drawing/2014/main" id="{E1425860-0568-FBC4-E611-1EB2F96F6935}"/>
              </a:ext>
            </a:extLst>
          </p:cNvPr>
          <p:cNvSpPr txBox="1"/>
          <p:nvPr/>
        </p:nvSpPr>
        <p:spPr>
          <a:xfrm>
            <a:off x="9905776" y="3734470"/>
            <a:ext cx="1932316" cy="600164"/>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通过大模型等</a:t>
            </a:r>
            <a:r>
              <a:rPr lang="en-US" altLang="zh-CN" sz="1100" dirty="0"/>
              <a:t>AI</a:t>
            </a:r>
            <a:r>
              <a:rPr lang="zh-CN" altLang="en-US" sz="1100" dirty="0"/>
              <a:t>技术可以实现，能够提升用户体验功能</a:t>
            </a:r>
          </a:p>
        </p:txBody>
      </p:sp>
      <p:sp>
        <p:nvSpPr>
          <p:cNvPr id="22" name="文本框 21">
            <a:extLst>
              <a:ext uri="{FF2B5EF4-FFF2-40B4-BE49-F238E27FC236}">
                <a16:creationId xmlns:a16="http://schemas.microsoft.com/office/drawing/2014/main" id="{18634B57-492E-DA59-0316-C14C086E3E28}"/>
              </a:ext>
            </a:extLst>
          </p:cNvPr>
          <p:cNvSpPr txBox="1"/>
          <p:nvPr/>
        </p:nvSpPr>
        <p:spPr>
          <a:xfrm>
            <a:off x="9905776" y="4868727"/>
            <a:ext cx="1932316" cy="600164"/>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未来依靠一些其他技术如机器人技术等硬件，等可以做到的</a:t>
            </a:r>
          </a:p>
        </p:txBody>
      </p:sp>
      <p:sp>
        <p:nvSpPr>
          <p:cNvPr id="3" name="文本框 2">
            <a:extLst>
              <a:ext uri="{FF2B5EF4-FFF2-40B4-BE49-F238E27FC236}">
                <a16:creationId xmlns:a16="http://schemas.microsoft.com/office/drawing/2014/main" id="{C28115E8-D8AC-970E-9C08-2543D28C4403}"/>
              </a:ext>
            </a:extLst>
          </p:cNvPr>
          <p:cNvSpPr txBox="1"/>
          <p:nvPr/>
        </p:nvSpPr>
        <p:spPr>
          <a:xfrm>
            <a:off x="9409178" y="1313284"/>
            <a:ext cx="2723823" cy="369332"/>
          </a:xfrm>
          <a:prstGeom prst="rect">
            <a:avLst/>
          </a:prstGeom>
          <a:noFill/>
        </p:spPr>
        <p:txBody>
          <a:bodyPr wrap="none" rtlCol="0">
            <a:spAutoFit/>
          </a:bodyPr>
          <a:lstStyle/>
          <a:p>
            <a:r>
              <a:rPr lang="zh-CN" altLang="en-US" b="1" dirty="0"/>
              <a:t>功能建议分析维度说明：</a:t>
            </a:r>
          </a:p>
        </p:txBody>
      </p:sp>
      <p:sp>
        <p:nvSpPr>
          <p:cNvPr id="25" name="文本框 24">
            <a:extLst>
              <a:ext uri="{FF2B5EF4-FFF2-40B4-BE49-F238E27FC236}">
                <a16:creationId xmlns:a16="http://schemas.microsoft.com/office/drawing/2014/main" id="{86BA3764-BD50-B32F-7528-B96E23D96996}"/>
              </a:ext>
            </a:extLst>
          </p:cNvPr>
          <p:cNvSpPr txBox="1"/>
          <p:nvPr/>
        </p:nvSpPr>
        <p:spPr>
          <a:xfrm>
            <a:off x="3243665" y="1276017"/>
            <a:ext cx="4134465" cy="369332"/>
          </a:xfrm>
          <a:prstGeom prst="rect">
            <a:avLst/>
          </a:prstGeom>
          <a:noFill/>
        </p:spPr>
        <p:txBody>
          <a:bodyPr wrap="none" rtlCol="0">
            <a:spAutoFit/>
          </a:bodyPr>
          <a:lstStyle/>
          <a:p>
            <a:r>
              <a:rPr lang="zh-CN" altLang="en-US" b="1" dirty="0"/>
              <a:t>乘客基于</a:t>
            </a:r>
            <a:r>
              <a:rPr lang="en-US" altLang="zh-CN" b="1" dirty="0" err="1"/>
              <a:t>UserJourney</a:t>
            </a:r>
            <a:r>
              <a:rPr lang="zh-CN" altLang="en-US" b="1" dirty="0"/>
              <a:t>的需求分析框架</a:t>
            </a:r>
          </a:p>
        </p:txBody>
      </p:sp>
      <p:sp>
        <p:nvSpPr>
          <p:cNvPr id="27" name="矩形 26">
            <a:extLst>
              <a:ext uri="{FF2B5EF4-FFF2-40B4-BE49-F238E27FC236}">
                <a16:creationId xmlns:a16="http://schemas.microsoft.com/office/drawing/2014/main" id="{65D22D59-5C70-54DE-A77F-ABFEBD6E05CD}"/>
              </a:ext>
            </a:extLst>
          </p:cNvPr>
          <p:cNvSpPr/>
          <p:nvPr/>
        </p:nvSpPr>
        <p:spPr>
          <a:xfrm>
            <a:off x="5316328" y="3752686"/>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行车娱乐（</a:t>
            </a:r>
            <a:r>
              <a:rPr lang="en-US" altLang="zh-CN" sz="1200" dirty="0"/>
              <a:t>Robotaxi</a:t>
            </a:r>
            <a:r>
              <a:rPr lang="zh-CN" altLang="en-US" sz="1200" dirty="0"/>
              <a:t>）</a:t>
            </a:r>
          </a:p>
        </p:txBody>
      </p:sp>
      <p:cxnSp>
        <p:nvCxnSpPr>
          <p:cNvPr id="33" name="直接箭头连接符 32">
            <a:extLst>
              <a:ext uri="{FF2B5EF4-FFF2-40B4-BE49-F238E27FC236}">
                <a16:creationId xmlns:a16="http://schemas.microsoft.com/office/drawing/2014/main" id="{26A6C36A-145E-0881-21EC-276BA05CB33C}"/>
              </a:ext>
            </a:extLst>
          </p:cNvPr>
          <p:cNvCxnSpPr>
            <a:cxnSpLocks/>
          </p:cNvCxnSpPr>
          <p:nvPr/>
        </p:nvCxnSpPr>
        <p:spPr>
          <a:xfrm flipH="1">
            <a:off x="5881935" y="4142124"/>
            <a:ext cx="1" cy="228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AAD7EDA0-007F-E100-1A73-BC11A74BE36D}"/>
              </a:ext>
            </a:extLst>
          </p:cNvPr>
          <p:cNvSpPr/>
          <p:nvPr/>
        </p:nvSpPr>
        <p:spPr>
          <a:xfrm rot="5400000">
            <a:off x="7394900" y="3558814"/>
            <a:ext cx="3898944" cy="13894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35" name="矩形 34">
            <a:extLst>
              <a:ext uri="{FF2B5EF4-FFF2-40B4-BE49-F238E27FC236}">
                <a16:creationId xmlns:a16="http://schemas.microsoft.com/office/drawing/2014/main" id="{75527FD9-80C9-B862-AFD3-C10063F5FEAE}"/>
              </a:ext>
            </a:extLst>
          </p:cNvPr>
          <p:cNvSpPr/>
          <p:nvPr/>
        </p:nvSpPr>
        <p:spPr>
          <a:xfrm>
            <a:off x="7332108" y="5565462"/>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专属服务</a:t>
            </a:r>
          </a:p>
        </p:txBody>
      </p:sp>
      <p:cxnSp>
        <p:nvCxnSpPr>
          <p:cNvPr id="37" name="直接箭头连接符 36">
            <a:extLst>
              <a:ext uri="{FF2B5EF4-FFF2-40B4-BE49-F238E27FC236}">
                <a16:creationId xmlns:a16="http://schemas.microsoft.com/office/drawing/2014/main" id="{9FD3912F-B95A-4263-57A6-64A36733D616}"/>
              </a:ext>
            </a:extLst>
          </p:cNvPr>
          <p:cNvCxnSpPr/>
          <p:nvPr/>
        </p:nvCxnSpPr>
        <p:spPr>
          <a:xfrm>
            <a:off x="7897716" y="5313811"/>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830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p:cNvSpPr txBox="1"/>
          <p:nvPr/>
        </p:nvSpPr>
        <p:spPr>
          <a:xfrm>
            <a:off x="4077028" y="1386709"/>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p:cNvSpPr txBox="1"/>
          <p:nvPr/>
        </p:nvSpPr>
        <p:spPr>
          <a:xfrm>
            <a:off x="438572" y="2537008"/>
            <a:ext cx="1525188" cy="4693593"/>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信息沟通</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预约单</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92939" y="1393110"/>
            <a:ext cx="1512306"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257996" y="1364063"/>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760518"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555369" y="183629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0" y="1374488"/>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p:cNvCxnSpPr/>
          <p:nvPr/>
        </p:nvCxnSpPr>
        <p:spPr>
          <a:xfrm>
            <a:off x="1394082" y="1768761"/>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1" name="文本框 10"/>
          <p:cNvSpPr txBox="1"/>
          <p:nvPr/>
        </p:nvSpPr>
        <p:spPr>
          <a:xfrm>
            <a:off x="1392939" y="4618746"/>
            <a:ext cx="1293893" cy="1138773"/>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预约单因为航班延误取消，司机空等</a:t>
            </a:r>
            <a:endParaRPr lang="en-US" altLang="zh-CN" sz="1050" dirty="0"/>
          </a:p>
          <a:p>
            <a:pPr marL="171450" indent="-171450">
              <a:spcBef>
                <a:spcPts val="600"/>
              </a:spcBef>
              <a:buFont typeface="Arial" panose="020B0604020202020204" pitchFamily="34" charset="0"/>
              <a:buChar char="•"/>
            </a:pPr>
            <a:r>
              <a:rPr lang="zh-CN" altLang="en-US" sz="1050" dirty="0"/>
              <a:t>行李较多要求进场接站，愿意额外线下付费</a:t>
            </a:r>
          </a:p>
        </p:txBody>
      </p:sp>
      <p:cxnSp>
        <p:nvCxnSpPr>
          <p:cNvPr id="21" name="直接连接符 20"/>
          <p:cNvCxnSpPr/>
          <p:nvPr/>
        </p:nvCxnSpPr>
        <p:spPr>
          <a:xfrm>
            <a:off x="545759" y="396433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413765" y="2383779"/>
            <a:ext cx="1329392" cy="97719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大多数乘客喜欢发送信息沟通</a:t>
            </a:r>
            <a:endParaRPr lang="en-US" altLang="zh-CN" sz="1050" dirty="0"/>
          </a:p>
          <a:p>
            <a:pPr marL="171450" indent="-171450">
              <a:spcBef>
                <a:spcPts val="600"/>
              </a:spcBef>
              <a:buFont typeface="Arial" panose="020B0604020202020204" pitchFamily="34" charset="0"/>
              <a:buChar char="•"/>
            </a:pPr>
            <a:r>
              <a:rPr lang="zh-CN" altLang="en-US" sz="1050" dirty="0"/>
              <a:t>通过信息主动发送自己需求与状态</a:t>
            </a:r>
          </a:p>
        </p:txBody>
      </p:sp>
      <p:sp>
        <p:nvSpPr>
          <p:cNvPr id="27" name="文本框 26"/>
          <p:cNvSpPr txBox="1"/>
          <p:nvPr/>
        </p:nvSpPr>
        <p:spPr>
          <a:xfrm>
            <a:off x="2805160" y="1850081"/>
            <a:ext cx="1713742"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行程基础信息确认</a:t>
            </a:r>
          </a:p>
        </p:txBody>
      </p:sp>
      <p:sp>
        <p:nvSpPr>
          <p:cNvPr id="31" name="文本框 30"/>
          <p:cNvSpPr txBox="1"/>
          <p:nvPr/>
        </p:nvSpPr>
        <p:spPr>
          <a:xfrm>
            <a:off x="4946400" y="1847679"/>
            <a:ext cx="1864748"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上车点精准位置对接</a:t>
            </a:r>
          </a:p>
        </p:txBody>
      </p:sp>
      <p:sp>
        <p:nvSpPr>
          <p:cNvPr id="37" name="文本框 36"/>
          <p:cNvSpPr txBox="1"/>
          <p:nvPr/>
        </p:nvSpPr>
        <p:spPr>
          <a:xfrm>
            <a:off x="2804400" y="2067560"/>
            <a:ext cx="2038985" cy="496570"/>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zh-CN" altLang="en-US" sz="1100" dirty="0"/>
              <a:t>司机告知状态，马上赶来，正在送一单等</a:t>
            </a:r>
          </a:p>
        </p:txBody>
      </p:sp>
      <p:sp>
        <p:nvSpPr>
          <p:cNvPr id="39" name="文本框 38"/>
          <p:cNvSpPr txBox="1"/>
          <p:nvPr/>
        </p:nvSpPr>
        <p:spPr>
          <a:xfrm>
            <a:off x="1498634" y="1819216"/>
            <a:ext cx="1261884" cy="276999"/>
          </a:xfrm>
          <a:prstGeom prst="rect">
            <a:avLst/>
          </a:prstGeom>
          <a:noFill/>
        </p:spPr>
        <p:txBody>
          <a:bodyPr wrap="none" rtlCol="0">
            <a:spAutoFit/>
          </a:bodyPr>
          <a:lstStyle/>
          <a:p>
            <a:r>
              <a:rPr lang="zh-CN" altLang="en-US" sz="1200" dirty="0"/>
              <a:t>信息透明原则：</a:t>
            </a:r>
          </a:p>
        </p:txBody>
      </p:sp>
      <p:sp>
        <p:nvSpPr>
          <p:cNvPr id="44" name="文本框 43"/>
          <p:cNvSpPr txBox="1"/>
          <p:nvPr/>
        </p:nvSpPr>
        <p:spPr>
          <a:xfrm>
            <a:off x="4946400" y="2066400"/>
            <a:ext cx="2247265" cy="496570"/>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上车地点文字说明或者拍照</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接车地点说明或者拍照</a:t>
            </a:r>
          </a:p>
        </p:txBody>
      </p:sp>
      <p:sp>
        <p:nvSpPr>
          <p:cNvPr id="57" name="文本框 56"/>
          <p:cNvSpPr txBox="1"/>
          <p:nvPr/>
        </p:nvSpPr>
        <p:spPr>
          <a:xfrm>
            <a:off x="7873970" y="2444636"/>
            <a:ext cx="4003915" cy="1092607"/>
          </a:xfrm>
          <a:prstGeom prst="rect">
            <a:avLst/>
          </a:prstGeom>
          <a:noFill/>
        </p:spPr>
        <p:txBody>
          <a:bodyPr wrap="square" rtlCol="0">
            <a:spAutoFit/>
          </a:bodyPr>
          <a:lstStyle/>
          <a:p>
            <a:pPr>
              <a:spcBef>
                <a:spcPts val="600"/>
              </a:spcBef>
            </a:pPr>
            <a:endParaRPr lang="en-US" altLang="zh-CN" sz="1050" dirty="0"/>
          </a:p>
          <a:p>
            <a:pPr marL="285750" indent="-285750">
              <a:spcBef>
                <a:spcPts val="600"/>
              </a:spcBef>
              <a:buFont typeface="Wingdings" panose="05000000000000000000" pitchFamily="2" charset="2"/>
              <a:buChar char="ü"/>
            </a:pPr>
            <a:r>
              <a:rPr lang="zh-CN" altLang="en-US" sz="1050" dirty="0"/>
              <a:t>跟车辆状态变化系统自动通过车辆</a:t>
            </a:r>
            <a:r>
              <a:rPr lang="en-US" altLang="zh-CN" sz="1050" dirty="0"/>
              <a:t>APP</a:t>
            </a:r>
            <a:r>
              <a:rPr lang="zh-CN" altLang="en-US" sz="1050" dirty="0"/>
              <a:t>的</a:t>
            </a:r>
            <a:r>
              <a:rPr lang="en-US" altLang="zh-CN" sz="1050" dirty="0"/>
              <a:t>Agent</a:t>
            </a:r>
            <a:r>
              <a:rPr lang="zh-CN" altLang="en-US" sz="1050" dirty="0"/>
              <a:t>窗口告知车辆状态</a:t>
            </a:r>
            <a:endParaRPr lang="en-US" altLang="zh-CN" sz="1050" dirty="0"/>
          </a:p>
          <a:p>
            <a:pPr marL="285750" indent="-285750">
              <a:spcBef>
                <a:spcPts val="600"/>
              </a:spcBef>
              <a:buFont typeface="Wingdings" panose="05000000000000000000" pitchFamily="2" charset="2"/>
              <a:buChar char="ü"/>
            </a:pPr>
            <a:r>
              <a:rPr lang="zh-CN" altLang="en-US" sz="1050" dirty="0"/>
              <a:t>自动识别接人发送过来接驳地点定位，文字与位置图片，修正定位，车辆精准停车接驾</a:t>
            </a:r>
            <a:endParaRPr lang="en-US" altLang="zh-CN" sz="1050" dirty="0"/>
          </a:p>
        </p:txBody>
      </p:sp>
      <p:sp>
        <p:nvSpPr>
          <p:cNvPr id="63" name="文本框 62"/>
          <p:cNvSpPr txBox="1"/>
          <p:nvPr/>
        </p:nvSpPr>
        <p:spPr>
          <a:xfrm>
            <a:off x="8007871" y="4794867"/>
            <a:ext cx="3870014" cy="1092607"/>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100" dirty="0"/>
              <a:t>将车辆行程日程与航班与高铁信息关联，</a:t>
            </a:r>
            <a:endParaRPr lang="en-US" altLang="zh-CN" sz="1100" dirty="0"/>
          </a:p>
          <a:p>
            <a:pPr marL="285750" indent="-285750">
              <a:spcBef>
                <a:spcPts val="600"/>
              </a:spcBef>
              <a:buFont typeface="Wingdings" panose="05000000000000000000" pitchFamily="2" charset="2"/>
              <a:buChar char="ü"/>
            </a:pPr>
            <a:r>
              <a:rPr lang="zh-CN" altLang="en-US" sz="1100" dirty="0"/>
              <a:t>关联航班平台，根据航班与高铁等状态变化智能通过司机</a:t>
            </a:r>
            <a:r>
              <a:rPr lang="en-US" altLang="zh-CN" sz="1100" dirty="0"/>
              <a:t>agent(</a:t>
            </a:r>
            <a:r>
              <a:rPr lang="zh-CN" altLang="en-US" sz="1100" dirty="0"/>
              <a:t>车端或者手机端）通知司机，并提醒司机修改行程</a:t>
            </a:r>
            <a:endParaRPr lang="en-US" altLang="zh-CN" sz="1100" dirty="0"/>
          </a:p>
          <a:p>
            <a:pPr>
              <a:spcBef>
                <a:spcPts val="600"/>
              </a:spcBef>
            </a:pPr>
            <a:r>
              <a:rPr lang="zh-CN" altLang="en-US" sz="1100" dirty="0"/>
              <a:t> </a:t>
            </a:r>
          </a:p>
        </p:txBody>
      </p:sp>
      <p:sp>
        <p:nvSpPr>
          <p:cNvPr id="65" name="文本框 64"/>
          <p:cNvSpPr txBox="1"/>
          <p:nvPr/>
        </p:nvSpPr>
        <p:spPr>
          <a:xfrm>
            <a:off x="2804400" y="4400632"/>
            <a:ext cx="2050561"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司机需要提前知道航班号</a:t>
            </a:r>
          </a:p>
        </p:txBody>
      </p:sp>
      <p:sp>
        <p:nvSpPr>
          <p:cNvPr id="71" name="文本框 70"/>
          <p:cNvSpPr txBox="1"/>
          <p:nvPr/>
        </p:nvSpPr>
        <p:spPr>
          <a:xfrm>
            <a:off x="4946400" y="4399200"/>
            <a:ext cx="2666114"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行李多，希望提供一条龙接机服务</a:t>
            </a:r>
          </a:p>
        </p:txBody>
      </p:sp>
      <p:sp>
        <p:nvSpPr>
          <p:cNvPr id="74" name="文本框 73"/>
          <p:cNvSpPr txBox="1"/>
          <p:nvPr/>
        </p:nvSpPr>
        <p:spPr>
          <a:xfrm>
            <a:off x="4946400" y="4617522"/>
            <a:ext cx="1611630" cy="69913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人生地不熟</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老人，妇儒，老外等</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愿意额外付费</a:t>
            </a:r>
          </a:p>
        </p:txBody>
      </p:sp>
      <p:sp>
        <p:nvSpPr>
          <p:cNvPr id="4" name="文本框 3"/>
          <p:cNvSpPr txBox="1"/>
          <p:nvPr/>
        </p:nvSpPr>
        <p:spPr>
          <a:xfrm>
            <a:off x="7642800" y="2493881"/>
            <a:ext cx="723275" cy="253916"/>
          </a:xfrm>
          <a:prstGeom prst="rect">
            <a:avLst/>
          </a:prstGeom>
          <a:noFill/>
        </p:spPr>
        <p:txBody>
          <a:bodyPr wrap="none" rtlCol="0">
            <a:spAutoFit/>
          </a:bodyPr>
          <a:lstStyle/>
          <a:p>
            <a:r>
              <a:rPr lang="zh-CN" altLang="en-US" sz="1050" b="1" dirty="0"/>
              <a:t>机会点：</a:t>
            </a:r>
          </a:p>
        </p:txBody>
      </p:sp>
      <p:sp>
        <p:nvSpPr>
          <p:cNvPr id="5" name="文本框 4"/>
          <p:cNvSpPr txBox="1"/>
          <p:nvPr/>
        </p:nvSpPr>
        <p:spPr>
          <a:xfrm>
            <a:off x="7642800" y="3483572"/>
            <a:ext cx="588623" cy="253916"/>
          </a:xfrm>
          <a:prstGeom prst="rect">
            <a:avLst/>
          </a:prstGeom>
          <a:noFill/>
        </p:spPr>
        <p:txBody>
          <a:bodyPr wrap="none" rtlCol="0">
            <a:spAutoFit/>
          </a:bodyPr>
          <a:lstStyle/>
          <a:p>
            <a:r>
              <a:rPr lang="zh-CN" altLang="en-US" sz="1050" b="1" dirty="0"/>
              <a:t>展望：</a:t>
            </a:r>
          </a:p>
        </p:txBody>
      </p:sp>
      <p:sp>
        <p:nvSpPr>
          <p:cNvPr id="6" name="文本框 5"/>
          <p:cNvSpPr txBox="1"/>
          <p:nvPr/>
        </p:nvSpPr>
        <p:spPr>
          <a:xfrm>
            <a:off x="7642800" y="1843055"/>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7" name="文本框 6"/>
          <p:cNvSpPr txBox="1"/>
          <p:nvPr/>
        </p:nvSpPr>
        <p:spPr>
          <a:xfrm>
            <a:off x="7874000" y="2105025"/>
            <a:ext cx="3994150" cy="429895"/>
          </a:xfrm>
          <a:prstGeom prst="rect">
            <a:avLst/>
          </a:prstGeom>
          <a:noFill/>
        </p:spPr>
        <p:txBody>
          <a:bodyPr wrap="square" rtlCol="0">
            <a:noAutofit/>
          </a:bodyPr>
          <a:lstStyle/>
          <a:p>
            <a:pPr marL="171450" indent="-171450">
              <a:buFont typeface="Wingdings" panose="05000000000000000000" pitchFamily="2" charset="2"/>
              <a:buChar char="ü"/>
            </a:pPr>
            <a:r>
              <a:rPr lang="zh-CN" altLang="en-US" sz="1050" dirty="0"/>
              <a:t>乘客自己查看距离与到达时间等状态，并输入一些消息进行对话（有信息模版）</a:t>
            </a:r>
            <a:endParaRPr lang="en-US" altLang="zh-CN" sz="1050" dirty="0"/>
          </a:p>
          <a:p>
            <a:endParaRPr lang="zh-CN" altLang="en-US" sz="1050" dirty="0"/>
          </a:p>
        </p:txBody>
      </p:sp>
      <p:sp>
        <p:nvSpPr>
          <p:cNvPr id="8" name="文本框 7"/>
          <p:cNvSpPr txBox="1"/>
          <p:nvPr/>
        </p:nvSpPr>
        <p:spPr>
          <a:xfrm>
            <a:off x="2804400" y="3066738"/>
            <a:ext cx="1980611"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行程特殊情况提前告知</a:t>
            </a:r>
          </a:p>
        </p:txBody>
      </p:sp>
      <p:sp>
        <p:nvSpPr>
          <p:cNvPr id="13" name="文本框 12"/>
          <p:cNvSpPr txBox="1"/>
          <p:nvPr/>
        </p:nvSpPr>
        <p:spPr>
          <a:xfrm>
            <a:off x="2804400" y="3263274"/>
            <a:ext cx="2133231" cy="69913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行李相关，如行李较多等</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宠物相关，宠物类型，大小</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同行人相关，如老人孩子</a:t>
            </a:r>
          </a:p>
        </p:txBody>
      </p:sp>
      <p:sp>
        <p:nvSpPr>
          <p:cNvPr id="14" name="文本框 13"/>
          <p:cNvSpPr txBox="1"/>
          <p:nvPr/>
        </p:nvSpPr>
        <p:spPr>
          <a:xfrm>
            <a:off x="8066493" y="3659847"/>
            <a:ext cx="466794" cy="261610"/>
          </a:xfrm>
          <a:prstGeom prst="rect">
            <a:avLst/>
          </a:prstGeom>
          <a:noFill/>
        </p:spPr>
        <p:txBody>
          <a:bodyPr wrap="none" rtlCol="0">
            <a:spAutoFit/>
          </a:bodyPr>
          <a:lstStyle/>
          <a:p>
            <a:r>
              <a:rPr lang="zh-CN" altLang="en-US" sz="1100" dirty="0"/>
              <a:t>暂无</a:t>
            </a:r>
          </a:p>
        </p:txBody>
      </p:sp>
      <p:sp>
        <p:nvSpPr>
          <p:cNvPr id="20" name="文本框 19"/>
          <p:cNvSpPr txBox="1"/>
          <p:nvPr/>
        </p:nvSpPr>
        <p:spPr>
          <a:xfrm>
            <a:off x="7642800" y="4012262"/>
            <a:ext cx="716280" cy="252730"/>
          </a:xfrm>
          <a:prstGeom prst="rect">
            <a:avLst/>
          </a:prstGeom>
          <a:noFill/>
        </p:spPr>
        <p:txBody>
          <a:bodyPr wrap="none" rtlCol="0">
            <a:spAutoFit/>
          </a:bodyPr>
          <a:lstStyle/>
          <a:p>
            <a:r>
              <a:rPr lang="zh-CN" altLang="en-US" sz="1050" b="1" dirty="0"/>
              <a:t>已做到：</a:t>
            </a:r>
          </a:p>
        </p:txBody>
      </p:sp>
      <p:sp>
        <p:nvSpPr>
          <p:cNvPr id="24" name="文本框 23"/>
          <p:cNvSpPr txBox="1"/>
          <p:nvPr/>
        </p:nvSpPr>
        <p:spPr>
          <a:xfrm>
            <a:off x="7985814" y="4216163"/>
            <a:ext cx="3993860" cy="261610"/>
          </a:xfrm>
          <a:prstGeom prst="rect">
            <a:avLst/>
          </a:prstGeom>
          <a:noFill/>
        </p:spPr>
        <p:txBody>
          <a:bodyPr wrap="square" rtlCol="0">
            <a:spAutoFit/>
          </a:bodyPr>
          <a:lstStyle/>
          <a:p>
            <a:r>
              <a:rPr lang="en-US" altLang="zh-CN" sz="1100" dirty="0"/>
              <a:t> </a:t>
            </a:r>
            <a:r>
              <a:rPr lang="zh-CN" altLang="en-US" sz="1100" dirty="0"/>
              <a:t>日程提醒，查询航班与高铁，但信息没有关联</a:t>
            </a:r>
          </a:p>
        </p:txBody>
      </p:sp>
      <p:sp>
        <p:nvSpPr>
          <p:cNvPr id="25" name="文本框 24"/>
          <p:cNvSpPr txBox="1"/>
          <p:nvPr/>
        </p:nvSpPr>
        <p:spPr>
          <a:xfrm>
            <a:off x="7642800" y="4516900"/>
            <a:ext cx="723275" cy="253916"/>
          </a:xfrm>
          <a:prstGeom prst="rect">
            <a:avLst/>
          </a:prstGeom>
          <a:noFill/>
        </p:spPr>
        <p:txBody>
          <a:bodyPr wrap="none" rtlCol="0">
            <a:spAutoFit/>
          </a:bodyPr>
          <a:lstStyle/>
          <a:p>
            <a:r>
              <a:rPr lang="zh-CN" altLang="en-US" sz="1050" b="1" dirty="0"/>
              <a:t>机会点：</a:t>
            </a:r>
          </a:p>
        </p:txBody>
      </p:sp>
      <p:sp>
        <p:nvSpPr>
          <p:cNvPr id="32" name="文本框 31"/>
          <p:cNvSpPr txBox="1"/>
          <p:nvPr/>
        </p:nvSpPr>
        <p:spPr>
          <a:xfrm>
            <a:off x="7985814" y="5857248"/>
            <a:ext cx="6607834" cy="261610"/>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车内配置行李托运机器人</a:t>
            </a:r>
          </a:p>
        </p:txBody>
      </p:sp>
      <p:sp>
        <p:nvSpPr>
          <p:cNvPr id="33" name="文本框 32"/>
          <p:cNvSpPr txBox="1"/>
          <p:nvPr/>
        </p:nvSpPr>
        <p:spPr>
          <a:xfrm>
            <a:off x="7642800" y="5557846"/>
            <a:ext cx="588623" cy="253916"/>
          </a:xfrm>
          <a:prstGeom prst="rect">
            <a:avLst/>
          </a:prstGeom>
          <a:noFill/>
        </p:spPr>
        <p:txBody>
          <a:bodyPr wrap="none" rtlCol="0">
            <a:spAutoFit/>
          </a:bodyPr>
          <a:lstStyle/>
          <a:p>
            <a:r>
              <a:rPr lang="zh-CN" altLang="en-US" sz="1050" b="1" dirty="0"/>
              <a:t>展望：</a:t>
            </a:r>
          </a:p>
        </p:txBody>
      </p:sp>
      <p:sp>
        <p:nvSpPr>
          <p:cNvPr id="3" name="文本框 2"/>
          <p:cNvSpPr txBox="1"/>
          <p:nvPr/>
        </p:nvSpPr>
        <p:spPr>
          <a:xfrm>
            <a:off x="4946650" y="2534285"/>
            <a:ext cx="2608580" cy="394980"/>
          </a:xfrm>
          <a:prstGeom prst="rect">
            <a:avLst/>
          </a:prstGeom>
          <a:noFill/>
        </p:spPr>
        <p:txBody>
          <a:bodyPr wrap="square" rtlCol="0">
            <a:spAutoFit/>
          </a:bodyPr>
          <a:lstStyle/>
          <a:p>
            <a:pPr algn="l">
              <a:buClrTx/>
              <a:buSzTx/>
              <a:buFont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“你说接乘客的时候，滴滴上面可以拍照的”</a:t>
            </a:r>
          </a:p>
          <a:p>
            <a:pPr algn="r">
              <a:spcBef>
                <a:spcPts val="200"/>
              </a:spcBef>
              <a:spcAft>
                <a:spcPts val="0"/>
              </a:spcAft>
              <a:buClrTx/>
              <a:buSzTx/>
              <a:buFont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-专/快车司机徐先生 </a:t>
            </a: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37岁</a:t>
            </a:r>
            <a:endPar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2804400" y="2534920"/>
            <a:ext cx="2037080" cy="532130"/>
          </a:xfrm>
          <a:prstGeom prst="rect">
            <a:avLst/>
          </a:prstGeom>
          <a:noFill/>
        </p:spPr>
        <p:txBody>
          <a:bodyPr wrap="square" rtlCol="0">
            <a:spAutoFit/>
          </a:bodyPr>
          <a:lstStyle/>
          <a:p>
            <a:pPr indent="0">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900" i="1" err="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我在导航上面感觉到这个司机的车很慢，</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至少告诉我他什么样的状态</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endPar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algn="r">
              <a:spcBef>
                <a:spcPts val="200"/>
              </a:spcBef>
              <a:spcAft>
                <a:spcPts val="0"/>
              </a:spcAft>
              <a:buClrTx/>
              <a:buSzTx/>
              <a:buFont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--老师朱先生 27岁</a:t>
            </a:r>
            <a:endParaRPr lang="en-US" altLang="zh-CN" sz="900" i="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2804400" y="4787730"/>
            <a:ext cx="1902293" cy="645160"/>
          </a:xfrm>
          <a:prstGeom prst="rect">
            <a:avLst/>
          </a:prstGeom>
          <a:noFill/>
        </p:spPr>
        <p:txBody>
          <a:bodyPr wrap="square" rtlCol="0">
            <a:spAutoFit/>
          </a:bodyPr>
          <a:lstStyle/>
          <a:p>
            <a:pPr algn="l">
              <a:lnSpc>
                <a:spcPct val="100000"/>
              </a:lnSpc>
              <a:buClrTx/>
              <a:buSzTx/>
              <a:buFont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“飞机的时间</a:t>
            </a:r>
            <a:r>
              <a:rPr lang="en-US" altLang="zh-CN" sz="900" i="1" err="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，或者火车的时间可以询问一下</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a:t>
            </a:r>
          </a:p>
          <a:p>
            <a:pPr indent="0" algn="r">
              <a:lnSpc>
                <a:spcPct val="100000"/>
              </a:lnSpc>
              <a:buClrTx/>
              <a:buSzTx/>
              <a:buNone/>
            </a:pPr>
            <a:r>
              <a:rPr lang="en-US" altLang="zh-CN" sz="900" i="1">
                <a:solidFill>
                  <a:schemeClr val="tx1">
                    <a:lumMod val="75000"/>
                    <a:lumOff val="25000"/>
                  </a:schemeClr>
                </a:solidFill>
                <a:sym typeface="+mn-ea"/>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--专/快车司机徐先生 37岁</a:t>
            </a:r>
            <a:r>
              <a:rPr lang="zh-CN" altLang="en-US" sz="900" i="1">
                <a:sym typeface="+mn-ea"/>
              </a:rPr>
              <a:t>	</a:t>
            </a:r>
            <a:endParaRPr lang="zh-CN" altLang="en-US" sz="900" i="1">
              <a:latin typeface="微软雅黑" panose="020B0503020204020204" pitchFamily="34" charset="-122"/>
              <a:ea typeface="微软雅黑" panose="020B0503020204020204" pitchFamily="34" charset="-122"/>
            </a:endParaRPr>
          </a:p>
        </p:txBody>
      </p:sp>
      <p:sp>
        <p:nvSpPr>
          <p:cNvPr id="15" name="文本框 14"/>
          <p:cNvSpPr txBox="1"/>
          <p:nvPr/>
        </p:nvSpPr>
        <p:spPr>
          <a:xfrm>
            <a:off x="4946650" y="5391785"/>
            <a:ext cx="2608580" cy="532130"/>
          </a:xfrm>
          <a:prstGeom prst="rect">
            <a:avLst/>
          </a:prstGeom>
          <a:noFill/>
        </p:spPr>
        <p:txBody>
          <a:bodyPr wrap="square" rtlCol="0">
            <a:spAutoFit/>
          </a:bodyPr>
          <a:lstStyle/>
          <a:p>
            <a:pPr>
              <a:lnSpc>
                <a:spcPct val="100000"/>
              </a:lnSpc>
              <a:buClrTx/>
              <a:buSz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我有一次碰到接机…</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她</a:t>
            </a:r>
            <a:r>
              <a:rPr lang="en-US" altLang="zh-CN" sz="900" i="1" err="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说你要进来接</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她</a:t>
            </a:r>
            <a:r>
              <a:rPr lang="en-US" altLang="zh-CN" sz="900" i="1" err="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加钱，</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进去帮</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她</a:t>
            </a:r>
            <a:r>
              <a:rPr lang="en-US" altLang="zh-CN" sz="900" i="1" err="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拉行李箱，</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她说她一个人拉不了那么多</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       </a:t>
            </a:r>
          </a:p>
          <a:p>
            <a:pPr algn="r">
              <a:lnSpc>
                <a:spcPct val="100000"/>
              </a:lnSpc>
              <a:spcBef>
                <a:spcPts val="200"/>
              </a:spcBef>
              <a:spcAft>
                <a:spcPts val="0"/>
              </a:spcAft>
              <a:buClrTx/>
              <a:buSzTx/>
              <a:buFont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--快车司机戴女士 35岁	</a:t>
            </a:r>
          </a:p>
        </p:txBody>
      </p:sp>
      <p:sp>
        <p:nvSpPr>
          <p:cNvPr id="17" name="文本框 16"/>
          <p:cNvSpPr txBox="1"/>
          <p:nvPr/>
        </p:nvSpPr>
        <p:spPr>
          <a:xfrm>
            <a:off x="4946650" y="3295650"/>
            <a:ext cx="2608580" cy="529590"/>
          </a:xfrm>
          <a:prstGeom prst="rect">
            <a:avLst/>
          </a:prstGeom>
          <a:noFill/>
        </p:spPr>
        <p:txBody>
          <a:bodyPr wrap="square" rtlCol="0">
            <a:noAutofit/>
          </a:bodyPr>
          <a:lstStyle/>
          <a:p>
            <a:pPr indent="0">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因为可能一家子出去大箱子蛮多的，有些车可能就放不下，这个可能要提前先沟通一下”  </a:t>
            </a:r>
          </a:p>
          <a:p>
            <a:pPr indent="0" algn="r">
              <a:lnSpc>
                <a:spcPct val="100000"/>
              </a:lnSpc>
              <a:spcBef>
                <a:spcPts val="200"/>
              </a:spcBef>
              <a:spcAft>
                <a:spcPts val="0"/>
              </a:spcAft>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   --海外投资林先生（快车） 38岁</a:t>
            </a:r>
          </a:p>
          <a:p>
            <a:pPr indent="0">
              <a:buNone/>
            </a:pPr>
            <a:endParaRPr lang="zh-CN" altLang="en-US" sz="900" i="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p:cNvSpPr txBox="1"/>
          <p:nvPr/>
        </p:nvSpPr>
        <p:spPr>
          <a:xfrm>
            <a:off x="3751587" y="1389035"/>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75092" y="3341567"/>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p:cNvSpPr txBox="1"/>
          <p:nvPr/>
        </p:nvSpPr>
        <p:spPr>
          <a:xfrm>
            <a:off x="497628" y="2164407"/>
            <a:ext cx="1525188" cy="420115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场站</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代叫车</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124705" y="139296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98141" y="1406260"/>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616145"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613689"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81467" y="138186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p:cNvCxnSpPr/>
          <p:nvPr/>
        </p:nvCxnSpPr>
        <p:spPr>
          <a:xfrm>
            <a:off x="1260222"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2" name="文本框 11"/>
          <p:cNvSpPr txBox="1"/>
          <p:nvPr/>
        </p:nvSpPr>
        <p:spPr>
          <a:xfrm>
            <a:off x="1323690" y="2295560"/>
            <a:ext cx="1341872" cy="1384995"/>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存在多个停车点，协商接驾地点</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乘客要求去出发层接驾</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需要人找车，不是车找人 </a:t>
            </a:r>
          </a:p>
        </p:txBody>
      </p:sp>
      <p:sp>
        <p:nvSpPr>
          <p:cNvPr id="17" name="文本框 16"/>
          <p:cNvSpPr txBox="1"/>
          <p:nvPr/>
        </p:nvSpPr>
        <p:spPr>
          <a:xfrm>
            <a:off x="1331089" y="4577609"/>
            <a:ext cx="1285056" cy="97719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需要确认地点反复沟通</a:t>
            </a:r>
            <a:endParaRPr lang="en-US" altLang="zh-CN" sz="1050" dirty="0"/>
          </a:p>
          <a:p>
            <a:pPr marL="171450" indent="-171450">
              <a:spcBef>
                <a:spcPts val="600"/>
              </a:spcBef>
              <a:buFont typeface="Arial" panose="020B0604020202020204" pitchFamily="34" charset="0"/>
              <a:buChar char="•"/>
            </a:pPr>
            <a:r>
              <a:rPr lang="zh-CN" altLang="en-US" sz="1050" dirty="0"/>
              <a:t>特殊需求沟通，如何老人</a:t>
            </a:r>
            <a:r>
              <a:rPr lang="en-US" altLang="zh-CN" sz="1050" dirty="0"/>
              <a:t>&amp;</a:t>
            </a:r>
            <a:r>
              <a:rPr lang="zh-CN" altLang="en-US" sz="1050" dirty="0"/>
              <a:t>儿童</a:t>
            </a:r>
            <a:endParaRPr lang="en-US" altLang="zh-CN" sz="1050" dirty="0"/>
          </a:p>
          <a:p>
            <a:pPr marL="171450" indent="-171450">
              <a:buFont typeface="Arial" panose="020B0604020202020204" pitchFamily="34" charset="0"/>
              <a:buChar char="•"/>
            </a:pPr>
            <a:endParaRPr lang="zh-CN" altLang="en-US" sz="1050" dirty="0"/>
          </a:p>
        </p:txBody>
      </p:sp>
      <p:cxnSp>
        <p:nvCxnSpPr>
          <p:cNvPr id="21" name="直接连接符 20"/>
          <p:cNvCxnSpPr/>
          <p:nvPr/>
        </p:nvCxnSpPr>
        <p:spPr>
          <a:xfrm>
            <a:off x="545759" y="4028001"/>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2804400" y="1821870"/>
            <a:ext cx="2050561"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乘客不熟悉规定接驾地点</a:t>
            </a:r>
          </a:p>
        </p:txBody>
      </p:sp>
      <p:sp>
        <p:nvSpPr>
          <p:cNvPr id="78" name="文本框 77"/>
          <p:cNvSpPr txBox="1"/>
          <p:nvPr/>
        </p:nvSpPr>
        <p:spPr>
          <a:xfrm>
            <a:off x="2804400" y="2041433"/>
            <a:ext cx="2950967" cy="414020"/>
          </a:xfrm>
          <a:prstGeom prst="rect">
            <a:avLst/>
          </a:prstGeom>
          <a:noFill/>
        </p:spPr>
        <p:txBody>
          <a:bodyPr wrap="square" rtlCol="0">
            <a:spAutoFit/>
          </a:bodyPr>
          <a:lstStyle/>
          <a:p>
            <a:pPr marL="171450" indent="-171450" algn="l">
              <a:lnSpc>
                <a:spcPct val="100000"/>
              </a:lnSpc>
              <a:buClrTx/>
              <a:buSzTx/>
              <a:buFont typeface="Arial" panose="020B0604020202020204" pitchFamily="34" charset="0"/>
              <a:buChar char="•"/>
            </a:pPr>
            <a:r>
              <a:rPr lang="zh-CN" altLang="en-US" sz="1050" dirty="0"/>
              <a:t>乘客场站内认路能力没那么高，反复沟通</a:t>
            </a:r>
          </a:p>
          <a:p>
            <a:pPr marL="171450" indent="-171450" algn="l">
              <a:lnSpc>
                <a:spcPct val="100000"/>
              </a:lnSpc>
              <a:buClrTx/>
              <a:buSzTx/>
              <a:buFont typeface="Arial" panose="020B0604020202020204" pitchFamily="34" charset="0"/>
              <a:buChar char="•"/>
            </a:pPr>
            <a:r>
              <a:rPr lang="zh-CN" altLang="en-US" sz="1050" dirty="0"/>
              <a:t>走错接车点，如南广场停车，去了北广场</a:t>
            </a:r>
          </a:p>
        </p:txBody>
      </p:sp>
      <p:sp>
        <p:nvSpPr>
          <p:cNvPr id="79" name="文本框 78"/>
          <p:cNvSpPr txBox="1"/>
          <p:nvPr/>
        </p:nvSpPr>
        <p:spPr>
          <a:xfrm>
            <a:off x="2804400" y="3026566"/>
            <a:ext cx="220445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司机与乘客约定更快接驾点</a:t>
            </a:r>
          </a:p>
        </p:txBody>
      </p:sp>
      <p:sp>
        <p:nvSpPr>
          <p:cNvPr id="80" name="文本框 79"/>
          <p:cNvSpPr txBox="1"/>
          <p:nvPr/>
        </p:nvSpPr>
        <p:spPr>
          <a:xfrm>
            <a:off x="2804400" y="3208295"/>
            <a:ext cx="3355975" cy="414020"/>
          </a:xfrm>
          <a:prstGeom prst="rect">
            <a:avLst/>
          </a:prstGeom>
          <a:noFill/>
        </p:spPr>
        <p:txBody>
          <a:bodyPr wrap="square" rtlCol="0">
            <a:spAutoFit/>
          </a:bodyPr>
          <a:lstStyle/>
          <a:p>
            <a:pPr marL="171450" indent="-171450" algn="l">
              <a:buClrTx/>
              <a:buSzTx/>
              <a:buFont typeface="Arial" panose="020B0604020202020204" pitchFamily="34" charset="0"/>
              <a:buChar char="•"/>
            </a:pPr>
            <a:r>
              <a:rPr lang="zh-CN" altLang="en-US" sz="1050" dirty="0"/>
              <a:t>司机发起，停车场堵车</a:t>
            </a:r>
          </a:p>
          <a:p>
            <a:pPr marL="171450" indent="-171450" algn="l">
              <a:buClrTx/>
              <a:buSzTx/>
              <a:buFont typeface="Arial" panose="020B0604020202020204" pitchFamily="34" charset="0"/>
              <a:buChar char="•"/>
            </a:pPr>
            <a:r>
              <a:rPr lang="zh-CN" altLang="en-US" sz="1050" dirty="0"/>
              <a:t>乘客发起，出发层，但有的出发层不能空车驶入</a:t>
            </a:r>
          </a:p>
        </p:txBody>
      </p:sp>
      <p:sp>
        <p:nvSpPr>
          <p:cNvPr id="81" name="文本框 80"/>
          <p:cNvSpPr txBox="1"/>
          <p:nvPr/>
        </p:nvSpPr>
        <p:spPr>
          <a:xfrm>
            <a:off x="7014955" y="2605221"/>
            <a:ext cx="4761128" cy="92333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手机端</a:t>
            </a:r>
            <a:r>
              <a:rPr lang="en-US" altLang="zh-CN" sz="1050" dirty="0"/>
              <a:t>Agent</a:t>
            </a:r>
            <a:r>
              <a:rPr lang="zh-CN" altLang="en-US" sz="1050" dirty="0"/>
              <a:t>提供指路服务，结合乘客手机位置与车辆位置及约定地点，实时提供提示当前方向是否正确</a:t>
            </a:r>
            <a:endParaRPr lang="en-US" altLang="zh-CN" sz="1050" dirty="0"/>
          </a:p>
          <a:p>
            <a:pPr marL="285750" indent="-285750">
              <a:spcBef>
                <a:spcPts val="600"/>
              </a:spcBef>
              <a:buFont typeface="Wingdings" panose="05000000000000000000" pitchFamily="2" charset="2"/>
              <a:buChar char="ü"/>
            </a:pPr>
            <a:r>
              <a:rPr lang="zh-CN" altLang="en-US" sz="1050" dirty="0"/>
              <a:t>车辆端</a:t>
            </a:r>
            <a:r>
              <a:rPr lang="en-US" altLang="zh-CN" sz="1050" dirty="0"/>
              <a:t>agent</a:t>
            </a:r>
            <a:r>
              <a:rPr lang="zh-CN" altLang="en-US" sz="1050" dirty="0"/>
              <a:t>端也能显示对方手机端位置，手机端也能显示车机端位置</a:t>
            </a:r>
            <a:endParaRPr lang="en-US" altLang="zh-CN" sz="1050" dirty="0"/>
          </a:p>
          <a:p>
            <a:pPr marL="285750" indent="-285750">
              <a:spcBef>
                <a:spcPts val="600"/>
              </a:spcBef>
              <a:buFont typeface="Wingdings" panose="05000000000000000000" pitchFamily="2" charset="2"/>
              <a:buChar char="ü"/>
            </a:pPr>
            <a:endParaRPr lang="zh-CN" altLang="en-US" sz="1050" dirty="0"/>
          </a:p>
        </p:txBody>
      </p:sp>
      <p:sp>
        <p:nvSpPr>
          <p:cNvPr id="82" name="文本框 81"/>
          <p:cNvSpPr txBox="1"/>
          <p:nvPr/>
        </p:nvSpPr>
        <p:spPr>
          <a:xfrm>
            <a:off x="2804400" y="4341258"/>
            <a:ext cx="2666114"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乘客不放心，反复电话和信息沟通</a:t>
            </a:r>
          </a:p>
        </p:txBody>
      </p:sp>
      <p:sp>
        <p:nvSpPr>
          <p:cNvPr id="84" name="文本框 83"/>
          <p:cNvSpPr txBox="1"/>
          <p:nvPr/>
        </p:nvSpPr>
        <p:spPr>
          <a:xfrm>
            <a:off x="2804400" y="4547870"/>
            <a:ext cx="1682115" cy="1060450"/>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地点与到达时间确认</a:t>
            </a:r>
            <a:endParaRPr lang="en-US" altLang="zh-CN" sz="1050" dirty="0"/>
          </a:p>
          <a:p>
            <a:pPr marL="171450" indent="-171450">
              <a:buFont typeface="Arial" panose="020B0604020202020204" pitchFamily="34" charset="0"/>
              <a:buChar char="•"/>
            </a:pPr>
            <a:r>
              <a:rPr lang="zh-CN" altLang="en-US" sz="1050" dirty="0"/>
              <a:t>上车人的特征描述</a:t>
            </a:r>
            <a:endParaRPr lang="en-US" altLang="zh-CN" sz="1050" dirty="0"/>
          </a:p>
          <a:p>
            <a:pPr marL="171450" indent="-171450">
              <a:buFont typeface="Arial" panose="020B0604020202020204" pitchFamily="34" charset="0"/>
              <a:buChar char="•"/>
            </a:pPr>
            <a:r>
              <a:rPr lang="zh-CN" altLang="en-US" sz="1050" dirty="0"/>
              <a:t>上没上车</a:t>
            </a:r>
            <a:endParaRPr lang="en-US" altLang="zh-CN" sz="1050" dirty="0"/>
          </a:p>
          <a:p>
            <a:pPr marL="171450" indent="-171450">
              <a:buFont typeface="Arial" panose="020B0604020202020204" pitchFamily="34" charset="0"/>
              <a:buChar char="•"/>
            </a:pPr>
            <a:r>
              <a:rPr lang="zh-CN" altLang="en-US" sz="1050" dirty="0"/>
              <a:t>下车地点要求等描述</a:t>
            </a:r>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87" name="文本框 86"/>
          <p:cNvSpPr txBox="1"/>
          <p:nvPr/>
        </p:nvSpPr>
        <p:spPr>
          <a:xfrm>
            <a:off x="7042156" y="4713669"/>
            <a:ext cx="4192406" cy="92333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支持</a:t>
            </a:r>
            <a:r>
              <a:rPr lang="en-US" altLang="zh-CN" sz="1050" dirty="0"/>
              <a:t>agent</a:t>
            </a:r>
            <a:r>
              <a:rPr lang="zh-CN" altLang="en-US" sz="1050" dirty="0"/>
              <a:t>群模式，多个主体参与互动</a:t>
            </a:r>
            <a:endParaRPr lang="en-US" altLang="zh-CN" sz="1050" dirty="0"/>
          </a:p>
          <a:p>
            <a:pPr marL="285750" indent="-285750">
              <a:spcBef>
                <a:spcPts val="600"/>
              </a:spcBef>
              <a:buFont typeface="Wingdings" panose="05000000000000000000" pitchFamily="2" charset="2"/>
              <a:buChar char="ü"/>
            </a:pPr>
            <a:r>
              <a:rPr lang="zh-CN" altLang="en-US" sz="1050" dirty="0"/>
              <a:t>车机</a:t>
            </a:r>
            <a:r>
              <a:rPr lang="en-US" altLang="zh-CN" sz="1050" dirty="0"/>
              <a:t>agent</a:t>
            </a:r>
            <a:r>
              <a:rPr lang="zh-CN" altLang="en-US" sz="1050" dirty="0"/>
              <a:t>需要理解群内多方语音与文字需求并及时反馈自身状态</a:t>
            </a:r>
            <a:endParaRPr lang="en-US" altLang="zh-CN" sz="1050" dirty="0"/>
          </a:p>
          <a:p>
            <a:pPr marL="285750" indent="-285750">
              <a:spcBef>
                <a:spcPts val="600"/>
              </a:spcBef>
              <a:buFont typeface="Wingdings" panose="05000000000000000000" pitchFamily="2" charset="2"/>
              <a:buChar char="ü"/>
            </a:pPr>
            <a:r>
              <a:rPr lang="zh-CN" altLang="en-US" sz="1050" dirty="0"/>
              <a:t>根据文字描述到附近后系统</a:t>
            </a:r>
            <a:r>
              <a:rPr lang="en-US" altLang="zh-CN" sz="1050" dirty="0"/>
              <a:t>ARHUD</a:t>
            </a:r>
            <a:r>
              <a:rPr lang="zh-CN" altLang="en-US" sz="1050" dirty="0"/>
              <a:t>自动识别上车人特征</a:t>
            </a:r>
            <a:endParaRPr lang="en-US" altLang="zh-CN" sz="1050" dirty="0"/>
          </a:p>
        </p:txBody>
      </p:sp>
      <p:sp>
        <p:nvSpPr>
          <p:cNvPr id="4" name="文本框 3"/>
          <p:cNvSpPr txBox="1"/>
          <p:nvPr/>
        </p:nvSpPr>
        <p:spPr>
          <a:xfrm>
            <a:off x="6710400" y="2260566"/>
            <a:ext cx="723275" cy="253916"/>
          </a:xfrm>
          <a:prstGeom prst="rect">
            <a:avLst/>
          </a:prstGeom>
          <a:noFill/>
        </p:spPr>
        <p:txBody>
          <a:bodyPr wrap="none" rtlCol="0">
            <a:spAutoFit/>
          </a:bodyPr>
          <a:lstStyle/>
          <a:p>
            <a:r>
              <a:rPr lang="zh-CN" altLang="en-US" sz="1050" b="1" dirty="0"/>
              <a:t>机会点：</a:t>
            </a:r>
          </a:p>
        </p:txBody>
      </p:sp>
      <p:sp>
        <p:nvSpPr>
          <p:cNvPr id="5" name="文本框 4"/>
          <p:cNvSpPr txBox="1"/>
          <p:nvPr/>
        </p:nvSpPr>
        <p:spPr>
          <a:xfrm>
            <a:off x="6710400" y="3330418"/>
            <a:ext cx="588623" cy="253916"/>
          </a:xfrm>
          <a:prstGeom prst="rect">
            <a:avLst/>
          </a:prstGeom>
          <a:noFill/>
        </p:spPr>
        <p:txBody>
          <a:bodyPr wrap="none" rtlCol="0">
            <a:spAutoFit/>
          </a:bodyPr>
          <a:lstStyle/>
          <a:p>
            <a:r>
              <a:rPr lang="zh-CN" altLang="en-US" sz="1050" b="1" dirty="0"/>
              <a:t>展望：</a:t>
            </a:r>
          </a:p>
        </p:txBody>
      </p:sp>
      <p:sp>
        <p:nvSpPr>
          <p:cNvPr id="6" name="文本框 5"/>
          <p:cNvSpPr txBox="1"/>
          <p:nvPr/>
        </p:nvSpPr>
        <p:spPr>
          <a:xfrm>
            <a:off x="6710400" y="1846576"/>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8" name="文本框 7"/>
          <p:cNvSpPr txBox="1"/>
          <p:nvPr/>
        </p:nvSpPr>
        <p:spPr>
          <a:xfrm>
            <a:off x="7200531" y="2023604"/>
            <a:ext cx="3142207"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乘客通过平台或者</a:t>
            </a:r>
            <a:r>
              <a:rPr lang="en-US" altLang="zh-CN" sz="1050" dirty="0"/>
              <a:t>app</a:t>
            </a:r>
            <a:r>
              <a:rPr lang="zh-CN" altLang="en-US" sz="1050" dirty="0"/>
              <a:t>查看司机位置，自行判断</a:t>
            </a:r>
          </a:p>
        </p:txBody>
      </p:sp>
      <p:sp>
        <p:nvSpPr>
          <p:cNvPr id="14" name="文本框 13"/>
          <p:cNvSpPr txBox="1"/>
          <p:nvPr/>
        </p:nvSpPr>
        <p:spPr>
          <a:xfrm>
            <a:off x="6978733" y="3640781"/>
            <a:ext cx="6607834" cy="261610"/>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安全合规条件下，识别场站各个停车点的忙闲，距离远近等智能变更接驾地点</a:t>
            </a:r>
          </a:p>
        </p:txBody>
      </p:sp>
      <p:sp>
        <p:nvSpPr>
          <p:cNvPr id="15" name="文本框 14"/>
          <p:cNvSpPr txBox="1"/>
          <p:nvPr/>
        </p:nvSpPr>
        <p:spPr>
          <a:xfrm>
            <a:off x="6710400" y="4445766"/>
            <a:ext cx="723275" cy="253916"/>
          </a:xfrm>
          <a:prstGeom prst="rect">
            <a:avLst/>
          </a:prstGeom>
          <a:noFill/>
        </p:spPr>
        <p:txBody>
          <a:bodyPr wrap="none" rtlCol="0">
            <a:spAutoFit/>
          </a:bodyPr>
          <a:lstStyle/>
          <a:p>
            <a:r>
              <a:rPr lang="zh-CN" altLang="en-US" sz="1050" b="1" dirty="0"/>
              <a:t>机会点：</a:t>
            </a:r>
          </a:p>
        </p:txBody>
      </p:sp>
      <p:sp>
        <p:nvSpPr>
          <p:cNvPr id="19" name="文本框 18"/>
          <p:cNvSpPr txBox="1"/>
          <p:nvPr/>
        </p:nvSpPr>
        <p:spPr>
          <a:xfrm>
            <a:off x="6710400" y="5515618"/>
            <a:ext cx="588623" cy="253916"/>
          </a:xfrm>
          <a:prstGeom prst="rect">
            <a:avLst/>
          </a:prstGeom>
          <a:noFill/>
        </p:spPr>
        <p:txBody>
          <a:bodyPr wrap="none" rtlCol="0">
            <a:spAutoFit/>
          </a:bodyPr>
          <a:lstStyle/>
          <a:p>
            <a:r>
              <a:rPr lang="zh-CN" altLang="en-US" sz="1050" b="1" dirty="0"/>
              <a:t>展望：</a:t>
            </a:r>
          </a:p>
        </p:txBody>
      </p:sp>
      <p:sp>
        <p:nvSpPr>
          <p:cNvPr id="20" name="文本框 19"/>
          <p:cNvSpPr txBox="1"/>
          <p:nvPr/>
        </p:nvSpPr>
        <p:spPr>
          <a:xfrm>
            <a:off x="6710400" y="4031776"/>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23" name="文本框 22"/>
          <p:cNvSpPr txBox="1"/>
          <p:nvPr/>
        </p:nvSpPr>
        <p:spPr>
          <a:xfrm>
            <a:off x="7049429" y="4236900"/>
            <a:ext cx="2589170"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050" dirty="0"/>
              <a:t>只能分享位置到微信或者微信群中</a:t>
            </a:r>
          </a:p>
        </p:txBody>
      </p:sp>
      <p:sp>
        <p:nvSpPr>
          <p:cNvPr id="24" name="文本框 23"/>
          <p:cNvSpPr txBox="1"/>
          <p:nvPr/>
        </p:nvSpPr>
        <p:spPr>
          <a:xfrm>
            <a:off x="7014955" y="5848916"/>
            <a:ext cx="1460656"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050" dirty="0"/>
              <a:t>能够接入微信群</a:t>
            </a:r>
          </a:p>
        </p:txBody>
      </p:sp>
      <p:sp>
        <p:nvSpPr>
          <p:cNvPr id="3" name="文本框 2"/>
          <p:cNvSpPr txBox="1"/>
          <p:nvPr/>
        </p:nvSpPr>
        <p:spPr>
          <a:xfrm>
            <a:off x="2769939" y="3547445"/>
            <a:ext cx="3795395" cy="507831"/>
          </a:xfrm>
          <a:prstGeom prst="rect">
            <a:avLst/>
          </a:prstGeom>
          <a:noFill/>
        </p:spPr>
        <p:txBody>
          <a:bodyPr wrap="square" rtlCol="0">
            <a:spAutoFit/>
          </a:bodyPr>
          <a:lstStyle/>
          <a:p>
            <a:pPr indent="0" algn="l">
              <a:buClrTx/>
              <a:buSzTx/>
              <a:buNone/>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前阵子碰到P10进去，然后人家停在可能BM2，BM1</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，我进去的时候，进去闸机口，</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就通知你在BM1层，直接滑到BM2去，要绕很大一圈才能上楼，</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到BM1很麻烦......” </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专/快车司机徐先生 </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37岁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7" name="文本框 6"/>
          <p:cNvSpPr txBox="1"/>
          <p:nvPr/>
        </p:nvSpPr>
        <p:spPr>
          <a:xfrm>
            <a:off x="2804160" y="5320030"/>
            <a:ext cx="3794760" cy="720725"/>
          </a:xfrm>
          <a:prstGeom prst="rect">
            <a:avLst/>
          </a:prstGeom>
          <a:noFill/>
        </p:spPr>
        <p:txBody>
          <a:bodyPr wrap="square" rtlCol="0" anchor="t">
            <a:noAutofit/>
          </a:bodyPr>
          <a:lstStyle/>
          <a:p>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“代叫单，一般性企业用户，或者有些老用户会打车，会代叫单，代叫单我们就会联系实际乘车人”</a:t>
            </a:r>
          </a:p>
          <a:p>
            <a:pPr algn="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专车司机黄女士 38岁</a:t>
            </a:r>
            <a:endParaRPr lang="zh-CN" altLang="en-US" sz="1050" b="1" i="1" dirty="0"/>
          </a:p>
        </p:txBody>
      </p:sp>
      <p:sp>
        <p:nvSpPr>
          <p:cNvPr id="9" name="文本框 8"/>
          <p:cNvSpPr txBox="1"/>
          <p:nvPr/>
        </p:nvSpPr>
        <p:spPr>
          <a:xfrm>
            <a:off x="2804160" y="2440305"/>
            <a:ext cx="3818255" cy="783590"/>
          </a:xfrm>
          <a:prstGeom prst="rect">
            <a:avLst/>
          </a:prstGeom>
          <a:noFill/>
        </p:spPr>
        <p:txBody>
          <a:bodyPr wrap="square" rtlCol="0">
            <a:spAutoFit/>
          </a:bodyPr>
          <a:lstStyle/>
          <a:p>
            <a:pPr indent="0" algn="l">
              <a:lnSpc>
                <a:spcPct val="100000"/>
              </a:lnSpc>
              <a:buClrTx/>
              <a:buSzTx/>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rPr>
              <a:t>“还有上海南站的，其实进站口直接搞一个南进站口</a:t>
            </a:r>
            <a:r>
              <a:rPr lang="en-US" altLang="zh-CN" sz="900" i="1">
                <a:latin typeface="微软雅黑" panose="020B0503020204020204" pitchFamily="34" charset="-122"/>
                <a:ea typeface="微软雅黑" panose="020B0503020204020204" pitchFamily="34" charset="-122"/>
                <a:cs typeface="Arial" panose="020B0604020202020204" pitchFamily="34" charset="0"/>
              </a:rPr>
              <a:t>。……一般我们看一下就知道了</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，你的起点是在哪里，他就是随便选的，我也想节约我的时间堵塞”</a:t>
            </a:r>
            <a:r>
              <a:rPr lang="zh-CN" altLang="en-US" sz="900" i="1" dirty="0"/>
              <a:t>   </a:t>
            </a:r>
            <a:r>
              <a:rPr lang="en-US" altLang="zh-CN" sz="900" i="1" dirty="0">
                <a:sym typeface="+mn-ea"/>
              </a:rPr>
              <a:t>           </a:t>
            </a:r>
          </a:p>
          <a:p>
            <a:pPr indent="0" algn="l">
              <a:lnSpc>
                <a:spcPct val="100000"/>
              </a:lnSpc>
              <a:buClrTx/>
              <a:buSzTx/>
              <a:buNone/>
            </a:pPr>
            <a:r>
              <a:rPr lang="en-US" altLang="zh-CN" sz="900" i="1" dirty="0">
                <a:sym typeface="+mn-ea"/>
              </a:rPr>
              <a:t>                                                                             --</a:t>
            </a:r>
            <a:r>
              <a:rPr lang="zh-CN" altLang="en-US" sz="900" i="1" dirty="0">
                <a:sym typeface="+mn-ea"/>
              </a:rPr>
              <a:t> 专车司机黄女士 38岁	</a:t>
            </a:r>
            <a:endParaRPr lang="zh-CN" altLang="en-US" sz="900"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80895" y="433866"/>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p:cNvSpPr txBox="1"/>
          <p:nvPr/>
        </p:nvSpPr>
        <p:spPr>
          <a:xfrm>
            <a:off x="4704333" y="1385133"/>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p:cNvSpPr txBox="1"/>
          <p:nvPr/>
        </p:nvSpPr>
        <p:spPr>
          <a:xfrm>
            <a:off x="479535" y="1696752"/>
            <a:ext cx="1525188" cy="3954929"/>
          </a:xfrm>
          <a:prstGeom prst="rect">
            <a:avLst/>
          </a:prstGeom>
          <a:noFill/>
        </p:spPr>
        <p:txBody>
          <a:bodyPr wrap="square">
            <a:spAutoFit/>
          </a:bodyPr>
          <a:lstStyle/>
          <a:p>
            <a:pPr marL="171450" lvl="0" indent="-171450" fontAlgn="b">
              <a:spcBef>
                <a:spcPts val="600"/>
              </a:spcBef>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带儿童</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带宠物</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单独送物品</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743022" y="1410280"/>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583715" y="1415891"/>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344241"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885091" y="191951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63106" y="1364762"/>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p:cNvCxnSpPr/>
          <p:nvPr/>
        </p:nvCxnSpPr>
        <p:spPr>
          <a:xfrm>
            <a:off x="1519212"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6" name="直接连接符 65"/>
          <p:cNvCxnSpPr/>
          <p:nvPr/>
        </p:nvCxnSpPr>
        <p:spPr>
          <a:xfrm>
            <a:off x="568010" y="4557193"/>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68760" y="3072892"/>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595350" y="2112894"/>
            <a:ext cx="1773159" cy="57708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期望型需求</a:t>
            </a:r>
            <a:r>
              <a:rPr lang="en-US" altLang="zh-CN" sz="1050" dirty="0"/>
              <a:t>-</a:t>
            </a:r>
            <a:r>
              <a:rPr lang="zh-CN" altLang="en-US" sz="1050" dirty="0"/>
              <a:t>有乘客提出可以提供儿童安全座椅，但</a:t>
            </a:r>
            <a:r>
              <a:rPr lang="zh-CN" altLang="en-US" sz="1050"/>
              <a:t>要求较高</a:t>
            </a:r>
            <a:endParaRPr lang="en-US" altLang="zh-CN" sz="1050" dirty="0"/>
          </a:p>
        </p:txBody>
      </p:sp>
      <p:sp>
        <p:nvSpPr>
          <p:cNvPr id="17" name="文本框 16"/>
          <p:cNvSpPr txBox="1"/>
          <p:nvPr/>
        </p:nvSpPr>
        <p:spPr>
          <a:xfrm>
            <a:off x="1578983" y="5072633"/>
            <a:ext cx="1773159" cy="65402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需要确认地点反复沟通</a:t>
            </a:r>
            <a:endParaRPr lang="en-US" altLang="zh-CN" sz="1050" dirty="0"/>
          </a:p>
          <a:p>
            <a:pPr marL="171450" indent="-171450">
              <a:spcBef>
                <a:spcPts val="600"/>
              </a:spcBef>
              <a:buFont typeface="Arial" panose="020B0604020202020204" pitchFamily="34" charset="0"/>
              <a:buChar char="•"/>
            </a:pPr>
            <a:r>
              <a:rPr lang="zh-CN" altLang="en-US" sz="1050" dirty="0"/>
              <a:t>特殊需求沟通</a:t>
            </a:r>
            <a:endParaRPr lang="en-US" altLang="zh-CN" sz="1050" dirty="0"/>
          </a:p>
          <a:p>
            <a:pPr marL="171450" indent="-171450">
              <a:buFont typeface="Arial" panose="020B0604020202020204" pitchFamily="34" charset="0"/>
              <a:buChar char="•"/>
            </a:pPr>
            <a:endParaRPr lang="zh-CN" altLang="en-US" sz="1050" dirty="0"/>
          </a:p>
        </p:txBody>
      </p:sp>
      <p:sp>
        <p:nvSpPr>
          <p:cNvPr id="5" name="文本框 4"/>
          <p:cNvSpPr txBox="1"/>
          <p:nvPr/>
        </p:nvSpPr>
        <p:spPr>
          <a:xfrm>
            <a:off x="1511832" y="3520745"/>
            <a:ext cx="1790715" cy="815608"/>
          </a:xfrm>
          <a:prstGeom prst="rect">
            <a:avLst/>
          </a:prstGeom>
          <a:noFill/>
        </p:spPr>
        <p:txBody>
          <a:bodyPr wrap="square">
            <a:spAutoFit/>
          </a:bodyPr>
          <a:lstStyle/>
          <a:p>
            <a:pPr marL="171450" indent="-171450">
              <a:spcBef>
                <a:spcPts val="600"/>
              </a:spcBef>
              <a:buFont typeface="Arial" panose="020B0604020202020204" pitchFamily="34" charset="0"/>
              <a:buChar char="•"/>
            </a:pPr>
            <a:r>
              <a:rPr lang="zh-CN" altLang="en-US" sz="1050" dirty="0"/>
              <a:t>带较大宠物，沟通是否可以乘坐，避免上车后拒载</a:t>
            </a:r>
            <a:endParaRPr lang="en-US" altLang="zh-CN" sz="1050" dirty="0"/>
          </a:p>
          <a:p>
            <a:pPr marL="171450" indent="-171450">
              <a:spcBef>
                <a:spcPts val="600"/>
              </a:spcBef>
              <a:buFont typeface="Arial" panose="020B0604020202020204" pitchFamily="34" charset="0"/>
              <a:buChar char="•"/>
            </a:pPr>
            <a:endParaRPr lang="en-US" altLang="zh-CN" sz="1050" dirty="0"/>
          </a:p>
        </p:txBody>
      </p:sp>
      <p:sp>
        <p:nvSpPr>
          <p:cNvPr id="21" name="文本框 20"/>
          <p:cNvSpPr txBox="1"/>
          <p:nvPr/>
        </p:nvSpPr>
        <p:spPr>
          <a:xfrm>
            <a:off x="3352800" y="1932940"/>
            <a:ext cx="2470150" cy="275590"/>
          </a:xfrm>
          <a:prstGeom prst="rect">
            <a:avLst/>
          </a:prstGeom>
          <a:noFill/>
        </p:spPr>
        <p:txBody>
          <a:bodyPr wrap="square" rtlCol="0">
            <a:spAutoFit/>
          </a:bodyPr>
          <a:lstStyle/>
          <a:p>
            <a:pPr marL="171450" indent="-171450" algn="l">
              <a:buClrTx/>
              <a:buSzTx/>
              <a:buFont typeface="Wingdings" panose="05000000000000000000" pitchFamily="2" charset="2"/>
              <a:buChar char="Ø"/>
            </a:pPr>
            <a:r>
              <a:rPr lang="zh-CN" altLang="en-US" sz="1200" b="1" dirty="0"/>
              <a:t>乘客非常看重幼童的乘车安全</a:t>
            </a:r>
          </a:p>
        </p:txBody>
      </p:sp>
      <p:sp>
        <p:nvSpPr>
          <p:cNvPr id="30" name="文本框 29"/>
          <p:cNvSpPr txBox="1"/>
          <p:nvPr/>
        </p:nvSpPr>
        <p:spPr>
          <a:xfrm>
            <a:off x="3353040" y="3034991"/>
            <a:ext cx="1435008"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司机对宠物态度</a:t>
            </a:r>
          </a:p>
        </p:txBody>
      </p:sp>
      <p:sp>
        <p:nvSpPr>
          <p:cNvPr id="31" name="文本框 30"/>
          <p:cNvSpPr txBox="1"/>
          <p:nvPr/>
        </p:nvSpPr>
        <p:spPr>
          <a:xfrm>
            <a:off x="3353040" y="3284855"/>
            <a:ext cx="2806065" cy="553998"/>
          </a:xfrm>
          <a:prstGeom prst="rect">
            <a:avLst/>
          </a:prstGeom>
          <a:noFill/>
        </p:spPr>
        <p:txBody>
          <a:bodyPr wrap="square" rtlCol="0">
            <a:spAutoFit/>
          </a:bodyPr>
          <a:lstStyle/>
          <a:p>
            <a:pPr marL="171450" indent="-171450" algn="l">
              <a:buClrTx/>
              <a:buSzTx/>
              <a:buFont typeface="Arial" panose="020B0604020202020204" pitchFamily="34" charset="0"/>
              <a:buChar char="•"/>
            </a:pPr>
            <a:r>
              <a:rPr lang="zh-CN" altLang="en-US" sz="1000" dirty="0"/>
              <a:t>有宠物一定要提前沟通，即使选择宠物模式</a:t>
            </a:r>
          </a:p>
          <a:p>
            <a:pPr marL="171450" indent="-171450" algn="l">
              <a:buClrTx/>
              <a:buSzTx/>
              <a:buFont typeface="Arial" panose="020B0604020202020204" pitchFamily="34" charset="0"/>
              <a:buChar char="•"/>
            </a:pPr>
            <a:r>
              <a:rPr lang="zh-CN" altLang="en-US" sz="1000" dirty="0"/>
              <a:t>小型宠物，小猫，小狗还可以</a:t>
            </a:r>
          </a:p>
          <a:p>
            <a:pPr marL="171450" indent="-171450" algn="l">
              <a:buClrTx/>
              <a:buSzTx/>
              <a:buFont typeface="Arial" panose="020B0604020202020204" pitchFamily="34" charset="0"/>
              <a:buChar char="•"/>
            </a:pPr>
            <a:r>
              <a:rPr lang="zh-CN" altLang="en-US" sz="1000" dirty="0"/>
              <a:t>大型宠物，即使在平台标注有宠物也会拒载</a:t>
            </a:r>
          </a:p>
        </p:txBody>
      </p:sp>
      <p:sp>
        <p:nvSpPr>
          <p:cNvPr id="33" name="文本框 32"/>
          <p:cNvSpPr txBox="1"/>
          <p:nvPr/>
        </p:nvSpPr>
        <p:spPr>
          <a:xfrm>
            <a:off x="6354487" y="3051682"/>
            <a:ext cx="128112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乘客担心拒载</a:t>
            </a:r>
          </a:p>
        </p:txBody>
      </p:sp>
      <p:sp>
        <p:nvSpPr>
          <p:cNvPr id="35" name="文本框 34"/>
          <p:cNvSpPr txBox="1"/>
          <p:nvPr/>
        </p:nvSpPr>
        <p:spPr>
          <a:xfrm>
            <a:off x="6377727" y="3262685"/>
            <a:ext cx="1383712" cy="246221"/>
          </a:xfrm>
          <a:prstGeom prst="rect">
            <a:avLst/>
          </a:prstGeom>
          <a:noFill/>
        </p:spPr>
        <p:txBody>
          <a:bodyPr wrap="none" rtlCol="0">
            <a:spAutoFit/>
          </a:bodyPr>
          <a:lstStyle/>
          <a:p>
            <a:pPr marL="171450" indent="-171450">
              <a:buFont typeface="Arial" panose="020B0604020202020204" pitchFamily="34" charset="0"/>
              <a:buChar char="•"/>
            </a:pPr>
            <a:r>
              <a:rPr lang="zh-CN" altLang="en-US" sz="1000" dirty="0"/>
              <a:t>大型宠物，如金毛</a:t>
            </a:r>
          </a:p>
        </p:txBody>
      </p:sp>
      <p:sp>
        <p:nvSpPr>
          <p:cNvPr id="37" name="文本框 36"/>
          <p:cNvSpPr txBox="1"/>
          <p:nvPr/>
        </p:nvSpPr>
        <p:spPr>
          <a:xfrm>
            <a:off x="3353040" y="4620826"/>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忘掉物品</a:t>
            </a:r>
          </a:p>
        </p:txBody>
      </p:sp>
      <p:sp>
        <p:nvSpPr>
          <p:cNvPr id="38" name="文本框 37"/>
          <p:cNvSpPr txBox="1"/>
          <p:nvPr/>
        </p:nvSpPr>
        <p:spPr>
          <a:xfrm>
            <a:off x="3353040" y="4823064"/>
            <a:ext cx="870751" cy="5265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00" dirty="0"/>
              <a:t>忘掉行李</a:t>
            </a:r>
            <a:endParaRPr lang="en-US" altLang="zh-CN" sz="1000" dirty="0"/>
          </a:p>
          <a:p>
            <a:pPr marL="171450" indent="-171450">
              <a:lnSpc>
                <a:spcPct val="150000"/>
              </a:lnSpc>
              <a:buFont typeface="Arial" panose="020B0604020202020204" pitchFamily="34" charset="0"/>
              <a:buChar char="•"/>
            </a:pPr>
            <a:r>
              <a:rPr lang="zh-CN" altLang="en-US" sz="1000" dirty="0"/>
              <a:t>紧急文件</a:t>
            </a:r>
          </a:p>
        </p:txBody>
      </p:sp>
      <p:sp>
        <p:nvSpPr>
          <p:cNvPr id="39" name="文本框 38"/>
          <p:cNvSpPr txBox="1"/>
          <p:nvPr/>
        </p:nvSpPr>
        <p:spPr>
          <a:xfrm>
            <a:off x="5823829" y="4622400"/>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反复沟通</a:t>
            </a:r>
          </a:p>
        </p:txBody>
      </p:sp>
      <p:sp>
        <p:nvSpPr>
          <p:cNvPr id="44" name="文本框 43"/>
          <p:cNvSpPr txBox="1"/>
          <p:nvPr/>
        </p:nvSpPr>
        <p:spPr>
          <a:xfrm>
            <a:off x="5858717" y="4838022"/>
            <a:ext cx="998991" cy="5265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00" dirty="0"/>
              <a:t>发送方沟通</a:t>
            </a:r>
            <a:endParaRPr lang="en-US" altLang="zh-CN" sz="1000" dirty="0"/>
          </a:p>
          <a:p>
            <a:pPr marL="171450" indent="-171450">
              <a:lnSpc>
                <a:spcPct val="150000"/>
              </a:lnSpc>
              <a:buFont typeface="Arial" panose="020B0604020202020204" pitchFamily="34" charset="0"/>
              <a:buChar char="•"/>
            </a:pPr>
            <a:r>
              <a:rPr lang="zh-CN" altLang="en-US" sz="1000" dirty="0"/>
              <a:t>接受方沟通</a:t>
            </a:r>
            <a:endParaRPr lang="en-US" altLang="zh-CN" sz="1000" dirty="0"/>
          </a:p>
        </p:txBody>
      </p:sp>
      <p:sp>
        <p:nvSpPr>
          <p:cNvPr id="4" name="文本框 3"/>
          <p:cNvSpPr txBox="1"/>
          <p:nvPr/>
        </p:nvSpPr>
        <p:spPr>
          <a:xfrm>
            <a:off x="7884000" y="2242708"/>
            <a:ext cx="723275" cy="253916"/>
          </a:xfrm>
          <a:prstGeom prst="rect">
            <a:avLst/>
          </a:prstGeom>
          <a:noFill/>
        </p:spPr>
        <p:txBody>
          <a:bodyPr wrap="none" rtlCol="0">
            <a:spAutoFit/>
          </a:bodyPr>
          <a:lstStyle/>
          <a:p>
            <a:r>
              <a:rPr lang="zh-CN" altLang="en-US" sz="1050" b="1" dirty="0"/>
              <a:t>机会点：</a:t>
            </a:r>
          </a:p>
        </p:txBody>
      </p:sp>
      <p:sp>
        <p:nvSpPr>
          <p:cNvPr id="6" name="文本框 5"/>
          <p:cNvSpPr txBox="1"/>
          <p:nvPr/>
        </p:nvSpPr>
        <p:spPr>
          <a:xfrm>
            <a:off x="7884000" y="2774342"/>
            <a:ext cx="588623" cy="253916"/>
          </a:xfrm>
          <a:prstGeom prst="rect">
            <a:avLst/>
          </a:prstGeom>
          <a:noFill/>
        </p:spPr>
        <p:txBody>
          <a:bodyPr wrap="none" rtlCol="0">
            <a:spAutoFit/>
          </a:bodyPr>
          <a:lstStyle/>
          <a:p>
            <a:r>
              <a:rPr lang="zh-CN" altLang="en-US" sz="1050" b="1" dirty="0"/>
              <a:t>展望：</a:t>
            </a:r>
          </a:p>
        </p:txBody>
      </p:sp>
      <p:sp>
        <p:nvSpPr>
          <p:cNvPr id="7" name="文本框 6"/>
          <p:cNvSpPr txBox="1"/>
          <p:nvPr/>
        </p:nvSpPr>
        <p:spPr>
          <a:xfrm>
            <a:off x="7884000" y="1820622"/>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8" name="文本框 7"/>
          <p:cNvSpPr txBox="1"/>
          <p:nvPr/>
        </p:nvSpPr>
        <p:spPr>
          <a:xfrm>
            <a:off x="8497927" y="2260046"/>
            <a:ext cx="3316421" cy="70788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司机</a:t>
            </a:r>
            <a:r>
              <a:rPr lang="en-US" altLang="zh-CN" sz="1000" dirty="0"/>
              <a:t>Agent</a:t>
            </a:r>
            <a:r>
              <a:rPr lang="zh-CN" altLang="en-US" sz="1000" dirty="0"/>
              <a:t>可以提供智能运用上面三种能结合驾驶，监测看护，娱乐等儿童陪护模式</a:t>
            </a:r>
            <a:endParaRPr lang="en-US" altLang="zh-CN" sz="1000" dirty="0"/>
          </a:p>
          <a:p>
            <a:pPr marL="171450" indent="-171450">
              <a:buFont typeface="Wingdings" panose="05000000000000000000" pitchFamily="2" charset="2"/>
              <a:buChar char="ü"/>
            </a:pPr>
            <a:r>
              <a:rPr lang="zh-CN" altLang="en-US" sz="1000" dirty="0"/>
              <a:t>匹配带儿童座椅的车辆</a:t>
            </a:r>
            <a:endParaRPr lang="en-US" altLang="zh-CN" sz="1000" dirty="0"/>
          </a:p>
          <a:p>
            <a:endParaRPr lang="zh-CN" altLang="en-US" sz="1000" dirty="0"/>
          </a:p>
        </p:txBody>
      </p:sp>
      <p:sp>
        <p:nvSpPr>
          <p:cNvPr id="12" name="文本框 11"/>
          <p:cNvSpPr txBox="1"/>
          <p:nvPr/>
        </p:nvSpPr>
        <p:spPr>
          <a:xfrm>
            <a:off x="8525834" y="4856132"/>
            <a:ext cx="3391636" cy="132343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00" dirty="0"/>
              <a:t>授权司机</a:t>
            </a:r>
            <a:r>
              <a:rPr lang="en-US" altLang="zh-CN" sz="1000" dirty="0"/>
              <a:t>Agent</a:t>
            </a:r>
            <a:r>
              <a:rPr lang="zh-CN" altLang="en-US" sz="1000" dirty="0"/>
              <a:t>自动拨打电话与分享钥匙及识别接物品人的面部及人体，自动接受接物品的地址</a:t>
            </a:r>
            <a:endParaRPr lang="en-US" altLang="zh-CN" sz="1000" dirty="0"/>
          </a:p>
          <a:p>
            <a:pPr marL="171450" indent="-171450">
              <a:spcBef>
                <a:spcPts val="600"/>
              </a:spcBef>
              <a:buFont typeface="Wingdings" panose="05000000000000000000" pitchFamily="2" charset="2"/>
              <a:buChar char="ü"/>
            </a:pPr>
            <a:r>
              <a:rPr lang="zh-CN" altLang="en-US" sz="1000" dirty="0"/>
              <a:t>远程控制车辆精准停靠位置与拨打接物品人电话，与识别接物品的人</a:t>
            </a:r>
            <a:endParaRPr lang="en-US" altLang="zh-CN" sz="1000" dirty="0"/>
          </a:p>
          <a:p>
            <a:pPr marL="171450" indent="-171450">
              <a:spcBef>
                <a:spcPts val="600"/>
              </a:spcBef>
              <a:buFont typeface="Wingdings" panose="05000000000000000000" pitchFamily="2" charset="2"/>
              <a:buChar char="ü"/>
            </a:pPr>
            <a:r>
              <a:rPr lang="zh-CN" altLang="en-US" sz="1000" dirty="0"/>
              <a:t>自动分享临时钥匙分享给接物品的陌生人</a:t>
            </a:r>
            <a:endParaRPr lang="en-US" altLang="zh-CN" sz="1000" dirty="0"/>
          </a:p>
          <a:p>
            <a:pPr marL="171450" indent="-171450">
              <a:buFont typeface="Wingdings" panose="05000000000000000000" pitchFamily="2" charset="2"/>
              <a:buChar char="ü"/>
            </a:pPr>
            <a:endParaRPr lang="en-US" altLang="zh-CN" sz="1000" dirty="0"/>
          </a:p>
          <a:p>
            <a:endParaRPr lang="zh-CN" altLang="en-US" sz="1000" dirty="0"/>
          </a:p>
        </p:txBody>
      </p:sp>
      <p:sp>
        <p:nvSpPr>
          <p:cNvPr id="3" name="文本框 2"/>
          <p:cNvSpPr txBox="1"/>
          <p:nvPr/>
        </p:nvSpPr>
        <p:spPr>
          <a:xfrm>
            <a:off x="8507515" y="2806140"/>
            <a:ext cx="3316421"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可以通过机械设计提供可收放的儿童座椅</a:t>
            </a:r>
          </a:p>
        </p:txBody>
      </p:sp>
      <p:sp>
        <p:nvSpPr>
          <p:cNvPr id="13" name="文本框 12"/>
          <p:cNvSpPr txBox="1"/>
          <p:nvPr/>
        </p:nvSpPr>
        <p:spPr>
          <a:xfrm>
            <a:off x="7884000" y="3248501"/>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19" name="文本框 18"/>
          <p:cNvSpPr txBox="1"/>
          <p:nvPr/>
        </p:nvSpPr>
        <p:spPr>
          <a:xfrm>
            <a:off x="8527984" y="3247553"/>
            <a:ext cx="3379646"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香氛的浓度与味道的语音控制</a:t>
            </a:r>
          </a:p>
        </p:txBody>
      </p:sp>
      <p:sp>
        <p:nvSpPr>
          <p:cNvPr id="20" name="文本框 19"/>
          <p:cNvSpPr txBox="1"/>
          <p:nvPr/>
        </p:nvSpPr>
        <p:spPr>
          <a:xfrm>
            <a:off x="7884000" y="3522310"/>
            <a:ext cx="716280" cy="252730"/>
          </a:xfrm>
          <a:prstGeom prst="rect">
            <a:avLst/>
          </a:prstGeom>
          <a:noFill/>
        </p:spPr>
        <p:txBody>
          <a:bodyPr wrap="none" rtlCol="0">
            <a:spAutoFit/>
          </a:bodyPr>
          <a:lstStyle/>
          <a:p>
            <a:r>
              <a:rPr lang="zh-CN" altLang="en-US" sz="1050" b="1" dirty="0"/>
              <a:t>机会点</a:t>
            </a:r>
            <a:r>
              <a:rPr lang="zh-CN" altLang="en-US" sz="1050" dirty="0"/>
              <a:t>：</a:t>
            </a:r>
          </a:p>
        </p:txBody>
      </p:sp>
      <p:sp>
        <p:nvSpPr>
          <p:cNvPr id="22" name="文本框 21"/>
          <p:cNvSpPr txBox="1"/>
          <p:nvPr/>
        </p:nvSpPr>
        <p:spPr>
          <a:xfrm>
            <a:off x="8513865" y="3522044"/>
            <a:ext cx="3379646" cy="4154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司机</a:t>
            </a:r>
            <a:r>
              <a:rPr lang="en-US" altLang="zh-CN" sz="1000" dirty="0"/>
              <a:t>Agent</a:t>
            </a:r>
            <a:r>
              <a:rPr lang="zh-CN" altLang="en-US" sz="1000" dirty="0"/>
              <a:t>提前开启能够抑制各种宠物味道的香氛，并判断宠物大小，智能调节香氛浓度</a:t>
            </a:r>
          </a:p>
        </p:txBody>
      </p:sp>
      <p:sp>
        <p:nvSpPr>
          <p:cNvPr id="23" name="文本框 22"/>
          <p:cNvSpPr txBox="1"/>
          <p:nvPr/>
        </p:nvSpPr>
        <p:spPr>
          <a:xfrm>
            <a:off x="7884000" y="4003575"/>
            <a:ext cx="582930" cy="252730"/>
          </a:xfrm>
          <a:prstGeom prst="rect">
            <a:avLst/>
          </a:prstGeom>
          <a:noFill/>
        </p:spPr>
        <p:txBody>
          <a:bodyPr wrap="none" rtlCol="0">
            <a:spAutoFit/>
          </a:bodyPr>
          <a:lstStyle/>
          <a:p>
            <a:r>
              <a:rPr lang="zh-CN" altLang="en-US" sz="1050" b="1" dirty="0"/>
              <a:t>展望</a:t>
            </a:r>
            <a:r>
              <a:rPr lang="zh-CN" altLang="en-US" sz="1050" dirty="0"/>
              <a:t>：</a:t>
            </a:r>
          </a:p>
        </p:txBody>
      </p:sp>
      <p:sp>
        <p:nvSpPr>
          <p:cNvPr id="25" name="文本框 24"/>
          <p:cNvSpPr txBox="1"/>
          <p:nvPr/>
        </p:nvSpPr>
        <p:spPr>
          <a:xfrm>
            <a:off x="8504928" y="3984525"/>
            <a:ext cx="3379646"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未来可以提供放宠物的设备（可自动收放）</a:t>
            </a:r>
          </a:p>
        </p:txBody>
      </p:sp>
      <p:sp>
        <p:nvSpPr>
          <p:cNvPr id="32" name="文本框 31"/>
          <p:cNvSpPr txBox="1"/>
          <p:nvPr/>
        </p:nvSpPr>
        <p:spPr>
          <a:xfrm>
            <a:off x="7884000" y="4600096"/>
            <a:ext cx="716280" cy="252730"/>
          </a:xfrm>
          <a:prstGeom prst="rect">
            <a:avLst/>
          </a:prstGeom>
          <a:noFill/>
        </p:spPr>
        <p:txBody>
          <a:bodyPr wrap="none" rtlCol="0">
            <a:spAutoFit/>
          </a:bodyPr>
          <a:lstStyle/>
          <a:p>
            <a:r>
              <a:rPr lang="zh-CN" altLang="en-US" sz="1050" b="1" dirty="0"/>
              <a:t>已做到</a:t>
            </a:r>
            <a:r>
              <a:rPr lang="zh-CN" altLang="en-US" sz="1050" dirty="0"/>
              <a:t>：</a:t>
            </a:r>
          </a:p>
        </p:txBody>
      </p:sp>
      <p:sp>
        <p:nvSpPr>
          <p:cNvPr id="40" name="文本框 39"/>
          <p:cNvSpPr txBox="1"/>
          <p:nvPr/>
        </p:nvSpPr>
        <p:spPr>
          <a:xfrm>
            <a:off x="7884000" y="4801546"/>
            <a:ext cx="716280" cy="252730"/>
          </a:xfrm>
          <a:prstGeom prst="rect">
            <a:avLst/>
          </a:prstGeom>
          <a:noFill/>
        </p:spPr>
        <p:txBody>
          <a:bodyPr wrap="none" rtlCol="0">
            <a:spAutoFit/>
          </a:bodyPr>
          <a:lstStyle/>
          <a:p>
            <a:r>
              <a:rPr lang="zh-CN" altLang="en-US" sz="1050" b="1" dirty="0"/>
              <a:t>机会点</a:t>
            </a:r>
            <a:r>
              <a:rPr lang="zh-CN" altLang="en-US" sz="1050" dirty="0"/>
              <a:t>：</a:t>
            </a:r>
          </a:p>
        </p:txBody>
      </p:sp>
      <p:sp>
        <p:nvSpPr>
          <p:cNvPr id="41" name="文本框 40"/>
          <p:cNvSpPr txBox="1"/>
          <p:nvPr/>
        </p:nvSpPr>
        <p:spPr>
          <a:xfrm>
            <a:off x="7884000" y="5895966"/>
            <a:ext cx="582930" cy="252730"/>
          </a:xfrm>
          <a:prstGeom prst="rect">
            <a:avLst/>
          </a:prstGeom>
          <a:noFill/>
        </p:spPr>
        <p:txBody>
          <a:bodyPr wrap="none" rtlCol="0">
            <a:spAutoFit/>
          </a:bodyPr>
          <a:lstStyle/>
          <a:p>
            <a:r>
              <a:rPr lang="zh-CN" altLang="en-US" sz="1050" b="1" dirty="0"/>
              <a:t>展望</a:t>
            </a:r>
            <a:r>
              <a:rPr lang="zh-CN" altLang="en-US" sz="1050" dirty="0"/>
              <a:t>：</a:t>
            </a:r>
          </a:p>
        </p:txBody>
      </p:sp>
      <p:sp>
        <p:nvSpPr>
          <p:cNvPr id="42" name="文本框 41"/>
          <p:cNvSpPr txBox="1"/>
          <p:nvPr/>
        </p:nvSpPr>
        <p:spPr>
          <a:xfrm>
            <a:off x="8497927" y="1841281"/>
            <a:ext cx="3316421" cy="5539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可单独语音控制驾驶模式，监测看护，娱乐等儿童陪护模式</a:t>
            </a:r>
            <a:endParaRPr lang="en-US" altLang="zh-CN" sz="1000" dirty="0"/>
          </a:p>
          <a:p>
            <a:endParaRPr lang="zh-CN" altLang="en-US" sz="1000" dirty="0"/>
          </a:p>
        </p:txBody>
      </p:sp>
      <p:sp>
        <p:nvSpPr>
          <p:cNvPr id="43" name="文本框 42"/>
          <p:cNvSpPr txBox="1"/>
          <p:nvPr/>
        </p:nvSpPr>
        <p:spPr>
          <a:xfrm>
            <a:off x="8525834" y="4628432"/>
            <a:ext cx="3689335"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手动分享钥匙，近距离手机控制泊车，发送地址到车</a:t>
            </a:r>
          </a:p>
        </p:txBody>
      </p:sp>
      <p:sp>
        <p:nvSpPr>
          <p:cNvPr id="45" name="文本框 44"/>
          <p:cNvSpPr txBox="1"/>
          <p:nvPr/>
        </p:nvSpPr>
        <p:spPr>
          <a:xfrm>
            <a:off x="8542061" y="5917961"/>
            <a:ext cx="3724096"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接受远程语音控制车辆行为，到哪里去，去哪里，停哪里</a:t>
            </a:r>
          </a:p>
        </p:txBody>
      </p:sp>
      <p:sp>
        <p:nvSpPr>
          <p:cNvPr id="14" name="文本框 13"/>
          <p:cNvSpPr txBox="1"/>
          <p:nvPr/>
        </p:nvSpPr>
        <p:spPr>
          <a:xfrm>
            <a:off x="3352800" y="2195195"/>
            <a:ext cx="4545965" cy="406400"/>
          </a:xfrm>
          <a:prstGeom prst="rect">
            <a:avLst/>
          </a:prstGeom>
          <a:noFill/>
        </p:spPr>
        <p:txBody>
          <a:bodyPr wrap="square" rtlCol="0">
            <a:spAutoFit/>
          </a:bodyPr>
          <a:lstStyle/>
          <a:p>
            <a:pPr indent="0">
              <a:lnSpc>
                <a:spcPct val="100000"/>
              </a:lnSpc>
              <a:buClrTx/>
              <a:buSzTx/>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rPr>
              <a:t>“带小孩的话，让司机加一个选项，是否有那种儿童座椅，现在人还是比较关注坐垫的”</a:t>
            </a:r>
          </a:p>
          <a:p>
            <a:pPr algn="r">
              <a:lnSpc>
                <a:spcPct val="100000"/>
              </a:lnSpc>
              <a:spcBef>
                <a:spcPts val="300"/>
              </a:spcBef>
              <a:spcAft>
                <a:spcPts val="0"/>
              </a:spcAft>
              <a:buClrTx/>
              <a:buSzTx/>
              <a:buFontTx/>
              <a:buNone/>
            </a:pPr>
            <a:r>
              <a:rPr lang="zh-CN" altLang="en-US" sz="900" i="1" dirty="0">
                <a:latin typeface="微软雅黑" panose="020B0503020204020204" pitchFamily="34" charset="-122"/>
                <a:ea typeface="微软雅黑" panose="020B0503020204020204" pitchFamily="34" charset="-122"/>
                <a:cs typeface="Arial" panose="020B0604020202020204" pitchFamily="34" charset="0"/>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--老师朱先生（快车） 27岁</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文本框 14"/>
          <p:cNvSpPr txBox="1"/>
          <p:nvPr/>
        </p:nvSpPr>
        <p:spPr>
          <a:xfrm>
            <a:off x="3353040" y="3812273"/>
            <a:ext cx="2646163" cy="683895"/>
          </a:xfrm>
          <a:prstGeom prst="rect">
            <a:avLst/>
          </a:prstGeom>
          <a:noFill/>
        </p:spPr>
        <p:txBody>
          <a:bodyPr wrap="square" rtlCol="0">
            <a:spAutoFit/>
          </a:bodyPr>
          <a:lstStyle/>
          <a:p>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en-US" altLang="zh-CN" sz="900" i="1" err="1">
                <a:latin typeface="微软雅黑" panose="020B0503020204020204" pitchFamily="34" charset="-122"/>
                <a:ea typeface="微软雅黑" panose="020B0503020204020204" pitchFamily="34" charset="-122"/>
                <a:cs typeface="Arial" panose="020B0604020202020204" pitchFamily="34" charset="0"/>
              </a:rPr>
              <a:t>讨厌带宠物的</a:t>
            </a:r>
            <a:r>
              <a:rPr lang="en-US" altLang="zh-CN" sz="900" i="1">
                <a:latin typeface="微软雅黑" panose="020B0503020204020204" pitchFamily="34" charset="-122"/>
                <a:ea typeface="微软雅黑" panose="020B0503020204020204" pitchFamily="34" charset="-122"/>
                <a:cs typeface="Arial" panose="020B0604020202020204" pitchFamily="34" charset="0"/>
              </a:rPr>
              <a:t>，滴滴出了宠物单，</a:t>
            </a:r>
            <a:r>
              <a:rPr lang="en-US" altLang="zh-CN" sz="900" i="1" dirty="0" err="1">
                <a:latin typeface="微软雅黑" panose="020B0503020204020204" pitchFamily="34" charset="-122"/>
                <a:ea typeface="微软雅黑" panose="020B0503020204020204" pitchFamily="34" charset="-122"/>
                <a:cs typeface="Arial" panose="020B0604020202020204" pitchFamily="34" charset="0"/>
              </a:rPr>
              <a:t>你正常来讲小猫小狗我是不会拒载的</a:t>
            </a:r>
            <a:r>
              <a:rPr lang="en-US" altLang="zh-CN" sz="900" i="1" err="1">
                <a:latin typeface="微软雅黑" panose="020B0503020204020204" pitchFamily="34" charset="-122"/>
                <a:ea typeface="微软雅黑" panose="020B0503020204020204" pitchFamily="34" charset="-122"/>
                <a:cs typeface="Arial" panose="020B0604020202020204" pitchFamily="34" charset="0"/>
              </a:rPr>
              <a:t>，</a:t>
            </a:r>
            <a:r>
              <a:rPr lang="en-US" altLang="zh-CN" sz="900" i="1">
                <a:latin typeface="微软雅黑" panose="020B0503020204020204" pitchFamily="34" charset="-122"/>
                <a:ea typeface="微软雅黑" panose="020B0503020204020204" pitchFamily="34" charset="-122"/>
                <a:cs typeface="Arial" panose="020B0604020202020204" pitchFamily="34" charset="0"/>
              </a:rPr>
              <a:t>但是如果他牵了一只金毛上来......比人还大，我直接拒载了</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p>
          <a:p>
            <a:pPr algn="r">
              <a:spcBef>
                <a:spcPts val="300"/>
              </a:spcBef>
              <a:spcAft>
                <a:spcPts val="0"/>
              </a:spcAft>
              <a:buClrTx/>
              <a:buSzTx/>
              <a:buFontTx/>
            </a:pPr>
            <a:r>
              <a:rPr lang="en-US" altLang="zh-CN" sz="900" i="1">
                <a:latin typeface="微软雅黑" panose="020B0503020204020204" pitchFamily="34" charset="-122"/>
                <a:ea typeface="微软雅黑" panose="020B0503020204020204" pitchFamily="34" charset="-122"/>
                <a:cs typeface="Arial" panose="020B0604020202020204" pitchFamily="34" charset="0"/>
              </a:rPr>
              <a:t>       </a:t>
            </a:r>
            <a:r>
              <a:rPr lang="zh-CN" altLang="en-US" sz="900" i="1">
                <a:latin typeface="微软雅黑" panose="020B0503020204020204" pitchFamily="34" charset="-122"/>
                <a:ea typeface="微软雅黑" panose="020B0503020204020204" pitchFamily="34" charset="-122"/>
                <a:cs typeface="Arial" panose="020B0604020202020204" pitchFamily="34" charset="0"/>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快车司机陈先生 26岁</a:t>
            </a:r>
          </a:p>
        </p:txBody>
      </p:sp>
      <p:sp>
        <p:nvSpPr>
          <p:cNvPr id="24" name="文本框 23"/>
          <p:cNvSpPr txBox="1"/>
          <p:nvPr/>
        </p:nvSpPr>
        <p:spPr>
          <a:xfrm>
            <a:off x="3353040" y="5387461"/>
            <a:ext cx="2077040" cy="683895"/>
          </a:xfrm>
          <a:prstGeom prst="rect">
            <a:avLst/>
          </a:prstGeom>
          <a:noFill/>
        </p:spPr>
        <p:txBody>
          <a:bodyPr wrap="square" rtlCol="0">
            <a:spAutoFit/>
          </a:bodyPr>
          <a:lstStyle/>
          <a:p>
            <a:pPr indent="0" algn="l">
              <a:lnSpc>
                <a:spcPct val="100000"/>
              </a:lnSpc>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上次在金茂</a:t>
            </a:r>
            <a:r>
              <a:rPr lang="zh-CN" altLang="en-US" sz="900" i="1">
                <a:latin typeface="微软雅黑" panose="020B0503020204020204" pitchFamily="34" charset="-122"/>
                <a:ea typeface="微软雅黑" panose="020B0503020204020204" pitchFamily="34" charset="-122"/>
                <a:cs typeface="Arial" panose="020B0604020202020204" pitchFamily="34" charset="0"/>
              </a:rPr>
              <a:t>大厦那边</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有个人走的，忘记拿行李厢了，他就叫了个单，帮他取，帮</a:t>
            </a:r>
            <a:r>
              <a:rPr lang="zh-CN" altLang="en-US" sz="900" i="1">
                <a:latin typeface="微软雅黑" panose="020B0503020204020204" pitchFamily="34" charset="-122"/>
                <a:ea typeface="微软雅黑" panose="020B0503020204020204" pitchFamily="34" charset="-122"/>
                <a:cs typeface="Arial" panose="020B0604020202020204" pitchFamily="34" charset="0"/>
              </a:rPr>
              <a:t>他送</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zh-CN" altLang="en-US" sz="900" i="1">
                <a:latin typeface="微软雅黑" panose="020B0503020204020204" pitchFamily="34" charset="-122"/>
                <a:ea typeface="微软雅黑" panose="020B0503020204020204" pitchFamily="34" charset="-122"/>
                <a:cs typeface="Arial" panose="020B0604020202020204" pitchFamily="34" charset="0"/>
              </a:rPr>
              <a:t>机场</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那边</a:t>
            </a:r>
            <a:r>
              <a:rPr lang="zh-CN" altLang="en-US" sz="900" i="1">
                <a:latin typeface="微软雅黑" panose="020B0503020204020204" pitchFamily="34" charset="-122"/>
                <a:ea typeface="微软雅黑" panose="020B0503020204020204" pitchFamily="34" charset="-122"/>
                <a:cs typeface="Arial" panose="020B0604020202020204" pitchFamily="34" charset="0"/>
              </a:rPr>
              <a:t>不好停车</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p>
          <a:p>
            <a:pPr indent="0" algn="r">
              <a:lnSpc>
                <a:spcPct val="100000"/>
              </a:lnSpc>
              <a:spcBef>
                <a:spcPts val="300"/>
              </a:spcBef>
              <a:spcAft>
                <a:spcPts val="0"/>
              </a:spcAft>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 快车司机陈先生 26岁</a:t>
            </a:r>
          </a:p>
        </p:txBody>
      </p:sp>
      <p:sp>
        <p:nvSpPr>
          <p:cNvPr id="27" name="文本框 26"/>
          <p:cNvSpPr txBox="1"/>
          <p:nvPr/>
        </p:nvSpPr>
        <p:spPr>
          <a:xfrm>
            <a:off x="6192798" y="3420110"/>
            <a:ext cx="1742161" cy="556260"/>
          </a:xfrm>
          <a:prstGeom prst="rect">
            <a:avLst/>
          </a:prstGeom>
          <a:noFill/>
        </p:spPr>
        <p:txBody>
          <a:bodyPr wrap="square" rtlCol="0">
            <a:noAutofit/>
          </a:bodyPr>
          <a:lstStyle/>
          <a:p>
            <a:pPr indent="0" algn="l">
              <a:buNone/>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养狗的时候司机拒载概率蛮高的，因为我养的是萨摩，那个时候我是会提前打电话给司机，问他能不能带狗上车</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的。五</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个司机里面有三四个都是不愿意的</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gn="r">
              <a:spcBef>
                <a:spcPts val="300"/>
              </a:spcBef>
              <a:spcAft>
                <a:spcPts val="0"/>
              </a:spcAft>
              <a:buClrTx/>
              <a:buSzTx/>
              <a:buFontTx/>
              <a:buNone/>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--老师贾女士（快车） 34岁</a:t>
            </a:r>
          </a:p>
        </p:txBody>
      </p:sp>
      <p:sp>
        <p:nvSpPr>
          <p:cNvPr id="46" name="文本框 45"/>
          <p:cNvSpPr txBox="1"/>
          <p:nvPr/>
        </p:nvSpPr>
        <p:spPr>
          <a:xfrm>
            <a:off x="5644515" y="5389200"/>
            <a:ext cx="2254885" cy="683895"/>
          </a:xfrm>
          <a:prstGeom prst="rect">
            <a:avLst/>
          </a:prstGeom>
          <a:noFill/>
        </p:spPr>
        <p:txBody>
          <a:bodyPr wrap="square" rtlCol="0">
            <a:spAutoFit/>
          </a:bodyPr>
          <a:lstStyle/>
          <a:p>
            <a:pPr indent="0" algn="l">
              <a:lnSpc>
                <a:spcPct val="100000"/>
              </a:lnSpc>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送文件一般人家比较急，老早的来电话问师傅你到了没有</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900" i="1" dirty="0">
              <a:latin typeface="微软雅黑" panose="020B0503020204020204" pitchFamily="34" charset="-122"/>
              <a:ea typeface="微软雅黑" panose="020B0503020204020204" pitchFamily="34" charset="-122"/>
              <a:cs typeface="微软雅黑" panose="020B0503020204020204" pitchFamily="34" charset="-122"/>
            </a:endParaRPr>
          </a:p>
          <a:p>
            <a:pPr algn="r">
              <a:lnSpc>
                <a:spcPct val="100000"/>
              </a:lnSpc>
              <a:spcBef>
                <a:spcPts val="300"/>
              </a:spcBef>
              <a:spcAft>
                <a:spcPts val="0"/>
              </a:spcAft>
              <a:buClrTx/>
              <a:buSzTx/>
              <a:buFontTx/>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专车司机杨先生 38岁	</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p:cNvSpPr txBox="1"/>
          <p:nvPr/>
        </p:nvSpPr>
        <p:spPr>
          <a:xfrm>
            <a:off x="4569007" y="1386047"/>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3175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p:cNvSpPr txBox="1"/>
          <p:nvPr/>
        </p:nvSpPr>
        <p:spPr>
          <a:xfrm>
            <a:off x="405484" y="2374279"/>
            <a:ext cx="1525188" cy="543225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定位不准</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接驾时间较长</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657234" y="138348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623718" y="1395662"/>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sp>
        <p:nvSpPr>
          <p:cNvPr id="29" name="文本占位符 4"/>
          <p:cNvSpPr txBox="1"/>
          <p:nvPr/>
        </p:nvSpPr>
        <p:spPr>
          <a:xfrm>
            <a:off x="201348" y="137268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p:cNvCxnSpPr/>
          <p:nvPr/>
        </p:nvCxnSpPr>
        <p:spPr>
          <a:xfrm>
            <a:off x="1657234"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22924" y="4272087"/>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657234" y="2696095"/>
            <a:ext cx="1773159" cy="492443"/>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路两侧的定位偏差</a:t>
            </a:r>
            <a:endParaRPr lang="en-US" altLang="zh-CN" sz="1050" dirty="0"/>
          </a:p>
          <a:p>
            <a:pPr marL="171450" indent="-171450">
              <a:spcBef>
                <a:spcPts val="600"/>
              </a:spcBef>
              <a:buFont typeface="Arial" panose="020B0604020202020204" pitchFamily="34" charset="0"/>
              <a:buChar char="•"/>
            </a:pPr>
            <a:r>
              <a:rPr lang="zh-CN" altLang="en-US" sz="1050" dirty="0"/>
              <a:t>近距离的定位偏差</a:t>
            </a:r>
          </a:p>
        </p:txBody>
      </p:sp>
      <p:sp>
        <p:nvSpPr>
          <p:cNvPr id="19" name="文本框 18"/>
          <p:cNvSpPr txBox="1"/>
          <p:nvPr/>
        </p:nvSpPr>
        <p:spPr>
          <a:xfrm>
            <a:off x="1638680" y="4700884"/>
            <a:ext cx="1773159" cy="738664"/>
          </a:xfrm>
          <a:prstGeom prst="rect">
            <a:avLst/>
          </a:prstGeom>
          <a:noFill/>
        </p:spPr>
        <p:txBody>
          <a:bodyPr wrap="square" rtlCol="0">
            <a:spAutoFit/>
          </a:bodyPr>
          <a:lstStyle/>
          <a:p>
            <a:pPr marL="171450" indent="-171450">
              <a:buFont typeface="Arial" panose="020B0604020202020204" pitchFamily="34" charset="0"/>
              <a:buChar char="•"/>
            </a:pPr>
            <a:r>
              <a:rPr lang="en-US" altLang="zh-CN" sz="1050" dirty="0"/>
              <a:t>3-5</a:t>
            </a:r>
            <a:r>
              <a:rPr lang="zh-CN" altLang="en-US" sz="1050" dirty="0"/>
              <a:t>分钟以上要电话沟通，避免飞单</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cxnSp>
        <p:nvCxnSpPr>
          <p:cNvPr id="3" name="直接连接符 2"/>
          <p:cNvCxnSpPr/>
          <p:nvPr/>
        </p:nvCxnSpPr>
        <p:spPr>
          <a:xfrm>
            <a:off x="3402031"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58497"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430800" y="1963558"/>
            <a:ext cx="1611630" cy="260350"/>
          </a:xfrm>
          <a:prstGeom prst="rect">
            <a:avLst/>
          </a:prstGeom>
          <a:noFill/>
        </p:spPr>
        <p:txBody>
          <a:bodyPr wrap="none" rtlCol="0">
            <a:spAutoFit/>
          </a:bodyPr>
          <a:lstStyle/>
          <a:p>
            <a:pPr marL="171450" indent="-171450" algn="l">
              <a:buClrTx/>
              <a:buSzTx/>
              <a:buFont typeface="Wingdings" panose="05000000000000000000" pitchFamily="2" charset="2"/>
              <a:buChar char="Ø"/>
            </a:pPr>
            <a:r>
              <a:rPr lang="zh-CN" altLang="en-US" sz="1100" b="1" dirty="0"/>
              <a:t>接驾时马路对面停车</a:t>
            </a:r>
          </a:p>
        </p:txBody>
      </p:sp>
      <p:sp>
        <p:nvSpPr>
          <p:cNvPr id="21" name="文本框 20"/>
          <p:cNvSpPr txBox="1"/>
          <p:nvPr/>
        </p:nvSpPr>
        <p:spPr>
          <a:xfrm>
            <a:off x="3430800" y="4482353"/>
            <a:ext cx="2310130" cy="69913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接驾时很近拥堵，接驾时间长</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接驾距离较远，接驾时间长</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安抚客户尽快到达，及预计时间</a:t>
            </a:r>
          </a:p>
        </p:txBody>
      </p:sp>
      <p:sp>
        <p:nvSpPr>
          <p:cNvPr id="25" name="文本框 24"/>
          <p:cNvSpPr txBox="1"/>
          <p:nvPr/>
        </p:nvSpPr>
        <p:spPr>
          <a:xfrm>
            <a:off x="3430800" y="4280978"/>
            <a:ext cx="310052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接驾时间超过</a:t>
            </a:r>
            <a:r>
              <a:rPr lang="en-US" altLang="zh-CN" sz="1100" b="1" dirty="0"/>
              <a:t>3-5</a:t>
            </a:r>
            <a:r>
              <a:rPr lang="zh-CN" altLang="en-US" sz="1100" b="1" dirty="0"/>
              <a:t>分钟，司机会主打电话沟通</a:t>
            </a:r>
          </a:p>
        </p:txBody>
      </p:sp>
      <p:sp>
        <p:nvSpPr>
          <p:cNvPr id="27" name="文本框 26"/>
          <p:cNvSpPr txBox="1"/>
          <p:nvPr/>
        </p:nvSpPr>
        <p:spPr>
          <a:xfrm>
            <a:off x="3430905" y="2171065"/>
            <a:ext cx="1783080" cy="496570"/>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路中有围挡，需要绕路</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协商走到对面</a:t>
            </a:r>
          </a:p>
        </p:txBody>
      </p:sp>
      <p:sp>
        <p:nvSpPr>
          <p:cNvPr id="44" name="文本框 43"/>
          <p:cNvSpPr txBox="1"/>
          <p:nvPr/>
        </p:nvSpPr>
        <p:spPr>
          <a:xfrm>
            <a:off x="7991921" y="2404822"/>
            <a:ext cx="3963128" cy="1547027"/>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支持更泛化更复杂更自然的语音控制如停到马路对边，往前开</a:t>
            </a:r>
            <a:r>
              <a:rPr lang="en-US" altLang="zh-CN" sz="1050" dirty="0"/>
              <a:t>100</a:t>
            </a:r>
            <a:r>
              <a:rPr lang="zh-CN" altLang="en-US" sz="1050" dirty="0"/>
              <a:t>米，停到那个牌子下面等</a:t>
            </a:r>
            <a:endParaRPr lang="en-US" altLang="zh-CN" sz="1050" dirty="0"/>
          </a:p>
          <a:p>
            <a:pPr marL="171450" indent="-171450">
              <a:lnSpc>
                <a:spcPct val="150000"/>
              </a:lnSpc>
              <a:buFont typeface="Wingdings" panose="05000000000000000000" pitchFamily="2" charset="2"/>
              <a:buChar char="ü"/>
            </a:pPr>
            <a:r>
              <a:rPr lang="zh-CN" altLang="en-US" sz="1050" dirty="0"/>
              <a:t>可授权车外控车或者司机</a:t>
            </a:r>
            <a:r>
              <a:rPr lang="en-US" altLang="zh-CN" sz="1050" dirty="0"/>
              <a:t>agent</a:t>
            </a:r>
            <a:r>
              <a:rPr lang="zh-CN" altLang="en-US" sz="1050" dirty="0"/>
              <a:t>手机客户端控制，告诉车端司机</a:t>
            </a:r>
            <a:r>
              <a:rPr lang="en-US" altLang="zh-CN" sz="1050" dirty="0"/>
              <a:t>Agent</a:t>
            </a:r>
            <a:r>
              <a:rPr lang="zh-CN" altLang="en-US" sz="1050" dirty="0"/>
              <a:t>如何驾驶</a:t>
            </a:r>
            <a:endParaRPr lang="en-US" altLang="zh-CN" sz="1050" dirty="0"/>
          </a:p>
          <a:p>
            <a:pPr marL="171450" indent="-171450">
              <a:lnSpc>
                <a:spcPct val="150000"/>
              </a:lnSpc>
              <a:buFont typeface="Wingdings" panose="05000000000000000000" pitchFamily="2" charset="2"/>
              <a:buChar char="ü"/>
            </a:pPr>
            <a:r>
              <a:rPr lang="zh-CN" altLang="en-US" sz="1050" dirty="0"/>
              <a:t>近距离支持车外语音控制，如掉头，路边停一下等</a:t>
            </a:r>
            <a:endParaRPr lang="en-US" altLang="zh-CN" sz="1050" dirty="0"/>
          </a:p>
          <a:p>
            <a:pPr marL="285750" indent="-285750">
              <a:lnSpc>
                <a:spcPct val="150000"/>
              </a:lnSpc>
              <a:buFont typeface="Wingdings" panose="05000000000000000000" pitchFamily="2" charset="2"/>
              <a:buChar char="Ø"/>
            </a:pPr>
            <a:endParaRPr lang="zh-CN" altLang="en-US" sz="1200" dirty="0"/>
          </a:p>
        </p:txBody>
      </p:sp>
      <p:sp>
        <p:nvSpPr>
          <p:cNvPr id="48" name="文本框 47"/>
          <p:cNvSpPr txBox="1"/>
          <p:nvPr/>
        </p:nvSpPr>
        <p:spPr>
          <a:xfrm>
            <a:off x="5097600" y="1951001"/>
            <a:ext cx="1471930" cy="260350"/>
          </a:xfrm>
          <a:prstGeom prst="rect">
            <a:avLst/>
          </a:prstGeom>
          <a:noFill/>
        </p:spPr>
        <p:txBody>
          <a:bodyPr wrap="none" rtlCol="0">
            <a:spAutoFit/>
          </a:bodyPr>
          <a:lstStyle/>
          <a:p>
            <a:pPr marL="171450" indent="-171450" algn="l">
              <a:buClrTx/>
              <a:buSzTx/>
              <a:buFont typeface="Wingdings" panose="05000000000000000000" pitchFamily="2" charset="2"/>
              <a:buChar char="Ø"/>
            </a:pPr>
            <a:r>
              <a:rPr lang="zh-CN" altLang="en-US" sz="1100" b="1" dirty="0"/>
              <a:t>近距离时沟通位置</a:t>
            </a:r>
          </a:p>
        </p:txBody>
      </p:sp>
      <p:sp>
        <p:nvSpPr>
          <p:cNvPr id="52" name="文本框 51"/>
          <p:cNvSpPr txBox="1"/>
          <p:nvPr/>
        </p:nvSpPr>
        <p:spPr>
          <a:xfrm>
            <a:off x="5097780" y="2164080"/>
            <a:ext cx="2261235" cy="496570"/>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互相描述位置与地址特征，确定开过了，还是还没到</a:t>
            </a:r>
          </a:p>
        </p:txBody>
      </p:sp>
      <p:sp>
        <p:nvSpPr>
          <p:cNvPr id="4" name="文本框 3"/>
          <p:cNvSpPr txBox="1"/>
          <p:nvPr/>
        </p:nvSpPr>
        <p:spPr>
          <a:xfrm>
            <a:off x="7340832" y="2294897"/>
            <a:ext cx="723275" cy="253916"/>
          </a:xfrm>
          <a:prstGeom prst="rect">
            <a:avLst/>
          </a:prstGeom>
          <a:noFill/>
        </p:spPr>
        <p:txBody>
          <a:bodyPr wrap="none" rtlCol="0">
            <a:spAutoFit/>
          </a:bodyPr>
          <a:lstStyle/>
          <a:p>
            <a:r>
              <a:rPr lang="zh-CN" altLang="en-US" sz="1050" b="1" dirty="0"/>
              <a:t>机会点：</a:t>
            </a:r>
          </a:p>
        </p:txBody>
      </p:sp>
      <p:sp>
        <p:nvSpPr>
          <p:cNvPr id="6" name="文本框 5"/>
          <p:cNvSpPr txBox="1"/>
          <p:nvPr/>
        </p:nvSpPr>
        <p:spPr>
          <a:xfrm>
            <a:off x="7403298" y="3573525"/>
            <a:ext cx="588623" cy="253916"/>
          </a:xfrm>
          <a:prstGeom prst="rect">
            <a:avLst/>
          </a:prstGeom>
          <a:noFill/>
        </p:spPr>
        <p:txBody>
          <a:bodyPr wrap="none" rtlCol="0">
            <a:spAutoFit/>
          </a:bodyPr>
          <a:lstStyle/>
          <a:p>
            <a:r>
              <a:rPr lang="zh-CN" altLang="en-US" sz="1050" b="1" dirty="0"/>
              <a:t>展望：</a:t>
            </a:r>
          </a:p>
        </p:txBody>
      </p:sp>
      <p:sp>
        <p:nvSpPr>
          <p:cNvPr id="8" name="文本框 7"/>
          <p:cNvSpPr txBox="1"/>
          <p:nvPr/>
        </p:nvSpPr>
        <p:spPr>
          <a:xfrm>
            <a:off x="7286135" y="1822377"/>
            <a:ext cx="753110" cy="252730"/>
          </a:xfrm>
          <a:prstGeom prst="rect">
            <a:avLst/>
          </a:prstGeom>
          <a:noFill/>
        </p:spPr>
        <p:txBody>
          <a:bodyPr wrap="none" rtlCol="0">
            <a:spAutoFit/>
          </a:bodyPr>
          <a:lstStyle/>
          <a:p>
            <a:r>
              <a:rPr lang="zh-CN" altLang="en-US" sz="1050" b="1" dirty="0"/>
              <a:t> 已做到：</a:t>
            </a:r>
          </a:p>
        </p:txBody>
      </p:sp>
      <p:sp>
        <p:nvSpPr>
          <p:cNvPr id="12" name="文本框 11"/>
          <p:cNvSpPr txBox="1"/>
          <p:nvPr/>
        </p:nvSpPr>
        <p:spPr>
          <a:xfrm>
            <a:off x="7999461" y="1860416"/>
            <a:ext cx="3840990" cy="4154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语音控制智驾往前一点，靠边停车，超过前车等简单指令</a:t>
            </a:r>
            <a:endParaRPr lang="en-US" altLang="zh-CN" sz="1050" dirty="0"/>
          </a:p>
          <a:p>
            <a:pPr marL="171450" indent="-171450">
              <a:buFont typeface="Wingdings" panose="05000000000000000000" pitchFamily="2" charset="2"/>
              <a:buChar char="ü"/>
            </a:pPr>
            <a:r>
              <a:rPr lang="zh-CN" altLang="en-US" sz="1050" dirty="0"/>
              <a:t>车外简单语音控制泊出，如开出来一点</a:t>
            </a:r>
          </a:p>
        </p:txBody>
      </p:sp>
      <p:sp>
        <p:nvSpPr>
          <p:cNvPr id="13" name="文本框 12"/>
          <p:cNvSpPr txBox="1"/>
          <p:nvPr/>
        </p:nvSpPr>
        <p:spPr>
          <a:xfrm>
            <a:off x="7949939" y="3834089"/>
            <a:ext cx="3963127" cy="4308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可使用手机与车端</a:t>
            </a:r>
            <a:r>
              <a:rPr lang="en-US" altLang="zh-CN" sz="1100" dirty="0"/>
              <a:t>agent</a:t>
            </a:r>
            <a:r>
              <a:rPr lang="zh-CN" altLang="en-US" sz="1100" dirty="0"/>
              <a:t>自由对话，像跟人一样，实现车辆控制</a:t>
            </a:r>
          </a:p>
        </p:txBody>
      </p:sp>
      <p:sp>
        <p:nvSpPr>
          <p:cNvPr id="14" name="文本框 13"/>
          <p:cNvSpPr txBox="1"/>
          <p:nvPr/>
        </p:nvSpPr>
        <p:spPr>
          <a:xfrm>
            <a:off x="7376163" y="4962931"/>
            <a:ext cx="723275" cy="253916"/>
          </a:xfrm>
          <a:prstGeom prst="rect">
            <a:avLst/>
          </a:prstGeom>
          <a:noFill/>
        </p:spPr>
        <p:txBody>
          <a:bodyPr wrap="none" rtlCol="0">
            <a:spAutoFit/>
          </a:bodyPr>
          <a:lstStyle/>
          <a:p>
            <a:r>
              <a:rPr lang="zh-CN" altLang="en-US" sz="1050" b="1" dirty="0"/>
              <a:t>机会点：</a:t>
            </a:r>
          </a:p>
        </p:txBody>
      </p:sp>
      <p:sp>
        <p:nvSpPr>
          <p:cNvPr id="15" name="文本框 14"/>
          <p:cNvSpPr txBox="1"/>
          <p:nvPr/>
        </p:nvSpPr>
        <p:spPr>
          <a:xfrm>
            <a:off x="7384668" y="5874360"/>
            <a:ext cx="588623" cy="253916"/>
          </a:xfrm>
          <a:prstGeom prst="rect">
            <a:avLst/>
          </a:prstGeom>
          <a:noFill/>
        </p:spPr>
        <p:txBody>
          <a:bodyPr wrap="none" rtlCol="0">
            <a:spAutoFit/>
          </a:bodyPr>
          <a:lstStyle/>
          <a:p>
            <a:r>
              <a:rPr lang="zh-CN" altLang="en-US" sz="1050" b="1" dirty="0"/>
              <a:t>展望：</a:t>
            </a:r>
          </a:p>
        </p:txBody>
      </p:sp>
      <p:sp>
        <p:nvSpPr>
          <p:cNvPr id="20" name="文本框 19"/>
          <p:cNvSpPr txBox="1"/>
          <p:nvPr/>
        </p:nvSpPr>
        <p:spPr>
          <a:xfrm>
            <a:off x="7326426" y="432283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22" name="文本框 21"/>
          <p:cNvSpPr txBox="1"/>
          <p:nvPr/>
        </p:nvSpPr>
        <p:spPr>
          <a:xfrm>
            <a:off x="7999461" y="4368546"/>
            <a:ext cx="4150567" cy="548292"/>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座舱乘客语音拨打电话，导航显示距离目的地距离与时间，以及当前拥堵情况</a:t>
            </a:r>
          </a:p>
        </p:txBody>
      </p:sp>
      <p:sp>
        <p:nvSpPr>
          <p:cNvPr id="23" name="文本框 22"/>
          <p:cNvSpPr txBox="1"/>
          <p:nvPr/>
        </p:nvSpPr>
        <p:spPr>
          <a:xfrm>
            <a:off x="7999461" y="4981490"/>
            <a:ext cx="4150567" cy="789512"/>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车机端司机</a:t>
            </a:r>
            <a:r>
              <a:rPr lang="en-US" altLang="zh-CN" sz="1050" dirty="0"/>
              <a:t>agent</a:t>
            </a:r>
            <a:r>
              <a:rPr lang="zh-CN" altLang="en-US" sz="1050" dirty="0"/>
              <a:t>，根据当前路况，距离远近，接驾时间，超过</a:t>
            </a:r>
            <a:r>
              <a:rPr lang="en-US" altLang="zh-CN" sz="1050" dirty="0"/>
              <a:t>5</a:t>
            </a:r>
            <a:r>
              <a:rPr lang="zh-CN" altLang="en-US" sz="1050" dirty="0"/>
              <a:t>分钟，超过</a:t>
            </a:r>
            <a:r>
              <a:rPr lang="en-US" altLang="zh-CN" sz="1050" dirty="0"/>
              <a:t>3</a:t>
            </a:r>
            <a:r>
              <a:rPr lang="zh-CN" altLang="en-US" sz="1050" dirty="0"/>
              <a:t>分钟，自动发送到手机客户端</a:t>
            </a:r>
            <a:r>
              <a:rPr lang="en-US" altLang="zh-CN" sz="1050" dirty="0"/>
              <a:t>app</a:t>
            </a:r>
          </a:p>
          <a:p>
            <a:pPr marL="285750" indent="-285750">
              <a:lnSpc>
                <a:spcPct val="150000"/>
              </a:lnSpc>
              <a:buFont typeface="Wingdings" panose="05000000000000000000" pitchFamily="2" charset="2"/>
              <a:buChar char="ü"/>
            </a:pPr>
            <a:r>
              <a:rPr lang="zh-CN" altLang="en-US" sz="1050" dirty="0"/>
              <a:t>自动生成安抚的话术，避免被接人的过于交际</a:t>
            </a:r>
          </a:p>
        </p:txBody>
      </p:sp>
      <p:sp>
        <p:nvSpPr>
          <p:cNvPr id="24" name="文本框 23"/>
          <p:cNvSpPr txBox="1"/>
          <p:nvPr/>
        </p:nvSpPr>
        <p:spPr>
          <a:xfrm>
            <a:off x="7999461" y="5932354"/>
            <a:ext cx="3963127" cy="4308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可使用手机与车端</a:t>
            </a:r>
            <a:r>
              <a:rPr lang="en-US" altLang="zh-CN" sz="1100" dirty="0"/>
              <a:t>agent</a:t>
            </a:r>
            <a:r>
              <a:rPr lang="zh-CN" altLang="en-US" sz="1100" dirty="0"/>
              <a:t>自由对话，像跟人一样，实现信息实时沟通，情感化陪伴</a:t>
            </a:r>
          </a:p>
        </p:txBody>
      </p:sp>
      <p:cxnSp>
        <p:nvCxnSpPr>
          <p:cNvPr id="32" name="直接连接符 25"/>
          <p:cNvCxnSpPr/>
          <p:nvPr/>
        </p:nvCxnSpPr>
        <p:spPr>
          <a:xfrm>
            <a:off x="431787" y="6369975"/>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5097780" y="2811600"/>
            <a:ext cx="2263140" cy="1060450"/>
          </a:xfrm>
          <a:prstGeom prst="rect">
            <a:avLst/>
          </a:prstGeom>
        </p:spPr>
        <p:txBody>
          <a:bodyPr wrap="square">
            <a:spAutoFit/>
          </a:bodyPr>
          <a:lstStyle/>
          <a:p>
            <a:pPr indent="0" algn="l" defTabSz="914400">
              <a:lnSpc>
                <a:spcPct val="100000"/>
              </a:lnSpc>
              <a:buClrTx/>
              <a:buSzTx/>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我觉得比如有的那种不好停车的地方，或者像那种马路，比较偏远的地方，有的到达地方不是很准确，希望它能够有一</a:t>
            </a:r>
            <a:r>
              <a:rPr lang="zh-CN" altLang="en-US" sz="900" i="1">
                <a:latin typeface="微软雅黑" panose="020B0503020204020204" pitchFamily="34" charset="-122"/>
                <a:ea typeface="微软雅黑" panose="020B0503020204020204" pitchFamily="34" charset="-122"/>
                <a:cs typeface="Arial" panose="020B0604020202020204" pitchFamily="34" charset="0"/>
              </a:rPr>
              <a:t>个提醒</a:t>
            </a:r>
            <a:r>
              <a:rPr lang="en-US" altLang="zh-CN" sz="900" i="1">
                <a:latin typeface="微软雅黑" panose="020B0503020204020204" pitchFamily="34" charset="-122"/>
                <a:ea typeface="微软雅黑" panose="020B0503020204020204" pitchFamily="34" charset="-122"/>
                <a:cs typeface="Arial" panose="020B0604020202020204" pitchFamily="34" charset="0"/>
              </a:rPr>
              <a:t>; </a:t>
            </a:r>
            <a:r>
              <a:rPr lang="zh-CN" altLang="en-US" sz="900" i="1">
                <a:latin typeface="微软雅黑" panose="020B0503020204020204" pitchFamily="34" charset="-122"/>
                <a:ea typeface="微软雅黑" panose="020B0503020204020204" pitchFamily="34" charset="-122"/>
                <a:cs typeface="Arial" panose="020B0604020202020204" pitchFamily="34" charset="0"/>
              </a:rPr>
              <a:t>有</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的像路段不方便停车，提前提醒一下具体到哪个地方，不用我自己后面</a:t>
            </a:r>
            <a:r>
              <a:rPr lang="zh-CN" altLang="en-US" sz="900" i="1">
                <a:latin typeface="微软雅黑" panose="020B0503020204020204" pitchFamily="34" charset="-122"/>
                <a:ea typeface="微软雅黑" panose="020B0503020204020204" pitchFamily="34" charset="-122"/>
                <a:cs typeface="Arial" panose="020B0604020202020204" pitchFamily="34" charset="0"/>
              </a:rPr>
              <a:t>再找</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a:p>
            <a:pPr indent="0" algn="r" defTabSz="914400">
              <a:lnSpc>
                <a:spcPct val="100000"/>
              </a:lnSpc>
              <a:buClrTx/>
              <a:buSzTx/>
              <a:buNone/>
            </a:pPr>
            <a:r>
              <a:rPr lang="zh-CN" altLang="en-US" sz="900" i="1">
                <a:latin typeface="微软雅黑" panose="020B0503020204020204" pitchFamily="34" charset="-122"/>
                <a:ea typeface="微软雅黑" panose="020B0503020204020204" pitchFamily="34" charset="-122"/>
                <a:cs typeface="Arial" panose="020B0604020202020204" pitchFamily="34" charset="0"/>
              </a:rPr>
              <a:t>      --</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外贸业务员尤先生（快车） 25岁</a:t>
            </a:r>
          </a:p>
        </p:txBody>
      </p:sp>
      <p:sp>
        <p:nvSpPr>
          <p:cNvPr id="30" name="文本框 29"/>
          <p:cNvSpPr txBox="1"/>
          <p:nvPr/>
        </p:nvSpPr>
        <p:spPr>
          <a:xfrm>
            <a:off x="3430905" y="5168900"/>
            <a:ext cx="3914775" cy="1198880"/>
          </a:xfrm>
          <a:prstGeom prst="rect">
            <a:avLst/>
          </a:prstGeom>
          <a:noFill/>
        </p:spPr>
        <p:txBody>
          <a:bodyPr wrap="square" rtlCol="0">
            <a:spAutoFit/>
          </a:bodyPr>
          <a:lstStyle/>
          <a:p>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我一般接到订单的话，不会主动联系</a:t>
            </a:r>
            <a:r>
              <a:rPr lang="zh-CN" altLang="en-US" sz="900" i="1">
                <a:latin typeface="微软雅黑" panose="020B0503020204020204" pitchFamily="34" charset="-122"/>
                <a:ea typeface="微软雅黑" panose="020B0503020204020204" pitchFamily="34" charset="-122"/>
                <a:cs typeface="Arial" panose="020B0604020202020204" pitchFamily="34" charset="0"/>
              </a:rPr>
              <a:t>乘客的</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等的时间久了</a:t>
            </a:r>
            <a:r>
              <a:rPr lang="zh-CN" altLang="en-US" sz="900" i="1">
                <a:latin typeface="微软雅黑" panose="020B0503020204020204" pitchFamily="34" charset="-122"/>
                <a:ea typeface="微软雅黑" panose="020B0503020204020204" pitchFamily="34" charset="-122"/>
                <a:cs typeface="Arial" panose="020B0604020202020204" pitchFamily="34" charset="0"/>
              </a:rPr>
              <a:t>，过</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5</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分钟这样，就打电话</a:t>
            </a:r>
            <a:r>
              <a:rPr lang="zh-CN" altLang="en-US" sz="900" i="1">
                <a:latin typeface="微软雅黑" panose="020B0503020204020204" pitchFamily="34" charset="-122"/>
                <a:ea typeface="微软雅黑" panose="020B0503020204020204" pitchFamily="34" charset="-122"/>
                <a:cs typeface="Arial" panose="020B0604020202020204" pitchFamily="34" charset="0"/>
              </a:rPr>
              <a:t>给他</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p>
          <a:p>
            <a:pPr algn="r"/>
            <a:r>
              <a:rPr lang="en-US" altLang="zh-CN" sz="900" i="1">
                <a:latin typeface="微软雅黑" panose="020B0503020204020204" pitchFamily="34" charset="-122"/>
                <a:ea typeface="微软雅黑" panose="020B0503020204020204" pitchFamily="34" charset="-122"/>
                <a:cs typeface="Arial" panose="020B0604020202020204" pitchFamily="34" charset="0"/>
              </a:rPr>
              <a:t>                                                                   --专车司机杨先生 38岁</a:t>
            </a:r>
          </a:p>
          <a:p>
            <a:endParaRPr lang="en-US" altLang="zh-CN" sz="900" i="1">
              <a:latin typeface="微软雅黑" panose="020B0503020204020204" pitchFamily="34" charset="-122"/>
              <a:ea typeface="微软雅黑" panose="020B0503020204020204" pitchFamily="34" charset="-122"/>
              <a:cs typeface="Arial" panose="020B0604020202020204" pitchFamily="34" charset="0"/>
            </a:endParaRPr>
          </a:p>
          <a:p>
            <a:pPr indent="0" algn="l">
              <a:lnSpc>
                <a:spcPct val="100000"/>
              </a:lnSpc>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sym typeface="+mn-ea"/>
              </a:rPr>
              <a:t>接单的路程比较久，跟他确定，堵车，万一开一半他取消了，平台给的补贴是很少的，所以尽量避免，先打电话</a:t>
            </a:r>
            <a:r>
              <a:rPr lang="zh-CN" altLang="en-US" sz="900" i="1">
                <a:sym typeface="+mn-ea"/>
              </a:rPr>
              <a:t>询问一能</a:t>
            </a:r>
            <a:r>
              <a:rPr lang="zh-CN" altLang="en-US" sz="900" i="1" dirty="0">
                <a:sym typeface="+mn-ea"/>
              </a:rPr>
              <a:t>接受我就过来，大家达成一致</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a:p>
            <a:pPr indent="0" algn="r">
              <a:lnSpc>
                <a:spcPct val="100000"/>
              </a:lnSpc>
              <a:buNone/>
            </a:pPr>
            <a:r>
              <a:rPr lang="en-US" altLang="zh-CN" sz="900" i="1" dirty="0">
                <a:sym typeface="+mn-ea"/>
              </a:rPr>
              <a:t>                                                                  --</a:t>
            </a:r>
            <a:r>
              <a:rPr lang="zh-CN" altLang="en-US" sz="900" i="1" dirty="0">
                <a:sym typeface="+mn-ea"/>
              </a:rPr>
              <a:t>专/快车司机徐先生 37岁</a:t>
            </a:r>
            <a:endParaRPr lang="zh-CN" altLang="en-US" sz="900" i="1" dirty="0"/>
          </a:p>
        </p:txBody>
      </p:sp>
      <p:sp>
        <p:nvSpPr>
          <p:cNvPr id="31" name="文本框 30"/>
          <p:cNvSpPr txBox="1"/>
          <p:nvPr/>
        </p:nvSpPr>
        <p:spPr>
          <a:xfrm>
            <a:off x="3430800" y="2811145"/>
            <a:ext cx="1671320" cy="922020"/>
          </a:xfrm>
          <a:prstGeom prst="rect">
            <a:avLst/>
          </a:prstGeom>
          <a:noFill/>
        </p:spPr>
        <p:txBody>
          <a:bodyPr wrap="square" rtlCol="0">
            <a:spAutoFit/>
          </a:bodyPr>
          <a:lstStyle/>
          <a:p>
            <a:pPr algn="l">
              <a:lnSpc>
                <a:spcPct val="100000"/>
              </a:lnSpc>
              <a:buClrTx/>
              <a:buSzTx/>
              <a:buFontTx/>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再加上有些时候我的目的地可能需要过条马路，我会跟司机说你也就从对面过来，不然需要先掉头，再掉个头就会很麻烦</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a:p>
            <a:pPr algn="l">
              <a:lnSpc>
                <a:spcPct val="100000"/>
              </a:lnSpc>
              <a:buClrTx/>
              <a:buSzTx/>
              <a:buFontTx/>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--老师朱先生（快车） 27岁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p:cNvSpPr txBox="1"/>
          <p:nvPr/>
        </p:nvSpPr>
        <p:spPr>
          <a:xfrm>
            <a:off x="4332384" y="1395486"/>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32265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p:cNvSpPr txBox="1"/>
          <p:nvPr/>
        </p:nvSpPr>
        <p:spPr>
          <a:xfrm>
            <a:off x="374410" y="653314"/>
            <a:ext cx="1525188" cy="321626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提前叫车等待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698067" y="1359080"/>
            <a:ext cx="1561265"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366445" y="1387411"/>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sp>
        <p:nvSpPr>
          <p:cNvPr id="29" name="文本占位符 4"/>
          <p:cNvSpPr txBox="1"/>
          <p:nvPr/>
        </p:nvSpPr>
        <p:spPr>
          <a:xfrm>
            <a:off x="320111" y="1389551"/>
            <a:ext cx="1307059"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p:cNvCxnSpPr/>
          <p:nvPr/>
        </p:nvCxnSpPr>
        <p:spPr>
          <a:xfrm>
            <a:off x="1596850" y="179643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1627172" y="2487335"/>
            <a:ext cx="1773159" cy="1223412"/>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提前叫车，等待时间过长，如女生、喝酒等</a:t>
            </a:r>
            <a:r>
              <a:rPr lang="en-US" altLang="zh-CN" sz="1050" dirty="0"/>
              <a:t>.</a:t>
            </a:r>
            <a:r>
              <a:rPr lang="zh-CN" altLang="en-US" sz="1050" dirty="0"/>
              <a:t>   </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超过一定时间，司机有多选择</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cxnSp>
        <p:nvCxnSpPr>
          <p:cNvPr id="3" name="直接连接符 2"/>
          <p:cNvCxnSpPr/>
          <p:nvPr/>
        </p:nvCxnSpPr>
        <p:spPr>
          <a:xfrm>
            <a:off x="3259332" y="189106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475282" y="189106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350923" y="2005766"/>
            <a:ext cx="1768433"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个别用户习惯提前叫车</a:t>
            </a:r>
          </a:p>
        </p:txBody>
      </p:sp>
      <p:sp>
        <p:nvSpPr>
          <p:cNvPr id="31" name="文本框 30"/>
          <p:cNvSpPr txBox="1"/>
          <p:nvPr/>
        </p:nvSpPr>
        <p:spPr>
          <a:xfrm>
            <a:off x="5106438" y="2005200"/>
            <a:ext cx="247375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超过系统等待时间司机有多种选择</a:t>
            </a:r>
          </a:p>
        </p:txBody>
      </p:sp>
      <p:sp>
        <p:nvSpPr>
          <p:cNvPr id="35" name="文本框 34"/>
          <p:cNvSpPr txBox="1"/>
          <p:nvPr/>
        </p:nvSpPr>
        <p:spPr>
          <a:xfrm>
            <a:off x="3368468" y="2213344"/>
            <a:ext cx="1471930" cy="69913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司机反馈女性群体</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聚会喝酒人员</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个人习惯，车等人</a:t>
            </a:r>
          </a:p>
        </p:txBody>
      </p:sp>
      <p:sp>
        <p:nvSpPr>
          <p:cNvPr id="37" name="文本框 36"/>
          <p:cNvSpPr txBox="1"/>
          <p:nvPr/>
        </p:nvSpPr>
        <p:spPr>
          <a:xfrm>
            <a:off x="5104765" y="2205355"/>
            <a:ext cx="2369820" cy="69913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司</a:t>
            </a:r>
            <a:r>
              <a:rPr lang="zh-CN" altLang="en-US" sz="1100" dirty="0"/>
              <a:t>机有的选择超时取消，或沟通后取消</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司机有的选择沟通后继续等待</a:t>
            </a:r>
          </a:p>
        </p:txBody>
      </p:sp>
      <p:sp>
        <p:nvSpPr>
          <p:cNvPr id="38" name="文本框 37"/>
          <p:cNvSpPr txBox="1"/>
          <p:nvPr/>
        </p:nvSpPr>
        <p:spPr>
          <a:xfrm>
            <a:off x="8141616" y="2069238"/>
            <a:ext cx="3743328" cy="1454244"/>
          </a:xfrm>
          <a:prstGeom prst="rect">
            <a:avLst/>
          </a:prstGeom>
          <a:noFill/>
        </p:spPr>
        <p:txBody>
          <a:bodyPr wrap="square" rtlCol="0">
            <a:spAutoFit/>
          </a:bodyPr>
          <a:lstStyle/>
          <a:p>
            <a:pPr marL="285750" indent="-285750">
              <a:buFont typeface="Wingdings" panose="05000000000000000000" pitchFamily="2" charset="2"/>
              <a:buChar char="ü"/>
            </a:pPr>
            <a:endParaRPr lang="en-US" altLang="zh-CN" sz="1050" dirty="0"/>
          </a:p>
          <a:p>
            <a:pPr marL="285750" indent="-2857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可选择距离接驾点相对好停车的位置，提前停车等待，乘客快到路边，马上开过去</a:t>
            </a:r>
            <a:endParaRPr lang="en-US" altLang="zh-CN" sz="1050" dirty="0"/>
          </a:p>
          <a:p>
            <a:pPr marL="171450" indent="-171450">
              <a:spcBef>
                <a:spcPts val="600"/>
              </a:spcBef>
              <a:buFont typeface="Wingdings" panose="05000000000000000000" pitchFamily="2" charset="2"/>
              <a:buChar char="ü"/>
            </a:pPr>
            <a:r>
              <a:rPr lang="zh-CN" altLang="en-US" sz="1050" dirty="0"/>
              <a:t>根据目的地址，沟通内容与状态，判断乘客的状态，是否喝酒，做好长时停车的准备</a:t>
            </a:r>
            <a:endParaRPr lang="en-US" altLang="zh-CN" sz="1050" dirty="0"/>
          </a:p>
          <a:p>
            <a:pPr marL="171450" indent="-171450">
              <a:spcBef>
                <a:spcPts val="600"/>
              </a:spcBef>
              <a:buFont typeface="Wingdings" panose="05000000000000000000" pitchFamily="2" charset="2"/>
              <a:buChar char="ü"/>
            </a:pPr>
            <a:r>
              <a:rPr lang="en-US" altLang="zh-CN" sz="1050" dirty="0"/>
              <a:t> </a:t>
            </a:r>
            <a:r>
              <a:rPr lang="zh-CN" altLang="en-US" sz="1050" dirty="0"/>
              <a:t>  实时判断乘客的位置，如果已经到路边马上开过去</a:t>
            </a:r>
            <a:endParaRPr lang="en-US" altLang="zh-CN" sz="1050" dirty="0"/>
          </a:p>
          <a:p>
            <a:pPr marL="285750" indent="-285750">
              <a:buFont typeface="Wingdings" panose="05000000000000000000" pitchFamily="2" charset="2"/>
              <a:buChar char="ü"/>
            </a:pPr>
            <a:endParaRPr lang="zh-CN" altLang="en-US" sz="1050" dirty="0"/>
          </a:p>
        </p:txBody>
      </p:sp>
      <p:sp>
        <p:nvSpPr>
          <p:cNvPr id="4" name="文本框 3"/>
          <p:cNvSpPr txBox="1"/>
          <p:nvPr/>
        </p:nvSpPr>
        <p:spPr>
          <a:xfrm>
            <a:off x="7543444" y="2256429"/>
            <a:ext cx="723275" cy="253916"/>
          </a:xfrm>
          <a:prstGeom prst="rect">
            <a:avLst/>
          </a:prstGeom>
          <a:noFill/>
        </p:spPr>
        <p:txBody>
          <a:bodyPr wrap="none" rtlCol="0">
            <a:spAutoFit/>
          </a:bodyPr>
          <a:lstStyle/>
          <a:p>
            <a:r>
              <a:rPr lang="zh-CN" altLang="en-US" sz="1050" b="1" dirty="0"/>
              <a:t>机会点：</a:t>
            </a:r>
          </a:p>
        </p:txBody>
      </p:sp>
      <p:sp>
        <p:nvSpPr>
          <p:cNvPr id="6" name="文本框 5"/>
          <p:cNvSpPr txBox="1"/>
          <p:nvPr/>
        </p:nvSpPr>
        <p:spPr>
          <a:xfrm>
            <a:off x="7609054" y="3323396"/>
            <a:ext cx="588623" cy="253916"/>
          </a:xfrm>
          <a:prstGeom prst="rect">
            <a:avLst/>
          </a:prstGeom>
          <a:noFill/>
        </p:spPr>
        <p:txBody>
          <a:bodyPr wrap="none" rtlCol="0">
            <a:spAutoFit/>
          </a:bodyPr>
          <a:lstStyle/>
          <a:p>
            <a:r>
              <a:rPr lang="zh-CN" altLang="en-US" sz="1050" b="1" dirty="0"/>
              <a:t>展望：</a:t>
            </a:r>
          </a:p>
        </p:txBody>
      </p:sp>
      <p:sp>
        <p:nvSpPr>
          <p:cNvPr id="8" name="文本框 7"/>
          <p:cNvSpPr txBox="1"/>
          <p:nvPr/>
        </p:nvSpPr>
        <p:spPr>
          <a:xfrm>
            <a:off x="7525010" y="182095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cxnSp>
        <p:nvCxnSpPr>
          <p:cNvPr id="15" name="直接连接符 14"/>
          <p:cNvCxnSpPr/>
          <p:nvPr/>
        </p:nvCxnSpPr>
        <p:spPr>
          <a:xfrm>
            <a:off x="534838" y="4051060"/>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74410" y="2876847"/>
            <a:ext cx="1525188" cy="2970044"/>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私人司机接驾</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596850" y="4824460"/>
            <a:ext cx="1773159" cy="577081"/>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私人司机的老板见客户出来，希望门口上车更有面子</a:t>
            </a:r>
          </a:p>
        </p:txBody>
      </p:sp>
      <p:sp>
        <p:nvSpPr>
          <p:cNvPr id="24" name="文本框 23"/>
          <p:cNvSpPr txBox="1"/>
          <p:nvPr/>
        </p:nvSpPr>
        <p:spPr>
          <a:xfrm>
            <a:off x="3368701" y="4491803"/>
            <a:ext cx="2129689" cy="69913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希望能在大厅门口</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商业写字楼大楼专用上车处</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高档酒店门口</a:t>
            </a:r>
          </a:p>
        </p:txBody>
      </p:sp>
      <p:sp>
        <p:nvSpPr>
          <p:cNvPr id="32" name="文本框 31"/>
          <p:cNvSpPr txBox="1"/>
          <p:nvPr/>
        </p:nvSpPr>
        <p:spPr>
          <a:xfrm>
            <a:off x="3347777" y="424363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最好接驾地点</a:t>
            </a:r>
          </a:p>
        </p:txBody>
      </p:sp>
      <p:sp>
        <p:nvSpPr>
          <p:cNvPr id="33" name="文本框 32"/>
          <p:cNvSpPr txBox="1"/>
          <p:nvPr/>
        </p:nvSpPr>
        <p:spPr>
          <a:xfrm>
            <a:off x="5644173" y="4250442"/>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最好接驾时间</a:t>
            </a:r>
          </a:p>
        </p:txBody>
      </p:sp>
      <p:sp>
        <p:nvSpPr>
          <p:cNvPr id="39" name="文本框 38"/>
          <p:cNvSpPr txBox="1"/>
          <p:nvPr/>
        </p:nvSpPr>
        <p:spPr>
          <a:xfrm>
            <a:off x="5675571" y="4471022"/>
            <a:ext cx="1622531" cy="49657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稍微提前一点到达</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要车等人</a:t>
            </a:r>
          </a:p>
        </p:txBody>
      </p:sp>
      <p:sp>
        <p:nvSpPr>
          <p:cNvPr id="41" name="文本框 40"/>
          <p:cNvSpPr txBox="1"/>
          <p:nvPr/>
        </p:nvSpPr>
        <p:spPr>
          <a:xfrm>
            <a:off x="8141616" y="1991690"/>
            <a:ext cx="3743332" cy="261610"/>
          </a:xfrm>
          <a:prstGeom prst="rect">
            <a:avLst/>
          </a:prstGeom>
          <a:noFill/>
        </p:spPr>
        <p:txBody>
          <a:bodyPr wrap="none" rtlCol="0">
            <a:spAutoFit/>
          </a:bodyPr>
          <a:lstStyle/>
          <a:p>
            <a:pPr marL="171450" indent="-171450">
              <a:buFont typeface="Wingdings" panose="05000000000000000000" pitchFamily="2" charset="2"/>
              <a:buChar char="ü"/>
            </a:pPr>
            <a:r>
              <a:rPr lang="zh-CN" altLang="en-US" sz="1100" dirty="0"/>
              <a:t>司机端能看到乘客端与上车点位置，可开启智驾开过去</a:t>
            </a:r>
          </a:p>
        </p:txBody>
      </p:sp>
      <p:sp>
        <p:nvSpPr>
          <p:cNvPr id="45" name="文本框 44"/>
          <p:cNvSpPr txBox="1"/>
          <p:nvPr/>
        </p:nvSpPr>
        <p:spPr>
          <a:xfrm>
            <a:off x="8118277" y="3591462"/>
            <a:ext cx="3589022" cy="430887"/>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判断乘客的长期习惯特征，进行特殊的处理是马上就到，还是稍等再到，做好长时停车的准备</a:t>
            </a:r>
            <a:endParaRPr lang="en-US" altLang="zh-CN" sz="1050" dirty="0"/>
          </a:p>
        </p:txBody>
      </p:sp>
      <p:sp>
        <p:nvSpPr>
          <p:cNvPr id="46" name="文本框 45"/>
          <p:cNvSpPr txBox="1"/>
          <p:nvPr/>
        </p:nvSpPr>
        <p:spPr>
          <a:xfrm>
            <a:off x="7524974" y="4123484"/>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47" name="文本框 46"/>
          <p:cNvSpPr txBox="1"/>
          <p:nvPr/>
        </p:nvSpPr>
        <p:spPr>
          <a:xfrm>
            <a:off x="8198607" y="4133722"/>
            <a:ext cx="3566196" cy="577081"/>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智驾支持车位到车位的城市</a:t>
            </a:r>
            <a:r>
              <a:rPr lang="en-US" altLang="zh-CN" sz="1050" dirty="0"/>
              <a:t>NOA</a:t>
            </a:r>
            <a:r>
              <a:rPr lang="zh-CN" altLang="en-US" sz="1050" dirty="0"/>
              <a:t>，但不支持园区和场站临停的停车点如专门上下车处的这类能力</a:t>
            </a:r>
            <a:endParaRPr lang="en-US" altLang="zh-CN" sz="1050" dirty="0"/>
          </a:p>
          <a:p>
            <a:pPr marL="171450" indent="-171450">
              <a:buFont typeface="Wingdings" panose="05000000000000000000" pitchFamily="2" charset="2"/>
              <a:buChar char="ü"/>
            </a:pPr>
            <a:r>
              <a:rPr lang="zh-CN" altLang="en-US" sz="1050" dirty="0"/>
              <a:t>临停地点的导航也没有</a:t>
            </a:r>
            <a:endParaRPr lang="en-US" altLang="zh-CN" sz="1050" dirty="0"/>
          </a:p>
        </p:txBody>
      </p:sp>
      <p:sp>
        <p:nvSpPr>
          <p:cNvPr id="50" name="文本框 49"/>
          <p:cNvSpPr txBox="1"/>
          <p:nvPr/>
        </p:nvSpPr>
        <p:spPr>
          <a:xfrm>
            <a:off x="7539623" y="4689283"/>
            <a:ext cx="760144" cy="253916"/>
          </a:xfrm>
          <a:prstGeom prst="rect">
            <a:avLst/>
          </a:prstGeom>
          <a:noFill/>
        </p:spPr>
        <p:txBody>
          <a:bodyPr wrap="none" rtlCol="0">
            <a:spAutoFit/>
          </a:bodyPr>
          <a:lstStyle/>
          <a:p>
            <a:r>
              <a:rPr lang="zh-CN" altLang="en-US" sz="1050" dirty="0"/>
              <a:t> </a:t>
            </a:r>
            <a:r>
              <a:rPr lang="zh-CN" altLang="en-US" sz="1050" b="1" dirty="0"/>
              <a:t>机会点</a:t>
            </a:r>
            <a:r>
              <a:rPr lang="zh-CN" altLang="en-US" sz="1050" dirty="0"/>
              <a:t>：</a:t>
            </a:r>
          </a:p>
        </p:txBody>
      </p:sp>
      <p:sp>
        <p:nvSpPr>
          <p:cNvPr id="53" name="文本框 52"/>
          <p:cNvSpPr txBox="1"/>
          <p:nvPr/>
        </p:nvSpPr>
        <p:spPr>
          <a:xfrm>
            <a:off x="8198607" y="4823711"/>
            <a:ext cx="3566196" cy="90024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智驾导航能够支持内部场地内，临停地点作为目的地，如大厅门口，写字楼上下车处，高档酒店门口</a:t>
            </a:r>
            <a:endParaRPr lang="en-US" altLang="zh-CN" sz="1050" dirty="0"/>
          </a:p>
          <a:p>
            <a:pPr marL="171450" indent="-171450">
              <a:buFont typeface="Wingdings" panose="05000000000000000000" pitchFamily="2" charset="2"/>
              <a:buChar char="ü"/>
            </a:pPr>
            <a:r>
              <a:rPr lang="zh-CN" altLang="en-US" sz="1050" dirty="0"/>
              <a:t>能够判断乘客位置与临时上车点位置，智能掌握开到临时停靠的时机，或者能识别乘客，看到乘客，能够马上开过去</a:t>
            </a:r>
          </a:p>
        </p:txBody>
      </p:sp>
      <p:sp>
        <p:nvSpPr>
          <p:cNvPr id="55" name="文本框 54"/>
          <p:cNvSpPr txBox="1"/>
          <p:nvPr/>
        </p:nvSpPr>
        <p:spPr>
          <a:xfrm>
            <a:off x="7609053" y="5691508"/>
            <a:ext cx="588623" cy="253916"/>
          </a:xfrm>
          <a:prstGeom prst="rect">
            <a:avLst/>
          </a:prstGeom>
          <a:noFill/>
        </p:spPr>
        <p:txBody>
          <a:bodyPr wrap="none" rtlCol="0">
            <a:spAutoFit/>
          </a:bodyPr>
          <a:lstStyle/>
          <a:p>
            <a:r>
              <a:rPr lang="zh-CN" altLang="en-US" sz="1050" b="1" dirty="0"/>
              <a:t>展望：</a:t>
            </a:r>
          </a:p>
        </p:txBody>
      </p:sp>
      <p:sp>
        <p:nvSpPr>
          <p:cNvPr id="57" name="文本框 56"/>
          <p:cNvSpPr txBox="1"/>
          <p:nvPr/>
        </p:nvSpPr>
        <p:spPr>
          <a:xfrm>
            <a:off x="8141616" y="5752606"/>
            <a:ext cx="3589022" cy="253916"/>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所有内部路与园区路等各种路基，城市</a:t>
            </a:r>
            <a:r>
              <a:rPr lang="en-US" altLang="zh-CN" sz="1050" dirty="0"/>
              <a:t>NOA</a:t>
            </a:r>
            <a:r>
              <a:rPr lang="zh-CN" altLang="en-US" sz="1050" dirty="0"/>
              <a:t>都能支持</a:t>
            </a:r>
            <a:endParaRPr lang="en-US" altLang="zh-CN" sz="1050" dirty="0"/>
          </a:p>
        </p:txBody>
      </p:sp>
      <p:sp>
        <p:nvSpPr>
          <p:cNvPr id="7" name="文本框 6"/>
          <p:cNvSpPr txBox="1"/>
          <p:nvPr/>
        </p:nvSpPr>
        <p:spPr>
          <a:xfrm>
            <a:off x="3302000" y="3030855"/>
            <a:ext cx="1913890" cy="822325"/>
          </a:xfrm>
          <a:prstGeom prst="rect">
            <a:avLst/>
          </a:prstGeom>
          <a:noFill/>
        </p:spPr>
        <p:txBody>
          <a:bodyPr wrap="square" rtlCol="0">
            <a:spAutoFit/>
          </a:bodyPr>
          <a:lstStyle/>
          <a:p>
            <a:r>
              <a:rPr lang="zh-CN" altLang="en-US" sz="900" i="1" dirty="0">
                <a:latin typeface="微软雅黑" panose="020B0503020204020204" pitchFamily="34" charset="-122"/>
                <a:ea typeface="微软雅黑" panose="020B0503020204020204" pitchFamily="34" charset="-122"/>
                <a:cs typeface="Arial" panose="020B0604020202020204" pitchFamily="34" charset="0"/>
              </a:rPr>
              <a:t>“因为本来就有免费等待时间，早上起来先打完了车，把该做的事情先做完</a:t>
            </a:r>
            <a:r>
              <a:rPr lang="zh-CN" altLang="en-US" sz="900" i="1">
                <a:latin typeface="微软雅黑" panose="020B0503020204020204" pitchFamily="34" charset="-122"/>
                <a:ea typeface="微软雅黑" panose="020B0503020204020204" pitchFamily="34" charset="-122"/>
                <a:cs typeface="Arial" panose="020B0604020202020204" pitchFamily="34" charset="0"/>
              </a:rPr>
              <a:t>，再下去</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a:t>
            </a:r>
          </a:p>
          <a:p>
            <a:pPr algn="r">
              <a:lnSpc>
                <a:spcPct val="100000"/>
              </a:lnSpc>
              <a:spcBef>
                <a:spcPts val="300"/>
              </a:spcBef>
              <a:spcAft>
                <a:spcPts val="0"/>
              </a:spcAft>
              <a:buClrTx/>
              <a:buSzTx/>
              <a:buFontTx/>
            </a:pPr>
            <a:r>
              <a:rPr lang="en-US" altLang="zh-CN" sz="900" i="1" dirty="0">
                <a:latin typeface="微软雅黑" panose="020B0503020204020204" pitchFamily="34" charset="-122"/>
                <a:ea typeface="微软雅黑" panose="020B0503020204020204" pitchFamily="34" charset="-122"/>
                <a:cs typeface="Arial" panose="020B0604020202020204" pitchFamily="34" charset="0"/>
              </a:rPr>
              <a:t> --海外投资林先生（快车） 38岁</a:t>
            </a:r>
          </a:p>
          <a:p>
            <a:pPr algn="r">
              <a:lnSpc>
                <a:spcPct val="100000"/>
              </a:lnSpc>
              <a:buClrTx/>
              <a:buSzTx/>
              <a:buFontTx/>
            </a:pPr>
            <a:endParaRPr lang="en-US" altLang="zh-CN" sz="900" i="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文本框 8"/>
          <p:cNvSpPr txBox="1"/>
          <p:nvPr/>
        </p:nvSpPr>
        <p:spPr>
          <a:xfrm>
            <a:off x="5234305" y="3031490"/>
            <a:ext cx="2223770" cy="783590"/>
          </a:xfrm>
          <a:prstGeom prst="rect">
            <a:avLst/>
          </a:prstGeom>
          <a:noFill/>
        </p:spPr>
        <p:txBody>
          <a:bodyPr wrap="square" rtlCol="0">
            <a:spAutoFit/>
          </a:bodyPr>
          <a:lstStyle/>
          <a:p>
            <a:pPr indent="0">
              <a:lnSpc>
                <a:spcPct val="100000"/>
              </a:lnSpc>
              <a:buClrTx/>
              <a:buSzTx/>
              <a:buNone/>
            </a:pP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“开晚上会碰到喝酒喝多</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的乘客，</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提前把车打了</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，等</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5</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分钟他不出来，我也会打电话，等个两三分钟会打电话，不出来就</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取消了”</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endParaRPr>
          </a:p>
          <a:p>
            <a:pPr indent="0" algn="r">
              <a:lnSpc>
                <a:spcPct val="100000"/>
              </a:lnSpc>
              <a:buClrTx/>
              <a:buSzTx/>
              <a:buNone/>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--快车司机陈先生 26岁</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文本框 10"/>
          <p:cNvSpPr txBox="1"/>
          <p:nvPr/>
        </p:nvSpPr>
        <p:spPr>
          <a:xfrm>
            <a:off x="3417510" y="5236433"/>
            <a:ext cx="1932940" cy="683895"/>
          </a:xfrm>
          <a:prstGeom prst="rect">
            <a:avLst/>
          </a:prstGeom>
          <a:noFill/>
        </p:spPr>
        <p:txBody>
          <a:bodyPr wrap="square">
            <a:spAutoFit/>
          </a:bodyPr>
          <a:lstStyle/>
          <a:p>
            <a:pPr indent="0">
              <a:lnSpc>
                <a:spcPct val="100000"/>
              </a:lnSpc>
              <a:buClrTx/>
              <a:buSzTx/>
              <a:buNone/>
            </a:pP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“对人家总归要有点腔调，我自己有</a:t>
            </a:r>
            <a:r>
              <a:rPr lang="zh-CN" altLang="en-US" sz="900" i="1">
                <a:latin typeface="微软雅黑" panose="020B0503020204020204" pitchFamily="34" charset="-122"/>
                <a:ea typeface="微软雅黑" panose="020B0503020204020204" pitchFamily="34" charset="-122"/>
                <a:cs typeface="Arial" panose="020B0604020202020204" pitchFamily="34" charset="0"/>
              </a:rPr>
              <a:t>司机的，下来</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就应该看到司机我直接上车了”</a:t>
            </a:r>
          </a:p>
          <a:p>
            <a:pPr algn="r">
              <a:lnSpc>
                <a:spcPct val="100000"/>
              </a:lnSpc>
              <a:spcBef>
                <a:spcPts val="300"/>
              </a:spcBef>
              <a:spcAft>
                <a:spcPts val="0"/>
              </a:spcAft>
              <a:buClrTx/>
              <a:buSzTx/>
              <a:buFontTx/>
              <a:buNone/>
            </a:pPr>
            <a:r>
              <a:rPr lang="zh-CN" altLang="en-US" sz="900" i="1" dirty="0">
                <a:latin typeface="微软雅黑" panose="020B0503020204020204" pitchFamily="34" charset="-122"/>
                <a:ea typeface="微软雅黑" panose="020B0503020204020204" pitchFamily="34" charset="-122"/>
                <a:cs typeface="Arial" panose="020B0604020202020204" pitchFamily="34" charset="0"/>
              </a:rPr>
              <a:t>         --私人司机王先生 36岁</a:t>
            </a:r>
          </a:p>
        </p:txBody>
      </p:sp>
      <p:sp>
        <p:nvSpPr>
          <p:cNvPr id="12" name="文本框 11"/>
          <p:cNvSpPr txBox="1"/>
          <p:nvPr/>
        </p:nvSpPr>
        <p:spPr>
          <a:xfrm>
            <a:off x="5484220" y="5247943"/>
            <a:ext cx="1971163" cy="683895"/>
          </a:xfrm>
          <a:prstGeom prst="rect">
            <a:avLst/>
          </a:prstGeom>
          <a:noFill/>
        </p:spPr>
        <p:txBody>
          <a:bodyPr wrap="square">
            <a:spAutoFit/>
          </a:bodyPr>
          <a:lstStyle/>
          <a:p>
            <a:pPr indent="0"/>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a:latin typeface="微软雅黑" panose="020B0503020204020204" pitchFamily="34" charset="-122"/>
                <a:ea typeface="微软雅黑" panose="020B0503020204020204" pitchFamily="34" charset="-122"/>
                <a:cs typeface="Arial" panose="020B0604020202020204" pitchFamily="34" charset="0"/>
              </a:rPr>
              <a:t>一般我</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总会先到个半个，打个比方，他八点钟用车，我基本上七点钟左右就到车旁边了</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a:p>
            <a:pPr algn="r">
              <a:lnSpc>
                <a:spcPct val="100000"/>
              </a:lnSpc>
              <a:spcBef>
                <a:spcPts val="300"/>
              </a:spcBef>
              <a:spcAft>
                <a:spcPts val="0"/>
              </a:spcAft>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--私人司机王先生 36岁</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p:cNvSpPr txBox="1"/>
          <p:nvPr/>
        </p:nvSpPr>
        <p:spPr>
          <a:xfrm>
            <a:off x="3599210" y="1389830"/>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p:cNvSpPr txBox="1"/>
          <p:nvPr/>
        </p:nvSpPr>
        <p:spPr>
          <a:xfrm>
            <a:off x="460351" y="1944702"/>
            <a:ext cx="1001081" cy="470898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交通管制地点不好接驾</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接驾地点不好停车</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33304"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31075"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912186" y="172262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320111" y="1389551"/>
            <a:ext cx="114980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p:cNvCxnSpPr/>
          <p:nvPr/>
        </p:nvCxnSpPr>
        <p:spPr>
          <a:xfrm>
            <a:off x="1445142" y="172262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a:off x="698651" y="3654955"/>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492069" y="2261232"/>
            <a:ext cx="1476090" cy="815608"/>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演唱会等交通管制地点后，约定停车地点无法到达</a:t>
            </a:r>
            <a:endParaRPr lang="en-US" altLang="zh-CN" sz="1050" dirty="0"/>
          </a:p>
          <a:p>
            <a:pPr marL="171450" indent="-171450">
              <a:spcBef>
                <a:spcPts val="600"/>
              </a:spcBef>
              <a:buFont typeface="Arial" panose="020B0604020202020204" pitchFamily="34" charset="0"/>
              <a:buChar char="•"/>
            </a:pPr>
            <a:r>
              <a:rPr lang="zh-CN" altLang="en-US" sz="1050" dirty="0"/>
              <a:t>线下扫码下单打车</a:t>
            </a:r>
          </a:p>
        </p:txBody>
      </p:sp>
      <p:sp>
        <p:nvSpPr>
          <p:cNvPr id="17" name="文本框 16"/>
          <p:cNvSpPr txBox="1"/>
          <p:nvPr/>
        </p:nvSpPr>
        <p:spPr>
          <a:xfrm>
            <a:off x="1992539" y="4793594"/>
            <a:ext cx="1773159" cy="577081"/>
          </a:xfrm>
          <a:prstGeom prst="rect">
            <a:avLst/>
          </a:prstGeom>
          <a:noFill/>
        </p:spPr>
        <p:txBody>
          <a:bodyPr wrap="square" rtlCol="0">
            <a:spAutoFit/>
          </a:bodyPr>
          <a:lstStyle/>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5" name="文本框 4"/>
          <p:cNvSpPr txBox="1"/>
          <p:nvPr/>
        </p:nvSpPr>
        <p:spPr>
          <a:xfrm>
            <a:off x="1469911" y="4407880"/>
            <a:ext cx="1773159" cy="169277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黄线无法停车</a:t>
            </a: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r>
              <a:rPr lang="zh-CN" altLang="en-US" sz="1050" dirty="0">
                <a:solidFill>
                  <a:srgbClr val="000000"/>
                </a:solidFill>
                <a:latin typeface="微软雅黑" panose="020B0503020204020204" pitchFamily="34" charset="-122"/>
                <a:ea typeface="微软雅黑" panose="020B0503020204020204" pitchFamily="34" charset="-122"/>
              </a:rPr>
              <a:t>停车位资源紧张</a:t>
            </a:r>
            <a:endParaRPr lang="en-US" altLang="zh-CN" sz="1050" dirty="0">
              <a:solidFill>
                <a:srgbClr val="000000"/>
              </a:solidFill>
              <a:latin typeface="微软雅黑" panose="020B0503020204020204" pitchFamily="34" charset="-122"/>
              <a:ea typeface="微软雅黑" panose="020B0503020204020204" pitchFamily="34" charset="-122"/>
            </a:endParaRPr>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p:cNvCxnSpPr/>
          <p:nvPr/>
        </p:nvCxnSpPr>
        <p:spPr>
          <a:xfrm>
            <a:off x="6744394" y="1780651"/>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4975200" y="1996440"/>
            <a:ext cx="1760220" cy="260350"/>
          </a:xfrm>
          <a:prstGeom prst="rect">
            <a:avLst/>
          </a:prstGeom>
          <a:noFill/>
        </p:spPr>
        <p:txBody>
          <a:bodyPr wrap="square">
            <a:spAutoFit/>
          </a:bodyPr>
          <a:lstStyle/>
          <a:p>
            <a:pPr marL="171450" indent="-171450" algn="l">
              <a:buClrTx/>
              <a:buSzTx/>
              <a:buFont typeface="Wingdings" panose="05000000000000000000" pitchFamily="2" charset="2"/>
              <a:buChar char="Ø"/>
            </a:pPr>
            <a:r>
              <a:rPr lang="zh-CN" altLang="en-US" sz="1100" b="1" dirty="0"/>
              <a:t>线下扫码下单打车</a:t>
            </a:r>
          </a:p>
        </p:txBody>
      </p:sp>
      <p:sp>
        <p:nvSpPr>
          <p:cNvPr id="25" name="文本框 24"/>
          <p:cNvSpPr txBox="1"/>
          <p:nvPr/>
        </p:nvSpPr>
        <p:spPr>
          <a:xfrm>
            <a:off x="4975200" y="2193920"/>
            <a:ext cx="1983025" cy="96329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报销人员</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扫码线上下单行程安全</a:t>
            </a:r>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27" name="文本框 26"/>
          <p:cNvSpPr txBox="1"/>
          <p:nvPr/>
        </p:nvSpPr>
        <p:spPr>
          <a:xfrm>
            <a:off x="2905125" y="1995170"/>
            <a:ext cx="2190115" cy="260350"/>
          </a:xfrm>
          <a:prstGeom prst="rect">
            <a:avLst/>
          </a:prstGeom>
          <a:noFill/>
        </p:spPr>
        <p:txBody>
          <a:bodyPr wrap="square">
            <a:spAutoFit/>
          </a:bodyPr>
          <a:lstStyle/>
          <a:p>
            <a:pPr marL="171450" indent="-171450" algn="l">
              <a:buClrTx/>
              <a:buSzTx/>
              <a:buFont typeface="Wingdings" panose="05000000000000000000" pitchFamily="2" charset="2"/>
              <a:buChar char="Ø"/>
            </a:pPr>
            <a:r>
              <a:rPr lang="zh-CN" altLang="en-US" sz="1100" b="1" dirty="0"/>
              <a:t>交通管制，约定地点无法达到</a:t>
            </a:r>
          </a:p>
        </p:txBody>
      </p:sp>
      <p:sp>
        <p:nvSpPr>
          <p:cNvPr id="30" name="文本框 29"/>
          <p:cNvSpPr txBox="1"/>
          <p:nvPr/>
        </p:nvSpPr>
        <p:spPr>
          <a:xfrm>
            <a:off x="2905200" y="2200568"/>
            <a:ext cx="887730" cy="671830"/>
          </a:xfrm>
          <a:prstGeom prst="rect">
            <a:avLst/>
          </a:prstGeom>
          <a:noFill/>
        </p:spPr>
        <p:txBody>
          <a:bodyPr wrap="none" rtlCol="0">
            <a:spAutoFit/>
          </a:bodyPr>
          <a:lstStyle/>
          <a:p>
            <a:pPr marL="171450" indent="-171450">
              <a:lnSpc>
                <a:spcPct val="120000"/>
              </a:lnSpc>
              <a:spcBef>
                <a:spcPts val="0"/>
              </a:spcBef>
              <a:spcAft>
                <a:spcPts val="0"/>
              </a:spcAft>
              <a:buFont typeface="Arial" panose="020B0604020202020204" pitchFamily="34" charset="0"/>
              <a:buChar char="•"/>
            </a:pPr>
            <a:r>
              <a:rPr lang="zh-CN" altLang="en-US" sz="1050" dirty="0"/>
              <a:t>演唱会</a:t>
            </a:r>
            <a:endParaRPr lang="en-US" altLang="zh-CN" sz="1050" dirty="0"/>
          </a:p>
          <a:p>
            <a:pPr marL="171450" indent="-171450">
              <a:lnSpc>
                <a:spcPct val="120000"/>
              </a:lnSpc>
              <a:spcBef>
                <a:spcPts val="0"/>
              </a:spcBef>
              <a:spcAft>
                <a:spcPts val="0"/>
              </a:spcAft>
              <a:buFont typeface="Arial" panose="020B0604020202020204" pitchFamily="34" charset="0"/>
              <a:buChar char="•"/>
            </a:pPr>
            <a:r>
              <a:rPr lang="zh-CN" altLang="en-US" sz="1050" dirty="0"/>
              <a:t>运动会</a:t>
            </a:r>
            <a:endParaRPr lang="en-US" altLang="zh-CN" sz="1050" dirty="0"/>
          </a:p>
          <a:p>
            <a:pPr marL="171450" indent="-171450">
              <a:lnSpc>
                <a:spcPct val="120000"/>
              </a:lnSpc>
              <a:spcBef>
                <a:spcPts val="0"/>
              </a:spcBef>
              <a:spcAft>
                <a:spcPts val="0"/>
              </a:spcAft>
              <a:buFont typeface="Arial" panose="020B0604020202020204" pitchFamily="34" charset="0"/>
              <a:buChar char="•"/>
            </a:pPr>
            <a:r>
              <a:rPr lang="zh-CN" altLang="en-US" sz="1050" dirty="0"/>
              <a:t>群体活动</a:t>
            </a:r>
            <a:endParaRPr lang="zh-CN" altLang="en-US" sz="1400" dirty="0"/>
          </a:p>
        </p:txBody>
      </p:sp>
      <p:sp>
        <p:nvSpPr>
          <p:cNvPr id="33" name="文本框 32"/>
          <p:cNvSpPr txBox="1"/>
          <p:nvPr/>
        </p:nvSpPr>
        <p:spPr>
          <a:xfrm>
            <a:off x="2905200" y="3680446"/>
            <a:ext cx="1192530" cy="260350"/>
          </a:xfrm>
          <a:prstGeom prst="rect">
            <a:avLst/>
          </a:prstGeom>
          <a:noFill/>
        </p:spPr>
        <p:txBody>
          <a:bodyPr wrap="none" rtlCol="0">
            <a:spAutoFit/>
          </a:bodyPr>
          <a:lstStyle/>
          <a:p>
            <a:pPr marL="171450" indent="-171450" algn="l">
              <a:buClrTx/>
              <a:buSzTx/>
              <a:buFont typeface="Wingdings" panose="05000000000000000000" pitchFamily="2" charset="2"/>
              <a:buChar char="Ø"/>
            </a:pPr>
            <a:r>
              <a:rPr lang="zh-CN" altLang="en-US" sz="1100" b="1" dirty="0"/>
              <a:t>违规无法停车</a:t>
            </a:r>
          </a:p>
        </p:txBody>
      </p:sp>
      <p:sp>
        <p:nvSpPr>
          <p:cNvPr id="35" name="文本框 34"/>
          <p:cNvSpPr txBox="1"/>
          <p:nvPr/>
        </p:nvSpPr>
        <p:spPr>
          <a:xfrm>
            <a:off x="4975200" y="3666627"/>
            <a:ext cx="1611630" cy="260350"/>
          </a:xfrm>
          <a:prstGeom prst="rect">
            <a:avLst/>
          </a:prstGeom>
          <a:noFill/>
        </p:spPr>
        <p:txBody>
          <a:bodyPr wrap="none" rtlCol="0">
            <a:spAutoFit/>
          </a:bodyPr>
          <a:lstStyle/>
          <a:p>
            <a:pPr marL="171450" indent="-171450" algn="l">
              <a:buClrTx/>
              <a:buSzTx/>
              <a:buFont typeface="Wingdings" panose="05000000000000000000" pitchFamily="2" charset="2"/>
              <a:buChar char="Ø"/>
            </a:pPr>
            <a:r>
              <a:rPr lang="zh-CN" altLang="en-US" sz="1100" b="1" dirty="0"/>
              <a:t>影响交通的无法停车</a:t>
            </a:r>
          </a:p>
        </p:txBody>
      </p:sp>
      <p:sp>
        <p:nvSpPr>
          <p:cNvPr id="37" name="文本框 36"/>
          <p:cNvSpPr txBox="1"/>
          <p:nvPr/>
        </p:nvSpPr>
        <p:spPr>
          <a:xfrm>
            <a:off x="2905200" y="3869536"/>
            <a:ext cx="1021080" cy="47815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黄线</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禁停标志等</a:t>
            </a:r>
          </a:p>
        </p:txBody>
      </p:sp>
      <p:sp>
        <p:nvSpPr>
          <p:cNvPr id="38" name="文本框 37"/>
          <p:cNvSpPr txBox="1"/>
          <p:nvPr/>
        </p:nvSpPr>
        <p:spPr>
          <a:xfrm>
            <a:off x="4975200" y="3856676"/>
            <a:ext cx="1154430" cy="47815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繁华商业街</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老旧小区门口</a:t>
            </a:r>
          </a:p>
        </p:txBody>
      </p:sp>
      <p:sp>
        <p:nvSpPr>
          <p:cNvPr id="39" name="文本框 38"/>
          <p:cNvSpPr txBox="1"/>
          <p:nvPr/>
        </p:nvSpPr>
        <p:spPr>
          <a:xfrm flipH="1">
            <a:off x="7398780" y="4203458"/>
            <a:ext cx="4424583" cy="1680717"/>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00" dirty="0"/>
              <a:t>提前到达后能够车内摄像头智能判断停车位是否违法（黄线、禁停线等），是否可以安全停车，如果发现无法停车，智能判断重新约定停车地点，并告知乘客</a:t>
            </a:r>
            <a:endParaRPr lang="en-US" altLang="zh-CN" sz="1000" dirty="0"/>
          </a:p>
          <a:p>
            <a:pPr marL="171450" indent="-171450">
              <a:lnSpc>
                <a:spcPct val="150000"/>
              </a:lnSpc>
              <a:buFont typeface="Wingdings" panose="05000000000000000000" pitchFamily="2" charset="2"/>
              <a:buChar char="ü"/>
            </a:pPr>
            <a:r>
              <a:rPr lang="zh-CN" altLang="en-US" sz="1000" dirty="0"/>
              <a:t>能力理解车外管理员的手势及语音指令，进行相关操作</a:t>
            </a:r>
            <a:endParaRPr lang="en-US" altLang="zh-CN" sz="1000" dirty="0"/>
          </a:p>
          <a:p>
            <a:pPr marL="171450" indent="-171450">
              <a:lnSpc>
                <a:spcPct val="150000"/>
              </a:lnSpc>
              <a:buFont typeface="Wingdings" panose="05000000000000000000" pitchFamily="2" charset="2"/>
              <a:buChar char="ü"/>
            </a:pPr>
            <a:r>
              <a:rPr lang="zh-CN" altLang="en-US" sz="1000" dirty="0"/>
              <a:t>告知乘客变更当前停车位置状态，并发送新约定位置，及乘客预计时间</a:t>
            </a:r>
            <a:endParaRPr lang="en-US" altLang="zh-CN" sz="1000" dirty="0"/>
          </a:p>
          <a:p>
            <a:pPr marL="171450" indent="-171450">
              <a:lnSpc>
                <a:spcPct val="150000"/>
              </a:lnSpc>
              <a:buFont typeface="Wingdings" panose="05000000000000000000" pitchFamily="2" charset="2"/>
              <a:buChar char="ü"/>
            </a:pPr>
            <a:r>
              <a:rPr lang="zh-CN" altLang="en-US" sz="1000" dirty="0"/>
              <a:t>告知当前停车状态，判断条件是否准许，如果不易被发现，智能告知乘客需要怎么找车，通过周边什么特征找车</a:t>
            </a:r>
          </a:p>
        </p:txBody>
      </p:sp>
      <p:sp>
        <p:nvSpPr>
          <p:cNvPr id="52" name="文本框 51"/>
          <p:cNvSpPr txBox="1"/>
          <p:nvPr/>
        </p:nvSpPr>
        <p:spPr>
          <a:xfrm flipH="1">
            <a:off x="7439941" y="2122413"/>
            <a:ext cx="4591425" cy="1092607"/>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能够根据交通管制情况及信息，结合车位摄像头信息判断，了解周边可能停车地点，快速计算出，可能接驾的停车位置</a:t>
            </a:r>
            <a:endParaRPr lang="en-US" altLang="zh-CN" sz="1050" dirty="0"/>
          </a:p>
          <a:p>
            <a:pPr marL="171450" indent="-171450">
              <a:spcBef>
                <a:spcPts val="600"/>
              </a:spcBef>
              <a:buFont typeface="Wingdings" panose="05000000000000000000" pitchFamily="2" charset="2"/>
              <a:buChar char="ü"/>
            </a:pPr>
            <a:r>
              <a:rPr lang="zh-CN" altLang="en-US" sz="1050" dirty="0"/>
              <a:t>演唱会，运动会可能多个停靠点和停车位综合计算，及其周边管制情况与拥堵情况，给出最佳上车后最快出发上车地点，并通知乘客</a:t>
            </a:r>
            <a:endParaRPr lang="en-US" altLang="zh-CN" sz="1050" dirty="0"/>
          </a:p>
          <a:p>
            <a:pPr marL="171450" indent="-171450">
              <a:spcBef>
                <a:spcPts val="600"/>
              </a:spcBef>
              <a:buFont typeface="Wingdings" panose="05000000000000000000" pitchFamily="2" charset="2"/>
              <a:buChar char="ü"/>
            </a:pPr>
            <a:r>
              <a:rPr lang="en-US" altLang="zh-CN" sz="1050" dirty="0"/>
              <a:t>D2D</a:t>
            </a:r>
            <a:r>
              <a:rPr lang="zh-CN" altLang="en-US" sz="1050" dirty="0"/>
              <a:t>智驾不需要自己学习，别人学习过也能在这些场地第一次使用</a:t>
            </a:r>
            <a:endParaRPr lang="en-US" altLang="zh-CN" sz="1050" dirty="0"/>
          </a:p>
        </p:txBody>
      </p:sp>
      <p:sp>
        <p:nvSpPr>
          <p:cNvPr id="63" name="文本框 62"/>
          <p:cNvSpPr txBox="1"/>
          <p:nvPr/>
        </p:nvSpPr>
        <p:spPr>
          <a:xfrm>
            <a:off x="3007497" y="5308572"/>
            <a:ext cx="2894029" cy="28448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停车等待1小时，被取消，如迪斯尼等</a:t>
            </a:r>
          </a:p>
        </p:txBody>
      </p:sp>
      <p:sp>
        <p:nvSpPr>
          <p:cNvPr id="64" name="文本框 63"/>
          <p:cNvSpPr txBox="1"/>
          <p:nvPr/>
        </p:nvSpPr>
        <p:spPr>
          <a:xfrm>
            <a:off x="2905200" y="5109210"/>
            <a:ext cx="2776855" cy="260350"/>
          </a:xfrm>
          <a:prstGeom prst="rect">
            <a:avLst/>
          </a:prstGeom>
          <a:noFill/>
        </p:spPr>
        <p:txBody>
          <a:bodyPr wrap="square" rtlCol="0">
            <a:spAutoFit/>
          </a:bodyPr>
          <a:lstStyle/>
          <a:p>
            <a:pPr marL="171450" indent="-171450" algn="l">
              <a:buClrTx/>
              <a:buSzTx/>
              <a:buFont typeface="Wingdings" panose="05000000000000000000" pitchFamily="2" charset="2"/>
              <a:buChar char="Ø"/>
            </a:pPr>
            <a:r>
              <a:rPr lang="zh-CN" altLang="en-US" sz="1100" b="1" dirty="0"/>
              <a:t>停车位资源紧张，无法进入等待区</a:t>
            </a:r>
          </a:p>
        </p:txBody>
      </p:sp>
      <p:sp>
        <p:nvSpPr>
          <p:cNvPr id="3" name="文本框 2"/>
          <p:cNvSpPr txBox="1"/>
          <p:nvPr/>
        </p:nvSpPr>
        <p:spPr>
          <a:xfrm>
            <a:off x="6820270" y="2119134"/>
            <a:ext cx="723275" cy="253916"/>
          </a:xfrm>
          <a:prstGeom prst="rect">
            <a:avLst/>
          </a:prstGeom>
          <a:noFill/>
        </p:spPr>
        <p:txBody>
          <a:bodyPr wrap="none" rtlCol="0">
            <a:spAutoFit/>
          </a:bodyPr>
          <a:lstStyle/>
          <a:p>
            <a:r>
              <a:rPr lang="zh-CN" altLang="en-US" sz="1050" b="1" dirty="0"/>
              <a:t>机会点：</a:t>
            </a:r>
          </a:p>
        </p:txBody>
      </p:sp>
      <p:sp>
        <p:nvSpPr>
          <p:cNvPr id="4" name="文本框 3"/>
          <p:cNvSpPr txBox="1"/>
          <p:nvPr/>
        </p:nvSpPr>
        <p:spPr>
          <a:xfrm>
            <a:off x="6820270" y="3201786"/>
            <a:ext cx="588623" cy="253916"/>
          </a:xfrm>
          <a:prstGeom prst="rect">
            <a:avLst/>
          </a:prstGeom>
          <a:noFill/>
        </p:spPr>
        <p:txBody>
          <a:bodyPr wrap="none" rtlCol="0">
            <a:spAutoFit/>
          </a:bodyPr>
          <a:lstStyle/>
          <a:p>
            <a:r>
              <a:rPr lang="zh-CN" altLang="en-US" sz="1050" b="1" dirty="0"/>
              <a:t>展望：</a:t>
            </a:r>
          </a:p>
        </p:txBody>
      </p:sp>
      <p:sp>
        <p:nvSpPr>
          <p:cNvPr id="6" name="文本框 5"/>
          <p:cNvSpPr txBox="1"/>
          <p:nvPr/>
        </p:nvSpPr>
        <p:spPr>
          <a:xfrm>
            <a:off x="6775144" y="180321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7" name="文本框 6"/>
          <p:cNvSpPr txBox="1"/>
          <p:nvPr/>
        </p:nvSpPr>
        <p:spPr>
          <a:xfrm>
            <a:off x="6793578" y="4231350"/>
            <a:ext cx="723275" cy="253916"/>
          </a:xfrm>
          <a:prstGeom prst="rect">
            <a:avLst/>
          </a:prstGeom>
          <a:noFill/>
        </p:spPr>
        <p:txBody>
          <a:bodyPr wrap="none" rtlCol="0">
            <a:spAutoFit/>
          </a:bodyPr>
          <a:lstStyle/>
          <a:p>
            <a:r>
              <a:rPr lang="zh-CN" altLang="en-US" sz="1050" b="1" dirty="0"/>
              <a:t>机会点：</a:t>
            </a:r>
          </a:p>
        </p:txBody>
      </p:sp>
      <p:sp>
        <p:nvSpPr>
          <p:cNvPr id="8" name="文本框 7"/>
          <p:cNvSpPr txBox="1"/>
          <p:nvPr/>
        </p:nvSpPr>
        <p:spPr>
          <a:xfrm>
            <a:off x="6820270" y="5862960"/>
            <a:ext cx="588623" cy="253916"/>
          </a:xfrm>
          <a:prstGeom prst="rect">
            <a:avLst/>
          </a:prstGeom>
          <a:noFill/>
        </p:spPr>
        <p:txBody>
          <a:bodyPr wrap="none" rtlCol="0">
            <a:spAutoFit/>
          </a:bodyPr>
          <a:lstStyle/>
          <a:p>
            <a:r>
              <a:rPr lang="zh-CN" altLang="en-US" sz="1050" b="1" dirty="0"/>
              <a:t>展望：</a:t>
            </a:r>
          </a:p>
        </p:txBody>
      </p:sp>
      <p:sp>
        <p:nvSpPr>
          <p:cNvPr id="12" name="文本框 11"/>
          <p:cNvSpPr txBox="1"/>
          <p:nvPr/>
        </p:nvSpPr>
        <p:spPr>
          <a:xfrm>
            <a:off x="6734509" y="3676180"/>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5" name="文本框 14"/>
          <p:cNvSpPr txBox="1"/>
          <p:nvPr/>
        </p:nvSpPr>
        <p:spPr>
          <a:xfrm>
            <a:off x="7459917" y="3189530"/>
            <a:ext cx="4302308" cy="430887"/>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对于</a:t>
            </a:r>
            <a:r>
              <a:rPr lang="en-US" altLang="zh-CN" sz="1050" dirty="0"/>
              <a:t>robotaxi</a:t>
            </a:r>
            <a:r>
              <a:rPr lang="zh-CN" altLang="en-US" sz="1050" dirty="0"/>
              <a:t>的司机</a:t>
            </a:r>
            <a:r>
              <a:rPr lang="en-US" altLang="zh-CN" sz="1050" dirty="0"/>
              <a:t>agent </a:t>
            </a:r>
            <a:r>
              <a:rPr lang="zh-CN" altLang="en-US" sz="1050" dirty="0"/>
              <a:t>支持近场通信，旁边很近乘客可以快速预约上车</a:t>
            </a:r>
            <a:endParaRPr lang="en-US" altLang="zh-CN" sz="1050" dirty="0"/>
          </a:p>
        </p:txBody>
      </p:sp>
      <p:sp>
        <p:nvSpPr>
          <p:cNvPr id="19" name="文本框 18"/>
          <p:cNvSpPr txBox="1"/>
          <p:nvPr/>
        </p:nvSpPr>
        <p:spPr>
          <a:xfrm>
            <a:off x="7427932" y="1860971"/>
            <a:ext cx="4129657"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只能给出地点的多个口，</a:t>
            </a:r>
            <a:r>
              <a:rPr lang="en-US" altLang="zh-CN" sz="1050" dirty="0"/>
              <a:t>D2D</a:t>
            </a:r>
            <a:r>
              <a:rPr lang="zh-CN" altLang="en-US" sz="1050" dirty="0"/>
              <a:t>仅支持有限商场，也需要提前记忆</a:t>
            </a:r>
          </a:p>
        </p:txBody>
      </p:sp>
      <p:sp>
        <p:nvSpPr>
          <p:cNvPr id="20" name="文本框 19"/>
          <p:cNvSpPr txBox="1"/>
          <p:nvPr/>
        </p:nvSpPr>
        <p:spPr>
          <a:xfrm>
            <a:off x="7459917" y="3693611"/>
            <a:ext cx="4663945" cy="577081"/>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大数据能够给出热点区域的最佳停车点，但对于一些新意外情况，无法实时调整</a:t>
            </a:r>
            <a:endParaRPr lang="en-US" altLang="zh-CN" sz="1050" dirty="0"/>
          </a:p>
          <a:p>
            <a:pPr marL="171450" indent="-171450">
              <a:buFont typeface="Wingdings" panose="05000000000000000000" pitchFamily="2" charset="2"/>
              <a:buChar char="ü"/>
            </a:pPr>
            <a:r>
              <a:rPr lang="zh-CN" altLang="en-US" sz="1050" dirty="0"/>
              <a:t>特斯拉支持车外的简单手势交互</a:t>
            </a:r>
            <a:endParaRPr lang="en-US" altLang="zh-CN" sz="1050" dirty="0"/>
          </a:p>
        </p:txBody>
      </p:sp>
      <p:sp>
        <p:nvSpPr>
          <p:cNvPr id="22" name="文本框 21"/>
          <p:cNvSpPr txBox="1"/>
          <p:nvPr/>
        </p:nvSpPr>
        <p:spPr>
          <a:xfrm>
            <a:off x="7427932" y="5868496"/>
            <a:ext cx="4862228"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司机</a:t>
            </a:r>
            <a:r>
              <a:rPr lang="en-US" altLang="zh-CN" sz="1050" dirty="0"/>
              <a:t>agent</a:t>
            </a:r>
            <a:r>
              <a:rPr lang="zh-CN" altLang="en-US" sz="1050" dirty="0"/>
              <a:t>能够运用物理</a:t>
            </a:r>
            <a:r>
              <a:rPr lang="en-US" altLang="zh-CN" sz="1050" dirty="0"/>
              <a:t>AI</a:t>
            </a:r>
            <a:r>
              <a:rPr lang="zh-CN" altLang="en-US" sz="1050" dirty="0"/>
              <a:t>处理车外各种紧急情况，像专业司机一样进行处理</a:t>
            </a:r>
          </a:p>
        </p:txBody>
      </p:sp>
      <p:sp>
        <p:nvSpPr>
          <p:cNvPr id="13" name="文本框 12"/>
          <p:cNvSpPr txBox="1"/>
          <p:nvPr/>
        </p:nvSpPr>
        <p:spPr>
          <a:xfrm>
            <a:off x="2905125" y="2898775"/>
            <a:ext cx="3839210" cy="721995"/>
          </a:xfrm>
          <a:prstGeom prst="rect">
            <a:avLst/>
          </a:prstGeom>
          <a:noFill/>
        </p:spPr>
        <p:txBody>
          <a:bodyPr wrap="square" rtlCol="0">
            <a:spAutoFit/>
          </a:bodyPr>
          <a:lstStyle/>
          <a:p>
            <a:pPr indent="0"/>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时代少年团来开演唱会，那个地方你要跟</a:t>
            </a:r>
            <a:r>
              <a:rPr lang="zh-CN" altLang="en-US" sz="900" i="1">
                <a:latin typeface="微软雅黑" panose="020B0503020204020204" pitchFamily="34" charset="-122"/>
                <a:ea typeface="微软雅黑" panose="020B0503020204020204" pitchFamily="34" charset="-122"/>
                <a:cs typeface="Arial" panose="020B0604020202020204" pitchFamily="34" charset="0"/>
              </a:rPr>
              <a:t>司机说</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zh-CN" altLang="en-US" sz="900" i="1">
                <a:latin typeface="微软雅黑" panose="020B0503020204020204" pitchFamily="34" charset="-122"/>
                <a:ea typeface="微软雅黑" panose="020B0503020204020204" pitchFamily="34" charset="-122"/>
                <a:cs typeface="Arial" panose="020B0604020202020204" pitchFamily="34" charset="0"/>
              </a:rPr>
              <a:t>清楚）</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zh-CN" altLang="en-US" sz="900" i="1">
                <a:latin typeface="微软雅黑" panose="020B0503020204020204" pitchFamily="34" charset="-122"/>
                <a:ea typeface="微软雅黑" panose="020B0503020204020204" pitchFamily="34" charset="-122"/>
                <a:cs typeface="Arial" panose="020B0604020202020204" pitchFamily="34" charset="0"/>
              </a:rPr>
              <a:t>因为</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那边该封的地方全封了，该堵的全</a:t>
            </a:r>
            <a:r>
              <a:rPr lang="zh-CN" altLang="en-US" sz="900" i="1">
                <a:latin typeface="微软雅黑" panose="020B0503020204020204" pitchFamily="34" charset="-122"/>
                <a:ea typeface="微软雅黑" panose="020B0503020204020204" pitchFamily="34" charset="-122"/>
                <a:cs typeface="Arial" panose="020B0604020202020204" pitchFamily="34" charset="0"/>
              </a:rPr>
              <a:t>堵了</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p>
          <a:p>
            <a:pPr indent="0">
              <a:lnSpc>
                <a:spcPct val="100000"/>
              </a:lnSpc>
              <a:spcBef>
                <a:spcPts val="300"/>
              </a:spcBef>
              <a:spcAft>
                <a:spcPts val="0"/>
              </a:spcAft>
            </a:pP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地图和实际情况有点不符，可能一些临时</a:t>
            </a:r>
            <a:r>
              <a:rPr lang="zh-CN" altLang="en-US" sz="900" i="1">
                <a:latin typeface="微软雅黑" panose="020B0503020204020204" pitchFamily="34" charset="-122"/>
                <a:ea typeface="微软雅黑" panose="020B0503020204020204" pitchFamily="34" charset="-122"/>
                <a:cs typeface="Arial" panose="020B0604020202020204" pitchFamily="34" charset="0"/>
              </a:rPr>
              <a:t>的交通管制</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a:p>
            <a:pPr indent="0" algn="r">
              <a:lnSpc>
                <a:spcPct val="100000"/>
              </a:lnSpc>
              <a:spcBef>
                <a:spcPts val="300"/>
              </a:spcBef>
              <a:spcAft>
                <a:spcPts val="0"/>
              </a:spcAft>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老师朱先生（快车） </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27岁</a:t>
            </a:r>
            <a:endParaRPr lang="zh-CN" altLang="en-US" sz="900" i="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1" name="文本框 20"/>
          <p:cNvSpPr txBox="1"/>
          <p:nvPr/>
        </p:nvSpPr>
        <p:spPr>
          <a:xfrm>
            <a:off x="4975200" y="4377600"/>
            <a:ext cx="1775460" cy="1245235"/>
          </a:xfrm>
          <a:prstGeom prst="rect">
            <a:avLst/>
          </a:prstGeom>
          <a:noFill/>
        </p:spPr>
        <p:txBody>
          <a:bodyPr wrap="square" rtlCol="0">
            <a:spAutoFit/>
          </a:bodyPr>
          <a:lstStyle/>
          <a:p>
            <a:pPr>
              <a:lnSpc>
                <a:spcPct val="100000"/>
              </a:lnSpc>
              <a:buNone/>
            </a:pP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大悦城门口正常来讲是个公交车站，是个</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黄实线</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网约车都在那边</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上下客</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那天就吃的罚单，后面送的单子，就在</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前面右转</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endParaRPr>
          </a:p>
          <a:p>
            <a:pPr algn="r">
              <a:lnSpc>
                <a:spcPct val="100000"/>
              </a:lnSpc>
              <a:buNone/>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快车司机陈先生 26岁</a:t>
            </a:r>
            <a:r>
              <a:rPr lang="zh-CN" altLang="en-US" sz="1050" dirty="0">
                <a:sym typeface="+mn-ea"/>
              </a:rPr>
              <a:t>		</a:t>
            </a:r>
            <a:endParaRPr lang="zh-CN" altLang="en-US" sz="1050" dirty="0"/>
          </a:p>
        </p:txBody>
      </p:sp>
      <p:sp>
        <p:nvSpPr>
          <p:cNvPr id="23" name="文本框 22"/>
          <p:cNvSpPr txBox="1"/>
          <p:nvPr/>
        </p:nvSpPr>
        <p:spPr>
          <a:xfrm>
            <a:off x="2905125" y="4377690"/>
            <a:ext cx="1852930" cy="607695"/>
          </a:xfrm>
          <a:prstGeom prst="rect">
            <a:avLst/>
          </a:prstGeom>
          <a:noFill/>
        </p:spPr>
        <p:txBody>
          <a:bodyPr wrap="square" rtlCol="0">
            <a:noAutofit/>
          </a:bodyPr>
          <a:lstStyle/>
          <a:p>
            <a:pPr indent="0" algn="l">
              <a:lnSpc>
                <a:spcPct val="100000"/>
              </a:lnSpc>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到他的小区门口，两端都是黄线，结果被铁骑拦下来了，罚了两百块钱</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900" i="1" dirty="0">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--快车司机陈先生 26岁</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900" i="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文本框 30"/>
          <p:cNvSpPr txBox="1"/>
          <p:nvPr/>
        </p:nvSpPr>
        <p:spPr>
          <a:xfrm>
            <a:off x="2905125" y="5529580"/>
            <a:ext cx="3829050" cy="645160"/>
          </a:xfrm>
          <a:prstGeom prst="rect">
            <a:avLst/>
          </a:prstGeom>
        </p:spPr>
        <p:txBody>
          <a:bodyPr wrap="square">
            <a:spAutoFit/>
          </a:bodyPr>
          <a:lstStyle/>
          <a:p>
            <a:pPr marL="0" indent="0" algn="just" defTabSz="266700">
              <a:lnSpc>
                <a:spcPct val="100000"/>
              </a:lnSpc>
              <a:spcBef>
                <a:spcPct val="0"/>
              </a:spcBef>
              <a:spcAft>
                <a:spcPct val="0"/>
              </a:spcAft>
            </a:pPr>
            <a:r>
              <a:rPr lang="en-US" altLang="zh-CN"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虹桥最近过完年，堵的飞起来</a:t>
            </a:r>
            <a:r>
              <a:rPr lang="en-US"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排下来起码要</a:t>
            </a:r>
            <a:r>
              <a:rPr lang="en-US" altLang="zh-CN" sz="900" i="1">
                <a:latin typeface="微软雅黑" panose="020B0503020204020204" pitchFamily="34" charset="-122"/>
                <a:ea typeface="微软雅黑" panose="020B0503020204020204" pitchFamily="34" charset="-122"/>
              </a:rPr>
              <a:t>20</a:t>
            </a:r>
            <a:r>
              <a:rPr lang="zh-CN" altLang="en-US" sz="900" i="1">
                <a:latin typeface="微软雅黑" panose="020B0503020204020204" pitchFamily="34" charset="-122"/>
                <a:ea typeface="微软雅黑" panose="020B0503020204020204" pitchFamily="34" charset="-122"/>
              </a:rPr>
              <a:t>分钟，有些人是愿意的</a:t>
            </a:r>
            <a:r>
              <a:rPr lang="en-US"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有些乘客就是不愿意上来</a:t>
            </a:r>
            <a:r>
              <a:rPr lang="en-US" altLang="zh-CN"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你得找他，我到了目的地再找不到他们，时间久了，取消掉就好了</a:t>
            </a:r>
            <a:r>
              <a:rPr lang="en-US" altLang="zh-CN" sz="900" i="1">
                <a:latin typeface="微软雅黑" panose="020B0503020204020204" pitchFamily="34" charset="-122"/>
                <a:ea typeface="微软雅黑" panose="020B0503020204020204" pitchFamily="34" charset="-122"/>
              </a:rPr>
              <a:t>”</a:t>
            </a:r>
          </a:p>
          <a:p>
            <a:pPr marL="0" indent="0" algn="r" defTabSz="266700">
              <a:lnSpc>
                <a:spcPct val="100000"/>
              </a:lnSpc>
              <a:spcBef>
                <a:spcPct val="0"/>
              </a:spcBef>
              <a:spcAft>
                <a:spcPct val="0"/>
              </a:spcAft>
            </a:pPr>
            <a:r>
              <a:rPr lang="en-US" altLang="zh-CN"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快车司机陈先生</a:t>
            </a:r>
            <a:r>
              <a:rPr lang="en-US" altLang="zh-CN" sz="900" i="1">
                <a:latin typeface="微软雅黑" panose="020B0503020204020204" pitchFamily="34" charset="-122"/>
                <a:ea typeface="微软雅黑" panose="020B0503020204020204" pitchFamily="34" charset="-122"/>
              </a:rPr>
              <a:t> 26</a:t>
            </a:r>
            <a:r>
              <a:rPr lang="zh-CN" altLang="en-US" sz="900" i="1">
                <a:latin typeface="微软雅黑" panose="020B0503020204020204" pitchFamily="34" charset="-122"/>
                <a:ea typeface="微软雅黑" panose="020B0503020204020204" pitchFamily="34" charset="-122"/>
              </a:rPr>
              <a:t>岁</a:t>
            </a:r>
            <a:endParaRPr lang="en-US" altLang="zh-CN" sz="900" i="1">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协助上车</a:t>
            </a:r>
            <a:r>
              <a:rPr lang="en-US" altLang="zh-CN" dirty="0"/>
              <a:t>&amp;</a:t>
            </a:r>
            <a:r>
              <a:rPr lang="zh-CN" altLang="en-US" dirty="0"/>
              <a:t>行程确认</a:t>
            </a:r>
          </a:p>
        </p:txBody>
      </p:sp>
      <p:sp>
        <p:nvSpPr>
          <p:cNvPr id="16" name="文本占位符 4"/>
          <p:cNvSpPr txBox="1"/>
          <p:nvPr/>
        </p:nvSpPr>
        <p:spPr>
          <a:xfrm>
            <a:off x="4159269"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2021" y="270471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协助上车</a:t>
            </a:r>
          </a:p>
        </p:txBody>
      </p:sp>
      <p:sp>
        <p:nvSpPr>
          <p:cNvPr id="10" name="文本框 9"/>
          <p:cNvSpPr txBox="1"/>
          <p:nvPr/>
        </p:nvSpPr>
        <p:spPr>
          <a:xfrm>
            <a:off x="460351" y="1944702"/>
            <a:ext cx="1009196" cy="340093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协助特殊人群与天气</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协助行李较多者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协助开后备箱</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10154"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977287"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060940"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320111" y="1389551"/>
            <a:ext cx="1036112"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p:cNvCxnSpPr/>
          <p:nvPr/>
        </p:nvCxnSpPr>
        <p:spPr>
          <a:xfrm>
            <a:off x="1329431" y="175160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flipV="1">
            <a:off x="637988" y="3442258"/>
            <a:ext cx="6949583" cy="887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965406" y="2313611"/>
            <a:ext cx="1773159" cy="253916"/>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zh-CN" altLang="en-US" sz="1050" dirty="0"/>
          </a:p>
        </p:txBody>
      </p:sp>
      <p:cxnSp>
        <p:nvCxnSpPr>
          <p:cNvPr id="14" name="直接连接符 13"/>
          <p:cNvCxnSpPr/>
          <p:nvPr/>
        </p:nvCxnSpPr>
        <p:spPr>
          <a:xfrm>
            <a:off x="7587571"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flipH="1">
            <a:off x="7945984" y="3189715"/>
            <a:ext cx="4025551" cy="1294906"/>
          </a:xfrm>
          <a:prstGeom prst="rect">
            <a:avLst/>
          </a:prstGeom>
          <a:noFill/>
        </p:spPr>
        <p:txBody>
          <a:bodyPr wrap="square" rtlCol="0">
            <a:spAutoFit/>
          </a:bodyPr>
          <a:lstStyle/>
          <a:p>
            <a:pPr marL="171450" indent="-171450">
              <a:lnSpc>
                <a:spcPct val="150000"/>
              </a:lnSpc>
              <a:spcBef>
                <a:spcPts val="600"/>
              </a:spcBef>
              <a:buFont typeface="Wingdings" panose="05000000000000000000" pitchFamily="2" charset="2"/>
              <a:buChar char="ü"/>
            </a:pPr>
            <a:r>
              <a:rPr lang="en-US" altLang="zh-CN" sz="1000" dirty="0"/>
              <a:t>Agent</a:t>
            </a:r>
            <a:r>
              <a:rPr lang="zh-CN" altLang="en-US" sz="1000" dirty="0"/>
              <a:t>对于特殊地点与乘客标签及天气，主动语音提醒帮助拿行李</a:t>
            </a:r>
            <a:endParaRPr lang="en-US" altLang="zh-CN" sz="1000" dirty="0"/>
          </a:p>
          <a:p>
            <a:pPr marL="171450" indent="-171450">
              <a:spcBef>
                <a:spcPts val="600"/>
              </a:spcBef>
              <a:buFont typeface="Wingdings" panose="05000000000000000000" pitchFamily="2" charset="2"/>
              <a:buChar char="ü"/>
            </a:pPr>
            <a:r>
              <a:rPr lang="en-US" altLang="zh-CN" sz="1000" dirty="0"/>
              <a:t>Agent</a:t>
            </a:r>
            <a:r>
              <a:rPr lang="zh-CN" altLang="en-US" sz="1000" dirty="0"/>
              <a:t>可智能判断开车门与关车门，全车车门，或者支持司机语音开关前后排车门，实现无接触式开门</a:t>
            </a:r>
            <a:endParaRPr lang="en-US" altLang="zh-CN" sz="1000" dirty="0"/>
          </a:p>
          <a:p>
            <a:pPr marL="171450" indent="-171450">
              <a:spcBef>
                <a:spcPts val="600"/>
              </a:spcBef>
              <a:buFont typeface="Wingdings" panose="05000000000000000000" pitchFamily="2" charset="2"/>
              <a:buChar char="ü"/>
            </a:pPr>
            <a:r>
              <a:rPr lang="zh-CN" altLang="en-US" sz="1000" dirty="0"/>
              <a:t>对于行李较多车，司机</a:t>
            </a:r>
            <a:r>
              <a:rPr lang="en-US" altLang="zh-CN" sz="1000" dirty="0"/>
              <a:t>agent</a:t>
            </a:r>
            <a:r>
              <a:rPr lang="zh-CN" altLang="en-US" sz="1000" dirty="0"/>
              <a:t>可智能主动判断开启后背箱时机，</a:t>
            </a:r>
            <a:r>
              <a:rPr lang="en-US" altLang="zh-CN" sz="1000" dirty="0"/>
              <a:t>Agent</a:t>
            </a:r>
            <a:r>
              <a:rPr lang="zh-CN" altLang="en-US" sz="1000" dirty="0"/>
              <a:t>支持乘客车外语音开闭后备箱，实现无接触式开后背箱</a:t>
            </a:r>
          </a:p>
          <a:p>
            <a:pPr marL="171450" indent="-171450">
              <a:lnSpc>
                <a:spcPct val="150000"/>
              </a:lnSpc>
              <a:buFont typeface="Wingdings" panose="05000000000000000000" pitchFamily="2" charset="2"/>
              <a:buChar char="ü"/>
            </a:pPr>
            <a:endParaRPr lang="zh-CN" altLang="en-US" sz="1000" dirty="0"/>
          </a:p>
        </p:txBody>
      </p:sp>
      <p:cxnSp>
        <p:nvCxnSpPr>
          <p:cNvPr id="3" name="直接连接符 2"/>
          <p:cNvCxnSpPr/>
          <p:nvPr/>
        </p:nvCxnSpPr>
        <p:spPr>
          <a:xfrm>
            <a:off x="466872" y="4412887"/>
            <a:ext cx="713244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56223" y="4923270"/>
            <a:ext cx="1627369" cy="261610"/>
          </a:xfrm>
          <a:prstGeom prst="rect">
            <a:avLst/>
          </a:prstGeom>
          <a:noFill/>
        </p:spPr>
        <p:txBody>
          <a:bodyPr wrap="none" rtlCol="0">
            <a:spAutoFit/>
          </a:bodyPr>
          <a:lstStyle/>
          <a:p>
            <a:pPr marL="171450" indent="-171450">
              <a:buFont typeface="Arial" panose="020B0604020202020204" pitchFamily="34" charset="0"/>
              <a:buChar char="•"/>
            </a:pPr>
            <a:r>
              <a:rPr lang="zh-CN" altLang="en-US" sz="1100" dirty="0"/>
              <a:t>有乘客不会开后备箱</a:t>
            </a:r>
          </a:p>
        </p:txBody>
      </p:sp>
      <p:sp>
        <p:nvSpPr>
          <p:cNvPr id="6" name="文本框 5"/>
          <p:cNvSpPr txBox="1"/>
          <p:nvPr/>
        </p:nvSpPr>
        <p:spPr>
          <a:xfrm>
            <a:off x="1362008" y="3641949"/>
            <a:ext cx="1627369" cy="56996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100" dirty="0"/>
              <a:t>专车标准服务</a:t>
            </a:r>
            <a:endParaRPr lang="en-US" altLang="zh-CN" sz="1100" dirty="0"/>
          </a:p>
          <a:p>
            <a:pPr marL="171450" indent="-171450">
              <a:lnSpc>
                <a:spcPct val="150000"/>
              </a:lnSpc>
              <a:buFont typeface="Arial" panose="020B0604020202020204" pitchFamily="34" charset="0"/>
              <a:buChar char="•"/>
            </a:pPr>
            <a:r>
              <a:rPr lang="zh-CN" altLang="en-US" sz="1100" dirty="0"/>
              <a:t>快车司机选择性服务</a:t>
            </a:r>
          </a:p>
        </p:txBody>
      </p:sp>
      <p:sp>
        <p:nvSpPr>
          <p:cNvPr id="7" name="文本框 6"/>
          <p:cNvSpPr txBox="1"/>
          <p:nvPr/>
        </p:nvSpPr>
        <p:spPr>
          <a:xfrm>
            <a:off x="1401615" y="2011143"/>
            <a:ext cx="1763630" cy="107779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专车会帮助搀扶，开车门等</a:t>
            </a:r>
            <a:endParaRPr lang="en-US" altLang="zh-CN" sz="1100" dirty="0"/>
          </a:p>
          <a:p>
            <a:pPr marL="171450" indent="-171450">
              <a:lnSpc>
                <a:spcPct val="150000"/>
              </a:lnSpc>
              <a:buFont typeface="Arial" panose="020B0604020202020204" pitchFamily="34" charset="0"/>
              <a:buChar char="•"/>
            </a:pPr>
            <a:endParaRPr lang="en-US" altLang="zh-CN" sz="1100" dirty="0"/>
          </a:p>
          <a:p>
            <a:pPr marL="171450" indent="-171450">
              <a:lnSpc>
                <a:spcPct val="150000"/>
              </a:lnSpc>
              <a:buFont typeface="Arial" panose="020B0604020202020204" pitchFamily="34" charset="0"/>
              <a:buChar char="•"/>
            </a:pPr>
            <a:r>
              <a:rPr lang="zh-CN" altLang="en-US" sz="1100" dirty="0"/>
              <a:t>快车司机看个人修养</a:t>
            </a:r>
          </a:p>
        </p:txBody>
      </p:sp>
      <p:sp>
        <p:nvSpPr>
          <p:cNvPr id="12" name="文本框 11"/>
          <p:cNvSpPr txBox="1"/>
          <p:nvPr/>
        </p:nvSpPr>
        <p:spPr>
          <a:xfrm>
            <a:off x="3078000" y="3581563"/>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未协助乘客，快车司机可能会被投诉</a:t>
            </a:r>
          </a:p>
        </p:txBody>
      </p:sp>
      <p:sp>
        <p:nvSpPr>
          <p:cNvPr id="15" name="文本框 14"/>
          <p:cNvSpPr txBox="1"/>
          <p:nvPr/>
        </p:nvSpPr>
        <p:spPr>
          <a:xfrm>
            <a:off x="4202444" y="1915200"/>
            <a:ext cx="1751330" cy="26035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特殊地点需要协助场景</a:t>
            </a:r>
            <a:endParaRPr lang="zh-CN" altLang="en-US" sz="1050" dirty="0"/>
          </a:p>
        </p:txBody>
      </p:sp>
      <p:sp>
        <p:nvSpPr>
          <p:cNvPr id="19" name="文本框 18"/>
          <p:cNvSpPr txBox="1"/>
          <p:nvPr/>
        </p:nvSpPr>
        <p:spPr>
          <a:xfrm>
            <a:off x="3078000" y="1915200"/>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需要帮助人群</a:t>
            </a:r>
          </a:p>
        </p:txBody>
      </p:sp>
      <p:sp>
        <p:nvSpPr>
          <p:cNvPr id="20" name="文本框 19"/>
          <p:cNvSpPr txBox="1"/>
          <p:nvPr/>
        </p:nvSpPr>
        <p:spPr>
          <a:xfrm>
            <a:off x="3078000" y="2111494"/>
            <a:ext cx="627095" cy="577081"/>
          </a:xfrm>
          <a:prstGeom prst="rect">
            <a:avLst/>
          </a:prstGeom>
          <a:noFill/>
        </p:spPr>
        <p:txBody>
          <a:bodyPr wrap="none" rtlCol="0">
            <a:spAutoFit/>
          </a:bodyPr>
          <a:lstStyle/>
          <a:p>
            <a:pPr marL="171450" indent="-171450">
              <a:buFont typeface="Arial" panose="020B0604020202020204" pitchFamily="34" charset="0"/>
              <a:buChar char="•"/>
            </a:pPr>
            <a:r>
              <a:rPr lang="zh-CN" altLang="en-US" sz="1050" dirty="0"/>
              <a:t>病人</a:t>
            </a:r>
            <a:endParaRPr lang="en-US" altLang="zh-CN" sz="1050" dirty="0"/>
          </a:p>
          <a:p>
            <a:pPr marL="171450" indent="-171450">
              <a:buFont typeface="Arial" panose="020B0604020202020204" pitchFamily="34" charset="0"/>
              <a:buChar char="•"/>
            </a:pPr>
            <a:r>
              <a:rPr lang="zh-CN" altLang="en-US" sz="1050" dirty="0"/>
              <a:t>老人</a:t>
            </a:r>
            <a:endParaRPr lang="en-US" altLang="zh-CN" sz="1050" dirty="0"/>
          </a:p>
          <a:p>
            <a:pPr marL="171450" indent="-171450">
              <a:buFont typeface="Arial" panose="020B0604020202020204" pitchFamily="34" charset="0"/>
              <a:buChar char="•"/>
            </a:pPr>
            <a:r>
              <a:rPr lang="zh-CN" altLang="en-US" sz="1050"/>
              <a:t>孩子</a:t>
            </a:r>
            <a:endParaRPr lang="en-US" altLang="zh-CN" sz="1050" dirty="0"/>
          </a:p>
        </p:txBody>
      </p:sp>
      <p:sp>
        <p:nvSpPr>
          <p:cNvPr id="21" name="文本框 20"/>
          <p:cNvSpPr txBox="1"/>
          <p:nvPr/>
        </p:nvSpPr>
        <p:spPr>
          <a:xfrm>
            <a:off x="5830888" y="1915200"/>
            <a:ext cx="1896673" cy="260350"/>
          </a:xfrm>
          <a:prstGeom prst="rect">
            <a:avLst/>
          </a:prstGeom>
          <a:noFill/>
        </p:spPr>
        <p:txBody>
          <a:bodyPr wrap="square" rtlCol="0">
            <a:spAutoFit/>
          </a:bodyPr>
          <a:lstStyle/>
          <a:p>
            <a:pPr marL="171450" indent="-171450">
              <a:buFont typeface="Wingdings" panose="05000000000000000000" pitchFamily="2" charset="2"/>
              <a:buChar char="Ø"/>
            </a:pPr>
            <a:r>
              <a:rPr lang="zh-CN" altLang="en-US" sz="1100" b="1" dirty="0"/>
              <a:t>特殊天气需要协助场景</a:t>
            </a:r>
            <a:endParaRPr lang="zh-CN" altLang="en-US" sz="1050" dirty="0"/>
          </a:p>
        </p:txBody>
      </p:sp>
      <p:sp>
        <p:nvSpPr>
          <p:cNvPr id="22" name="文本框 21"/>
          <p:cNvSpPr txBox="1"/>
          <p:nvPr/>
        </p:nvSpPr>
        <p:spPr>
          <a:xfrm>
            <a:off x="3078000" y="4684260"/>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乘车较少的乘客</a:t>
            </a:r>
            <a:endParaRPr lang="en-US" altLang="zh-CN" sz="1100" b="1" dirty="0"/>
          </a:p>
        </p:txBody>
      </p:sp>
      <p:sp>
        <p:nvSpPr>
          <p:cNvPr id="31" name="文本框 30"/>
          <p:cNvSpPr txBox="1"/>
          <p:nvPr/>
        </p:nvSpPr>
        <p:spPr>
          <a:xfrm>
            <a:off x="5166037" y="4684960"/>
            <a:ext cx="2905375"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b="1" dirty="0"/>
              <a:t>后备箱的开启位置不好找</a:t>
            </a:r>
          </a:p>
        </p:txBody>
      </p:sp>
      <p:sp>
        <p:nvSpPr>
          <p:cNvPr id="24" name="文本框 23"/>
          <p:cNvSpPr txBox="1"/>
          <p:nvPr/>
        </p:nvSpPr>
        <p:spPr>
          <a:xfrm>
            <a:off x="7636190" y="2814863"/>
            <a:ext cx="723275" cy="253916"/>
          </a:xfrm>
          <a:prstGeom prst="rect">
            <a:avLst/>
          </a:prstGeom>
          <a:noFill/>
        </p:spPr>
        <p:txBody>
          <a:bodyPr wrap="none" rtlCol="0">
            <a:spAutoFit/>
          </a:bodyPr>
          <a:lstStyle/>
          <a:p>
            <a:r>
              <a:rPr lang="zh-CN" altLang="en-US" sz="1050" b="1" dirty="0"/>
              <a:t>机会点：</a:t>
            </a:r>
          </a:p>
        </p:txBody>
      </p:sp>
      <p:sp>
        <p:nvSpPr>
          <p:cNvPr id="25" name="文本框 24"/>
          <p:cNvSpPr txBox="1"/>
          <p:nvPr/>
        </p:nvSpPr>
        <p:spPr>
          <a:xfrm>
            <a:off x="7684431" y="4641395"/>
            <a:ext cx="588623" cy="253916"/>
          </a:xfrm>
          <a:prstGeom prst="rect">
            <a:avLst/>
          </a:prstGeom>
          <a:noFill/>
        </p:spPr>
        <p:txBody>
          <a:bodyPr wrap="none" rtlCol="0">
            <a:spAutoFit/>
          </a:bodyPr>
          <a:lstStyle/>
          <a:p>
            <a:r>
              <a:rPr lang="zh-CN" altLang="en-US" sz="1050" b="1" dirty="0"/>
              <a:t>展望：</a:t>
            </a:r>
          </a:p>
        </p:txBody>
      </p:sp>
      <p:sp>
        <p:nvSpPr>
          <p:cNvPr id="27" name="文本框 26"/>
          <p:cNvSpPr txBox="1"/>
          <p:nvPr/>
        </p:nvSpPr>
        <p:spPr>
          <a:xfrm>
            <a:off x="7599321" y="181016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8" name="文本框 37"/>
          <p:cNvSpPr txBox="1"/>
          <p:nvPr/>
        </p:nvSpPr>
        <p:spPr>
          <a:xfrm>
            <a:off x="8065771" y="1997435"/>
            <a:ext cx="4015843" cy="790666"/>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zh-CN" altLang="en-US" sz="1050" dirty="0"/>
              <a:t>车内语音开关车门，后背箱</a:t>
            </a:r>
            <a:endParaRPr lang="en-US" altLang="zh-CN" sz="1050" dirty="0"/>
          </a:p>
          <a:p>
            <a:pPr marL="171450" indent="-171450">
              <a:lnSpc>
                <a:spcPct val="150000"/>
              </a:lnSpc>
              <a:buFont typeface="Wingdings" panose="05000000000000000000" pitchFamily="2" charset="2"/>
              <a:buChar char="ü"/>
            </a:pPr>
            <a:r>
              <a:rPr lang="zh-CN" altLang="en-US" sz="1050" dirty="0"/>
              <a:t>车外语音开后背箱</a:t>
            </a:r>
            <a:endParaRPr lang="en-US" altLang="zh-CN" sz="1050" dirty="0"/>
          </a:p>
          <a:p>
            <a:pPr marL="171450" indent="-171450">
              <a:lnSpc>
                <a:spcPct val="150000"/>
              </a:lnSpc>
              <a:buFont typeface="Wingdings" panose="05000000000000000000" pitchFamily="2" charset="2"/>
              <a:buChar char="ü"/>
            </a:pPr>
            <a:r>
              <a:rPr lang="zh-CN" altLang="en-US" sz="1050" dirty="0"/>
              <a:t>解锁状态下，车门外指定位置可感应式自动开门（商务</a:t>
            </a:r>
            <a:r>
              <a:rPr lang="en-US" altLang="zh-CN" sz="1050" dirty="0"/>
              <a:t>MPV</a:t>
            </a:r>
            <a:r>
              <a:rPr lang="zh-CN" altLang="en-US" sz="1050" dirty="0"/>
              <a:t>）</a:t>
            </a:r>
          </a:p>
        </p:txBody>
      </p:sp>
      <p:sp>
        <p:nvSpPr>
          <p:cNvPr id="39" name="文本框 38"/>
          <p:cNvSpPr txBox="1"/>
          <p:nvPr/>
        </p:nvSpPr>
        <p:spPr>
          <a:xfrm>
            <a:off x="7978815" y="4870668"/>
            <a:ext cx="2784737" cy="988219"/>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场景，机器人帮助拿行李上车</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场景，机器人帮助搀扶老人上车</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场景，机器人帮助照看孩子与病人</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场景，机器人帮助撑伞</a:t>
            </a:r>
          </a:p>
        </p:txBody>
      </p:sp>
      <p:sp>
        <p:nvSpPr>
          <p:cNvPr id="8" name="文本框 7"/>
          <p:cNvSpPr txBox="1"/>
          <p:nvPr/>
        </p:nvSpPr>
        <p:spPr>
          <a:xfrm>
            <a:off x="3078000" y="2641600"/>
            <a:ext cx="2779395" cy="822325"/>
          </a:xfrm>
          <a:prstGeom prst="rect">
            <a:avLst/>
          </a:prstGeom>
          <a:noFill/>
        </p:spPr>
        <p:txBody>
          <a:bodyPr wrap="square" rtlCol="0">
            <a:spAutoFit/>
          </a:bodyPr>
          <a:lstStyle/>
          <a:p>
            <a:pPr indent="0" fontAlgn="auto"/>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假如说从医院</a:t>
            </a:r>
            <a:r>
              <a:rPr lang="zh-CN" altLang="en-US" sz="900" i="1">
                <a:latin typeface="微软雅黑" panose="020B0503020204020204" pitchFamily="34" charset="-122"/>
                <a:ea typeface="微软雅黑" panose="020B0503020204020204" pitchFamily="34" charset="-122"/>
                <a:cs typeface="Arial" panose="020B0604020202020204" pitchFamily="34" charset="0"/>
              </a:rPr>
              <a:t>出来，轮椅</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或者是他走路很</a:t>
            </a:r>
            <a:r>
              <a:rPr lang="zh-CN" altLang="en-US" sz="900" i="1">
                <a:latin typeface="微软雅黑" panose="020B0503020204020204" pitchFamily="34" charset="-122"/>
                <a:ea typeface="微软雅黑" panose="020B0503020204020204" pitchFamily="34" charset="-122"/>
                <a:cs typeface="Arial" panose="020B0604020202020204" pitchFamily="34" charset="0"/>
              </a:rPr>
              <a:t>慢的</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zh-CN" altLang="en-US" sz="900" i="1">
                <a:latin typeface="微软雅黑" panose="020B0503020204020204" pitchFamily="34" charset="-122"/>
                <a:ea typeface="微软雅黑" panose="020B0503020204020204" pitchFamily="34" charset="-122"/>
                <a:cs typeface="Arial" panose="020B0604020202020204" pitchFamily="34" charset="0"/>
              </a:rPr>
              <a:t>比如说</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我在瑞金医院的门口，本来就不大方便停，我就</a:t>
            </a:r>
            <a:r>
              <a:rPr lang="zh-CN" altLang="en-US" sz="900" i="1">
                <a:latin typeface="微软雅黑" panose="020B0503020204020204" pitchFamily="34" charset="-122"/>
                <a:ea typeface="微软雅黑" panose="020B0503020204020204" pitchFamily="34" charset="-122"/>
                <a:cs typeface="Arial" panose="020B0604020202020204" pitchFamily="34" charset="0"/>
              </a:rPr>
              <a:t>人下来，</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搀他一把，让他快</a:t>
            </a:r>
            <a:r>
              <a:rPr lang="zh-CN" altLang="en-US" sz="900" i="1">
                <a:latin typeface="微软雅黑" panose="020B0503020204020204" pitchFamily="34" charset="-122"/>
                <a:ea typeface="微软雅黑" panose="020B0503020204020204" pitchFamily="34" charset="-122"/>
                <a:cs typeface="Arial" panose="020B0604020202020204" pitchFamily="34" charset="0"/>
              </a:rPr>
              <a:t>点上车</a:t>
            </a: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rPr>
              <a:t>不要影响后面</a:t>
            </a:r>
            <a:r>
              <a:rPr lang="zh-CN" altLang="en-US" sz="900" i="1">
                <a:latin typeface="微软雅黑" panose="020B0503020204020204" pitchFamily="34" charset="-122"/>
                <a:ea typeface="微软雅黑" panose="020B0503020204020204" pitchFamily="34" charset="-122"/>
                <a:cs typeface="Arial" panose="020B0604020202020204" pitchFamily="34" charset="0"/>
              </a:rPr>
              <a:t>的交通</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p>
          <a:p>
            <a:pPr algn="r" fontAlgn="auto">
              <a:spcBef>
                <a:spcPts val="300"/>
              </a:spcBef>
              <a:spcAft>
                <a:spcPts val="0"/>
              </a:spcAft>
              <a:buClrTx/>
              <a:buSzTx/>
              <a:buFont typeface="Arial" panose="020B0604020202020204" pitchFamily="34" charset="0"/>
            </a:pPr>
            <a:r>
              <a:rPr lang="en-US" altLang="zh-CN" sz="900" i="1">
                <a:latin typeface="微软雅黑" panose="020B0503020204020204" pitchFamily="34" charset="-122"/>
                <a:ea typeface="微软雅黑" panose="020B0503020204020204" pitchFamily="34" charset="-122"/>
                <a:cs typeface="Arial" panose="020B0604020202020204" pitchFamily="34" charset="0"/>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rPr>
              <a:t>--</a:t>
            </a:r>
            <a:r>
              <a:rPr lang="en-US" altLang="zh-CN" sz="900" i="1">
                <a:latin typeface="微软雅黑" panose="020B0503020204020204" pitchFamily="34" charset="-122"/>
                <a:ea typeface="微软雅黑" panose="020B0503020204020204" pitchFamily="34" charset="-122"/>
                <a:cs typeface="Arial" panose="020B0604020202020204" pitchFamily="34" charset="0"/>
              </a:rPr>
              <a:t> 专车司机杨先生 38岁</a:t>
            </a:r>
          </a:p>
        </p:txBody>
      </p:sp>
      <p:sp>
        <p:nvSpPr>
          <p:cNvPr id="13" name="文本框 12"/>
          <p:cNvSpPr txBox="1"/>
          <p:nvPr/>
        </p:nvSpPr>
        <p:spPr>
          <a:xfrm>
            <a:off x="3077845" y="3837940"/>
            <a:ext cx="4498340" cy="506730"/>
          </a:xfrm>
          <a:prstGeom prst="rect">
            <a:avLst/>
          </a:prstGeom>
          <a:noFill/>
        </p:spPr>
        <p:txBody>
          <a:bodyPr wrap="square" rtlCol="0">
            <a:spAutoFit/>
          </a:bodyPr>
          <a:lstStyle/>
          <a:p>
            <a:pPr>
              <a:lnSpc>
                <a:spcPct val="100000"/>
              </a:lnSpc>
              <a:buClrTx/>
              <a:buSzTx/>
              <a:buFont typeface="Arial" panose="020B0604020202020204" pitchFamily="34" charset="0"/>
              <a:buNone/>
            </a:pP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我之前遇到过拿了豆奶，放到矿泉水里，可能早上自己打的，人还没上来，豆奶直接扔我车上了，就撒掉了，直接问他要清理费，他</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不给</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讲不通道理，只能客</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服介入</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endParaRPr>
          </a:p>
          <a:p>
            <a:pPr algn="r">
              <a:lnSpc>
                <a:spcPct val="100000"/>
              </a:lnSpc>
              <a:buClrTx/>
              <a:buSzTx/>
              <a:buFont typeface="Arial" panose="020B0604020202020204" pitchFamily="34" charset="0"/>
              <a:buNone/>
            </a:pP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专/快车司机徐先生 37岁	</a:t>
            </a:r>
            <a:endParaRPr lang="zh-CN" altLang="en-US" sz="1050" b="1" dirty="0"/>
          </a:p>
        </p:txBody>
      </p:sp>
      <p:sp>
        <p:nvSpPr>
          <p:cNvPr id="17" name="文本框 16"/>
          <p:cNvSpPr txBox="1"/>
          <p:nvPr/>
        </p:nvSpPr>
        <p:spPr>
          <a:xfrm>
            <a:off x="3078000" y="5071076"/>
            <a:ext cx="2084650" cy="683895"/>
          </a:xfrm>
          <a:prstGeom prst="rect">
            <a:avLst/>
          </a:prstGeom>
          <a:noFill/>
        </p:spPr>
        <p:txBody>
          <a:bodyPr wrap="square">
            <a:spAutoFit/>
          </a:bodyPr>
          <a:lstStyle/>
          <a:p>
            <a:pPr indent="0" algn="l">
              <a:lnSpc>
                <a:spcPct val="100000"/>
              </a:lnSpc>
              <a:buClrTx/>
              <a:buSzTx/>
              <a:buFont typeface="Arial" panose="020B0604020202020204" pitchFamily="34" charset="0"/>
              <a:buNone/>
            </a:pP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我碰到过后备厢开不了的那种，也不知道按哪一个（位置），就</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按半天</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现在各种各样的电车</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a:t>
            </a:r>
          </a:p>
          <a:p>
            <a:pPr indent="0" algn="r">
              <a:lnSpc>
                <a:spcPct val="100000"/>
              </a:lnSpc>
              <a:spcBef>
                <a:spcPts val="300"/>
              </a:spcBef>
              <a:spcAft>
                <a:spcPts val="0"/>
              </a:spcAft>
              <a:buClrTx/>
              <a:buSzTx/>
              <a:buFont typeface="Arial" panose="020B0604020202020204" pitchFamily="34" charset="0"/>
              <a:buNone/>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900" i="1" dirty="0">
                <a:latin typeface="微软雅黑" panose="020B0503020204020204" pitchFamily="34" charset="-122"/>
                <a:ea typeface="微软雅黑" panose="020B0503020204020204" pitchFamily="34" charset="-122"/>
                <a:cs typeface="Arial" panose="020B0604020202020204" pitchFamily="34" charset="0"/>
                <a:sym typeface="+mn-ea"/>
              </a:rPr>
              <a:t>海外投资林先生（快车） </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38岁</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23" name="文本框 22"/>
          <p:cNvSpPr txBox="1"/>
          <p:nvPr/>
        </p:nvSpPr>
        <p:spPr>
          <a:xfrm>
            <a:off x="5303066" y="5088301"/>
            <a:ext cx="2273260" cy="544830"/>
          </a:xfrm>
          <a:prstGeom prst="rect">
            <a:avLst/>
          </a:prstGeom>
          <a:noFill/>
        </p:spPr>
        <p:txBody>
          <a:bodyPr wrap="square">
            <a:spAutoFit/>
          </a:bodyPr>
          <a:lstStyle/>
          <a:p>
            <a:r>
              <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900" i="1">
                <a:sym typeface="+mn-ea"/>
              </a:rPr>
              <a:t>因为那个车型不熟悉，（不好找开关）</a:t>
            </a:r>
            <a:r>
              <a:rPr lang="zh-CN" altLang="en-US" sz="900" i="1">
                <a:latin typeface="微软雅黑" panose="020B0503020204020204" pitchFamily="34" charset="-122"/>
                <a:ea typeface="微软雅黑" panose="020B0503020204020204" pitchFamily="34" charset="-122"/>
                <a:cs typeface="Arial" panose="020B0604020202020204" pitchFamily="34" charset="0"/>
                <a:sym typeface="+mn-ea"/>
              </a:rPr>
              <a:t>”</a:t>
            </a:r>
            <a:endParaRPr lang="en-US" altLang="zh-CN" sz="900" i="1" dirty="0">
              <a:latin typeface="微软雅黑" panose="020B0503020204020204" pitchFamily="34" charset="-122"/>
              <a:ea typeface="微软雅黑" panose="020B0503020204020204" pitchFamily="34" charset="-122"/>
              <a:cs typeface="Arial" panose="020B0604020202020204" pitchFamily="34" charset="0"/>
              <a:sym typeface="+mn-ea"/>
            </a:endParaRPr>
          </a:p>
          <a:p>
            <a:pPr algn="r">
              <a:lnSpc>
                <a:spcPct val="100000"/>
              </a:lnSpc>
              <a:spcBef>
                <a:spcPts val="300"/>
              </a:spcBef>
              <a:spcAft>
                <a:spcPts val="0"/>
              </a:spcAft>
              <a:buClrTx/>
              <a:buSzTx/>
              <a:buFont typeface="Arial" panose="020B0604020202020204" pitchFamily="34" charset="0"/>
              <a:buNone/>
            </a:pP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 保险业务施女士（专车） 29岁</a:t>
            </a:r>
          </a:p>
          <a:p>
            <a:pPr indent="0" algn="l">
              <a:lnSpc>
                <a:spcPct val="100000"/>
              </a:lnSpc>
              <a:buClrTx/>
              <a:buSzTx/>
              <a:buFont typeface="Arial" panose="020B0604020202020204" pitchFamily="34" charset="0"/>
              <a:buNone/>
            </a:pPr>
            <a:endParaRPr lang="en-US" altLang="zh-CN" sz="900" i="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30" name="文本框 29"/>
          <p:cNvSpPr txBox="1"/>
          <p:nvPr/>
        </p:nvSpPr>
        <p:spPr>
          <a:xfrm>
            <a:off x="5949950" y="2646045"/>
            <a:ext cx="1648460" cy="822325"/>
          </a:xfrm>
          <a:prstGeom prst="rect">
            <a:avLst/>
          </a:prstGeom>
          <a:noFill/>
        </p:spPr>
        <p:txBody>
          <a:bodyPr wrap="square" rtlCol="0" anchor="t">
            <a:spAutoFit/>
          </a:bodyPr>
          <a:lstStyle/>
          <a:p>
            <a:pPr indent="0" algn="l">
              <a:lnSpc>
                <a:spcPct val="100000"/>
              </a:lnSpc>
              <a:buClrTx/>
              <a:buSzTx/>
              <a:buNone/>
            </a:pP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“碰到一般下雨天，如果小区或者商务楼能开进去的，那我也可以跟他说开到里面，送到里面”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a:t>
            </a:r>
          </a:p>
          <a:p>
            <a:pPr algn="r">
              <a:lnSpc>
                <a:spcPct val="100000"/>
              </a:lnSpc>
              <a:spcBef>
                <a:spcPts val="300"/>
              </a:spcBef>
              <a:spcAft>
                <a:spcPts val="0"/>
              </a:spcAft>
              <a:buClrTx/>
              <a:buSzTx/>
              <a:buFont typeface="Arial" panose="020B0604020202020204" pitchFamily="34" charset="0"/>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900" i="1">
                <a:latin typeface="微软雅黑" panose="020B0503020204020204" pitchFamily="34" charset="-122"/>
                <a:ea typeface="微软雅黑" panose="020B0503020204020204" pitchFamily="34" charset="-122"/>
                <a:cs typeface="Arial" panose="020B0604020202020204" pitchFamily="34" charset="0"/>
                <a:sym typeface="+mn-ea"/>
              </a:rPr>
              <a:t> 专车司机杨先生 38岁</a:t>
            </a:r>
          </a:p>
        </p:txBody>
      </p:sp>
      <p:sp>
        <p:nvSpPr>
          <p:cNvPr id="5" name="文本框 4"/>
          <p:cNvSpPr txBox="1"/>
          <p:nvPr/>
        </p:nvSpPr>
        <p:spPr>
          <a:xfrm>
            <a:off x="4201200" y="2122805"/>
            <a:ext cx="1492885" cy="414020"/>
          </a:xfrm>
          <a:prstGeom prst="rect">
            <a:avLst/>
          </a:prstGeom>
          <a:noFill/>
        </p:spPr>
        <p:txBody>
          <a:bodyPr wrap="square" rtlCol="0" anchor="t">
            <a:spAutoFit/>
          </a:bodyPr>
          <a:lstStyle/>
          <a:p>
            <a:pPr marL="171450" indent="-171450" algn="l">
              <a:buClrTx/>
              <a:buSzTx/>
              <a:buFont typeface="Arial" panose="020B0604020202020204" pitchFamily="34" charset="0"/>
              <a:buChar char="•"/>
            </a:pPr>
            <a:r>
              <a:rPr lang="zh-CN" altLang="en-US" sz="1050" dirty="0">
                <a:sym typeface="+mn-ea"/>
              </a:rPr>
              <a:t>医院门口</a:t>
            </a:r>
            <a:endParaRPr lang="zh-CN" altLang="en-US" sz="1050" dirty="0"/>
          </a:p>
          <a:p>
            <a:pPr marL="171450" indent="-171450" algn="l">
              <a:buClrTx/>
              <a:buSzTx/>
              <a:buFont typeface="Arial" panose="020B0604020202020204" pitchFamily="34" charset="0"/>
              <a:buChar char="•"/>
            </a:pPr>
            <a:r>
              <a:rPr lang="zh-CN" altLang="en-US" sz="1050" dirty="0">
                <a:sym typeface="+mn-ea"/>
              </a:rPr>
              <a:t>机场高铁等</a:t>
            </a:r>
          </a:p>
        </p:txBody>
      </p:sp>
      <p:sp>
        <p:nvSpPr>
          <p:cNvPr id="32" name="文本框 31"/>
          <p:cNvSpPr txBox="1"/>
          <p:nvPr/>
        </p:nvSpPr>
        <p:spPr>
          <a:xfrm>
            <a:off x="5831840" y="2122805"/>
            <a:ext cx="1707515" cy="575945"/>
          </a:xfrm>
          <a:prstGeom prst="rect">
            <a:avLst/>
          </a:prstGeom>
          <a:noFill/>
        </p:spPr>
        <p:txBody>
          <a:bodyPr wrap="square" rtlCol="0" anchor="t">
            <a:spAutoFit/>
          </a:bodyPr>
          <a:lstStyle/>
          <a:p>
            <a:pPr marL="171450" indent="-171450" algn="l">
              <a:buClrTx/>
              <a:buSzTx/>
              <a:buFont typeface="Arial" panose="020B0604020202020204" pitchFamily="34" charset="0"/>
              <a:buChar char="•"/>
            </a:pPr>
            <a:r>
              <a:rPr lang="zh-CN" altLang="en-US" sz="1050" dirty="0">
                <a:sym typeface="+mn-ea"/>
              </a:rPr>
              <a:t>雨天如暴雨，帮助撑伞避免淋湿</a:t>
            </a:r>
            <a:endParaRPr lang="zh-CN" altLang="en-US" sz="1050" dirty="0"/>
          </a:p>
          <a:p>
            <a:pPr marL="171450" indent="-171450" algn="l">
              <a:buClrTx/>
              <a:buSzTx/>
              <a:buFont typeface="Arial" panose="020B0604020202020204" pitchFamily="34" charset="0"/>
              <a:buChar char="•"/>
            </a:pPr>
            <a:r>
              <a:rPr lang="zh-CN" altLang="en-US" sz="1050" dirty="0">
                <a:sym typeface="+mn-ea"/>
              </a:rPr>
              <a:t>大雪天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协助上车</a:t>
            </a:r>
            <a:r>
              <a:rPr lang="en-US" altLang="zh-CN" dirty="0"/>
              <a:t>&amp;</a:t>
            </a:r>
            <a:r>
              <a:rPr lang="zh-CN" altLang="en-US" dirty="0"/>
              <a:t>行程确认</a:t>
            </a:r>
          </a:p>
        </p:txBody>
      </p:sp>
      <p:sp>
        <p:nvSpPr>
          <p:cNvPr id="16" name="文本占位符 4"/>
          <p:cNvSpPr txBox="1"/>
          <p:nvPr/>
        </p:nvSpPr>
        <p:spPr>
          <a:xfrm>
            <a:off x="4193994"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58" name="文本占位符 4"/>
          <p:cNvSpPr txBox="1"/>
          <p:nvPr/>
        </p:nvSpPr>
        <p:spPr>
          <a:xfrm>
            <a:off x="1865738"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641622"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740400"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220457" y="1389551"/>
            <a:ext cx="156019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p:cNvCxnSpPr/>
          <p:nvPr/>
        </p:nvCxnSpPr>
        <p:spPr>
          <a:xfrm>
            <a:off x="1648014" y="174410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1901155" y="5140813"/>
            <a:ext cx="1773159" cy="577081"/>
          </a:xfrm>
          <a:prstGeom prst="rect">
            <a:avLst/>
          </a:prstGeom>
          <a:noFill/>
        </p:spPr>
        <p:txBody>
          <a:bodyPr wrap="square" rtlCol="0">
            <a:spAutoFit/>
          </a:bodyPr>
          <a:lstStyle/>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5" name="文本框 4"/>
          <p:cNvSpPr txBox="1"/>
          <p:nvPr/>
        </p:nvSpPr>
        <p:spPr>
          <a:xfrm>
            <a:off x="1944513" y="4005258"/>
            <a:ext cx="1773159" cy="730969"/>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p:cNvCxnSpPr/>
          <p:nvPr/>
        </p:nvCxnSpPr>
        <p:spPr>
          <a:xfrm>
            <a:off x="7223645"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36253" y="4005258"/>
            <a:ext cx="6687392"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25"/>
          <p:cNvCxnSpPr/>
          <p:nvPr/>
        </p:nvCxnSpPr>
        <p:spPr>
          <a:xfrm>
            <a:off x="452476" y="1834362"/>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1" name="文本框 40"/>
          <p:cNvSpPr txBox="1"/>
          <p:nvPr/>
        </p:nvSpPr>
        <p:spPr>
          <a:xfrm>
            <a:off x="110319" y="3203560"/>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行程</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确认</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629984" y="4615114"/>
            <a:ext cx="1063112" cy="261610"/>
          </a:xfrm>
          <a:prstGeom prst="rect">
            <a:avLst/>
          </a:prstGeom>
          <a:noFill/>
        </p:spPr>
        <p:txBody>
          <a:bodyPr wrap="none" rtlCol="0">
            <a:spAutoFit/>
          </a:bodyPr>
          <a:lstStyle/>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目的地确认</a:t>
            </a:r>
          </a:p>
        </p:txBody>
      </p:sp>
      <p:sp>
        <p:nvSpPr>
          <p:cNvPr id="43" name="文本框 42"/>
          <p:cNvSpPr txBox="1"/>
          <p:nvPr/>
        </p:nvSpPr>
        <p:spPr>
          <a:xfrm>
            <a:off x="664619" y="2651265"/>
            <a:ext cx="922047" cy="261610"/>
          </a:xfrm>
          <a:prstGeom prst="rect">
            <a:avLst/>
          </a:prstGeom>
          <a:noFill/>
        </p:spPr>
        <p:txBody>
          <a:bodyPr wrap="none" rtlCol="0">
            <a:spAutoFit/>
          </a:bodyPr>
          <a:lstStyle/>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身份确认</a:t>
            </a:r>
          </a:p>
        </p:txBody>
      </p:sp>
      <p:sp>
        <p:nvSpPr>
          <p:cNvPr id="44" name="文本框 43"/>
          <p:cNvSpPr txBox="1"/>
          <p:nvPr/>
        </p:nvSpPr>
        <p:spPr>
          <a:xfrm>
            <a:off x="1788265" y="2430473"/>
            <a:ext cx="1204176" cy="56996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100" dirty="0"/>
              <a:t>司机主动询问</a:t>
            </a:r>
            <a:endParaRPr lang="en-US" altLang="zh-CN" sz="1100" dirty="0"/>
          </a:p>
          <a:p>
            <a:pPr marL="171450" indent="-171450">
              <a:lnSpc>
                <a:spcPct val="150000"/>
              </a:lnSpc>
              <a:buFont typeface="Arial" panose="020B0604020202020204" pitchFamily="34" charset="0"/>
              <a:buChar char="•"/>
            </a:pPr>
            <a:r>
              <a:rPr lang="zh-CN" altLang="en-US" sz="1100" dirty="0"/>
              <a:t>乘客主动告知</a:t>
            </a:r>
          </a:p>
        </p:txBody>
      </p:sp>
      <p:sp>
        <p:nvSpPr>
          <p:cNvPr id="45" name="文本框 44"/>
          <p:cNvSpPr txBox="1"/>
          <p:nvPr/>
        </p:nvSpPr>
        <p:spPr>
          <a:xfrm>
            <a:off x="1728674" y="4460937"/>
            <a:ext cx="1644094" cy="5699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多人打车 </a:t>
            </a:r>
            <a:r>
              <a:rPr lang="en-US" altLang="zh-CN" sz="1100" dirty="0"/>
              <a:t>/ </a:t>
            </a:r>
            <a:r>
              <a:rPr lang="zh-CN" altLang="en-US" sz="1100" dirty="0"/>
              <a:t>扎堆打车地方确认目的地</a:t>
            </a:r>
          </a:p>
        </p:txBody>
      </p:sp>
      <p:sp>
        <p:nvSpPr>
          <p:cNvPr id="48" name="文本框 47"/>
          <p:cNvSpPr txBox="1"/>
          <p:nvPr/>
        </p:nvSpPr>
        <p:spPr>
          <a:xfrm>
            <a:off x="3740400" y="1943100"/>
            <a:ext cx="3008630" cy="334010"/>
          </a:xfrm>
          <a:prstGeom prst="rect">
            <a:avLst/>
          </a:prstGeom>
          <a:noFill/>
        </p:spPr>
        <p:txBody>
          <a:bodyPr wrap="none" rtlCol="0">
            <a:noAutofit/>
          </a:bodyPr>
          <a:lstStyle/>
          <a:p>
            <a:pPr marL="171450" indent="-171450">
              <a:lnSpc>
                <a:spcPct val="150000"/>
              </a:lnSpc>
              <a:buFont typeface="Wingdings" panose="05000000000000000000" pitchFamily="2" charset="2"/>
              <a:buChar char="Ø"/>
            </a:pPr>
            <a:r>
              <a:rPr lang="zh-CN" altLang="en-US" sz="1100" b="1" dirty="0"/>
              <a:t>存在一些不主动司机，不主动询问也不发车</a:t>
            </a:r>
            <a:endParaRPr lang="en-US" altLang="zh-CN" sz="1100" b="1" dirty="0"/>
          </a:p>
          <a:p>
            <a:pPr marL="171450" indent="-171450">
              <a:lnSpc>
                <a:spcPct val="150000"/>
              </a:lnSpc>
              <a:buFont typeface="Wingdings" panose="05000000000000000000" pitchFamily="2" charset="2"/>
              <a:buChar char="Ø"/>
            </a:pPr>
            <a:endParaRPr lang="zh-CN" altLang="en-US" sz="1100" b="1" dirty="0"/>
          </a:p>
        </p:txBody>
      </p:sp>
      <p:sp>
        <p:nvSpPr>
          <p:cNvPr id="51" name="文本框 50"/>
          <p:cNvSpPr txBox="1"/>
          <p:nvPr/>
        </p:nvSpPr>
        <p:spPr>
          <a:xfrm>
            <a:off x="3740150" y="3996055"/>
            <a:ext cx="3317240" cy="426085"/>
          </a:xfrm>
          <a:prstGeom prst="rect">
            <a:avLst/>
          </a:prstGeom>
          <a:noFill/>
        </p:spPr>
        <p:txBody>
          <a:bodyPr wrap="square" anchor="ctr">
            <a:noAutofit/>
          </a:bodyPr>
          <a:lstStyle/>
          <a:p>
            <a:pPr marL="171450" indent="-171450">
              <a:lnSpc>
                <a:spcPct val="150000"/>
              </a:lnSpc>
              <a:buFont typeface="Wingdings" panose="05000000000000000000" pitchFamily="2" charset="2"/>
              <a:buChar char="Ø"/>
            </a:pPr>
            <a:r>
              <a:rPr lang="zh-CN" altLang="en-US" sz="1100" b="1" dirty="0"/>
              <a:t>打车人群密集的地点（如商场、写字楼、车站）</a:t>
            </a:r>
          </a:p>
        </p:txBody>
      </p:sp>
      <p:sp>
        <p:nvSpPr>
          <p:cNvPr id="54" name="文本框 53"/>
          <p:cNvSpPr txBox="1"/>
          <p:nvPr/>
        </p:nvSpPr>
        <p:spPr>
          <a:xfrm flipH="1">
            <a:off x="7631813" y="3662050"/>
            <a:ext cx="4266203" cy="2093458"/>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100" dirty="0"/>
              <a:t>增加</a:t>
            </a:r>
            <a:r>
              <a:rPr lang="en-US" altLang="zh-CN" sz="1100" dirty="0" err="1"/>
              <a:t>Rototaxi</a:t>
            </a:r>
            <a:r>
              <a:rPr lang="zh-CN" altLang="en-US" sz="1100" dirty="0"/>
              <a:t>的语音互动能力，对于人群比较多的情况下，进行礼貌的语音问询，目的地是否正确</a:t>
            </a:r>
            <a:endParaRPr lang="en-US" altLang="zh-CN" sz="1100" dirty="0"/>
          </a:p>
          <a:p>
            <a:pPr marL="171450" indent="-171450">
              <a:lnSpc>
                <a:spcPct val="150000"/>
              </a:lnSpc>
              <a:buFont typeface="Wingdings" panose="05000000000000000000" pitchFamily="2" charset="2"/>
              <a:buChar char="ü"/>
            </a:pPr>
            <a:r>
              <a:rPr lang="zh-CN" altLang="en-US" sz="1100" dirty="0"/>
              <a:t>支持</a:t>
            </a:r>
            <a:r>
              <a:rPr lang="en-US" altLang="zh-CN" sz="1100" dirty="0" err="1"/>
              <a:t>Rototaxi</a:t>
            </a:r>
            <a:r>
              <a:rPr lang="zh-CN" altLang="en-US" sz="1100" dirty="0"/>
              <a:t>的更灵活语音约定停靠地点，而不是只能指定站点停车</a:t>
            </a:r>
            <a:endParaRPr lang="en-US" altLang="zh-CN" sz="1100" dirty="0"/>
          </a:p>
          <a:p>
            <a:pPr marL="171450" indent="-171450">
              <a:lnSpc>
                <a:spcPct val="150000"/>
              </a:lnSpc>
              <a:buFont typeface="Wingdings" panose="05000000000000000000" pitchFamily="2" charset="2"/>
              <a:buChar char="ü"/>
            </a:pPr>
            <a:r>
              <a:rPr lang="zh-CN" altLang="en-US" sz="1100" dirty="0"/>
              <a:t>对于私家车场景，自动人脸识别和声纹，驾驶位与其他位置，进行各个位置上车后的习惯设定（如温度，座椅位置，香氛浓度等）</a:t>
            </a:r>
            <a:endParaRPr lang="en-US" altLang="zh-CN" sz="1100" dirty="0"/>
          </a:p>
          <a:p>
            <a:pPr marL="171450" indent="-171450">
              <a:lnSpc>
                <a:spcPct val="150000"/>
              </a:lnSpc>
              <a:buFont typeface="Wingdings" panose="05000000000000000000" pitchFamily="2" charset="2"/>
              <a:buChar char="ü"/>
            </a:pPr>
            <a:r>
              <a:rPr lang="zh-CN" altLang="en-US" sz="1100" dirty="0"/>
              <a:t>对于私家车场景，如果乘车是陌生人（车主客人），车主远程授权控制内容及远程身份确认</a:t>
            </a:r>
            <a:endParaRPr lang="en-US" altLang="zh-CN" sz="1100" dirty="0"/>
          </a:p>
        </p:txBody>
      </p:sp>
      <p:sp>
        <p:nvSpPr>
          <p:cNvPr id="24" name="文本框 23"/>
          <p:cNvSpPr txBox="1"/>
          <p:nvPr/>
        </p:nvSpPr>
        <p:spPr>
          <a:xfrm>
            <a:off x="7242079" y="3444118"/>
            <a:ext cx="723275" cy="253916"/>
          </a:xfrm>
          <a:prstGeom prst="rect">
            <a:avLst/>
          </a:prstGeom>
          <a:noFill/>
        </p:spPr>
        <p:txBody>
          <a:bodyPr wrap="none" rtlCol="0">
            <a:spAutoFit/>
          </a:bodyPr>
          <a:lstStyle/>
          <a:p>
            <a:r>
              <a:rPr lang="zh-CN" altLang="en-US" sz="1050" b="1" dirty="0"/>
              <a:t>机会点：</a:t>
            </a:r>
          </a:p>
        </p:txBody>
      </p:sp>
      <p:sp>
        <p:nvSpPr>
          <p:cNvPr id="25" name="文本框 24"/>
          <p:cNvSpPr txBox="1"/>
          <p:nvPr/>
        </p:nvSpPr>
        <p:spPr>
          <a:xfrm>
            <a:off x="7293436" y="5717257"/>
            <a:ext cx="588623" cy="253916"/>
          </a:xfrm>
          <a:prstGeom prst="rect">
            <a:avLst/>
          </a:prstGeom>
          <a:noFill/>
        </p:spPr>
        <p:txBody>
          <a:bodyPr wrap="none" rtlCol="0">
            <a:spAutoFit/>
          </a:bodyPr>
          <a:lstStyle/>
          <a:p>
            <a:r>
              <a:rPr lang="zh-CN" altLang="en-US" sz="1050" b="1" dirty="0"/>
              <a:t>展望：</a:t>
            </a:r>
          </a:p>
        </p:txBody>
      </p:sp>
      <p:sp>
        <p:nvSpPr>
          <p:cNvPr id="27" name="文本框 26"/>
          <p:cNvSpPr txBox="1"/>
          <p:nvPr/>
        </p:nvSpPr>
        <p:spPr>
          <a:xfrm>
            <a:off x="7223645" y="193509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3" name="文本框 32"/>
          <p:cNvSpPr txBox="1"/>
          <p:nvPr/>
        </p:nvSpPr>
        <p:spPr>
          <a:xfrm flipH="1">
            <a:off x="7622151" y="2114674"/>
            <a:ext cx="3942323" cy="133171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altLang="zh-CN" sz="1100" dirty="0"/>
              <a:t>Robotaxi</a:t>
            </a:r>
            <a:r>
              <a:rPr lang="zh-CN" altLang="en-US" sz="1100" dirty="0"/>
              <a:t>车外输入手机尾号</a:t>
            </a:r>
            <a:endParaRPr lang="en-US" altLang="zh-CN" sz="1100" dirty="0"/>
          </a:p>
          <a:p>
            <a:pPr marL="171450" indent="-171450">
              <a:lnSpc>
                <a:spcPct val="150000"/>
              </a:lnSpc>
              <a:buFont typeface="Wingdings" panose="05000000000000000000" pitchFamily="2" charset="2"/>
              <a:buChar char="ü"/>
            </a:pPr>
            <a:r>
              <a:rPr lang="zh-CN" altLang="en-US" sz="1100" dirty="0"/>
              <a:t>乘客能通过前排或后排信息交互屏自行查看信息</a:t>
            </a:r>
            <a:endParaRPr lang="en-US" altLang="zh-CN" sz="1100" dirty="0"/>
          </a:p>
          <a:p>
            <a:pPr marL="171450" indent="-171450">
              <a:lnSpc>
                <a:spcPct val="150000"/>
              </a:lnSpc>
              <a:buFont typeface="Wingdings" panose="05000000000000000000" pitchFamily="2" charset="2"/>
              <a:buChar char="ü"/>
            </a:pPr>
            <a:r>
              <a:rPr lang="zh-CN" altLang="en-US" sz="1100" dirty="0"/>
              <a:t>驾驶位人脸识别身份认证，其他位置的声纹识别，进行响应舒适性的调整（座椅位置、温度等），并能互动时，叫响应的名字</a:t>
            </a:r>
          </a:p>
        </p:txBody>
      </p:sp>
      <p:sp>
        <p:nvSpPr>
          <p:cNvPr id="35" name="文本框 34"/>
          <p:cNvSpPr txBox="1"/>
          <p:nvPr/>
        </p:nvSpPr>
        <p:spPr>
          <a:xfrm>
            <a:off x="7746011" y="5885574"/>
            <a:ext cx="3118161"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特斯拉</a:t>
            </a:r>
            <a:r>
              <a:rPr lang="en-US" altLang="zh-CN" sz="1050" dirty="0"/>
              <a:t>L4</a:t>
            </a:r>
            <a:r>
              <a:rPr lang="zh-CN" altLang="en-US" sz="1050" dirty="0"/>
              <a:t>的</a:t>
            </a:r>
            <a:r>
              <a:rPr lang="en-US" altLang="zh-CN" sz="1050" dirty="0" err="1"/>
              <a:t>airbnb</a:t>
            </a:r>
            <a:r>
              <a:rPr lang="zh-CN" altLang="en-US" sz="1050" dirty="0"/>
              <a:t>模式</a:t>
            </a:r>
            <a:r>
              <a:rPr lang="en-US" altLang="zh-CN" sz="1050" dirty="0"/>
              <a:t>+</a:t>
            </a:r>
            <a:r>
              <a:rPr lang="zh-CN" altLang="en-US" sz="1050" dirty="0"/>
              <a:t>自己使用模式灵活切换</a:t>
            </a:r>
          </a:p>
        </p:txBody>
      </p:sp>
      <p:sp>
        <p:nvSpPr>
          <p:cNvPr id="3" name="文本框 2"/>
          <p:cNvSpPr txBox="1"/>
          <p:nvPr/>
        </p:nvSpPr>
        <p:spPr>
          <a:xfrm>
            <a:off x="3740400" y="2324100"/>
            <a:ext cx="3336925" cy="545465"/>
          </a:xfrm>
          <a:prstGeom prst="rect">
            <a:avLst/>
          </a:prstGeom>
          <a:noFill/>
        </p:spPr>
        <p:txBody>
          <a:bodyPr wrap="square" rtlCol="0">
            <a:noAutofit/>
          </a:bodyPr>
          <a:lstStyle/>
          <a:p>
            <a:pPr indent="0">
              <a:lnSpc>
                <a:spcPct val="100000"/>
              </a:lnSpc>
              <a:buClrTx/>
              <a:buSzTx/>
              <a:buNone/>
            </a:pPr>
            <a:r>
              <a:rPr lang="en-US" altLang="zh-CN" sz="900" i="1">
                <a:latin typeface="微软雅黑" panose="020B0503020204020204" pitchFamily="34" charset="-122"/>
                <a:ea typeface="微软雅黑" panose="020B0503020204020204" pitchFamily="34" charset="-122"/>
                <a:sym typeface="+mn-ea"/>
              </a:rPr>
              <a:t>“</a:t>
            </a:r>
            <a:r>
              <a:rPr lang="zh-CN" altLang="en-US" sz="900" i="1" dirty="0"/>
              <a:t>除非乘客自己说，师傅您能帮我看一下哪个更快一点，我会跟他讲一下，哪个更快，或者让他自己看，改一条最快的”</a:t>
            </a:r>
          </a:p>
          <a:p>
            <a:pPr algn="r">
              <a:lnSpc>
                <a:spcPct val="100000"/>
              </a:lnSpc>
              <a:spcBef>
                <a:spcPts val="300"/>
              </a:spcBef>
              <a:spcAft>
                <a:spcPts val="0"/>
              </a:spcAft>
              <a:buClrTx/>
              <a:buSzTx/>
              <a:buFontTx/>
              <a:buNone/>
            </a:pPr>
            <a:r>
              <a:rPr lang="en-US" altLang="zh-CN" sz="900" i="1"/>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--专车司机杨先生 38岁	</a:t>
            </a:r>
          </a:p>
        </p:txBody>
      </p:sp>
      <p:sp>
        <p:nvSpPr>
          <p:cNvPr id="4" name="文本框 3"/>
          <p:cNvSpPr txBox="1"/>
          <p:nvPr/>
        </p:nvSpPr>
        <p:spPr>
          <a:xfrm>
            <a:off x="3740150" y="5280660"/>
            <a:ext cx="3464560" cy="615315"/>
          </a:xfrm>
          <a:prstGeom prst="rect">
            <a:avLst/>
          </a:prstGeom>
          <a:noFill/>
        </p:spPr>
        <p:txBody>
          <a:bodyPr wrap="square" anchor="ctr">
            <a:noAutofit/>
          </a:bodyPr>
          <a:lstStyle/>
          <a:p>
            <a:pPr fontAlgn="auto">
              <a:lnSpc>
                <a:spcPct val="100000"/>
              </a:lnSpc>
            </a:pP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可以在出发前说一声，目的地是哪里，跟你再确认一下</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r" fontAlgn="auto">
              <a:lnSpc>
                <a:spcPct val="100000"/>
              </a:lnSpc>
              <a:spcBef>
                <a:spcPts val="300"/>
              </a:spcBef>
              <a:spcAft>
                <a:spcPts val="0"/>
              </a:spcAft>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老师王女士（专车）</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25</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岁</a:t>
            </a:r>
          </a:p>
        </p:txBody>
      </p:sp>
      <p:sp>
        <p:nvSpPr>
          <p:cNvPr id="6" name="文本框 5"/>
          <p:cNvSpPr txBox="1"/>
          <p:nvPr/>
        </p:nvSpPr>
        <p:spPr>
          <a:xfrm>
            <a:off x="3740400" y="2820670"/>
            <a:ext cx="3451860" cy="344805"/>
          </a:xfrm>
          <a:prstGeom prst="rect">
            <a:avLst/>
          </a:prstGeom>
          <a:noFill/>
        </p:spPr>
        <p:txBody>
          <a:bodyPr wrap="square" rtlCol="0" anchor="t">
            <a:spAutoFit/>
          </a:bodyPr>
          <a:lstStyle/>
          <a:p>
            <a:pPr marL="171450" indent="-171450">
              <a:lnSpc>
                <a:spcPct val="150000"/>
              </a:lnSpc>
              <a:buFont typeface="Wingdings" panose="05000000000000000000" pitchFamily="2" charset="2"/>
              <a:buChar char="Ø"/>
            </a:pPr>
            <a:r>
              <a:rPr lang="zh-CN" altLang="en-US" sz="1100" b="1" dirty="0">
                <a:sym typeface="+mn-ea"/>
              </a:rPr>
              <a:t>大多数平台都是手机尾号后</a:t>
            </a:r>
            <a:r>
              <a:rPr lang="en-US" altLang="zh-CN" sz="1100" b="1" dirty="0">
                <a:sym typeface="+mn-ea"/>
              </a:rPr>
              <a:t>4</a:t>
            </a:r>
            <a:r>
              <a:rPr lang="zh-CN" altLang="en-US" sz="1100" b="1" dirty="0">
                <a:sym typeface="+mn-ea"/>
              </a:rPr>
              <a:t>位</a:t>
            </a:r>
          </a:p>
        </p:txBody>
      </p:sp>
      <p:sp>
        <p:nvSpPr>
          <p:cNvPr id="7" name="文本框 6"/>
          <p:cNvSpPr txBox="1"/>
          <p:nvPr/>
        </p:nvSpPr>
        <p:spPr>
          <a:xfrm>
            <a:off x="3740400" y="3188970"/>
            <a:ext cx="3479165" cy="822325"/>
          </a:xfrm>
          <a:prstGeom prst="rect">
            <a:avLst/>
          </a:prstGeom>
        </p:spPr>
        <p:txBody>
          <a:bodyPr wrap="square">
            <a:spAutoFit/>
          </a:bodyPr>
          <a:lstStyle/>
          <a:p>
            <a:pPr defTabSz="266700"/>
            <a:r>
              <a:rPr lang="en-US" altLang="zh-CN"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说手机尾号</a:t>
            </a:r>
            <a:r>
              <a:rPr lang="en-US" altLang="zh-CN" sz="900" i="1">
                <a:latin typeface="微软雅黑" panose="020B0503020204020204" pitchFamily="34" charset="-122"/>
                <a:ea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rPr>
              <a:t>因为有很多司机他坐上去，也不问你要，他就就坐在那边等，我有时候从楼上下来，我会忘记，正常习惯你走吧，他不走，就在那边等我，也不讲，也不说，就停在那等，拿着手机，我看到了告诉他</a:t>
            </a:r>
            <a:r>
              <a:rPr lang="en-US" altLang="zh-CN" sz="900" i="1">
                <a:latin typeface="微软雅黑" panose="020B0503020204020204" pitchFamily="34" charset="-122"/>
                <a:ea typeface="微软雅黑" panose="020B0503020204020204" pitchFamily="34" charset="-122"/>
              </a:rPr>
              <a:t>”</a:t>
            </a:r>
          </a:p>
          <a:p>
            <a:pPr algn="r" defTabSz="914400">
              <a:spcBef>
                <a:spcPts val="300"/>
              </a:spcBef>
              <a:spcAft>
                <a:spcPts val="0"/>
              </a:spcAft>
              <a:buClrTx/>
              <a:buSzTx/>
              <a:buFontTx/>
            </a:pPr>
            <a:r>
              <a:rPr lang="en-US" altLang="zh-CN" sz="900" i="1">
                <a:latin typeface="微软雅黑" panose="020B0503020204020204" pitchFamily="34" charset="-122"/>
                <a:ea typeface="微软雅黑" panose="020B0503020204020204" pitchFamily="34" charset="-122"/>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--老师贾女士（快车） 34岁</a:t>
            </a:r>
          </a:p>
        </p:txBody>
      </p:sp>
      <p:sp>
        <p:nvSpPr>
          <p:cNvPr id="8" name="文本框 7"/>
          <p:cNvSpPr txBox="1"/>
          <p:nvPr/>
        </p:nvSpPr>
        <p:spPr>
          <a:xfrm>
            <a:off x="3740150" y="4408805"/>
            <a:ext cx="3505200" cy="544830"/>
          </a:xfrm>
          <a:prstGeom prst="rect">
            <a:avLst/>
          </a:prstGeom>
          <a:noFill/>
        </p:spPr>
        <p:txBody>
          <a:bodyPr wrap="square" rtlCol="0" anchor="t">
            <a:spAutoFit/>
          </a:bodyPr>
          <a:lstStyle/>
          <a:p>
            <a:pPr fontAlgn="auto">
              <a:lnSpc>
                <a:spcPct val="100000"/>
              </a:lnSpc>
            </a:pP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latin typeface="微软雅黑" panose="020B0503020204020204" pitchFamily="34" charset="-122"/>
                <a:ea typeface="微软雅黑" panose="020B0503020204020204" pitchFamily="34" charset="-122"/>
                <a:cs typeface="微软雅黑" panose="020B0503020204020204" pitchFamily="34" charset="-122"/>
                <a:sym typeface="+mn-ea"/>
              </a:rPr>
              <a:t>有的时候会出现我打的地方很多人在打车，万一不小心上错或者怎么样的，也可以再确认一下</a:t>
            </a: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r" fontAlgn="auto">
              <a:lnSpc>
                <a:spcPct val="100000"/>
              </a:lnSpc>
              <a:spcBef>
                <a:spcPts val="300"/>
              </a:spcBef>
              <a:spcAft>
                <a:spcPts val="0"/>
              </a:spcAft>
              <a:buClrTx/>
              <a:buSzTx/>
              <a:buFontTx/>
            </a:pP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--老师王女士（专车） 25岁</a:t>
            </a:r>
          </a:p>
        </p:txBody>
      </p:sp>
      <p:sp>
        <p:nvSpPr>
          <p:cNvPr id="10" name="文本框 9"/>
          <p:cNvSpPr txBox="1"/>
          <p:nvPr/>
        </p:nvSpPr>
        <p:spPr>
          <a:xfrm>
            <a:off x="3740400" y="5014576"/>
            <a:ext cx="3317004" cy="344805"/>
          </a:xfrm>
          <a:prstGeom prst="rect">
            <a:avLst/>
          </a:prstGeom>
          <a:noFill/>
        </p:spPr>
        <p:txBody>
          <a:bodyPr wrap="square" anchor="ctr">
            <a:spAutoFit/>
          </a:bodyPr>
          <a:lstStyle/>
          <a:p>
            <a:pPr marL="171450" indent="-171450">
              <a:lnSpc>
                <a:spcPct val="150000"/>
              </a:lnSpc>
              <a:buFont typeface="Wingdings" panose="05000000000000000000" pitchFamily="2" charset="2"/>
              <a:buChar char="Ø"/>
            </a:pPr>
            <a:r>
              <a:rPr lang="zh-CN" altLang="en-US" sz="1100" b="1" dirty="0"/>
              <a:t>属于尾号确认之外的补充身份核实场景</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行程确认</a:t>
            </a:r>
          </a:p>
        </p:txBody>
      </p:sp>
      <p:sp>
        <p:nvSpPr>
          <p:cNvPr id="16" name="文本占位符 4"/>
          <p:cNvSpPr txBox="1"/>
          <p:nvPr/>
        </p:nvSpPr>
        <p:spPr>
          <a:xfrm>
            <a:off x="4500720"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100836" y="3107151"/>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行程确认</a:t>
            </a:r>
          </a:p>
        </p:txBody>
      </p:sp>
      <p:sp>
        <p:nvSpPr>
          <p:cNvPr id="10" name="文本框 9"/>
          <p:cNvSpPr txBox="1"/>
          <p:nvPr/>
        </p:nvSpPr>
        <p:spPr>
          <a:xfrm>
            <a:off x="432154" y="2252879"/>
            <a:ext cx="996707" cy="313932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路线到达时间确认</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费用确认</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56452"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110397"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102955"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320111" y="1389551"/>
            <a:ext cx="1035533"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p:cNvCxnSpPr/>
          <p:nvPr/>
        </p:nvCxnSpPr>
        <p:spPr>
          <a:xfrm>
            <a:off x="1320805" y="1734216"/>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a:off x="480328" y="4370742"/>
            <a:ext cx="736989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965406" y="2511321"/>
            <a:ext cx="1773159" cy="253916"/>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zh-CN" altLang="en-US" sz="1050" dirty="0"/>
          </a:p>
        </p:txBody>
      </p:sp>
      <p:sp>
        <p:nvSpPr>
          <p:cNvPr id="5" name="文本框 4"/>
          <p:cNvSpPr txBox="1"/>
          <p:nvPr/>
        </p:nvSpPr>
        <p:spPr>
          <a:xfrm>
            <a:off x="1944513" y="4005258"/>
            <a:ext cx="1773159" cy="730969"/>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p:cNvCxnSpPr/>
          <p:nvPr/>
        </p:nvCxnSpPr>
        <p:spPr>
          <a:xfrm>
            <a:off x="7846363" y="189037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016291" y="4726570"/>
            <a:ext cx="1722274" cy="430887"/>
          </a:xfrm>
          <a:prstGeom prst="rect">
            <a:avLst/>
          </a:prstGeom>
          <a:noFill/>
        </p:spPr>
        <p:txBody>
          <a:bodyPr wrap="square" rtlCol="0">
            <a:spAutoFit/>
          </a:bodyPr>
          <a:lstStyle/>
          <a:p>
            <a:pPr marL="171450" indent="-171450">
              <a:buFont typeface="Arial" panose="020B0604020202020204" pitchFamily="34" charset="0"/>
              <a:buChar char="•"/>
            </a:pPr>
            <a:endParaRPr lang="en-US" altLang="zh-CN" sz="1100" dirty="0"/>
          </a:p>
          <a:p>
            <a:pPr marL="171450" indent="-171450">
              <a:buFont typeface="Arial" panose="020B0604020202020204" pitchFamily="34" charset="0"/>
              <a:buChar char="•"/>
            </a:pPr>
            <a:endParaRPr lang="zh-CN" altLang="en-US" sz="1100" dirty="0"/>
          </a:p>
        </p:txBody>
      </p:sp>
      <p:sp>
        <p:nvSpPr>
          <p:cNvPr id="7" name="文本框 6"/>
          <p:cNvSpPr txBox="1"/>
          <p:nvPr/>
        </p:nvSpPr>
        <p:spPr>
          <a:xfrm>
            <a:off x="1340763" y="2082157"/>
            <a:ext cx="1763630" cy="183954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多人乘车，中途下车</a:t>
            </a:r>
            <a:endParaRPr lang="en-US" altLang="zh-CN" sz="1100" dirty="0"/>
          </a:p>
          <a:p>
            <a:pPr marL="171450" indent="-171450">
              <a:lnSpc>
                <a:spcPct val="150000"/>
              </a:lnSpc>
              <a:buFont typeface="Arial" panose="020B0604020202020204" pitchFamily="34" charset="0"/>
              <a:buChar char="•"/>
            </a:pPr>
            <a:r>
              <a:rPr lang="zh-CN" altLang="en-US" sz="1100" dirty="0"/>
              <a:t>司机确认按导航路线行驶时</a:t>
            </a:r>
            <a:r>
              <a:rPr lang="en-US" altLang="zh-CN" sz="1100" dirty="0"/>
              <a:t>ok</a:t>
            </a:r>
          </a:p>
          <a:p>
            <a:pPr marL="171450" indent="-171450">
              <a:lnSpc>
                <a:spcPct val="150000"/>
              </a:lnSpc>
              <a:buFont typeface="Arial" panose="020B0604020202020204" pitchFamily="34" charset="0"/>
              <a:buChar char="•"/>
            </a:pPr>
            <a:r>
              <a:rPr lang="zh-CN" altLang="en-US" sz="1100" dirty="0"/>
              <a:t>乘客特殊要求，不走高架</a:t>
            </a:r>
            <a:endParaRPr lang="en-US" altLang="zh-CN" sz="1100" dirty="0"/>
          </a:p>
          <a:p>
            <a:pPr marL="171450" indent="-171450">
              <a:lnSpc>
                <a:spcPct val="150000"/>
              </a:lnSpc>
              <a:buFont typeface="Arial" panose="020B0604020202020204" pitchFamily="34" charset="0"/>
              <a:buChar char="•"/>
            </a:pPr>
            <a:r>
              <a:rPr lang="zh-CN" altLang="en-US" sz="1100" dirty="0"/>
              <a:t>提醒比预定时间延长的情形，安全与效率平衡</a:t>
            </a:r>
          </a:p>
        </p:txBody>
      </p:sp>
      <p:sp>
        <p:nvSpPr>
          <p:cNvPr id="8" name="文本框 7"/>
          <p:cNvSpPr txBox="1"/>
          <p:nvPr/>
        </p:nvSpPr>
        <p:spPr>
          <a:xfrm flipH="1">
            <a:off x="8211681" y="5484598"/>
            <a:ext cx="3537878" cy="789512"/>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对于</a:t>
            </a:r>
            <a:r>
              <a:rPr lang="en-US" altLang="zh-CN" sz="1050" dirty="0"/>
              <a:t>Robotaxi</a:t>
            </a:r>
            <a:r>
              <a:rPr lang="zh-CN" altLang="en-US" sz="1050" dirty="0"/>
              <a:t>的更丰富定价，如回程高速费，回程费等（</a:t>
            </a:r>
            <a:r>
              <a:rPr lang="en-US" altLang="zh-CN" sz="1050" dirty="0"/>
              <a:t>100%</a:t>
            </a:r>
            <a:r>
              <a:rPr lang="zh-CN" altLang="en-US" sz="1050" dirty="0"/>
              <a:t>无回程单情况下）</a:t>
            </a:r>
            <a:endParaRPr lang="en-US" altLang="zh-CN" sz="1050" dirty="0"/>
          </a:p>
          <a:p>
            <a:pPr>
              <a:lnSpc>
                <a:spcPct val="150000"/>
              </a:lnSpc>
            </a:pPr>
            <a:endParaRPr lang="zh-CN" altLang="en-US" sz="1050" dirty="0"/>
          </a:p>
        </p:txBody>
      </p:sp>
      <p:sp>
        <p:nvSpPr>
          <p:cNvPr id="15" name="文本框 14"/>
          <p:cNvSpPr txBox="1"/>
          <p:nvPr/>
        </p:nvSpPr>
        <p:spPr>
          <a:xfrm>
            <a:off x="4331215" y="1901165"/>
            <a:ext cx="1204176" cy="430887"/>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确认导航路线</a:t>
            </a:r>
            <a:endParaRPr lang="en-US" altLang="zh-CN" sz="1100" b="1" dirty="0"/>
          </a:p>
          <a:p>
            <a:r>
              <a:rPr lang="en-US" altLang="zh-CN" sz="1050" b="1" dirty="0"/>
              <a:t>     </a:t>
            </a:r>
          </a:p>
        </p:txBody>
      </p:sp>
      <p:sp>
        <p:nvSpPr>
          <p:cNvPr id="19" name="文本框 18"/>
          <p:cNvSpPr txBox="1"/>
          <p:nvPr/>
        </p:nvSpPr>
        <p:spPr>
          <a:xfrm>
            <a:off x="3124800" y="1899299"/>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中途下车</a:t>
            </a:r>
          </a:p>
        </p:txBody>
      </p:sp>
      <p:sp>
        <p:nvSpPr>
          <p:cNvPr id="20" name="文本框 19"/>
          <p:cNvSpPr txBox="1"/>
          <p:nvPr/>
        </p:nvSpPr>
        <p:spPr>
          <a:xfrm>
            <a:off x="3124800" y="2080151"/>
            <a:ext cx="1021080" cy="452755"/>
          </a:xfrm>
          <a:prstGeom prst="rect">
            <a:avLst/>
          </a:prstGeom>
          <a:noFill/>
        </p:spPr>
        <p:txBody>
          <a:bodyPr wrap="none" rtlCol="0">
            <a:spAutoFit/>
          </a:bodyPr>
          <a:lstStyle/>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添加途经点</a:t>
            </a:r>
          </a:p>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客户指路</a:t>
            </a:r>
          </a:p>
        </p:txBody>
      </p:sp>
      <p:sp>
        <p:nvSpPr>
          <p:cNvPr id="21" name="文本框 20"/>
          <p:cNvSpPr txBox="1"/>
          <p:nvPr/>
        </p:nvSpPr>
        <p:spPr>
          <a:xfrm>
            <a:off x="6052576" y="1834790"/>
            <a:ext cx="1896673" cy="104342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100" b="1" dirty="0"/>
              <a:t>乘客特殊路线要求</a:t>
            </a:r>
            <a:endParaRPr lang="en-US" altLang="zh-CN" sz="1100" b="1"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22" name="文本框 21"/>
          <p:cNvSpPr txBox="1"/>
          <p:nvPr/>
        </p:nvSpPr>
        <p:spPr>
          <a:xfrm>
            <a:off x="3124800" y="4458855"/>
            <a:ext cx="128112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司机加价场景</a:t>
            </a:r>
            <a:endParaRPr lang="en-US" altLang="zh-CN" sz="1200" b="1" dirty="0"/>
          </a:p>
        </p:txBody>
      </p:sp>
      <p:sp>
        <p:nvSpPr>
          <p:cNvPr id="31" name="文本框 30"/>
          <p:cNvSpPr txBox="1"/>
          <p:nvPr/>
        </p:nvSpPr>
        <p:spPr>
          <a:xfrm>
            <a:off x="3124800" y="5888689"/>
            <a:ext cx="2544272"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dirty="0"/>
              <a:t>正常服务中不包含高速费</a:t>
            </a:r>
          </a:p>
        </p:txBody>
      </p:sp>
      <p:sp>
        <p:nvSpPr>
          <p:cNvPr id="24" name="文本框 23"/>
          <p:cNvSpPr txBox="1"/>
          <p:nvPr/>
        </p:nvSpPr>
        <p:spPr>
          <a:xfrm>
            <a:off x="4412763" y="2092893"/>
            <a:ext cx="1724542" cy="575945"/>
          </a:xfrm>
          <a:prstGeom prst="rect">
            <a:avLst/>
          </a:prstGeom>
          <a:noFill/>
        </p:spPr>
        <p:txBody>
          <a:bodyPr wrap="square" rtlCol="0">
            <a:spAutoFit/>
          </a:bodyPr>
          <a:lstStyle/>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客户赶时间，通过自己手机导航寻找更快路线，如差旅</a:t>
            </a:r>
          </a:p>
        </p:txBody>
      </p:sp>
      <p:sp>
        <p:nvSpPr>
          <p:cNvPr id="25" name="文本框 24"/>
          <p:cNvSpPr txBox="1"/>
          <p:nvPr/>
        </p:nvSpPr>
        <p:spPr>
          <a:xfrm>
            <a:off x="6193790" y="2099945"/>
            <a:ext cx="1647190" cy="411480"/>
          </a:xfrm>
          <a:prstGeom prst="rect">
            <a:avLst/>
          </a:prstGeom>
          <a:noFill/>
        </p:spPr>
        <p:txBody>
          <a:bodyPr wrap="square" rtlCol="0">
            <a:noAutofit/>
          </a:bodyPr>
          <a:lstStyle/>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不走高架，如醉酒担心呕吐，沿途上厕所</a:t>
            </a:r>
          </a:p>
          <a:p>
            <a:pPr marL="171450" indent="-171450">
              <a:lnSpc>
                <a:spcPct val="150000"/>
              </a:lnSpc>
              <a:buFont typeface="Arial" panose="020B0604020202020204" pitchFamily="34" charset="0"/>
              <a:buChar char="•"/>
            </a:pPr>
            <a:endParaRPr lang="zh-CN" altLang="en-US" sz="1050" dirty="0"/>
          </a:p>
        </p:txBody>
      </p:sp>
      <p:sp>
        <p:nvSpPr>
          <p:cNvPr id="30" name="文本框 29"/>
          <p:cNvSpPr txBox="1"/>
          <p:nvPr/>
        </p:nvSpPr>
        <p:spPr>
          <a:xfrm flipH="1">
            <a:off x="8197643" y="3541731"/>
            <a:ext cx="3781273" cy="2001382"/>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导航支持不走高架模式或者方便停车模式，如果乘客醉酒等，可以主动询问是否需要设定为方便停车模式或者支持乘客语音设定为方便停车模式，并提醒要慢多长时间</a:t>
            </a:r>
            <a:endParaRPr lang="en-US" altLang="zh-CN" sz="1050" dirty="0"/>
          </a:p>
          <a:p>
            <a:pPr marL="171450" indent="-171450">
              <a:lnSpc>
                <a:spcPct val="150000"/>
              </a:lnSpc>
              <a:buFont typeface="Wingdings" panose="05000000000000000000" pitchFamily="2" charset="2"/>
              <a:buChar char="ü"/>
            </a:pPr>
            <a:r>
              <a:rPr lang="zh-CN" altLang="en-US" sz="1050" dirty="0"/>
              <a:t>目的地到机场，高铁站时，根据各种新导航规划，导致时间可能延误的场景进行延迟语音提醒</a:t>
            </a:r>
            <a:endParaRPr lang="en-US" altLang="zh-CN" sz="1050" dirty="0"/>
          </a:p>
          <a:p>
            <a:pPr marL="171450" indent="-171450">
              <a:lnSpc>
                <a:spcPct val="150000"/>
              </a:lnSpc>
              <a:buFont typeface="Wingdings" panose="05000000000000000000" pitchFamily="2" charset="2"/>
              <a:buChar char="ü"/>
            </a:pPr>
            <a:r>
              <a:rPr lang="zh-CN" altLang="en-US" sz="1050" dirty="0"/>
              <a:t>根据手机与车机日程表打通，智能判断客户非常赶时间时，自动提醒可能的延误时间</a:t>
            </a:r>
            <a:endParaRPr lang="en-US" altLang="zh-CN" sz="1050" dirty="0"/>
          </a:p>
          <a:p>
            <a:pPr marL="171450" indent="-171450">
              <a:lnSpc>
                <a:spcPct val="150000"/>
              </a:lnSpc>
              <a:buFont typeface="Wingdings" panose="05000000000000000000" pitchFamily="2" charset="2"/>
              <a:buChar char="ü"/>
            </a:pPr>
            <a:endParaRPr lang="zh-CN" altLang="en-US" sz="1050" dirty="0"/>
          </a:p>
        </p:txBody>
      </p:sp>
      <p:sp>
        <p:nvSpPr>
          <p:cNvPr id="32" name="文本框 31"/>
          <p:cNvSpPr txBox="1"/>
          <p:nvPr/>
        </p:nvSpPr>
        <p:spPr>
          <a:xfrm>
            <a:off x="3124800" y="3417119"/>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各种场景下提醒可能的延误</a:t>
            </a:r>
          </a:p>
        </p:txBody>
      </p:sp>
      <p:sp>
        <p:nvSpPr>
          <p:cNvPr id="33" name="文本框 32"/>
          <p:cNvSpPr txBox="1"/>
          <p:nvPr/>
        </p:nvSpPr>
        <p:spPr>
          <a:xfrm>
            <a:off x="3124800" y="3649373"/>
            <a:ext cx="1821180" cy="652780"/>
          </a:xfrm>
          <a:prstGeom prst="rect">
            <a:avLst/>
          </a:prstGeom>
          <a:noFill/>
        </p:spPr>
        <p:txBody>
          <a:bodyPr wrap="none" rtlCol="0">
            <a:spAutoFit/>
          </a:bodyPr>
          <a:lstStyle/>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老人与孩子更平稳驾驶</a:t>
            </a:r>
          </a:p>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轮椅乘客</a:t>
            </a:r>
          </a:p>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指定路线（如不走高架）</a:t>
            </a:r>
          </a:p>
        </p:txBody>
      </p:sp>
      <p:sp>
        <p:nvSpPr>
          <p:cNvPr id="37" name="文本框 36"/>
          <p:cNvSpPr txBox="1"/>
          <p:nvPr/>
        </p:nvSpPr>
        <p:spPr>
          <a:xfrm>
            <a:off x="4875718" y="3681076"/>
            <a:ext cx="1475030" cy="452755"/>
          </a:xfrm>
          <a:prstGeom prst="rect">
            <a:avLst/>
          </a:prstGeom>
          <a:noFill/>
        </p:spPr>
        <p:txBody>
          <a:bodyPr wrap="square">
            <a:spAutoFit/>
          </a:bodyPr>
          <a:lstStyle/>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高峰时段</a:t>
            </a:r>
          </a:p>
          <a:p>
            <a:pPr marL="171450" indent="-171450" algn="l">
              <a:lnSpc>
                <a:spcPct val="100000"/>
              </a:lnSpc>
              <a:spcBef>
                <a:spcPts val="300"/>
              </a:spcBef>
              <a:spcAft>
                <a:spcPts val="0"/>
              </a:spcAft>
              <a:buClrTx/>
              <a:buSzTx/>
              <a:buFont typeface="Arial" panose="020B0604020202020204" pitchFamily="34" charset="0"/>
              <a:buChar char="•"/>
            </a:pPr>
            <a:r>
              <a:rPr lang="zh-CN" altLang="en-US" sz="1050" dirty="0"/>
              <a:t>特殊天气</a:t>
            </a:r>
          </a:p>
        </p:txBody>
      </p:sp>
      <p:sp>
        <p:nvSpPr>
          <p:cNvPr id="39" name="文本框 38"/>
          <p:cNvSpPr txBox="1"/>
          <p:nvPr/>
        </p:nvSpPr>
        <p:spPr>
          <a:xfrm>
            <a:off x="1355644" y="4739741"/>
            <a:ext cx="973343" cy="8891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200" dirty="0"/>
              <a:t>司机加价</a:t>
            </a:r>
            <a:endParaRPr lang="en-US" altLang="zh-CN" sz="1200" dirty="0"/>
          </a:p>
          <a:p>
            <a:pPr marL="171450" indent="-171450">
              <a:lnSpc>
                <a:spcPct val="150000"/>
              </a:lnSpc>
              <a:buFont typeface="Arial" panose="020B0604020202020204" pitchFamily="34" charset="0"/>
              <a:buChar char="•"/>
            </a:pPr>
            <a:r>
              <a:rPr lang="zh-CN" altLang="en-US" sz="1200" dirty="0"/>
              <a:t>高速费</a:t>
            </a:r>
          </a:p>
          <a:p>
            <a:pPr marL="171450" indent="-171450">
              <a:lnSpc>
                <a:spcPct val="150000"/>
              </a:lnSpc>
              <a:buFont typeface="Arial" panose="020B0604020202020204" pitchFamily="34" charset="0"/>
              <a:buChar char="•"/>
            </a:pPr>
            <a:endParaRPr lang="zh-CN" altLang="en-US" sz="1200" dirty="0"/>
          </a:p>
        </p:txBody>
      </p:sp>
      <p:sp>
        <p:nvSpPr>
          <p:cNvPr id="42" name="文本框 41"/>
          <p:cNvSpPr txBox="1"/>
          <p:nvPr/>
        </p:nvSpPr>
        <p:spPr>
          <a:xfrm>
            <a:off x="3124800" y="4707539"/>
            <a:ext cx="2098575" cy="614045"/>
          </a:xfrm>
          <a:prstGeom prst="rect">
            <a:avLst/>
          </a:prstGeom>
          <a:noFill/>
        </p:spPr>
        <p:txBody>
          <a:bodyPr wrap="square">
            <a:spAutoFit/>
          </a:bodyPr>
          <a:lstStyle/>
          <a:p>
            <a:pPr marL="171450" indent="-171450" algn="l">
              <a:spcBef>
                <a:spcPts val="300"/>
              </a:spcBef>
              <a:spcAft>
                <a:spcPts val="0"/>
              </a:spcAft>
              <a:buClrTx/>
              <a:buSzTx/>
              <a:buFont typeface="Arial" panose="020B0604020202020204" pitchFamily="34" charset="0"/>
              <a:buChar char="•"/>
            </a:pPr>
            <a:r>
              <a:rPr lang="zh-CN" altLang="en-US" sz="1050" dirty="0"/>
              <a:t>特惠时较远且无回程单，回程服务费</a:t>
            </a:r>
          </a:p>
          <a:p>
            <a:pPr marL="171450" indent="-171450" algn="l">
              <a:spcBef>
                <a:spcPts val="300"/>
              </a:spcBef>
              <a:spcAft>
                <a:spcPts val="0"/>
              </a:spcAft>
              <a:buClrTx/>
              <a:buSzTx/>
              <a:buFont typeface="Arial" panose="020B0604020202020204" pitchFamily="34" charset="0"/>
              <a:buChar char="•"/>
            </a:pPr>
            <a:r>
              <a:rPr lang="zh-CN" altLang="en-US" sz="1050" dirty="0"/>
              <a:t>回程高速费</a:t>
            </a:r>
          </a:p>
        </p:txBody>
      </p:sp>
      <p:sp>
        <p:nvSpPr>
          <p:cNvPr id="43" name="文本框 42"/>
          <p:cNvSpPr txBox="1"/>
          <p:nvPr/>
        </p:nvSpPr>
        <p:spPr>
          <a:xfrm>
            <a:off x="5341904" y="4446807"/>
            <a:ext cx="1786066"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乘客加价态度分情况</a:t>
            </a:r>
          </a:p>
        </p:txBody>
      </p:sp>
      <p:sp>
        <p:nvSpPr>
          <p:cNvPr id="44" name="文本框 43"/>
          <p:cNvSpPr txBox="1"/>
          <p:nvPr/>
        </p:nvSpPr>
        <p:spPr>
          <a:xfrm>
            <a:off x="5348408" y="4691207"/>
            <a:ext cx="2098575" cy="452755"/>
          </a:xfrm>
          <a:prstGeom prst="rect">
            <a:avLst/>
          </a:prstGeom>
          <a:noFill/>
        </p:spPr>
        <p:txBody>
          <a:bodyPr wrap="square">
            <a:spAutoFit/>
          </a:bodyPr>
          <a:lstStyle/>
          <a:p>
            <a:pPr marL="171450" indent="-171450">
              <a:lnSpc>
                <a:spcPct val="100000"/>
              </a:lnSpc>
              <a:spcBef>
                <a:spcPts val="300"/>
              </a:spcBef>
              <a:spcAft>
                <a:spcPts val="0"/>
              </a:spcAft>
              <a:buFont typeface="Arial" panose="020B0604020202020204" pitchFamily="34" charset="0"/>
              <a:buChar char="•"/>
            </a:pPr>
            <a:r>
              <a:rPr lang="zh-CN" altLang="en-US" sz="1050" dirty="0"/>
              <a:t>大多数比较反感临时加价</a:t>
            </a:r>
            <a:endParaRPr lang="en-US" altLang="zh-CN" sz="1050" dirty="0"/>
          </a:p>
          <a:p>
            <a:pPr marL="171450" indent="-171450">
              <a:lnSpc>
                <a:spcPct val="100000"/>
              </a:lnSpc>
              <a:spcBef>
                <a:spcPts val="300"/>
              </a:spcBef>
              <a:spcAft>
                <a:spcPts val="0"/>
              </a:spcAft>
              <a:buFont typeface="Arial" panose="020B0604020202020204" pitchFamily="34" charset="0"/>
              <a:buChar char="•"/>
            </a:pPr>
            <a:r>
              <a:rPr lang="zh-CN" altLang="en-US" sz="1050" dirty="0"/>
              <a:t>少量客户接受</a:t>
            </a:r>
            <a:endParaRPr lang="en-US" altLang="zh-CN" sz="1050" dirty="0"/>
          </a:p>
        </p:txBody>
      </p:sp>
      <p:sp>
        <p:nvSpPr>
          <p:cNvPr id="3" name="文本框 2"/>
          <p:cNvSpPr txBox="1"/>
          <p:nvPr/>
        </p:nvSpPr>
        <p:spPr>
          <a:xfrm>
            <a:off x="7865817" y="3304538"/>
            <a:ext cx="723275" cy="253916"/>
          </a:xfrm>
          <a:prstGeom prst="rect">
            <a:avLst/>
          </a:prstGeom>
          <a:noFill/>
        </p:spPr>
        <p:txBody>
          <a:bodyPr wrap="none" rtlCol="0">
            <a:spAutoFit/>
          </a:bodyPr>
          <a:lstStyle/>
          <a:p>
            <a:r>
              <a:rPr lang="zh-CN" altLang="en-US" sz="1050" b="1" dirty="0"/>
              <a:t>机会点：</a:t>
            </a:r>
          </a:p>
        </p:txBody>
      </p:sp>
      <p:sp>
        <p:nvSpPr>
          <p:cNvPr id="6" name="文本框 5"/>
          <p:cNvSpPr txBox="1"/>
          <p:nvPr/>
        </p:nvSpPr>
        <p:spPr>
          <a:xfrm>
            <a:off x="7865817" y="5303204"/>
            <a:ext cx="588623" cy="253916"/>
          </a:xfrm>
          <a:prstGeom prst="rect">
            <a:avLst/>
          </a:prstGeom>
          <a:noFill/>
        </p:spPr>
        <p:txBody>
          <a:bodyPr wrap="none" rtlCol="0">
            <a:spAutoFit/>
          </a:bodyPr>
          <a:lstStyle/>
          <a:p>
            <a:r>
              <a:rPr lang="zh-CN" altLang="en-US" sz="1050" b="1" dirty="0"/>
              <a:t>展望：</a:t>
            </a:r>
          </a:p>
        </p:txBody>
      </p:sp>
      <p:sp>
        <p:nvSpPr>
          <p:cNvPr id="12" name="文本框 11"/>
          <p:cNvSpPr txBox="1"/>
          <p:nvPr/>
        </p:nvSpPr>
        <p:spPr>
          <a:xfrm>
            <a:off x="7840676" y="197107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3" name="文本框 12"/>
          <p:cNvSpPr txBox="1"/>
          <p:nvPr/>
        </p:nvSpPr>
        <p:spPr>
          <a:xfrm flipH="1">
            <a:off x="8156010" y="2118702"/>
            <a:ext cx="3421950" cy="1516634"/>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支持语音添加途经点，并导航重新规划</a:t>
            </a:r>
            <a:endParaRPr lang="en-US" altLang="zh-CN" sz="1050" dirty="0"/>
          </a:p>
          <a:p>
            <a:pPr marL="171450" indent="-171450">
              <a:lnSpc>
                <a:spcPct val="150000"/>
              </a:lnSpc>
              <a:buFont typeface="Wingdings" panose="05000000000000000000" pitchFamily="2" charset="2"/>
              <a:buChar char="ü"/>
            </a:pPr>
            <a:r>
              <a:rPr lang="zh-CN" altLang="en-US" sz="1050" dirty="0"/>
              <a:t>导航路线模式设定，更快还是路线最低，还是费用最低都可以设定</a:t>
            </a:r>
            <a:endParaRPr lang="en-US" altLang="zh-CN" sz="1050" dirty="0"/>
          </a:p>
          <a:p>
            <a:pPr marL="171450" indent="-171450">
              <a:lnSpc>
                <a:spcPct val="150000"/>
              </a:lnSpc>
              <a:buFont typeface="Wingdings" panose="05000000000000000000" pitchFamily="2" charset="2"/>
              <a:buChar char="ü"/>
            </a:pPr>
            <a:r>
              <a:rPr lang="en-US" altLang="zh-CN" sz="1050" dirty="0"/>
              <a:t>Robotaxi</a:t>
            </a:r>
            <a:r>
              <a:rPr lang="zh-CN" altLang="en-US" sz="1050" dirty="0"/>
              <a:t>比较好，不会临时加价</a:t>
            </a:r>
            <a:endParaRPr lang="en-US" altLang="zh-CN" sz="1050" dirty="0"/>
          </a:p>
          <a:p>
            <a:pPr marL="171450" indent="-171450">
              <a:lnSpc>
                <a:spcPct val="150000"/>
              </a:lnSpc>
              <a:buFont typeface="Wingdings" panose="05000000000000000000" pitchFamily="2" charset="2"/>
              <a:buChar char="ü"/>
            </a:pPr>
            <a:r>
              <a:rPr lang="zh-CN" altLang="en-US" sz="1050" dirty="0"/>
              <a:t>主动推荐更快的路线</a:t>
            </a:r>
            <a:endParaRPr lang="en-US" altLang="zh-CN" sz="1050" dirty="0"/>
          </a:p>
          <a:p>
            <a:pPr marL="171450" indent="-171450">
              <a:lnSpc>
                <a:spcPct val="150000"/>
              </a:lnSpc>
              <a:buFont typeface="Wingdings" panose="05000000000000000000" pitchFamily="2" charset="2"/>
              <a:buChar char="ü"/>
            </a:pPr>
            <a:endParaRPr lang="zh-CN" altLang="en-US" sz="1050" dirty="0"/>
          </a:p>
        </p:txBody>
      </p:sp>
      <p:sp>
        <p:nvSpPr>
          <p:cNvPr id="23" name="文本框 22"/>
          <p:cNvSpPr txBox="1"/>
          <p:nvPr/>
        </p:nvSpPr>
        <p:spPr>
          <a:xfrm>
            <a:off x="3124800" y="2563495"/>
            <a:ext cx="1228090" cy="878840"/>
          </a:xfrm>
          <a:prstGeom prst="rect">
            <a:avLst/>
          </a:prstGeom>
        </p:spPr>
        <p:txBody>
          <a:bodyPr wrap="square">
            <a:spAutoFit/>
          </a:bodyPr>
          <a:lstStyle/>
          <a:p>
            <a:r>
              <a:rPr lang="en-US" altLang="zh-CN" sz="800" i="1">
                <a:latin typeface="微软雅黑" panose="020B0503020204020204" pitchFamily="34" charset="-122"/>
                <a:ea typeface="微软雅黑" panose="020B0503020204020204" pitchFamily="34" charset="-122"/>
                <a:sym typeface="+mn-ea"/>
              </a:rPr>
              <a:t>“</a:t>
            </a:r>
            <a:r>
              <a:rPr lang="zh-CN" altLang="en-US" sz="800" i="1"/>
              <a:t>去机场接人会比较多，如果我朋友跟我去机场，如果离的不远，我会加一个途径点</a:t>
            </a:r>
            <a:r>
              <a:rPr lang="en-US" altLang="zh-CN" sz="800" i="1">
                <a:latin typeface="微软雅黑" panose="020B0503020204020204" pitchFamily="34" charset="-122"/>
                <a:ea typeface="微软雅黑" panose="020B0503020204020204" pitchFamily="34" charset="-122"/>
              </a:rPr>
              <a:t>”</a:t>
            </a:r>
            <a:endParaRPr lang="zh-CN" altLang="en-US" sz="800" i="1">
              <a:latin typeface="微软雅黑" panose="020B0503020204020204" pitchFamily="34" charset="-122"/>
              <a:ea typeface="微软雅黑" panose="020B0503020204020204" pitchFamily="34" charset="-122"/>
            </a:endParaRPr>
          </a:p>
          <a:p>
            <a:pPr algn="r">
              <a:lnSpc>
                <a:spcPct val="120000"/>
              </a:lnSpc>
              <a:spcBef>
                <a:spcPts val="0"/>
              </a:spcBef>
              <a:spcAft>
                <a:spcPts val="0"/>
              </a:spcAft>
            </a:pPr>
            <a:r>
              <a:rPr lang="en-US" altLang="zh-CN" sz="800" i="1"/>
              <a:t>    --保险业务施女士（专车） 29岁</a:t>
            </a:r>
          </a:p>
        </p:txBody>
      </p:sp>
      <p:sp>
        <p:nvSpPr>
          <p:cNvPr id="27" name="文本框 26"/>
          <p:cNvSpPr txBox="1"/>
          <p:nvPr/>
        </p:nvSpPr>
        <p:spPr>
          <a:xfrm>
            <a:off x="5341620" y="5126355"/>
            <a:ext cx="2524125" cy="829945"/>
          </a:xfrm>
          <a:prstGeom prst="rect">
            <a:avLst/>
          </a:prstGeom>
          <a:noFill/>
        </p:spPr>
        <p:txBody>
          <a:bodyPr wrap="square">
            <a:spAutoFit/>
          </a:bodyPr>
          <a:lstStyle/>
          <a:p>
            <a:pPr indent="0" algn="r">
              <a:buNone/>
            </a:pPr>
            <a:r>
              <a:rPr lang="en-US" altLang="zh-CN" sz="800" i="1">
                <a:latin typeface="微软雅黑" panose="020B0503020204020204" pitchFamily="34" charset="-122"/>
                <a:ea typeface="微软雅黑" panose="020B0503020204020204" pitchFamily="34" charset="-122"/>
                <a:sym typeface="+mn-ea"/>
              </a:rPr>
              <a:t>“</a:t>
            </a:r>
            <a:r>
              <a:rPr lang="zh-CN" altLang="en-US" sz="800" i="1" dirty="0">
                <a:sym typeface="+mn-ea"/>
              </a:rPr>
              <a:t>但是我宁愿打贵的车，也不要加钱给他，打好的车</a:t>
            </a:r>
            <a:r>
              <a:rPr lang="en-US" altLang="zh-CN" sz="800" i="1">
                <a:latin typeface="微软雅黑" panose="020B0503020204020204" pitchFamily="34" charset="-122"/>
                <a:ea typeface="微软雅黑" panose="020B0503020204020204" pitchFamily="34" charset="-122"/>
                <a:sym typeface="+mn-ea"/>
              </a:rPr>
              <a:t>”</a:t>
            </a:r>
            <a:r>
              <a:rPr lang="en-US" altLang="zh-CN" sz="800" i="1">
                <a:sym typeface="+mn-ea"/>
              </a:rPr>
              <a:t> --保险业务施女士（专车） 29岁</a:t>
            </a:r>
            <a:endParaRPr lang="en-US" altLang="zh-CN" sz="800" i="1"/>
          </a:p>
          <a:p>
            <a:pPr indent="0">
              <a:buNone/>
            </a:pPr>
            <a:r>
              <a:rPr lang="zh-CN" altLang="en-US" sz="800" i="1"/>
              <a:t>“有些</a:t>
            </a:r>
            <a:r>
              <a:rPr lang="zh-CN" altLang="en-US" sz="800" i="1" dirty="0"/>
              <a:t>平台是节假日会加建，你在我打的时候，让我知道有加钱东西的，我既然能打就说明我认可，而不是说我需要上车之后再跟我说要</a:t>
            </a:r>
            <a:r>
              <a:rPr lang="zh-CN" altLang="en-US" sz="800" i="1"/>
              <a:t>加钱</a:t>
            </a:r>
            <a:r>
              <a:rPr lang="en-US" altLang="zh-CN" sz="800" i="1">
                <a:latin typeface="微软雅黑" panose="020B0503020204020204" pitchFamily="34" charset="-122"/>
                <a:ea typeface="微软雅黑" panose="020B0503020204020204" pitchFamily="34" charset="-122"/>
                <a:sym typeface="+mn-ea"/>
              </a:rPr>
              <a:t>”</a:t>
            </a:r>
          </a:p>
          <a:p>
            <a:pPr indent="0" algn="r">
              <a:buNone/>
            </a:pPr>
            <a:r>
              <a:rPr lang="en-US" altLang="zh-CN" sz="800" i="1">
                <a:sym typeface="+mn-ea"/>
              </a:rPr>
              <a:t>--老师王女士（专车） 25岁</a:t>
            </a:r>
            <a:endParaRPr lang="en-US" altLang="zh-CN" sz="800" i="1"/>
          </a:p>
        </p:txBody>
      </p:sp>
      <p:sp>
        <p:nvSpPr>
          <p:cNvPr id="35" name="文本框 34"/>
          <p:cNvSpPr txBox="1"/>
          <p:nvPr/>
        </p:nvSpPr>
        <p:spPr>
          <a:xfrm>
            <a:off x="3124835" y="5303520"/>
            <a:ext cx="2098675" cy="607695"/>
          </a:xfrm>
          <a:prstGeom prst="rect">
            <a:avLst/>
          </a:prstGeom>
          <a:noFill/>
        </p:spPr>
        <p:txBody>
          <a:bodyPr wrap="square" rtlCol="0" anchor="t">
            <a:spAutoFit/>
          </a:bodyPr>
          <a:lstStyle/>
          <a:p>
            <a:pPr indent="0">
              <a:buNone/>
            </a:pPr>
            <a:r>
              <a:rPr lang="en-US" altLang="zh-CN" sz="800" i="1">
                <a:latin typeface="微软雅黑" panose="020B0503020204020204" pitchFamily="34" charset="-122"/>
                <a:ea typeface="微软雅黑" panose="020B0503020204020204" pitchFamily="34" charset="-122"/>
                <a:sym typeface="+mn-ea"/>
              </a:rPr>
              <a:t>“</a:t>
            </a:r>
            <a:r>
              <a:rPr lang="zh-CN" altLang="en-US" sz="800" i="1" dirty="0">
                <a:sym typeface="+mn-ea"/>
              </a:rPr>
              <a:t>我这次过年的时候，从深圳打车去惠州，司机上车之后，我把你送过去，但是回来的路费你还是要给我这种</a:t>
            </a:r>
            <a:r>
              <a:rPr lang="en-US" altLang="zh-CN" sz="800" i="1">
                <a:latin typeface="微软雅黑" panose="020B0503020204020204" pitchFamily="34" charset="-122"/>
                <a:ea typeface="微软雅黑" panose="020B0503020204020204" pitchFamily="34" charset="-122"/>
                <a:sym typeface="+mn-ea"/>
              </a:rPr>
              <a:t>”</a:t>
            </a:r>
            <a:endParaRPr lang="zh-CN" altLang="en-US" sz="800" i="1" dirty="0"/>
          </a:p>
          <a:p>
            <a:pPr algn="r">
              <a:lnSpc>
                <a:spcPct val="120000"/>
              </a:lnSpc>
              <a:spcBef>
                <a:spcPts val="0"/>
              </a:spcBef>
              <a:spcAft>
                <a:spcPts val="0"/>
              </a:spcAft>
              <a:buClrTx/>
              <a:buSzTx/>
              <a:buFontTx/>
              <a:buNone/>
            </a:pPr>
            <a:r>
              <a:rPr lang="en-US" altLang="zh-CN" sz="800" i="1">
                <a:sym typeface="+mn-ea"/>
              </a:rPr>
              <a:t>--海外投资林先生（快车） 38岁</a:t>
            </a:r>
          </a:p>
        </p:txBody>
      </p:sp>
      <p:sp>
        <p:nvSpPr>
          <p:cNvPr id="38" name="文本框 37"/>
          <p:cNvSpPr txBox="1"/>
          <p:nvPr/>
        </p:nvSpPr>
        <p:spPr>
          <a:xfrm>
            <a:off x="5803265" y="3644088"/>
            <a:ext cx="2062480" cy="596702"/>
          </a:xfrm>
          <a:prstGeom prst="rect">
            <a:avLst/>
          </a:prstGeom>
          <a:noFill/>
        </p:spPr>
        <p:txBody>
          <a:bodyPr wrap="square" rtlCol="0" anchor="t">
            <a:spAutoFit/>
          </a:bodyPr>
          <a:lstStyle/>
          <a:p>
            <a:pPr indent="0">
              <a:lnSpc>
                <a:spcPct val="100000"/>
              </a:lnSpc>
              <a:spcBef>
                <a:spcPts val="0"/>
              </a:spcBef>
              <a:spcAft>
                <a:spcPts val="0"/>
              </a:spcAft>
              <a:buNone/>
            </a:pPr>
            <a:r>
              <a:rPr lang="en-US" altLang="zh-CN" sz="800" i="1">
                <a:latin typeface="微软雅黑" panose="020B0503020204020204" pitchFamily="34" charset="-122"/>
                <a:ea typeface="微软雅黑" panose="020B0503020204020204" pitchFamily="34" charset="-122"/>
                <a:sym typeface="+mn-ea"/>
              </a:rPr>
              <a:t>“</a:t>
            </a:r>
            <a:r>
              <a:rPr lang="zh-CN" altLang="en-US" sz="800" i="1" dirty="0">
                <a:sym typeface="+mn-ea"/>
              </a:rPr>
              <a:t>一些乘客让你违章的，他有的时候会极限打车，自己没有预留好时间去赶飞机，或者火车</a:t>
            </a:r>
            <a:r>
              <a:rPr lang="en-US" altLang="zh-CN" sz="800" i="1" dirty="0">
                <a:sym typeface="+mn-ea"/>
              </a:rPr>
              <a:t>......</a:t>
            </a:r>
            <a:r>
              <a:rPr lang="zh-CN" altLang="en-US" sz="800" i="1" dirty="0">
                <a:sym typeface="+mn-ea"/>
              </a:rPr>
              <a:t>全程催</a:t>
            </a:r>
            <a:r>
              <a:rPr lang="en-US" altLang="zh-CN" sz="800" i="1">
                <a:latin typeface="微软雅黑" panose="020B0503020204020204" pitchFamily="34" charset="-122"/>
                <a:ea typeface="微软雅黑" panose="020B0503020204020204" pitchFamily="34" charset="-122"/>
                <a:sym typeface="+mn-ea"/>
              </a:rPr>
              <a:t>”</a:t>
            </a:r>
            <a:endParaRPr lang="en-US" altLang="zh-CN" sz="800" i="1" dirty="0">
              <a:sym typeface="+mn-ea"/>
            </a:endParaRPr>
          </a:p>
          <a:p>
            <a:pPr algn="r">
              <a:lnSpc>
                <a:spcPct val="120000"/>
              </a:lnSpc>
              <a:spcBef>
                <a:spcPts val="0"/>
              </a:spcBef>
              <a:spcAft>
                <a:spcPts val="0"/>
              </a:spcAft>
              <a:buClrTx/>
              <a:buSzTx/>
              <a:buFontTx/>
              <a:buNone/>
            </a:pPr>
            <a:r>
              <a:rPr lang="en-US" altLang="zh-CN" sz="800" i="1">
                <a:sym typeface="+mn-ea"/>
              </a:rPr>
              <a:t>--专车司机黄女士 38岁</a:t>
            </a:r>
          </a:p>
        </p:txBody>
      </p:sp>
      <p:sp>
        <p:nvSpPr>
          <p:cNvPr id="40" name="文本框 39"/>
          <p:cNvSpPr txBox="1"/>
          <p:nvPr/>
        </p:nvSpPr>
        <p:spPr>
          <a:xfrm>
            <a:off x="4477971" y="2603380"/>
            <a:ext cx="1532255" cy="706755"/>
          </a:xfrm>
          <a:prstGeom prst="rect">
            <a:avLst/>
          </a:prstGeom>
          <a:noFill/>
        </p:spPr>
        <p:txBody>
          <a:bodyPr wrap="square" rtlCol="0" anchor="t">
            <a:spAutoFit/>
          </a:bodyPr>
          <a:lstStyle/>
          <a:p>
            <a:r>
              <a:rPr lang="en-US" altLang="zh-CN" sz="800" i="1">
                <a:latin typeface="微软雅黑" panose="020B0503020204020204" pitchFamily="34" charset="-122"/>
                <a:ea typeface="微软雅黑" panose="020B0503020204020204" pitchFamily="34" charset="-122"/>
                <a:sym typeface="+mn-ea"/>
              </a:rPr>
              <a:t>“</a:t>
            </a:r>
            <a:r>
              <a:rPr lang="zh-CN" altLang="en-US" sz="800" i="1">
                <a:sym typeface="+mn-ea"/>
              </a:rPr>
              <a:t>相当在绕路，我都是提前跟乘客，我这条路建议你改一下，看一下那个看是不是距离更加短，时间更加快</a:t>
            </a:r>
            <a:r>
              <a:rPr lang="en-US" altLang="zh-CN" sz="800" i="1">
                <a:latin typeface="微软雅黑" panose="020B0503020204020204" pitchFamily="34" charset="-122"/>
                <a:ea typeface="微软雅黑" panose="020B0503020204020204" pitchFamily="34" charset="-122"/>
                <a:sym typeface="+mn-ea"/>
              </a:rPr>
              <a:t>”</a:t>
            </a:r>
            <a:endParaRPr lang="zh-CN" altLang="en-US" sz="800" i="1">
              <a:latin typeface="微软雅黑" panose="020B0503020204020204" pitchFamily="34" charset="-122"/>
              <a:ea typeface="微软雅黑" panose="020B0503020204020204" pitchFamily="34" charset="-122"/>
            </a:endParaRPr>
          </a:p>
          <a:p>
            <a:pPr algn="r"/>
            <a:r>
              <a:rPr lang="en-US" altLang="zh-CN" sz="800" i="1">
                <a:sym typeface="+mn-ea"/>
              </a:rPr>
              <a:t>--专车司机黄女士 38岁</a:t>
            </a:r>
          </a:p>
        </p:txBody>
      </p:sp>
      <p:sp>
        <p:nvSpPr>
          <p:cNvPr id="41" name="文本框 40"/>
          <p:cNvSpPr txBox="1"/>
          <p:nvPr/>
        </p:nvSpPr>
        <p:spPr>
          <a:xfrm>
            <a:off x="6137275" y="2563495"/>
            <a:ext cx="1728470" cy="706755"/>
          </a:xfrm>
          <a:prstGeom prst="rect">
            <a:avLst/>
          </a:prstGeom>
          <a:noFill/>
        </p:spPr>
        <p:txBody>
          <a:bodyPr wrap="square" rtlCol="0">
            <a:spAutoFit/>
          </a:bodyPr>
          <a:lstStyle/>
          <a:p>
            <a:pPr indent="0">
              <a:lnSpc>
                <a:spcPct val="100000"/>
              </a:lnSpc>
              <a:buNone/>
            </a:pPr>
            <a:r>
              <a:rPr lang="en-US" altLang="zh-CN" sz="800" i="1">
                <a:latin typeface="微软雅黑" panose="020B0503020204020204" pitchFamily="34" charset="-122"/>
                <a:ea typeface="微软雅黑" panose="020B0503020204020204" pitchFamily="34" charset="-122"/>
                <a:sym typeface="+mn-ea"/>
              </a:rPr>
              <a:t>“</a:t>
            </a:r>
            <a:r>
              <a:rPr lang="zh-CN" altLang="en-US" sz="800" i="1" dirty="0"/>
              <a:t>有些特殊的需求，比如人有一些生理需求，你前天晚上吃坏肚子，我给他的建议你能不能不要开高架，开高架真下不来</a:t>
            </a:r>
            <a:r>
              <a:rPr lang="en-US" altLang="zh-CN" sz="800" i="1">
                <a:latin typeface="微软雅黑" panose="020B0503020204020204" pitchFamily="34" charset="-122"/>
                <a:ea typeface="微软雅黑" panose="020B0503020204020204" pitchFamily="34" charset="-122"/>
                <a:sym typeface="+mn-ea"/>
              </a:rPr>
              <a:t>”</a:t>
            </a:r>
            <a:endParaRPr lang="zh-CN" altLang="en-US" sz="800" i="1">
              <a:latin typeface="微软雅黑" panose="020B0503020204020204" pitchFamily="34" charset="-122"/>
              <a:ea typeface="微软雅黑" panose="020B0503020204020204" pitchFamily="34" charset="-122"/>
            </a:endParaRPr>
          </a:p>
          <a:p>
            <a:pPr indent="0" algn="r">
              <a:lnSpc>
                <a:spcPct val="100000"/>
              </a:lnSpc>
              <a:buNone/>
            </a:pPr>
            <a:r>
              <a:rPr lang="en-US" altLang="zh-CN" sz="800" i="1" dirty="0"/>
              <a:t>--</a:t>
            </a:r>
            <a:r>
              <a:rPr lang="en-US" altLang="zh-CN" sz="800" i="1"/>
              <a:t>老师朱先生（快车） 27岁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车内环境舒适调整旅程</a:t>
            </a:r>
          </a:p>
        </p:txBody>
      </p:sp>
      <p:sp>
        <p:nvSpPr>
          <p:cNvPr id="16" name="文本占位符 4"/>
          <p:cNvSpPr txBox="1"/>
          <p:nvPr/>
        </p:nvSpPr>
        <p:spPr>
          <a:xfrm>
            <a:off x="4303954"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203132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车内环境舒适调整</a:t>
            </a:r>
          </a:p>
        </p:txBody>
      </p:sp>
      <p:sp>
        <p:nvSpPr>
          <p:cNvPr id="10" name="文本框 9"/>
          <p:cNvSpPr txBox="1"/>
          <p:nvPr/>
        </p:nvSpPr>
        <p:spPr>
          <a:xfrm>
            <a:off x="453775" y="2240651"/>
            <a:ext cx="1211152" cy="412420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座舱与空间舒适调整</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空气质量</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96966"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042734" y="1390273"/>
            <a:ext cx="268266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048938"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876790" y="1932955"/>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728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536465" y="18049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3060000" y="2054707"/>
            <a:ext cx="1643399" cy="55308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儿童座椅</a:t>
            </a:r>
          </a:p>
          <a:p>
            <a:pPr marL="171450" indent="-171450" algn="l">
              <a:lnSpc>
                <a:spcPct val="150000"/>
              </a:lnSpc>
              <a:buClrTx/>
              <a:buSzTx/>
              <a:buFont typeface="Arial" panose="020B0604020202020204" pitchFamily="34" charset="0"/>
              <a:buChar char="•"/>
            </a:pPr>
            <a:r>
              <a:rPr lang="zh-CN" altLang="en-US" sz="1000" dirty="0"/>
              <a:t>晕车前排就坐</a:t>
            </a:r>
          </a:p>
        </p:txBody>
      </p:sp>
      <p:sp>
        <p:nvSpPr>
          <p:cNvPr id="6" name="文本框 5"/>
          <p:cNvSpPr txBox="1"/>
          <p:nvPr/>
        </p:nvSpPr>
        <p:spPr>
          <a:xfrm>
            <a:off x="3060000" y="1847295"/>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特征需求</a:t>
            </a:r>
          </a:p>
        </p:txBody>
      </p:sp>
      <p:sp>
        <p:nvSpPr>
          <p:cNvPr id="7" name="文本框 6"/>
          <p:cNvSpPr txBox="1"/>
          <p:nvPr/>
        </p:nvSpPr>
        <p:spPr>
          <a:xfrm>
            <a:off x="1527277" y="1985436"/>
            <a:ext cx="1521661" cy="1131079"/>
          </a:xfrm>
          <a:prstGeom prst="rect">
            <a:avLst/>
          </a:prstGeom>
          <a:noFill/>
        </p:spPr>
        <p:txBody>
          <a:bodyPr wrap="square" rtlCol="0">
            <a:spAutoFit/>
          </a:bodyPr>
          <a:lstStyle/>
          <a:p>
            <a:pPr>
              <a:spcBef>
                <a:spcPts val="600"/>
              </a:spcBef>
            </a:pPr>
            <a:r>
              <a:rPr lang="zh-CN" altLang="en-US" sz="1050" dirty="0"/>
              <a:t>以期待型需求为主：</a:t>
            </a:r>
            <a:endParaRPr lang="en-US" altLang="zh-CN" sz="1050" dirty="0"/>
          </a:p>
          <a:p>
            <a:pPr>
              <a:spcBef>
                <a:spcPts val="600"/>
              </a:spcBef>
            </a:pPr>
            <a:r>
              <a:rPr lang="en-US" altLang="zh-CN" sz="1050" dirty="0"/>
              <a:t>1.</a:t>
            </a:r>
            <a:r>
              <a:rPr lang="zh-CN" altLang="en-US" sz="1050" dirty="0"/>
              <a:t>期待更舒适，更灵活，更丰富</a:t>
            </a:r>
            <a:endParaRPr lang="en-US" altLang="zh-CN" sz="1050" dirty="0"/>
          </a:p>
          <a:p>
            <a:pPr>
              <a:spcBef>
                <a:spcPts val="600"/>
              </a:spcBef>
            </a:pPr>
            <a:r>
              <a:rPr lang="en-US" altLang="zh-CN" sz="1050" dirty="0"/>
              <a:t>2.</a:t>
            </a:r>
            <a:r>
              <a:rPr lang="zh-CN" altLang="en-US" sz="1050" dirty="0"/>
              <a:t>最低要求整洁干净</a:t>
            </a:r>
            <a:endParaRPr lang="en-US" altLang="zh-CN" sz="1050" dirty="0"/>
          </a:p>
          <a:p>
            <a:pPr>
              <a:spcBef>
                <a:spcPts val="600"/>
              </a:spcBef>
            </a:pPr>
            <a:endParaRPr lang="zh-CN" altLang="en-US" sz="1050" dirty="0"/>
          </a:p>
        </p:txBody>
      </p:sp>
      <p:sp>
        <p:nvSpPr>
          <p:cNvPr id="8" name="文本框 7"/>
          <p:cNvSpPr txBox="1"/>
          <p:nvPr/>
        </p:nvSpPr>
        <p:spPr>
          <a:xfrm>
            <a:off x="4464000" y="1847295"/>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位置与空间需求</a:t>
            </a:r>
          </a:p>
        </p:txBody>
      </p:sp>
      <p:sp>
        <p:nvSpPr>
          <p:cNvPr id="13" name="文本框 12"/>
          <p:cNvSpPr txBox="1"/>
          <p:nvPr/>
        </p:nvSpPr>
        <p:spPr>
          <a:xfrm>
            <a:off x="4464000" y="2093371"/>
            <a:ext cx="2057212" cy="55308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后排座椅角度调整</a:t>
            </a:r>
          </a:p>
          <a:p>
            <a:pPr marL="171450" indent="-171450" algn="l">
              <a:lnSpc>
                <a:spcPct val="150000"/>
              </a:lnSpc>
              <a:buClrTx/>
              <a:buSzTx/>
              <a:buFont typeface="Arial" panose="020B0604020202020204" pitchFamily="34" charset="0"/>
              <a:buChar char="•"/>
            </a:pPr>
            <a:r>
              <a:rPr lang="zh-CN" altLang="en-US" sz="1000" dirty="0"/>
              <a:t>前排乘坐副驾座椅空间调整</a:t>
            </a:r>
          </a:p>
        </p:txBody>
      </p:sp>
      <p:sp>
        <p:nvSpPr>
          <p:cNvPr id="15" name="文本框 14"/>
          <p:cNvSpPr txBox="1"/>
          <p:nvPr/>
        </p:nvSpPr>
        <p:spPr>
          <a:xfrm>
            <a:off x="6069600" y="1847295"/>
            <a:ext cx="1063112"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智能化需求</a:t>
            </a:r>
          </a:p>
        </p:txBody>
      </p:sp>
      <p:sp>
        <p:nvSpPr>
          <p:cNvPr id="23" name="文本框 22"/>
          <p:cNvSpPr txBox="1"/>
          <p:nvPr/>
        </p:nvSpPr>
        <p:spPr>
          <a:xfrm>
            <a:off x="6069600" y="2144855"/>
            <a:ext cx="1938731" cy="321945"/>
          </a:xfrm>
          <a:prstGeom prst="rect">
            <a:avLst/>
          </a:prstGeom>
          <a:noFill/>
        </p:spPr>
        <p:txBody>
          <a:bodyPr wrap="square">
            <a:spAutoFit/>
          </a:bodyPr>
          <a:lstStyle/>
          <a:p>
            <a:pPr marL="171450" indent="-171450" algn="l">
              <a:lnSpc>
                <a:spcPct val="150000"/>
              </a:lnSpc>
              <a:spcBef>
                <a:spcPts val="600"/>
              </a:spcBef>
              <a:buClrTx/>
              <a:buSzTx/>
              <a:buFont typeface="Arial" panose="020B0604020202020204" pitchFamily="34" charset="0"/>
              <a:buChar char="•"/>
            </a:pPr>
            <a:r>
              <a:rPr lang="zh-CN" altLang="en-US" sz="1000" dirty="0"/>
              <a:t>座椅按摩、通风、加热</a:t>
            </a:r>
          </a:p>
        </p:txBody>
      </p:sp>
      <p:sp>
        <p:nvSpPr>
          <p:cNvPr id="32" name="文本框 31"/>
          <p:cNvSpPr txBox="1"/>
          <p:nvPr/>
        </p:nvSpPr>
        <p:spPr>
          <a:xfrm>
            <a:off x="8261428" y="1990384"/>
            <a:ext cx="2888950" cy="160813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乘客可自由语音控制空调</a:t>
            </a:r>
            <a:endParaRPr lang="en-US" altLang="zh-CN" sz="1050" dirty="0"/>
          </a:p>
          <a:p>
            <a:pPr marL="171450" indent="-171450">
              <a:spcBef>
                <a:spcPts val="600"/>
              </a:spcBef>
              <a:buFont typeface="Wingdings" panose="05000000000000000000" pitchFamily="2" charset="2"/>
              <a:buChar char="ü"/>
            </a:pPr>
            <a:r>
              <a:rPr lang="zh-CN" altLang="en-US" sz="1050" dirty="0"/>
              <a:t>支持语音对香薰的开闭及浓度的调整</a:t>
            </a:r>
            <a:endParaRPr lang="en-US" altLang="zh-CN" sz="1050" dirty="0"/>
          </a:p>
          <a:p>
            <a:pPr marL="171450" indent="-171450">
              <a:spcBef>
                <a:spcPts val="600"/>
              </a:spcBef>
              <a:buFont typeface="Wingdings" panose="05000000000000000000" pitchFamily="2" charset="2"/>
              <a:buChar char="ü"/>
            </a:pPr>
            <a:r>
              <a:rPr lang="zh-CN" altLang="en-US" sz="1050" dirty="0"/>
              <a:t>乘客可自由语音控制空气净化</a:t>
            </a:r>
            <a:endParaRPr lang="en-US" altLang="zh-CN" sz="1050" dirty="0"/>
          </a:p>
          <a:p>
            <a:pPr marL="171450" indent="-171450">
              <a:spcBef>
                <a:spcPts val="600"/>
              </a:spcBef>
              <a:buFont typeface="Wingdings" panose="05000000000000000000" pitchFamily="2" charset="2"/>
              <a:buChar char="ü"/>
            </a:pPr>
            <a:r>
              <a:rPr lang="zh-CN" altLang="en-US" sz="1050" dirty="0"/>
              <a:t>乘客可自由语音控制座椅按摩，通风，加热，语音调整座椅位置与模式</a:t>
            </a:r>
            <a:endParaRPr lang="en-US" altLang="zh-CN" sz="1050" dirty="0"/>
          </a:p>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0" name="文本框 39"/>
          <p:cNvSpPr txBox="1"/>
          <p:nvPr/>
        </p:nvSpPr>
        <p:spPr>
          <a:xfrm>
            <a:off x="6472800" y="3909600"/>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抽烟的乘客吸烟</a:t>
            </a:r>
          </a:p>
        </p:txBody>
      </p:sp>
      <p:sp>
        <p:nvSpPr>
          <p:cNvPr id="41" name="文本框 40"/>
          <p:cNvSpPr txBox="1"/>
          <p:nvPr/>
        </p:nvSpPr>
        <p:spPr>
          <a:xfrm>
            <a:off x="3060000" y="3909600"/>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对专车香薰敏感</a:t>
            </a:r>
          </a:p>
        </p:txBody>
      </p:sp>
      <p:sp>
        <p:nvSpPr>
          <p:cNvPr id="42" name="文本框 41"/>
          <p:cNvSpPr txBox="1"/>
          <p:nvPr/>
        </p:nvSpPr>
        <p:spPr>
          <a:xfrm>
            <a:off x="4464000" y="3909600"/>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觉得空气质量不佳要求通风</a:t>
            </a:r>
          </a:p>
        </p:txBody>
      </p:sp>
      <p:sp>
        <p:nvSpPr>
          <p:cNvPr id="43" name="文本框 42"/>
          <p:cNvSpPr txBox="1"/>
          <p:nvPr/>
        </p:nvSpPr>
        <p:spPr>
          <a:xfrm>
            <a:off x="8237357" y="3309542"/>
            <a:ext cx="3645862" cy="1931298"/>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根据乘车人特征的上车后缺省空调温度智能设置，如老年温度高一些，年轻人温度低一些</a:t>
            </a:r>
            <a:endParaRPr lang="en-US" altLang="zh-CN" sz="1050" dirty="0"/>
          </a:p>
          <a:p>
            <a:pPr marL="171450" indent="-171450">
              <a:spcBef>
                <a:spcPts val="600"/>
              </a:spcBef>
              <a:buFont typeface="Wingdings" panose="05000000000000000000" pitchFamily="2" charset="2"/>
              <a:buChar char="ü"/>
            </a:pPr>
            <a:r>
              <a:rPr lang="zh-CN" altLang="en-US" sz="1050" dirty="0"/>
              <a:t>根据外部气候环境智能设置缺省温度</a:t>
            </a:r>
            <a:endParaRPr lang="en-US" altLang="zh-CN" sz="1050" dirty="0"/>
          </a:p>
          <a:p>
            <a:pPr marL="171450" indent="-171450">
              <a:spcBef>
                <a:spcPts val="600"/>
              </a:spcBef>
              <a:buFont typeface="Wingdings" panose="05000000000000000000" pitchFamily="2" charset="2"/>
              <a:buChar char="ü"/>
            </a:pPr>
            <a:r>
              <a:rPr lang="zh-CN" altLang="en-US" sz="1050" dirty="0"/>
              <a:t>对于儿童与敏感体质缺省关闭香薰</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场景主动识别吸烟或者有吸烟习惯的乘客，语音提醒不要车内禁止吸烟（优化话术）</a:t>
            </a:r>
            <a:endParaRPr lang="en-US" altLang="zh-CN" sz="1050" dirty="0"/>
          </a:p>
          <a:p>
            <a:pPr marL="171450" indent="-171450">
              <a:spcBef>
                <a:spcPts val="600"/>
              </a:spcBef>
              <a:buFont typeface="Wingdings" panose="05000000000000000000" pitchFamily="2" charset="2"/>
              <a:buChar char="ü"/>
            </a:pPr>
            <a:r>
              <a:rPr lang="zh-CN" altLang="en-US" sz="1050" dirty="0"/>
              <a:t>私家车场景，在哪个位置抽烟，自动打开哪个位置窗户</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场景接完上一单，智能加大空气净化与空调强力通风</a:t>
            </a:r>
            <a:endParaRPr lang="en-US" altLang="zh-CN" sz="1050" dirty="0"/>
          </a:p>
        </p:txBody>
      </p:sp>
      <p:sp>
        <p:nvSpPr>
          <p:cNvPr id="45" name="文本框 44"/>
          <p:cNvSpPr txBox="1"/>
          <p:nvPr/>
        </p:nvSpPr>
        <p:spPr>
          <a:xfrm>
            <a:off x="3060000" y="4104000"/>
            <a:ext cx="1643399" cy="55308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儿童</a:t>
            </a:r>
          </a:p>
          <a:p>
            <a:pPr marL="171450" indent="-171450" algn="l">
              <a:lnSpc>
                <a:spcPct val="150000"/>
              </a:lnSpc>
              <a:buClrTx/>
              <a:buSzTx/>
              <a:buFont typeface="Arial" panose="020B0604020202020204" pitchFamily="34" charset="0"/>
              <a:buChar char="•"/>
            </a:pPr>
            <a:r>
              <a:rPr lang="zh-CN" altLang="en-US" sz="1000" dirty="0"/>
              <a:t>特殊体质</a:t>
            </a:r>
          </a:p>
        </p:txBody>
      </p:sp>
      <p:sp>
        <p:nvSpPr>
          <p:cNvPr id="46" name="文本框 45"/>
          <p:cNvSpPr txBox="1"/>
          <p:nvPr/>
        </p:nvSpPr>
        <p:spPr>
          <a:xfrm>
            <a:off x="4464000" y="4104000"/>
            <a:ext cx="1928495" cy="783590"/>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上一个乘客留下的气味</a:t>
            </a:r>
          </a:p>
          <a:p>
            <a:pPr marL="171450" indent="-171450" algn="l">
              <a:lnSpc>
                <a:spcPct val="150000"/>
              </a:lnSpc>
              <a:buClrTx/>
              <a:buSzTx/>
              <a:buFont typeface="Arial" panose="020B0604020202020204" pitchFamily="34" charset="0"/>
              <a:buChar char="•"/>
            </a:pPr>
            <a:r>
              <a:rPr lang="zh-CN" altLang="en-US" sz="1000" dirty="0"/>
              <a:t>车与司机本身的味道(司机睡车里等情形等）</a:t>
            </a:r>
          </a:p>
        </p:txBody>
      </p:sp>
      <p:sp>
        <p:nvSpPr>
          <p:cNvPr id="47" name="文本框 46"/>
          <p:cNvSpPr txBox="1"/>
          <p:nvPr/>
        </p:nvSpPr>
        <p:spPr>
          <a:xfrm>
            <a:off x="6472800" y="4104000"/>
            <a:ext cx="995045" cy="55308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开窗抽烟</a:t>
            </a:r>
          </a:p>
          <a:p>
            <a:pPr marL="171450" indent="-171450" algn="l">
              <a:lnSpc>
                <a:spcPct val="150000"/>
              </a:lnSpc>
              <a:buClrTx/>
              <a:buSzTx/>
              <a:buFont typeface="Arial" panose="020B0604020202020204" pitchFamily="34" charset="0"/>
              <a:buChar char="•"/>
            </a:pPr>
            <a:r>
              <a:rPr lang="zh-CN" altLang="en-US" sz="1000" dirty="0"/>
              <a:t>停车抽烟</a:t>
            </a:r>
          </a:p>
        </p:txBody>
      </p:sp>
      <p:cxnSp>
        <p:nvCxnSpPr>
          <p:cNvPr id="3" name="直接连接符 2"/>
          <p:cNvCxnSpPr/>
          <p:nvPr/>
        </p:nvCxnSpPr>
        <p:spPr>
          <a:xfrm>
            <a:off x="483782" y="3913542"/>
            <a:ext cx="736989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7864380" y="3025351"/>
            <a:ext cx="723275" cy="253916"/>
          </a:xfrm>
          <a:prstGeom prst="rect">
            <a:avLst/>
          </a:prstGeom>
          <a:noFill/>
        </p:spPr>
        <p:txBody>
          <a:bodyPr wrap="none" rtlCol="0">
            <a:spAutoFit/>
          </a:bodyPr>
          <a:lstStyle/>
          <a:p>
            <a:r>
              <a:rPr lang="zh-CN" altLang="en-US" sz="1050" b="1" dirty="0"/>
              <a:t>机会点：</a:t>
            </a:r>
          </a:p>
        </p:txBody>
      </p:sp>
      <p:sp>
        <p:nvSpPr>
          <p:cNvPr id="9" name="文本框 8"/>
          <p:cNvSpPr txBox="1"/>
          <p:nvPr/>
        </p:nvSpPr>
        <p:spPr>
          <a:xfrm>
            <a:off x="7865817" y="5303204"/>
            <a:ext cx="588623" cy="253916"/>
          </a:xfrm>
          <a:prstGeom prst="rect">
            <a:avLst/>
          </a:prstGeom>
          <a:noFill/>
        </p:spPr>
        <p:txBody>
          <a:bodyPr wrap="none" rtlCol="0">
            <a:spAutoFit/>
          </a:bodyPr>
          <a:lstStyle/>
          <a:p>
            <a:r>
              <a:rPr lang="zh-CN" altLang="en-US" sz="1050" b="1" dirty="0"/>
              <a:t>展望：</a:t>
            </a:r>
          </a:p>
        </p:txBody>
      </p:sp>
      <p:sp>
        <p:nvSpPr>
          <p:cNvPr id="11" name="文本框 10"/>
          <p:cNvSpPr txBox="1"/>
          <p:nvPr/>
        </p:nvSpPr>
        <p:spPr>
          <a:xfrm>
            <a:off x="7834850" y="1832366"/>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7" name="文本框 16"/>
          <p:cNvSpPr txBox="1"/>
          <p:nvPr/>
        </p:nvSpPr>
        <p:spPr>
          <a:xfrm>
            <a:off x="6472800" y="503830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私人司机情景</a:t>
            </a:r>
          </a:p>
        </p:txBody>
      </p:sp>
      <p:sp>
        <p:nvSpPr>
          <p:cNvPr id="19" name="文本框 18"/>
          <p:cNvSpPr txBox="1"/>
          <p:nvPr/>
        </p:nvSpPr>
        <p:spPr>
          <a:xfrm>
            <a:off x="6472800" y="5246906"/>
            <a:ext cx="1384011" cy="32194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00" dirty="0"/>
              <a:t>老板在车内抽烟</a:t>
            </a:r>
          </a:p>
        </p:txBody>
      </p:sp>
      <p:sp>
        <p:nvSpPr>
          <p:cNvPr id="20" name="文本框 19"/>
          <p:cNvSpPr txBox="1"/>
          <p:nvPr/>
        </p:nvSpPr>
        <p:spPr>
          <a:xfrm>
            <a:off x="8261428" y="5661919"/>
            <a:ext cx="2888950" cy="49244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人格化，与乘客建立信任</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1" name="文本框 37"/>
          <p:cNvSpPr txBox="1"/>
          <p:nvPr/>
        </p:nvSpPr>
        <p:spPr>
          <a:xfrm>
            <a:off x="1563177" y="4405596"/>
            <a:ext cx="1405486" cy="10541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50" dirty="0"/>
              <a:t>乘客对空气质量有非常在意</a:t>
            </a:r>
            <a:endParaRPr lang="en-US" altLang="zh-CN" sz="1050" dirty="0"/>
          </a:p>
          <a:p>
            <a:pPr>
              <a:spcBef>
                <a:spcPts val="600"/>
              </a:spcBef>
            </a:pPr>
            <a:r>
              <a:rPr lang="en-US" altLang="zh-CN" sz="1050" dirty="0"/>
              <a:t>1.</a:t>
            </a:r>
            <a:r>
              <a:rPr lang="zh-CN" altLang="en-US" sz="1050" dirty="0"/>
              <a:t>寻求更多控制权</a:t>
            </a:r>
            <a:endParaRPr lang="en-US" altLang="zh-CN" sz="1050" dirty="0"/>
          </a:p>
          <a:p>
            <a:pPr>
              <a:spcBef>
                <a:spcPts val="600"/>
              </a:spcBef>
            </a:pPr>
            <a:r>
              <a:rPr lang="en-US" altLang="zh-CN" sz="1050" dirty="0"/>
              <a:t>2.</a:t>
            </a:r>
            <a:r>
              <a:rPr lang="zh-CN" altLang="en-US" sz="1050" dirty="0"/>
              <a:t>普遍抱怨空气质量不好</a:t>
            </a:r>
          </a:p>
        </p:txBody>
      </p:sp>
      <p:sp>
        <p:nvSpPr>
          <p:cNvPr id="12" name="文本框 11"/>
          <p:cNvSpPr txBox="1"/>
          <p:nvPr/>
        </p:nvSpPr>
        <p:spPr>
          <a:xfrm>
            <a:off x="3060000" y="2703600"/>
            <a:ext cx="1424940" cy="991235"/>
          </a:xfrm>
          <a:prstGeom prst="rect">
            <a:avLst/>
          </a:prstGeom>
          <a:noFill/>
        </p:spPr>
        <p:txBody>
          <a:bodyPr wrap="square">
            <a:spAutoFit/>
          </a:bodyPr>
          <a:lstStyle/>
          <a:p>
            <a:pPr indent="0" algn="l">
              <a:lnSpc>
                <a:spcPct val="100000"/>
              </a:lnSpc>
              <a:spcBef>
                <a:spcPts val="600"/>
              </a:spcBef>
              <a:buClrTx/>
              <a:buSzTx/>
              <a:buNone/>
            </a:pPr>
            <a:r>
              <a:rPr lang="en-US" altLang="zh-CN" sz="800" i="1" dirty="0">
                <a:latin typeface="微软雅黑" panose="020B0503020204020204" pitchFamily="34" charset="-122"/>
                <a:ea typeface="微软雅黑" panose="020B0503020204020204" pitchFamily="34" charset="-122"/>
                <a:sym typeface="+mn-ea"/>
              </a:rPr>
              <a:t>“</a:t>
            </a:r>
            <a:r>
              <a:rPr lang="zh-CN" altLang="en-US" sz="800" i="1" dirty="0"/>
              <a:t>如果想到儿童座椅的话，又感觉你这个儿童座椅干不干净，不同的孩子，这个东西你要得</a:t>
            </a:r>
            <a:r>
              <a:rPr lang="zh-CN" altLang="en-US" sz="800" i="1"/>
              <a:t>一直打扫，</a:t>
            </a:r>
            <a:r>
              <a:rPr lang="zh-CN" altLang="en-US" sz="800" i="1" dirty="0"/>
              <a:t>一直消毒</a:t>
            </a:r>
            <a:r>
              <a:rPr lang="zh-CN" altLang="en-US" sz="800" i="1"/>
              <a:t>的，对</a:t>
            </a:r>
            <a:r>
              <a:rPr lang="zh-CN" altLang="en-US" sz="800" i="1" dirty="0"/>
              <a:t>卫生的功能</a:t>
            </a:r>
            <a:r>
              <a:rPr lang="zh-CN" altLang="en-US" sz="800" i="1"/>
              <a:t>要求高</a:t>
            </a:r>
            <a:r>
              <a:rPr lang="en-US" altLang="zh-CN" sz="800" i="1" dirty="0">
                <a:latin typeface="微软雅黑" panose="020B0503020204020204" pitchFamily="34" charset="-122"/>
                <a:ea typeface="微软雅黑" panose="020B0503020204020204" pitchFamily="34" charset="-122"/>
                <a:sym typeface="+mn-ea"/>
              </a:rPr>
              <a:t>”</a:t>
            </a:r>
          </a:p>
          <a:p>
            <a:pPr algn="r">
              <a:lnSpc>
                <a:spcPct val="100000"/>
              </a:lnSpc>
              <a:spcBef>
                <a:spcPts val="300"/>
              </a:spcBef>
              <a:spcAft>
                <a:spcPts val="0"/>
              </a:spcAft>
              <a:buClrTx/>
              <a:buSzTx/>
              <a:buFontTx/>
              <a:buNone/>
            </a:pPr>
            <a:r>
              <a:rPr lang="en-US" altLang="zh-CN" sz="800" i="1">
                <a:sym typeface="+mn-ea"/>
              </a:rPr>
              <a:t> </a:t>
            </a:r>
            <a:r>
              <a:rPr lang="en-US" altLang="zh-CN" sz="800" i="1" dirty="0">
                <a:sym typeface="+mn-ea"/>
              </a:rPr>
              <a:t> --海外投资林先生（快车） 38岁</a:t>
            </a:r>
          </a:p>
        </p:txBody>
      </p:sp>
      <p:sp>
        <p:nvSpPr>
          <p:cNvPr id="22" name="文本框 21"/>
          <p:cNvSpPr txBox="1"/>
          <p:nvPr/>
        </p:nvSpPr>
        <p:spPr>
          <a:xfrm>
            <a:off x="3215005" y="4998085"/>
            <a:ext cx="3004185" cy="537210"/>
          </a:xfrm>
          <a:prstGeom prst="rect">
            <a:avLst/>
          </a:prstGeom>
          <a:noFill/>
        </p:spPr>
        <p:txBody>
          <a:bodyPr wrap="square">
            <a:spAutoFit/>
          </a:bodyPr>
          <a:lstStyle/>
          <a:p>
            <a:pPr indent="0">
              <a:lnSpc>
                <a:spcPct val="100000"/>
              </a:lnSpc>
              <a:spcBef>
                <a:spcPts val="600"/>
              </a:spcBef>
              <a:buNone/>
            </a:pPr>
            <a:r>
              <a:rPr lang="en-US" altLang="zh-CN" sz="800" i="1" dirty="0">
                <a:latin typeface="微软雅黑" panose="020B0503020204020204" pitchFamily="34" charset="-122"/>
                <a:ea typeface="微软雅黑" panose="020B0503020204020204" pitchFamily="34" charset="-122"/>
                <a:sym typeface="+mn-ea"/>
              </a:rPr>
              <a:t>“</a:t>
            </a:r>
            <a:r>
              <a:rPr lang="zh-CN" altLang="en-US" sz="800" i="1" dirty="0"/>
              <a:t>上车他没有开窗，就感觉像进人家被窝了感觉，</a:t>
            </a:r>
            <a:r>
              <a:rPr lang="zh-CN" altLang="en-US" sz="800" i="1"/>
              <a:t>很臭</a:t>
            </a:r>
            <a:r>
              <a:rPr lang="en-US" altLang="zh-CN" sz="800" i="1" dirty="0"/>
              <a:t>......</a:t>
            </a:r>
            <a:r>
              <a:rPr lang="zh-CN" altLang="en-US" sz="800" i="1" dirty="0"/>
              <a:t>提前做好准备，把窗子都打开</a:t>
            </a:r>
            <a:r>
              <a:rPr lang="zh-CN" altLang="en-US" sz="800" i="1"/>
              <a:t>，通风</a:t>
            </a:r>
            <a:r>
              <a:rPr lang="en-US" altLang="zh-CN" sz="800" i="1">
                <a:latin typeface="微软雅黑" panose="020B0503020204020204" pitchFamily="34" charset="-122"/>
                <a:ea typeface="微软雅黑" panose="020B0503020204020204" pitchFamily="34" charset="-122"/>
                <a:sym typeface="+mn-ea"/>
              </a:rPr>
              <a:t>”</a:t>
            </a:r>
            <a:r>
              <a:rPr lang="en-US" altLang="zh-CN" sz="800" i="1" dirty="0">
                <a:sym typeface="+mn-ea"/>
              </a:rPr>
              <a:t>   </a:t>
            </a:r>
          </a:p>
          <a:p>
            <a:pPr indent="0" algn="r">
              <a:lnSpc>
                <a:spcPct val="100000"/>
              </a:lnSpc>
              <a:spcBef>
                <a:spcPts val="600"/>
              </a:spcBef>
              <a:buNone/>
            </a:pPr>
            <a:r>
              <a:rPr lang="en-US" altLang="zh-CN" sz="800" i="1" dirty="0">
                <a:sym typeface="+mn-ea"/>
              </a:rPr>
              <a:t> --海外投资林先生（快车） 38岁</a:t>
            </a:r>
          </a:p>
        </p:txBody>
      </p:sp>
      <p:sp>
        <p:nvSpPr>
          <p:cNvPr id="25" name="文本框 24"/>
          <p:cNvSpPr txBox="1"/>
          <p:nvPr/>
        </p:nvSpPr>
        <p:spPr>
          <a:xfrm>
            <a:off x="6264275" y="5605780"/>
            <a:ext cx="1612900" cy="499110"/>
          </a:xfrm>
          <a:prstGeom prst="rect">
            <a:avLst/>
          </a:prstGeom>
          <a:noFill/>
        </p:spPr>
        <p:txBody>
          <a:bodyPr wrap="square">
            <a:spAutoFit/>
          </a:bodyPr>
          <a:lstStyle/>
          <a:p>
            <a:pPr>
              <a:spcBef>
                <a:spcPts val="600"/>
              </a:spcBef>
            </a:pP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有的时候在车上抽雪茄。这样的味道是散不了，</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很难散</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r">
              <a:lnSpc>
                <a:spcPct val="100000"/>
              </a:lnSpc>
              <a:spcBef>
                <a:spcPts val="300"/>
              </a:spcBef>
              <a:spcAft>
                <a:spcPts val="0"/>
              </a:spcAft>
            </a:pPr>
            <a:r>
              <a:rPr lang="en-US" altLang="zh-CN" sz="800" i="1">
                <a:sym typeface="+mn-ea"/>
              </a:rPr>
              <a:t>   </a:t>
            </a:r>
            <a:r>
              <a:rPr lang="zh-CN" altLang="en-US" sz="800" i="1">
                <a:sym typeface="+mn-ea"/>
              </a:rPr>
              <a:t> </a:t>
            </a:r>
            <a:r>
              <a:rPr lang="zh-CN" altLang="en-US" sz="800" i="1" dirty="0">
                <a:sym typeface="+mn-ea"/>
              </a:rPr>
              <a:t>--私人司机王先生 </a:t>
            </a:r>
            <a:r>
              <a:rPr lang="zh-CN" altLang="en-US" sz="800" i="1">
                <a:sym typeface="+mn-ea"/>
              </a:rPr>
              <a:t>36岁</a:t>
            </a:r>
            <a:endParaRPr lang="zh-CN" altLang="en-US" sz="800" i="1" dirty="0"/>
          </a:p>
        </p:txBody>
      </p:sp>
      <p:sp>
        <p:nvSpPr>
          <p:cNvPr id="24" name="文本框 23"/>
          <p:cNvSpPr txBox="1"/>
          <p:nvPr/>
        </p:nvSpPr>
        <p:spPr>
          <a:xfrm>
            <a:off x="6009005" y="2703600"/>
            <a:ext cx="1915795" cy="660400"/>
          </a:xfrm>
          <a:prstGeom prst="rect">
            <a:avLst/>
          </a:prstGeom>
          <a:noFill/>
        </p:spPr>
        <p:txBody>
          <a:bodyPr wrap="square" rtlCol="0" anchor="t">
            <a:spAutoFit/>
          </a:bodyPr>
          <a:lstStyle/>
          <a:p>
            <a:pPr indent="0" algn="l">
              <a:lnSpc>
                <a:spcPct val="100000"/>
              </a:lnSpc>
              <a:spcBef>
                <a:spcPts val="600"/>
              </a:spcBef>
              <a:buClrTx/>
              <a:buSzTx/>
              <a:buNone/>
            </a:pPr>
            <a:r>
              <a:rPr lang="en-US" altLang="zh-CN" sz="800" i="1" dirty="0">
                <a:latin typeface="微软雅黑" panose="020B0503020204020204" pitchFamily="34" charset="-122"/>
                <a:ea typeface="微软雅黑" panose="020B0503020204020204" pitchFamily="34" charset="-122"/>
                <a:sym typeface="+mn-ea"/>
              </a:rPr>
              <a:t>“</a:t>
            </a:r>
            <a:r>
              <a:rPr lang="zh-CN" altLang="en-US" sz="800" i="1" dirty="0">
                <a:sym typeface="+mn-ea"/>
              </a:rPr>
              <a:t>一般是空调，会进去调个温度，开窗通风</a:t>
            </a:r>
            <a:r>
              <a:rPr lang="en-US" altLang="zh-CN" sz="800" i="1" dirty="0">
                <a:latin typeface="微软雅黑" panose="020B0503020204020204" pitchFamily="34" charset="-122"/>
                <a:ea typeface="微软雅黑" panose="020B0503020204020204" pitchFamily="34" charset="-122"/>
                <a:sym typeface="+mn-ea"/>
              </a:rPr>
              <a:t>”</a:t>
            </a:r>
            <a:endParaRPr lang="zh-CN" altLang="en-US" sz="800" i="1" dirty="0">
              <a:latin typeface="微软雅黑" panose="020B0503020204020204" pitchFamily="34" charset="-122"/>
              <a:ea typeface="微软雅黑" panose="020B0503020204020204" pitchFamily="34" charset="-122"/>
            </a:endParaRPr>
          </a:p>
          <a:p>
            <a:pPr algn="r">
              <a:lnSpc>
                <a:spcPct val="100000"/>
              </a:lnSpc>
              <a:spcBef>
                <a:spcPts val="300"/>
              </a:spcBef>
              <a:spcAft>
                <a:spcPts val="0"/>
              </a:spcAft>
              <a:buClrTx/>
              <a:buSzTx/>
              <a:buFontTx/>
              <a:buNone/>
            </a:pPr>
            <a:r>
              <a:rPr lang="en-US" altLang="zh-CN" sz="800" i="1" dirty="0">
                <a:sym typeface="+mn-ea"/>
              </a:rPr>
              <a:t>      --外贸业务员尤先生（快车） 25岁</a:t>
            </a:r>
            <a:endParaRPr lang="en-US" altLang="zh-CN" sz="800" i="1" dirty="0"/>
          </a:p>
          <a:p>
            <a:pPr algn="r">
              <a:lnSpc>
                <a:spcPct val="100000"/>
              </a:lnSpc>
              <a:spcBef>
                <a:spcPts val="300"/>
              </a:spcBef>
              <a:spcAft>
                <a:spcPts val="0"/>
              </a:spcAft>
              <a:buClrTx/>
              <a:buSzTx/>
              <a:buFontTx/>
            </a:pPr>
            <a:endParaRPr lang="en-US" altLang="zh-CN" sz="800" i="1" dirty="0"/>
          </a:p>
        </p:txBody>
      </p:sp>
      <p:sp>
        <p:nvSpPr>
          <p:cNvPr id="27" name="文本框 26"/>
          <p:cNvSpPr txBox="1"/>
          <p:nvPr/>
        </p:nvSpPr>
        <p:spPr>
          <a:xfrm>
            <a:off x="6264000" y="4680585"/>
            <a:ext cx="1678305" cy="375920"/>
          </a:xfrm>
          <a:prstGeom prst="rect">
            <a:avLst/>
          </a:prstGeom>
          <a:noFill/>
        </p:spPr>
        <p:txBody>
          <a:bodyPr wrap="square" rtlCol="0" anchor="t">
            <a:spAutoFit/>
          </a:bodyPr>
          <a:lstStyle/>
          <a:p>
            <a:pPr indent="0">
              <a:lnSpc>
                <a:spcPct val="100000"/>
              </a:lnSpc>
              <a:buNone/>
            </a:pPr>
            <a:r>
              <a:rPr lang="en-US" altLang="zh-CN" sz="800" i="1" dirty="0">
                <a:latin typeface="微软雅黑" panose="020B0503020204020204" pitchFamily="34" charset="-122"/>
                <a:ea typeface="微软雅黑" panose="020B0503020204020204" pitchFamily="34" charset="-122"/>
                <a:sym typeface="+mn-ea"/>
              </a:rPr>
              <a:t>“</a:t>
            </a:r>
            <a:r>
              <a:rPr lang="en-US" altLang="zh-CN" sz="800" i="1" dirty="0">
                <a:sym typeface="+mn-ea"/>
              </a:rPr>
              <a:t>打车</a:t>
            </a:r>
            <a:r>
              <a:rPr lang="zh-CN" altLang="en-US" sz="800" i="1" dirty="0">
                <a:sym typeface="+mn-ea"/>
              </a:rPr>
              <a:t>的话也可以分有烟，无烟</a:t>
            </a:r>
            <a:r>
              <a:rPr lang="en-US" altLang="zh-CN" sz="800" i="1" dirty="0">
                <a:latin typeface="微软雅黑" panose="020B0503020204020204" pitchFamily="34" charset="-122"/>
                <a:ea typeface="微软雅黑" panose="020B0503020204020204" pitchFamily="34" charset="-122"/>
                <a:sym typeface="+mn-ea"/>
              </a:rPr>
              <a:t>”</a:t>
            </a:r>
            <a:endParaRPr lang="zh-CN" altLang="en-US" sz="800" i="1" dirty="0">
              <a:latin typeface="微软雅黑" panose="020B0503020204020204" pitchFamily="34" charset="-122"/>
              <a:ea typeface="微软雅黑" panose="020B0503020204020204" pitchFamily="34" charset="-122"/>
            </a:endParaRPr>
          </a:p>
          <a:p>
            <a:pPr indent="0" algn="r">
              <a:lnSpc>
                <a:spcPct val="100000"/>
              </a:lnSpc>
              <a:spcBef>
                <a:spcPts val="300"/>
              </a:spcBef>
              <a:spcAft>
                <a:spcPts val="0"/>
              </a:spcAft>
              <a:buNone/>
            </a:pPr>
            <a:r>
              <a:rPr lang="en-US" altLang="zh-CN" sz="800" i="1" dirty="0">
                <a:sym typeface="+mn-ea"/>
              </a:rPr>
              <a:t> --保险业务施女士（专车） 29岁</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车内环境舒适调整旅程</a:t>
            </a:r>
          </a:p>
        </p:txBody>
      </p:sp>
      <p:sp>
        <p:nvSpPr>
          <p:cNvPr id="16" name="文本占位符 4"/>
          <p:cNvSpPr txBox="1"/>
          <p:nvPr/>
        </p:nvSpPr>
        <p:spPr>
          <a:xfrm>
            <a:off x="371364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203132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车内环境舒适调整</a:t>
            </a:r>
          </a:p>
        </p:txBody>
      </p:sp>
      <p:sp>
        <p:nvSpPr>
          <p:cNvPr id="10" name="文本框 9"/>
          <p:cNvSpPr txBox="1"/>
          <p:nvPr/>
        </p:nvSpPr>
        <p:spPr>
          <a:xfrm>
            <a:off x="426471" y="-78623"/>
            <a:ext cx="1525188" cy="289310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降噪场景</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281218"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529951" y="1383578"/>
            <a:ext cx="268266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025509"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269297" y="187421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97876" y="1390273"/>
            <a:ext cx="1493421"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15695" y="178763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8" name="文本框 47"/>
          <p:cNvSpPr txBox="1"/>
          <p:nvPr/>
        </p:nvSpPr>
        <p:spPr>
          <a:xfrm>
            <a:off x="1415695" y="2475250"/>
            <a:ext cx="1685392" cy="492443"/>
          </a:xfrm>
          <a:prstGeom prst="rect">
            <a:avLst/>
          </a:prstGeom>
          <a:noFill/>
        </p:spPr>
        <p:txBody>
          <a:bodyPr wrap="square" rtlCol="0">
            <a:spAutoFit/>
          </a:bodyPr>
          <a:lstStyle/>
          <a:p>
            <a:pPr marL="228600" indent="-228600">
              <a:spcBef>
                <a:spcPts val="600"/>
              </a:spcBef>
              <a:buFont typeface="+mj-lt"/>
              <a:buAutoNum type="arabicPeriod"/>
            </a:pPr>
            <a:r>
              <a:rPr lang="zh-CN" altLang="en-US" sz="1050" dirty="0"/>
              <a:t>降噪为主，少量音乐</a:t>
            </a:r>
            <a:endParaRPr lang="en-US" altLang="zh-CN" sz="1050" dirty="0"/>
          </a:p>
          <a:p>
            <a:pPr marL="228600" indent="-228600">
              <a:spcBef>
                <a:spcPts val="600"/>
              </a:spcBef>
              <a:buFont typeface="+mj-lt"/>
              <a:buAutoNum type="arabicPeriod"/>
            </a:pPr>
            <a:r>
              <a:rPr lang="zh-CN" altLang="en-US" sz="1050" dirty="0"/>
              <a:t>司乘均有诉求</a:t>
            </a:r>
          </a:p>
        </p:txBody>
      </p:sp>
      <p:sp>
        <p:nvSpPr>
          <p:cNvPr id="50" name="文本框 49"/>
          <p:cNvSpPr txBox="1"/>
          <p:nvPr/>
        </p:nvSpPr>
        <p:spPr>
          <a:xfrm>
            <a:off x="3024000" y="1874217"/>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乘客需要降噪</a:t>
            </a:r>
          </a:p>
        </p:txBody>
      </p:sp>
      <p:sp>
        <p:nvSpPr>
          <p:cNvPr id="53" name="文本框 52"/>
          <p:cNvSpPr txBox="1"/>
          <p:nvPr/>
        </p:nvSpPr>
        <p:spPr>
          <a:xfrm>
            <a:off x="5223600" y="186042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司机需要降噪</a:t>
            </a:r>
          </a:p>
        </p:txBody>
      </p:sp>
      <p:sp>
        <p:nvSpPr>
          <p:cNvPr id="55" name="文本框 54"/>
          <p:cNvSpPr txBox="1"/>
          <p:nvPr/>
        </p:nvSpPr>
        <p:spPr>
          <a:xfrm>
            <a:off x="5223600" y="2610082"/>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乘客要求播放音乐</a:t>
            </a:r>
          </a:p>
        </p:txBody>
      </p:sp>
      <p:sp>
        <p:nvSpPr>
          <p:cNvPr id="56" name="文本框 55"/>
          <p:cNvSpPr txBox="1"/>
          <p:nvPr/>
        </p:nvSpPr>
        <p:spPr>
          <a:xfrm>
            <a:off x="3024000" y="2101850"/>
            <a:ext cx="2309495" cy="82994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存在司机播放音乐、打电话的情况</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导航声音过大</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乘客很疲劳需要非常安静</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睡眠时隔绝路燥，需要降噪耳机</a:t>
            </a:r>
          </a:p>
        </p:txBody>
      </p:sp>
      <p:sp>
        <p:nvSpPr>
          <p:cNvPr id="59" name="文本框 58"/>
          <p:cNvSpPr txBox="1"/>
          <p:nvPr/>
        </p:nvSpPr>
        <p:spPr>
          <a:xfrm>
            <a:off x="7854488" y="2814477"/>
            <a:ext cx="3750925" cy="630942"/>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可提供安静乘坐模式，音乐，导航声音全程关闭，全程不司机</a:t>
            </a:r>
            <a:r>
              <a:rPr lang="en-US" altLang="zh-CN" sz="1000" dirty="0"/>
              <a:t>agent</a:t>
            </a:r>
            <a:r>
              <a:rPr lang="zh-CN" altLang="en-US" sz="1000" dirty="0"/>
              <a:t>不主动沟通，关闭主动服务</a:t>
            </a:r>
            <a:endParaRPr lang="en-US" altLang="zh-CN" sz="1000" dirty="0"/>
          </a:p>
          <a:p>
            <a:pPr marL="285750" indent="-285750">
              <a:spcBef>
                <a:spcPts val="600"/>
              </a:spcBef>
              <a:buFont typeface="Wingdings" panose="05000000000000000000" pitchFamily="2" charset="2"/>
              <a:buChar char="ü"/>
            </a:pPr>
            <a:r>
              <a:rPr lang="zh-CN" altLang="en-US" sz="1000" dirty="0"/>
              <a:t>行车降噪模式，降低胎噪与风燥</a:t>
            </a:r>
            <a:endParaRPr lang="en-US" altLang="zh-CN" sz="1000" dirty="0"/>
          </a:p>
        </p:txBody>
      </p:sp>
      <p:sp>
        <p:nvSpPr>
          <p:cNvPr id="61" name="文本框 60"/>
          <p:cNvSpPr txBox="1"/>
          <p:nvPr/>
        </p:nvSpPr>
        <p:spPr>
          <a:xfrm>
            <a:off x="5223600" y="2054383"/>
            <a:ext cx="1928368" cy="27559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乘车人太吵影响驾驶安全</a:t>
            </a:r>
          </a:p>
        </p:txBody>
      </p:sp>
      <p:sp>
        <p:nvSpPr>
          <p:cNvPr id="62" name="文本框 61"/>
          <p:cNvSpPr txBox="1"/>
          <p:nvPr/>
        </p:nvSpPr>
        <p:spPr>
          <a:xfrm>
            <a:off x="5223600" y="2757392"/>
            <a:ext cx="1628458" cy="27559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个别乘客想听音乐</a:t>
            </a:r>
          </a:p>
        </p:txBody>
      </p:sp>
      <p:cxnSp>
        <p:nvCxnSpPr>
          <p:cNvPr id="3" name="直接连接符 2"/>
          <p:cNvCxnSpPr/>
          <p:nvPr/>
        </p:nvCxnSpPr>
        <p:spPr>
          <a:xfrm>
            <a:off x="483782" y="3766807"/>
            <a:ext cx="11144005" cy="34091"/>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83782" y="4875267"/>
            <a:ext cx="6607834" cy="276999"/>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温度调整</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36691" y="4341365"/>
            <a:ext cx="1643399" cy="969496"/>
          </a:xfrm>
          <a:prstGeom prst="rect">
            <a:avLst/>
          </a:prstGeom>
          <a:noFill/>
        </p:spPr>
        <p:txBody>
          <a:bodyPr wrap="none" rtlCol="0">
            <a:spAutoFit/>
          </a:bodyPr>
          <a:lstStyle/>
          <a:p>
            <a:r>
              <a:rPr lang="zh-CN" altLang="en-US" sz="1050" dirty="0"/>
              <a:t>温度调整存在矛盾</a:t>
            </a:r>
            <a:endParaRPr lang="en-US" altLang="zh-CN" sz="1050" dirty="0"/>
          </a:p>
          <a:p>
            <a:pPr>
              <a:spcBef>
                <a:spcPts val="600"/>
              </a:spcBef>
            </a:pPr>
            <a:r>
              <a:rPr lang="en-US" altLang="zh-CN" sz="1050" dirty="0"/>
              <a:t>1.</a:t>
            </a:r>
            <a:r>
              <a:rPr lang="zh-CN" altLang="en-US" sz="1050" dirty="0"/>
              <a:t>乘客与司机诉求不一致</a:t>
            </a:r>
            <a:endParaRPr lang="en-US" altLang="zh-CN" sz="1050" dirty="0"/>
          </a:p>
          <a:p>
            <a:pPr>
              <a:spcBef>
                <a:spcPts val="600"/>
              </a:spcBef>
            </a:pPr>
            <a:r>
              <a:rPr lang="en-US" altLang="zh-CN" sz="1050" dirty="0"/>
              <a:t>2.</a:t>
            </a:r>
            <a:r>
              <a:rPr lang="zh-CN" altLang="en-US" sz="1050" dirty="0"/>
              <a:t>不同乘客的需求不同</a:t>
            </a:r>
            <a:endParaRPr lang="en-US" altLang="zh-CN" sz="1050" dirty="0"/>
          </a:p>
          <a:p>
            <a:pPr>
              <a:spcBef>
                <a:spcPts val="600"/>
              </a:spcBef>
            </a:pPr>
            <a:r>
              <a:rPr lang="en-US" altLang="zh-CN" sz="1050" dirty="0"/>
              <a:t>3.</a:t>
            </a:r>
            <a:r>
              <a:rPr lang="zh-CN" altLang="en-US" sz="1050" dirty="0"/>
              <a:t>需求更多控制权</a:t>
            </a:r>
          </a:p>
        </p:txBody>
      </p:sp>
      <p:sp>
        <p:nvSpPr>
          <p:cNvPr id="14" name="文本框 13"/>
          <p:cNvSpPr txBox="1"/>
          <p:nvPr/>
        </p:nvSpPr>
        <p:spPr>
          <a:xfrm>
            <a:off x="3024000" y="4154699"/>
            <a:ext cx="1643399" cy="46037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老年乘客要求高温</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年轻人偏好低温</a:t>
            </a:r>
          </a:p>
        </p:txBody>
      </p:sp>
      <p:sp>
        <p:nvSpPr>
          <p:cNvPr id="17" name="文本框 16"/>
          <p:cNvSpPr txBox="1"/>
          <p:nvPr/>
        </p:nvSpPr>
        <p:spPr>
          <a:xfrm>
            <a:off x="3024000" y="3971227"/>
            <a:ext cx="1063112"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特征化差异</a:t>
            </a:r>
          </a:p>
        </p:txBody>
      </p:sp>
      <p:sp>
        <p:nvSpPr>
          <p:cNvPr id="19" name="文本框 18"/>
          <p:cNvSpPr txBox="1"/>
          <p:nvPr/>
        </p:nvSpPr>
        <p:spPr>
          <a:xfrm>
            <a:off x="3024000" y="464362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司乘需求差异</a:t>
            </a:r>
          </a:p>
        </p:txBody>
      </p:sp>
      <p:sp>
        <p:nvSpPr>
          <p:cNvPr id="20" name="文本框 19"/>
          <p:cNvSpPr txBox="1"/>
          <p:nvPr/>
        </p:nvSpPr>
        <p:spPr>
          <a:xfrm>
            <a:off x="3024000" y="4859957"/>
            <a:ext cx="1987869" cy="69151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快车司机想省钱</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乘客想获得最佳温度</a:t>
            </a:r>
          </a:p>
          <a:p>
            <a:pPr marL="285750" indent="-285750">
              <a:lnSpc>
                <a:spcPct val="150000"/>
              </a:lnSpc>
              <a:buFont typeface="+mj-lt"/>
              <a:buAutoNum type="arabicPeriod"/>
            </a:pPr>
            <a:endParaRPr lang="zh-CN" altLang="en-US" sz="1000" dirty="0"/>
          </a:p>
        </p:txBody>
      </p:sp>
      <p:sp>
        <p:nvSpPr>
          <p:cNvPr id="21" name="文本框 20"/>
          <p:cNvSpPr txBox="1"/>
          <p:nvPr/>
        </p:nvSpPr>
        <p:spPr>
          <a:xfrm>
            <a:off x="3024000" y="534354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司乘频次差异</a:t>
            </a:r>
          </a:p>
        </p:txBody>
      </p:sp>
      <p:sp>
        <p:nvSpPr>
          <p:cNvPr id="22" name="文本框 21"/>
          <p:cNvSpPr txBox="1"/>
          <p:nvPr/>
        </p:nvSpPr>
        <p:spPr>
          <a:xfrm>
            <a:off x="3024000" y="5579745"/>
            <a:ext cx="2550795" cy="46037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司机觉得麻烦</a:t>
            </a:r>
          </a:p>
          <a:p>
            <a:pPr marL="171450" indent="-171450" algn="l">
              <a:lnSpc>
                <a:spcPct val="120000"/>
              </a:lnSpc>
              <a:spcBef>
                <a:spcPts val="0"/>
              </a:spcBef>
              <a:spcAft>
                <a:spcPts val="0"/>
              </a:spcAft>
              <a:buClrTx/>
              <a:buSzTx/>
              <a:buFont typeface="Arial" panose="020B0604020202020204" pitchFamily="34" charset="0"/>
              <a:buChar char="•"/>
            </a:pPr>
            <a:r>
              <a:rPr lang="zh-CN" altLang="en-US" sz="1000" dirty="0"/>
              <a:t>司机调整不合适，乘客频繁调整温度</a:t>
            </a:r>
          </a:p>
        </p:txBody>
      </p:sp>
      <p:sp>
        <p:nvSpPr>
          <p:cNvPr id="24" name="文本框 23"/>
          <p:cNvSpPr txBox="1"/>
          <p:nvPr/>
        </p:nvSpPr>
        <p:spPr>
          <a:xfrm>
            <a:off x="7884818" y="4436581"/>
            <a:ext cx="3899639" cy="1454244"/>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根据乘车人特征的上车后缺省空调温度智能设置，老年人要温度高一些，年轻人温蒂低一些</a:t>
            </a:r>
            <a:endParaRPr lang="en-US" altLang="zh-CN" sz="1050" dirty="0"/>
          </a:p>
          <a:p>
            <a:pPr marL="171450" indent="-171450">
              <a:spcBef>
                <a:spcPts val="600"/>
              </a:spcBef>
              <a:buFont typeface="Wingdings" panose="05000000000000000000" pitchFamily="2" charset="2"/>
              <a:buChar char="ü"/>
            </a:pPr>
            <a:r>
              <a:rPr lang="zh-CN" altLang="en-US" sz="1050" dirty="0"/>
              <a:t>根据外部气候环境智能设置缺省温度，天气冷就温度就高一些，天气热就低一些</a:t>
            </a:r>
            <a:endParaRPr lang="en-US" altLang="zh-CN" sz="1050" dirty="0"/>
          </a:p>
          <a:p>
            <a:pPr marL="171450" indent="-171450">
              <a:spcBef>
                <a:spcPts val="600"/>
              </a:spcBef>
              <a:buFont typeface="Wingdings" panose="05000000000000000000" pitchFamily="2" charset="2"/>
              <a:buChar char="ü"/>
            </a:pPr>
            <a:r>
              <a:rPr lang="zh-CN" altLang="en-US" sz="1050" dirty="0"/>
              <a:t>根据手机端司机</a:t>
            </a:r>
            <a:r>
              <a:rPr lang="en-US" altLang="zh-CN" sz="1050" dirty="0"/>
              <a:t>agent</a:t>
            </a:r>
            <a:r>
              <a:rPr lang="zh-CN" altLang="en-US" sz="1050" dirty="0"/>
              <a:t>判断，乘客即将上车，提前将空调与座椅问题调好，更加乘客习惯调好，上车后不受冻，也受热</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7" name="文本框 26"/>
          <p:cNvSpPr txBox="1"/>
          <p:nvPr/>
        </p:nvSpPr>
        <p:spPr>
          <a:xfrm>
            <a:off x="7329587" y="2608161"/>
            <a:ext cx="723275" cy="253916"/>
          </a:xfrm>
          <a:prstGeom prst="rect">
            <a:avLst/>
          </a:prstGeom>
          <a:noFill/>
        </p:spPr>
        <p:txBody>
          <a:bodyPr wrap="none" rtlCol="0">
            <a:spAutoFit/>
          </a:bodyPr>
          <a:lstStyle/>
          <a:p>
            <a:r>
              <a:rPr lang="zh-CN" altLang="en-US" sz="1050" b="1" dirty="0"/>
              <a:t>机会点：</a:t>
            </a:r>
          </a:p>
        </p:txBody>
      </p:sp>
      <p:sp>
        <p:nvSpPr>
          <p:cNvPr id="30" name="文本框 29"/>
          <p:cNvSpPr txBox="1"/>
          <p:nvPr/>
        </p:nvSpPr>
        <p:spPr>
          <a:xfrm>
            <a:off x="7347140" y="3432934"/>
            <a:ext cx="588623" cy="253916"/>
          </a:xfrm>
          <a:prstGeom prst="rect">
            <a:avLst/>
          </a:prstGeom>
          <a:noFill/>
        </p:spPr>
        <p:txBody>
          <a:bodyPr wrap="none" rtlCol="0">
            <a:spAutoFit/>
          </a:bodyPr>
          <a:lstStyle/>
          <a:p>
            <a:r>
              <a:rPr lang="zh-CN" altLang="en-US" sz="1050" b="1" dirty="0"/>
              <a:t>展望：</a:t>
            </a:r>
          </a:p>
        </p:txBody>
      </p:sp>
      <p:sp>
        <p:nvSpPr>
          <p:cNvPr id="31" name="文本框 30"/>
          <p:cNvSpPr txBox="1"/>
          <p:nvPr/>
        </p:nvSpPr>
        <p:spPr>
          <a:xfrm>
            <a:off x="7265090" y="181284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5" name="文本框 34"/>
          <p:cNvSpPr txBox="1"/>
          <p:nvPr/>
        </p:nvSpPr>
        <p:spPr>
          <a:xfrm>
            <a:off x="7875417" y="2013161"/>
            <a:ext cx="6607834" cy="707886"/>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乘客可自由控制音量与音乐播放内容</a:t>
            </a:r>
            <a:endParaRPr lang="en-US" altLang="zh-CN" sz="1000" dirty="0"/>
          </a:p>
          <a:p>
            <a:pPr marL="285750" indent="-285750">
              <a:spcBef>
                <a:spcPts val="600"/>
              </a:spcBef>
              <a:buFont typeface="Wingdings" panose="05000000000000000000" pitchFamily="2" charset="2"/>
              <a:buChar char="ü"/>
            </a:pPr>
            <a:r>
              <a:rPr lang="zh-CN" altLang="en-US" sz="1000" dirty="0"/>
              <a:t>后排乘客主动降噪技术，听不到前排的导航声音</a:t>
            </a:r>
            <a:endParaRPr lang="en-US" altLang="zh-CN" sz="1000" dirty="0"/>
          </a:p>
          <a:p>
            <a:pPr marL="285750" indent="-285750">
              <a:spcBef>
                <a:spcPts val="600"/>
              </a:spcBef>
              <a:buFont typeface="Wingdings" panose="05000000000000000000" pitchFamily="2" charset="2"/>
              <a:buChar char="ü"/>
            </a:pPr>
            <a:r>
              <a:rPr lang="zh-CN" altLang="en-US" sz="1000" dirty="0"/>
              <a:t>音响私享模式</a:t>
            </a:r>
          </a:p>
        </p:txBody>
      </p:sp>
      <p:sp>
        <p:nvSpPr>
          <p:cNvPr id="37" name="文本框 36"/>
          <p:cNvSpPr txBox="1"/>
          <p:nvPr/>
        </p:nvSpPr>
        <p:spPr>
          <a:xfrm>
            <a:off x="7854488" y="3598071"/>
            <a:ext cx="3750925" cy="246221"/>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将车内噪音降到</a:t>
            </a:r>
            <a:r>
              <a:rPr lang="en-US" altLang="zh-CN" sz="1000" dirty="0"/>
              <a:t>40</a:t>
            </a:r>
            <a:r>
              <a:rPr lang="zh-CN" altLang="en-US" sz="1000" dirty="0"/>
              <a:t>分贝一下</a:t>
            </a:r>
            <a:endParaRPr lang="en-US" altLang="zh-CN" sz="1000" dirty="0"/>
          </a:p>
        </p:txBody>
      </p:sp>
      <p:sp>
        <p:nvSpPr>
          <p:cNvPr id="52" name="文本框 51"/>
          <p:cNvSpPr txBox="1"/>
          <p:nvPr/>
        </p:nvSpPr>
        <p:spPr>
          <a:xfrm>
            <a:off x="7312434" y="4377336"/>
            <a:ext cx="723275" cy="253916"/>
          </a:xfrm>
          <a:prstGeom prst="rect">
            <a:avLst/>
          </a:prstGeom>
          <a:noFill/>
        </p:spPr>
        <p:txBody>
          <a:bodyPr wrap="none" rtlCol="0">
            <a:spAutoFit/>
          </a:bodyPr>
          <a:lstStyle/>
          <a:p>
            <a:r>
              <a:rPr lang="zh-CN" altLang="en-US" sz="1050" b="1" dirty="0"/>
              <a:t>机会点：</a:t>
            </a:r>
          </a:p>
        </p:txBody>
      </p:sp>
      <p:sp>
        <p:nvSpPr>
          <p:cNvPr id="54" name="文本框 53"/>
          <p:cNvSpPr txBox="1"/>
          <p:nvPr/>
        </p:nvSpPr>
        <p:spPr>
          <a:xfrm>
            <a:off x="7347139" y="5564513"/>
            <a:ext cx="588623" cy="253916"/>
          </a:xfrm>
          <a:prstGeom prst="rect">
            <a:avLst/>
          </a:prstGeom>
          <a:noFill/>
        </p:spPr>
        <p:txBody>
          <a:bodyPr wrap="none" rtlCol="0">
            <a:spAutoFit/>
          </a:bodyPr>
          <a:lstStyle/>
          <a:p>
            <a:r>
              <a:rPr lang="zh-CN" altLang="en-US" sz="1050" b="1" dirty="0"/>
              <a:t>展望：</a:t>
            </a:r>
          </a:p>
        </p:txBody>
      </p:sp>
      <p:sp>
        <p:nvSpPr>
          <p:cNvPr id="57" name="文本框 56"/>
          <p:cNvSpPr txBox="1"/>
          <p:nvPr/>
        </p:nvSpPr>
        <p:spPr>
          <a:xfrm>
            <a:off x="7261378" y="383288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65" name="文本框 64"/>
          <p:cNvSpPr txBox="1"/>
          <p:nvPr/>
        </p:nvSpPr>
        <p:spPr>
          <a:xfrm>
            <a:off x="7935762" y="3862898"/>
            <a:ext cx="7746520" cy="492443"/>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乘客可自由语音控制空调，座椅加热与通风</a:t>
            </a:r>
            <a:endParaRPr lang="en-US" altLang="zh-CN" sz="1050" dirty="0"/>
          </a:p>
          <a:p>
            <a:pPr marL="171450" indent="-171450">
              <a:spcBef>
                <a:spcPts val="600"/>
              </a:spcBef>
              <a:buFont typeface="Wingdings" panose="05000000000000000000" pitchFamily="2" charset="2"/>
              <a:buChar char="ü"/>
            </a:pPr>
            <a:r>
              <a:rPr lang="zh-CN" altLang="en-US" sz="1050" dirty="0"/>
              <a:t>根据车内环境，智能打开座舱加热与通风</a:t>
            </a:r>
            <a:endParaRPr lang="en-US" altLang="zh-CN" sz="1050" dirty="0"/>
          </a:p>
        </p:txBody>
      </p:sp>
      <p:sp>
        <p:nvSpPr>
          <p:cNvPr id="71" name="文本框 70"/>
          <p:cNvSpPr txBox="1"/>
          <p:nvPr/>
        </p:nvSpPr>
        <p:spPr>
          <a:xfrm>
            <a:off x="7815432" y="5819265"/>
            <a:ext cx="3294492"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100" dirty="0"/>
              <a:t>保证车内体感温度舒适前提下，又能做到节能</a:t>
            </a:r>
          </a:p>
        </p:txBody>
      </p:sp>
      <p:sp>
        <p:nvSpPr>
          <p:cNvPr id="4" name="文本框 3"/>
          <p:cNvSpPr txBox="1"/>
          <p:nvPr/>
        </p:nvSpPr>
        <p:spPr>
          <a:xfrm>
            <a:off x="3024000" y="2993756"/>
            <a:ext cx="2156373" cy="544830"/>
          </a:xfrm>
          <a:prstGeom prst="rect">
            <a:avLst/>
          </a:prstGeom>
          <a:noFill/>
        </p:spPr>
        <p:txBody>
          <a:bodyPr wrap="square">
            <a:spAutoFit/>
          </a:bodyPr>
          <a:lstStyle/>
          <a:p>
            <a:pPr>
              <a:spcBef>
                <a:spcPts val="600"/>
              </a:spcBef>
              <a:spcAft>
                <a:spcPts val="0"/>
              </a:spcAft>
            </a:pPr>
            <a:r>
              <a:rPr lang="en-US" altLang="zh-CN" sz="900" i="1" dirty="0">
                <a:latin typeface="微软雅黑" panose="020B0503020204020204" pitchFamily="34" charset="-122"/>
                <a:ea typeface="微软雅黑" panose="020B0503020204020204" pitchFamily="34" charset="-122"/>
              </a:rPr>
              <a:t>“</a:t>
            </a:r>
            <a:r>
              <a:rPr lang="zh-CN" altLang="en-US" sz="900" i="1" dirty="0"/>
              <a:t>最讨厌比如外放抖音这种可能会比较吵，或者还有主动跟你</a:t>
            </a:r>
            <a:r>
              <a:rPr lang="zh-CN" altLang="en-US" sz="900" i="1"/>
              <a:t>聊天什么的</a:t>
            </a:r>
            <a:r>
              <a:rPr lang="en-US" altLang="zh-CN" sz="900" i="1">
                <a:latin typeface="微软雅黑" panose="020B0503020204020204" pitchFamily="34" charset="-122"/>
                <a:ea typeface="微软雅黑" panose="020B0503020204020204" pitchFamily="34" charset="-122"/>
              </a:rPr>
              <a:t>”</a:t>
            </a:r>
          </a:p>
          <a:p>
            <a:pPr algn="r">
              <a:spcBef>
                <a:spcPts val="300"/>
              </a:spcBef>
              <a:spcAft>
                <a:spcPts val="0"/>
              </a:spcAft>
              <a:buClrTx/>
              <a:buSzTx/>
              <a:buFontTx/>
            </a:pPr>
            <a:r>
              <a:rPr lang="en-US" altLang="zh-CN" sz="900" i="1"/>
              <a:t>      --外贸业务员尤先生（快车） 25岁</a:t>
            </a:r>
          </a:p>
        </p:txBody>
      </p:sp>
      <p:sp>
        <p:nvSpPr>
          <p:cNvPr id="5" name="文本框 4"/>
          <p:cNvSpPr txBox="1"/>
          <p:nvPr/>
        </p:nvSpPr>
        <p:spPr>
          <a:xfrm>
            <a:off x="5223510" y="3016250"/>
            <a:ext cx="2037715" cy="738664"/>
          </a:xfrm>
          <a:prstGeom prst="rect">
            <a:avLst/>
          </a:prstGeom>
          <a:noFill/>
        </p:spPr>
        <p:txBody>
          <a:bodyPr wrap="square">
            <a:spAutoFit/>
          </a:bodyPr>
          <a:lstStyle/>
          <a:p>
            <a:pPr algn="l">
              <a:lnSpc>
                <a:spcPct val="100000"/>
              </a:lnSpc>
              <a:spcBef>
                <a:spcPts val="600"/>
              </a:spcBef>
              <a:spcAft>
                <a:spcPts val="0"/>
              </a:spcAft>
              <a:buClrTx/>
              <a:buSzTx/>
              <a:buFontTx/>
              <a:buNone/>
            </a:pPr>
            <a:r>
              <a:rPr lang="en-US" altLang="zh-CN" sz="1000" i="1" dirty="0">
                <a:latin typeface="微软雅黑" panose="020B0503020204020204" pitchFamily="34" charset="-122"/>
                <a:ea typeface="微软雅黑" panose="020B0503020204020204" pitchFamily="34" charset="-122"/>
                <a:sym typeface="+mn-ea"/>
              </a:rPr>
              <a:t>“</a:t>
            </a:r>
            <a:r>
              <a:rPr lang="zh-CN" altLang="en-US" sz="900" i="1" dirty="0"/>
              <a:t>他就默默的打开了音乐浏览器就可以放歌了，因为我们商务车后排还有一个显示器的嘛</a:t>
            </a:r>
            <a:r>
              <a:rPr lang="zh-CN" altLang="en-US" sz="900" i="1">
                <a:sym typeface="+mn-ea"/>
              </a:rPr>
              <a:t>”      </a:t>
            </a:r>
            <a:endParaRPr lang="en-US" altLang="zh-CN" sz="900" i="1">
              <a:sym typeface="+mn-ea"/>
            </a:endParaRPr>
          </a:p>
          <a:p>
            <a:pPr algn="l">
              <a:lnSpc>
                <a:spcPct val="100000"/>
              </a:lnSpc>
              <a:spcBef>
                <a:spcPts val="600"/>
              </a:spcBef>
              <a:spcAft>
                <a:spcPts val="0"/>
              </a:spcAft>
              <a:buClrTx/>
              <a:buSzTx/>
              <a:buFontTx/>
              <a:buNone/>
            </a:pPr>
            <a:r>
              <a:rPr lang="zh-CN" altLang="en-US" sz="900" i="1">
                <a:sym typeface="+mn-ea"/>
              </a:rPr>
              <a:t>          </a:t>
            </a:r>
            <a:r>
              <a:rPr lang="en-US" altLang="zh-CN" sz="900" i="1">
                <a:sym typeface="+mn-ea"/>
              </a:rPr>
              <a:t> --</a:t>
            </a:r>
            <a:r>
              <a:rPr lang="en-US" altLang="zh-CN" sz="900" i="1"/>
              <a:t>私人司机王先生 36岁</a:t>
            </a:r>
          </a:p>
        </p:txBody>
      </p:sp>
      <p:sp>
        <p:nvSpPr>
          <p:cNvPr id="6" name="文本框 5"/>
          <p:cNvSpPr txBox="1"/>
          <p:nvPr/>
        </p:nvSpPr>
        <p:spPr>
          <a:xfrm>
            <a:off x="4651177" y="4845235"/>
            <a:ext cx="2038350" cy="544830"/>
          </a:xfrm>
          <a:prstGeom prst="rect">
            <a:avLst/>
          </a:prstGeom>
          <a:noFill/>
        </p:spPr>
        <p:txBody>
          <a:bodyPr wrap="square">
            <a:spAutoFit/>
          </a:bodyPr>
          <a:lstStyle/>
          <a:p>
            <a:pPr>
              <a:spcBef>
                <a:spcPts val="0"/>
              </a:spcBef>
              <a:spcAft>
                <a:spcPts val="0"/>
              </a:spcAft>
              <a:buClrTx/>
              <a:buSzTx/>
            </a:pPr>
            <a:r>
              <a:rPr lang="en-US" altLang="zh-CN" sz="900" i="1" dirty="0">
                <a:latin typeface="微软雅黑" panose="020B0503020204020204" pitchFamily="34" charset="-122"/>
                <a:ea typeface="微软雅黑" panose="020B0503020204020204" pitchFamily="34" charset="-122"/>
                <a:sym typeface="+mn-ea"/>
              </a:rPr>
              <a:t>“</a:t>
            </a:r>
            <a:r>
              <a:rPr lang="zh-CN" altLang="en-US" sz="900" i="1" dirty="0"/>
              <a:t>夏天不愿意开</a:t>
            </a:r>
            <a:r>
              <a:rPr lang="zh-CN" altLang="en-US" sz="900" i="1"/>
              <a:t>空调，冬天</a:t>
            </a:r>
            <a:r>
              <a:rPr lang="zh-CN" altLang="en-US" sz="900" i="1" dirty="0"/>
              <a:t>不愿意开，他觉得那样耗电会很快，就不</a:t>
            </a:r>
            <a:r>
              <a:rPr lang="zh-CN" altLang="en-US" sz="900" i="1"/>
              <a:t>愿意开</a:t>
            </a:r>
            <a:r>
              <a:rPr lang="en-US" altLang="zh-CN" sz="900" i="1">
                <a:latin typeface="微软雅黑" panose="020B0503020204020204" pitchFamily="34" charset="-122"/>
                <a:ea typeface="微软雅黑" panose="020B0503020204020204" pitchFamily="34" charset="-122"/>
                <a:sym typeface="+mn-ea"/>
              </a:rPr>
              <a:t>”</a:t>
            </a:r>
            <a:r>
              <a:rPr lang="en-US" altLang="zh-CN" sz="900" i="1"/>
              <a:t>                                                      </a:t>
            </a:r>
          </a:p>
          <a:p>
            <a:pPr algn="r">
              <a:spcBef>
                <a:spcPts val="300"/>
              </a:spcBef>
              <a:spcAft>
                <a:spcPts val="0"/>
              </a:spcAft>
              <a:buClrTx/>
              <a:buSzTx/>
              <a:buFontTx/>
            </a:pPr>
            <a:r>
              <a:rPr lang="en-US" altLang="zh-CN" sz="900" i="1"/>
              <a:t>              -- 老师王女士（专车） 25岁</a:t>
            </a:r>
          </a:p>
        </p:txBody>
      </p:sp>
      <p:sp>
        <p:nvSpPr>
          <p:cNvPr id="7" name="文本框 6"/>
          <p:cNvSpPr txBox="1"/>
          <p:nvPr/>
        </p:nvSpPr>
        <p:spPr>
          <a:xfrm>
            <a:off x="4597881" y="4102032"/>
            <a:ext cx="2037715" cy="486410"/>
          </a:xfrm>
          <a:prstGeom prst="rect">
            <a:avLst/>
          </a:prstGeom>
          <a:noFill/>
        </p:spPr>
        <p:txBody>
          <a:bodyPr wrap="square">
            <a:noAutofit/>
          </a:bodyPr>
          <a:lstStyle/>
          <a:p>
            <a:pPr indent="0">
              <a:lnSpc>
                <a:spcPct val="150000"/>
              </a:lnSpc>
              <a:buFont typeface="+mj-lt"/>
              <a:buNone/>
            </a:pPr>
            <a:r>
              <a:rPr lang="en-US" altLang="zh-CN" sz="900" i="1" dirty="0">
                <a:latin typeface="微软雅黑" panose="020B0503020204020204" pitchFamily="34" charset="-122"/>
                <a:ea typeface="微软雅黑" panose="020B0503020204020204" pitchFamily="34" charset="-122"/>
                <a:sym typeface="+mn-ea"/>
              </a:rPr>
              <a:t>“</a:t>
            </a:r>
            <a:r>
              <a:rPr lang="zh-CN" altLang="en-US" sz="900" i="1" dirty="0"/>
              <a:t>特别年纪大的，开高一点温度</a:t>
            </a:r>
            <a:r>
              <a:rPr lang="en-US" altLang="zh-CN" sz="900" i="1">
                <a:latin typeface="微软雅黑" panose="020B0503020204020204" pitchFamily="34" charset="-122"/>
                <a:ea typeface="微软雅黑" panose="020B0503020204020204" pitchFamily="34" charset="-122"/>
                <a:sym typeface="+mn-ea"/>
              </a:rPr>
              <a:t>”</a:t>
            </a:r>
            <a:r>
              <a:rPr lang="en-US" altLang="zh-CN" sz="900" i="1" dirty="0"/>
              <a:t>                  </a:t>
            </a:r>
          </a:p>
          <a:p>
            <a:pPr indent="0">
              <a:lnSpc>
                <a:spcPct val="150000"/>
              </a:lnSpc>
              <a:buFont typeface="+mj-lt"/>
              <a:buNone/>
            </a:pPr>
            <a:r>
              <a:rPr lang="en-US" altLang="zh-CN" sz="900" i="1" dirty="0"/>
              <a:t>                     </a:t>
            </a:r>
            <a:r>
              <a:rPr lang="en-US" altLang="zh-CN" sz="900" i="1"/>
              <a:t> --快车司机戴女士 35岁</a:t>
            </a:r>
            <a:r>
              <a:rPr lang="en-US" altLang="zh-CN" sz="900" i="1"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行程控制权</a:t>
            </a:r>
          </a:p>
        </p:txBody>
      </p:sp>
      <p:sp>
        <p:nvSpPr>
          <p:cNvPr id="16" name="文本占位符 4"/>
          <p:cNvSpPr txBox="1"/>
          <p:nvPr/>
        </p:nvSpPr>
        <p:spPr>
          <a:xfrm>
            <a:off x="3606031" y="1422180"/>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行车</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控</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制权</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nvSpPr>
        <p:spPr>
          <a:xfrm>
            <a:off x="430628" y="2444533"/>
            <a:ext cx="1525188" cy="393954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路线控制</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车辆控制</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360934" y="1383248"/>
            <a:ext cx="135799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17034" y="1415135"/>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718924" y="19070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196957"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97877" y="1382669"/>
            <a:ext cx="152518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5634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2811600" y="1938770"/>
            <a:ext cx="1667444" cy="261610"/>
          </a:xfrm>
          <a:prstGeom prst="rect">
            <a:avLst/>
          </a:prstGeom>
          <a:noFill/>
        </p:spPr>
        <p:txBody>
          <a:bodyPr wrap="none" rtlCol="0">
            <a:spAutoFit/>
          </a:bodyPr>
          <a:lstStyle/>
          <a:p>
            <a:pPr marL="171450" indent="-171450">
              <a:buFont typeface="Wingdings" panose="05000000000000000000" pitchFamily="2" charset="2"/>
              <a:buChar char="Ø"/>
            </a:pPr>
            <a:r>
              <a:rPr lang="en-US" altLang="zh-CN" sz="1100" b="1" dirty="0"/>
              <a:t>Robotaxi</a:t>
            </a:r>
            <a:r>
              <a:rPr lang="zh-CN" altLang="en-US" sz="1100" b="1" dirty="0"/>
              <a:t>路线不可控</a:t>
            </a:r>
          </a:p>
        </p:txBody>
      </p:sp>
      <p:cxnSp>
        <p:nvCxnSpPr>
          <p:cNvPr id="66" name="直接连接符 65"/>
          <p:cNvCxnSpPr>
            <a:cxnSpLocks/>
          </p:cNvCxnSpPr>
          <p:nvPr/>
        </p:nvCxnSpPr>
        <p:spPr>
          <a:xfrm>
            <a:off x="514350" y="4043834"/>
            <a:ext cx="6548612" cy="23228"/>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477626" y="5378743"/>
            <a:ext cx="4510586"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乘客对</a:t>
            </a:r>
            <a:r>
              <a:rPr lang="en-US" altLang="zh-CN" sz="1050" dirty="0"/>
              <a:t>Robotaxi Agent</a:t>
            </a:r>
            <a:r>
              <a:rPr lang="zh-CN" altLang="en-US" sz="1050" dirty="0"/>
              <a:t>具有全面的行程控制权，在安全合规下</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乘车习惯与私家车乘车习惯能够打通，如乘车温度，音乐，座椅位置，座椅温度等。</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33" name="文本框 32"/>
          <p:cNvSpPr txBox="1"/>
          <p:nvPr/>
        </p:nvSpPr>
        <p:spPr>
          <a:xfrm>
            <a:off x="2811600" y="2124710"/>
            <a:ext cx="2131695" cy="105918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不能切换高速与不同道路</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无法绕开拥堵路段</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无法选择路线偏好（最短距离、最少红绿灯灯）</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无法显示路况</a:t>
            </a:r>
          </a:p>
        </p:txBody>
      </p:sp>
      <p:sp>
        <p:nvSpPr>
          <p:cNvPr id="52" name="文本框 51"/>
          <p:cNvSpPr txBox="1"/>
          <p:nvPr/>
        </p:nvSpPr>
        <p:spPr>
          <a:xfrm>
            <a:off x="4867200" y="1920595"/>
            <a:ext cx="2090637" cy="261610"/>
          </a:xfrm>
          <a:prstGeom prst="rect">
            <a:avLst/>
          </a:prstGeom>
          <a:noFill/>
        </p:spPr>
        <p:txBody>
          <a:bodyPr wrap="none" rtlCol="0">
            <a:spAutoFit/>
          </a:bodyPr>
          <a:lstStyle/>
          <a:p>
            <a:pPr marL="171450" indent="-171450">
              <a:buFont typeface="Wingdings" panose="05000000000000000000" pitchFamily="2" charset="2"/>
              <a:buChar char="Ø"/>
            </a:pPr>
            <a:r>
              <a:rPr lang="en-US" altLang="zh-CN" sz="1100" b="1" dirty="0"/>
              <a:t>Robotaxi</a:t>
            </a:r>
            <a:r>
              <a:rPr lang="zh-CN" altLang="en-US" sz="1100" b="1" dirty="0"/>
              <a:t>无法应对突发状况</a:t>
            </a:r>
          </a:p>
        </p:txBody>
      </p:sp>
      <p:sp>
        <p:nvSpPr>
          <p:cNvPr id="54" name="文本框 53"/>
          <p:cNvSpPr txBox="1"/>
          <p:nvPr/>
        </p:nvSpPr>
        <p:spPr>
          <a:xfrm>
            <a:off x="4867200" y="2134689"/>
            <a:ext cx="2201915" cy="67183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遇到碰瓷灯，系统无法主动告知用户或提供替代方案</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用户很茫然，不知道如何处理</a:t>
            </a:r>
            <a:endParaRPr lang="en-US" altLang="zh-CN" sz="1050" dirty="0"/>
          </a:p>
        </p:txBody>
      </p:sp>
      <p:sp>
        <p:nvSpPr>
          <p:cNvPr id="3" name="文本框 2"/>
          <p:cNvSpPr txBox="1"/>
          <p:nvPr/>
        </p:nvSpPr>
        <p:spPr>
          <a:xfrm>
            <a:off x="7207200" y="2875122"/>
            <a:ext cx="723275" cy="253916"/>
          </a:xfrm>
          <a:prstGeom prst="rect">
            <a:avLst/>
          </a:prstGeom>
          <a:noFill/>
        </p:spPr>
        <p:txBody>
          <a:bodyPr wrap="none" rtlCol="0">
            <a:spAutoFit/>
          </a:bodyPr>
          <a:lstStyle/>
          <a:p>
            <a:r>
              <a:rPr lang="zh-CN" altLang="en-US" sz="1050" b="1" dirty="0"/>
              <a:t>机会点：</a:t>
            </a:r>
          </a:p>
        </p:txBody>
      </p:sp>
      <p:sp>
        <p:nvSpPr>
          <p:cNvPr id="4" name="文本框 3"/>
          <p:cNvSpPr txBox="1"/>
          <p:nvPr/>
        </p:nvSpPr>
        <p:spPr>
          <a:xfrm>
            <a:off x="7230019" y="5047106"/>
            <a:ext cx="588623" cy="253916"/>
          </a:xfrm>
          <a:prstGeom prst="rect">
            <a:avLst/>
          </a:prstGeom>
          <a:noFill/>
        </p:spPr>
        <p:txBody>
          <a:bodyPr wrap="none" rtlCol="0">
            <a:spAutoFit/>
          </a:bodyPr>
          <a:lstStyle/>
          <a:p>
            <a:r>
              <a:rPr lang="zh-CN" altLang="en-US" sz="1050" b="1" dirty="0"/>
              <a:t>展望：</a:t>
            </a:r>
          </a:p>
        </p:txBody>
      </p:sp>
      <p:sp>
        <p:nvSpPr>
          <p:cNvPr id="5" name="文本框 4"/>
          <p:cNvSpPr txBox="1"/>
          <p:nvPr/>
        </p:nvSpPr>
        <p:spPr>
          <a:xfrm>
            <a:off x="7230019" y="185026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1" name="文本框 10"/>
          <p:cNvSpPr txBox="1"/>
          <p:nvPr/>
        </p:nvSpPr>
        <p:spPr>
          <a:xfrm>
            <a:off x="1527783" y="2702488"/>
            <a:ext cx="1119699" cy="738664"/>
          </a:xfrm>
          <a:prstGeom prst="rect">
            <a:avLst/>
          </a:prstGeom>
          <a:noFill/>
        </p:spPr>
        <p:txBody>
          <a:bodyPr wrap="square" rtlCol="0">
            <a:spAutoFit/>
          </a:bodyPr>
          <a:lstStyle/>
          <a:p>
            <a:r>
              <a:rPr lang="en-US" altLang="zh-CN" sz="1050" dirty="0"/>
              <a:t>Robotaxi</a:t>
            </a:r>
            <a:r>
              <a:rPr lang="zh-CN" altLang="en-US" sz="1050" dirty="0"/>
              <a:t>用户无法参与行程调整，只能固定路线，不够灵活</a:t>
            </a:r>
          </a:p>
        </p:txBody>
      </p:sp>
      <p:sp>
        <p:nvSpPr>
          <p:cNvPr id="17" name="文本框 16"/>
          <p:cNvSpPr txBox="1"/>
          <p:nvPr/>
        </p:nvSpPr>
        <p:spPr>
          <a:xfrm>
            <a:off x="1502518" y="4597944"/>
            <a:ext cx="1060904" cy="577081"/>
          </a:xfrm>
          <a:prstGeom prst="rect">
            <a:avLst/>
          </a:prstGeom>
          <a:noFill/>
        </p:spPr>
        <p:txBody>
          <a:bodyPr wrap="square">
            <a:spAutoFit/>
          </a:bodyPr>
          <a:lstStyle/>
          <a:p>
            <a:r>
              <a:rPr lang="en-US" altLang="zh-CN" sz="1050" dirty="0"/>
              <a:t>Robotaxi</a:t>
            </a:r>
            <a:r>
              <a:rPr lang="zh-CN" altLang="en-US" sz="1050" dirty="0"/>
              <a:t>车内环境控制不够个性化</a:t>
            </a:r>
          </a:p>
        </p:txBody>
      </p:sp>
      <p:sp>
        <p:nvSpPr>
          <p:cNvPr id="19" name="文本框 18"/>
          <p:cNvSpPr txBox="1"/>
          <p:nvPr/>
        </p:nvSpPr>
        <p:spPr>
          <a:xfrm>
            <a:off x="2812755" y="4229575"/>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习惯不能记忆</a:t>
            </a:r>
          </a:p>
        </p:txBody>
      </p:sp>
      <p:sp>
        <p:nvSpPr>
          <p:cNvPr id="20" name="文本框 19"/>
          <p:cNvSpPr txBox="1"/>
          <p:nvPr/>
        </p:nvSpPr>
        <p:spPr>
          <a:xfrm>
            <a:off x="4867200" y="4229575"/>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不能一键完成</a:t>
            </a:r>
          </a:p>
        </p:txBody>
      </p:sp>
      <p:sp>
        <p:nvSpPr>
          <p:cNvPr id="21" name="文本框 20"/>
          <p:cNvSpPr txBox="1"/>
          <p:nvPr/>
        </p:nvSpPr>
        <p:spPr>
          <a:xfrm>
            <a:off x="2811600" y="4468404"/>
            <a:ext cx="1999259" cy="47815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喜欢温度，座椅位置，播放音乐都不能记忆</a:t>
            </a:r>
          </a:p>
        </p:txBody>
      </p:sp>
      <p:sp>
        <p:nvSpPr>
          <p:cNvPr id="23" name="文本框 22"/>
          <p:cNvSpPr txBox="1"/>
          <p:nvPr/>
        </p:nvSpPr>
        <p:spPr>
          <a:xfrm>
            <a:off x="4867200" y="4462390"/>
            <a:ext cx="1999259" cy="47815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希望一键到达，自己想要最佳环境</a:t>
            </a:r>
          </a:p>
        </p:txBody>
      </p:sp>
      <p:sp>
        <p:nvSpPr>
          <p:cNvPr id="39" name="文本框 38"/>
          <p:cNvSpPr txBox="1"/>
          <p:nvPr/>
        </p:nvSpPr>
        <p:spPr>
          <a:xfrm>
            <a:off x="7449766" y="2142145"/>
            <a:ext cx="4510586" cy="846386"/>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a:t>
            </a:r>
            <a:r>
              <a:rPr lang="zh-CN" altLang="en-US" sz="1050" dirty="0"/>
              <a:t>能够语音指令进行车控，控制温度，座椅位置，播放音乐，但是无法记忆用户习惯，每次上车都需要重新设置</a:t>
            </a:r>
            <a:endParaRPr lang="en-US" altLang="zh-CN" sz="1050" dirty="0"/>
          </a:p>
          <a:p>
            <a:pPr marL="285750" indent="-285750">
              <a:spcBef>
                <a:spcPts val="600"/>
              </a:spcBef>
              <a:buFont typeface="Wingdings" panose="05000000000000000000" pitchFamily="2" charset="2"/>
              <a:buChar char="ü"/>
            </a:pPr>
            <a:r>
              <a:rPr lang="zh-CN" altLang="en-US" sz="1050" dirty="0"/>
              <a:t>智能座舱支持一句话的创建场景任务（理想等）</a:t>
            </a:r>
            <a:endParaRPr lang="en-US" altLang="zh-CN" sz="1050" dirty="0"/>
          </a:p>
          <a:p>
            <a:pPr marL="285750" indent="-285750">
              <a:buFont typeface="Wingdings" panose="05000000000000000000" pitchFamily="2" charset="2"/>
              <a:buChar char="ü"/>
            </a:pPr>
            <a:endParaRPr lang="zh-CN" altLang="en-US" sz="1050" dirty="0"/>
          </a:p>
        </p:txBody>
      </p:sp>
      <p:sp>
        <p:nvSpPr>
          <p:cNvPr id="40" name="文本框 39"/>
          <p:cNvSpPr txBox="1"/>
          <p:nvPr/>
        </p:nvSpPr>
        <p:spPr>
          <a:xfrm>
            <a:off x="7449766" y="3146671"/>
            <a:ext cx="4510586" cy="177741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能够显示实施路况，通过语音或者触控对路线的调整，如走高速，避开拥堵，最快路径。并实时在屏幕提醒另外更快路线选择，可根据变更后路线行驶</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司机</a:t>
            </a:r>
            <a:r>
              <a:rPr lang="en-US" altLang="zh-CN" sz="1050" dirty="0"/>
              <a:t>agent</a:t>
            </a:r>
            <a:r>
              <a:rPr lang="zh-CN" altLang="en-US" sz="1050" dirty="0"/>
              <a:t>对于碰瓷，碰撞等突发状况，能够有清晰应对措施，告知乘客，客服主动介入，避免乘客焦虑</a:t>
            </a:r>
          </a:p>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提供记忆用户车控的习惯，或者保存习惯，或者能够调出最后一次使用的习惯</a:t>
            </a:r>
            <a:endParaRPr lang="en-US" altLang="zh-CN" sz="1050" dirty="0"/>
          </a:p>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可支持一键舒适等常用操作的集合，或者一句化场景设置，并能通过语音二次调出</a:t>
            </a:r>
            <a:endParaRPr lang="en-US" altLang="zh-CN" sz="1050" dirty="0"/>
          </a:p>
        </p:txBody>
      </p:sp>
      <p:sp>
        <p:nvSpPr>
          <p:cNvPr id="6" name="文本框 5"/>
          <p:cNvSpPr txBox="1"/>
          <p:nvPr/>
        </p:nvSpPr>
        <p:spPr>
          <a:xfrm>
            <a:off x="4867200" y="3040380"/>
            <a:ext cx="2349500" cy="868045"/>
          </a:xfrm>
          <a:prstGeom prst="rect">
            <a:avLst/>
          </a:prstGeom>
        </p:spPr>
        <p:txBody>
          <a:bodyPr wrap="square">
            <a:spAutoFit/>
          </a:bodyPr>
          <a:lstStyle/>
          <a:p>
            <a:pPr algn="l" defTabSz="914400">
              <a:lnSpc>
                <a:spcPct val="100000"/>
              </a:lnSpc>
              <a:buClrTx/>
              <a:buSzTx/>
              <a:buFontTx/>
            </a:pPr>
            <a:r>
              <a:rPr lang="zh-CN" altLang="en-US" sz="800" i="1">
                <a:sym typeface="+mn-ea"/>
              </a:rPr>
              <a:t>“</a:t>
            </a:r>
            <a:r>
              <a:rPr lang="zh-CN" altLang="en-US" sz="800" i="1"/>
              <a:t>在一个路口就是遇到就是那种老头来碰瓷，对，就是他是喝了酒的，把那个自行车停在那个萝卜前面，然后跟我在那叫骂，对那个时候我就不知所措</a:t>
            </a:r>
            <a:r>
              <a:rPr lang="en-US" altLang="zh-CN" sz="800" i="1"/>
              <a:t>......</a:t>
            </a:r>
            <a:r>
              <a:rPr lang="zh-CN" altLang="en-US" sz="800" i="1"/>
              <a:t>我希望有客服能接入进来，但是那个时候又没有人能接入</a:t>
            </a:r>
            <a:r>
              <a:rPr lang="en-US" altLang="zh-CN" sz="800" i="1"/>
              <a:t>…</a:t>
            </a:r>
            <a:r>
              <a:rPr lang="zh-CN" altLang="en-US" sz="800" i="1">
                <a:sym typeface="+mn-ea"/>
              </a:rPr>
              <a:t>”</a:t>
            </a:r>
            <a:endParaRPr lang="zh-CN" altLang="en-US" sz="800" i="1"/>
          </a:p>
          <a:p>
            <a:pPr algn="r" defTabSz="914400">
              <a:lnSpc>
                <a:spcPct val="100000"/>
              </a:lnSpc>
              <a:spcBef>
                <a:spcPts val="300"/>
              </a:spcBef>
              <a:spcAft>
                <a:spcPts val="0"/>
              </a:spcAft>
              <a:buClrTx/>
              <a:buSzTx/>
              <a:buFontTx/>
            </a:pPr>
            <a:r>
              <a:rPr lang="en-US" altLang="zh-CN" sz="800" i="1"/>
              <a:t>                     --</a:t>
            </a:r>
            <a:r>
              <a:rPr lang="zh-CN" altLang="en-US" sz="800" i="1"/>
              <a:t>建材行业/行政喻先生 26岁</a:t>
            </a:r>
          </a:p>
        </p:txBody>
      </p:sp>
      <p:sp>
        <p:nvSpPr>
          <p:cNvPr id="7" name="文本框 6"/>
          <p:cNvSpPr txBox="1"/>
          <p:nvPr/>
        </p:nvSpPr>
        <p:spPr>
          <a:xfrm>
            <a:off x="2811600" y="3174365"/>
            <a:ext cx="1934845" cy="869469"/>
          </a:xfrm>
          <a:prstGeom prst="rect">
            <a:avLst/>
          </a:prstGeom>
          <a:noFill/>
        </p:spPr>
        <p:txBody>
          <a:bodyPr wrap="square" rtlCol="0" anchor="t">
            <a:spAutoFit/>
          </a:bodyPr>
          <a:lstStyle/>
          <a:p>
            <a:pPr algn="l">
              <a:buClrTx/>
              <a:buSzTx/>
              <a:buFontTx/>
            </a:pPr>
            <a:r>
              <a:rPr lang="zh-CN" altLang="en-US" sz="800" i="1"/>
              <a:t>“路线的话，我也选择不了，我在高德上打网约车，我可以先选路线再选择叫车，如果说我上了车之后，我还可以跟师傅交流，说你可以走哪里会近一些，但是我跟萝卜就没法做这个效率的提升”</a:t>
            </a:r>
          </a:p>
          <a:p>
            <a:pPr algn="r" defTabSz="914400">
              <a:lnSpc>
                <a:spcPct val="100000"/>
              </a:lnSpc>
              <a:spcBef>
                <a:spcPts val="300"/>
              </a:spcBef>
              <a:spcAft>
                <a:spcPts val="0"/>
              </a:spcAft>
              <a:buClrTx/>
              <a:buSzTx/>
              <a:buFontTx/>
            </a:pPr>
            <a:r>
              <a:rPr lang="zh-CN" altLang="en-US" sz="800" i="1">
                <a:sym typeface="+mn-ea"/>
              </a:rPr>
              <a:t> --建材行业/行政喻先生 26岁</a:t>
            </a:r>
            <a:endParaRPr lang="zh-CN" altLang="en-US" sz="800" i="1"/>
          </a:p>
        </p:txBody>
      </p:sp>
      <p:sp>
        <p:nvSpPr>
          <p:cNvPr id="8" name="文本框 7"/>
          <p:cNvSpPr txBox="1"/>
          <p:nvPr/>
        </p:nvSpPr>
        <p:spPr>
          <a:xfrm>
            <a:off x="2811600" y="4960800"/>
            <a:ext cx="1845310" cy="1114425"/>
          </a:xfrm>
          <a:prstGeom prst="rect">
            <a:avLst/>
          </a:prstGeom>
          <a:noFill/>
        </p:spPr>
        <p:txBody>
          <a:bodyPr wrap="square" rtlCol="0" anchor="t">
            <a:spAutoFit/>
          </a:bodyPr>
          <a:lstStyle/>
          <a:p>
            <a:pPr algn="l" defTabSz="914400">
              <a:lnSpc>
                <a:spcPct val="100000"/>
              </a:lnSpc>
              <a:buClrTx/>
              <a:buSzTx/>
              <a:buFontTx/>
            </a:pPr>
            <a:r>
              <a:rPr lang="en-US" altLang="zh-CN" sz="800" i="1">
                <a:latin typeface="+mj-ea"/>
                <a:ea typeface="+mj-ea"/>
                <a:cs typeface="+mj-ea"/>
              </a:rPr>
              <a:t>“</a:t>
            </a:r>
            <a:r>
              <a:rPr lang="zh-CN" altLang="en-US" sz="800" i="1"/>
              <a:t>我其实每次习惯都是一样的，我都会打开那个座椅加热和座椅按摩，还有那个小憩模式，就是把那个座椅往后靠，但是这个</a:t>
            </a:r>
            <a:r>
              <a:rPr lang="en-US" altLang="zh-CN" sz="800" i="1"/>
              <a:t>…</a:t>
            </a:r>
            <a:r>
              <a:rPr lang="zh-CN" altLang="en-US" sz="800" i="1"/>
              <a:t>他每次都是要自己再去跟萝卜说，就是‘萝卜你好’，然后跟他说一系列的，他才会到那个模式”</a:t>
            </a:r>
          </a:p>
          <a:p>
            <a:pPr algn="r" defTabSz="914400">
              <a:lnSpc>
                <a:spcPct val="100000"/>
              </a:lnSpc>
              <a:spcBef>
                <a:spcPts val="300"/>
              </a:spcBef>
              <a:spcAft>
                <a:spcPts val="0"/>
              </a:spcAft>
              <a:buClrTx/>
              <a:buSzTx/>
              <a:buFontTx/>
            </a:pPr>
            <a:r>
              <a:rPr lang="zh-CN" altLang="en-US" sz="800" i="1">
                <a:sym typeface="+mn-ea"/>
              </a:rPr>
              <a:t> </a:t>
            </a:r>
            <a:r>
              <a:rPr lang="en-US" altLang="zh-CN" sz="800" i="1">
                <a:sym typeface="+mn-ea"/>
              </a:rPr>
              <a:t>          </a:t>
            </a:r>
            <a:r>
              <a:rPr lang="zh-CN" altLang="en-US" sz="800" i="1">
                <a:sym typeface="+mn-ea"/>
              </a:rPr>
              <a:t>--建材行业/行政喻先生 26岁</a:t>
            </a:r>
            <a:endParaRPr lang="zh-CN" altLang="en-US" sz="800" i="1"/>
          </a:p>
        </p:txBody>
      </p:sp>
      <p:sp>
        <p:nvSpPr>
          <p:cNvPr id="9" name="文本框 8"/>
          <p:cNvSpPr txBox="1"/>
          <p:nvPr/>
        </p:nvSpPr>
        <p:spPr>
          <a:xfrm>
            <a:off x="4867200" y="4960800"/>
            <a:ext cx="2376805" cy="868045"/>
          </a:xfrm>
          <a:prstGeom prst="rect">
            <a:avLst/>
          </a:prstGeom>
        </p:spPr>
        <p:txBody>
          <a:bodyPr wrap="square">
            <a:spAutoFit/>
          </a:bodyPr>
          <a:lstStyle/>
          <a:p>
            <a:pPr algn="l" defTabSz="914400">
              <a:lnSpc>
                <a:spcPct val="100000"/>
              </a:lnSpc>
              <a:buClrTx/>
              <a:buSzTx/>
              <a:buFontTx/>
            </a:pPr>
            <a:r>
              <a:rPr lang="zh-CN" altLang="en-US" sz="800" i="1"/>
              <a:t>“我是觉得如果我的乘坐习惯一直都是那样的话，他可以给我一个预设的选项，我如果点了确定，他就会按我经常乘坐的那个模式来跟我调好，点不确定，他就按一个普通车给我就放在那，什么都不调”</a:t>
            </a:r>
          </a:p>
          <a:p>
            <a:pPr algn="r" defTabSz="914400">
              <a:lnSpc>
                <a:spcPct val="100000"/>
              </a:lnSpc>
              <a:spcBef>
                <a:spcPts val="300"/>
              </a:spcBef>
              <a:spcAft>
                <a:spcPts val="0"/>
              </a:spcAft>
              <a:buClrTx/>
              <a:buSzTx/>
              <a:buFontTx/>
            </a:pPr>
            <a:r>
              <a:rPr lang="en-US" altLang="zh-CN" sz="800" i="1">
                <a:sym typeface="+mn-ea"/>
              </a:rPr>
              <a:t>                            --</a:t>
            </a:r>
            <a:r>
              <a:rPr lang="zh-CN" altLang="en-US" sz="800" i="1">
                <a:sym typeface="+mn-ea"/>
              </a:rPr>
              <a:t>建材行业/行政喻先生 26岁</a:t>
            </a:r>
            <a:endParaRPr lang="zh-CN" altLang="en-US" sz="800" i="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行程娱乐（</a:t>
            </a:r>
            <a:r>
              <a:rPr lang="en-US" altLang="zh-CN" dirty="0"/>
              <a:t>Robotaxi</a:t>
            </a:r>
            <a:r>
              <a:rPr lang="zh-CN" altLang="en-US" dirty="0"/>
              <a:t>）</a:t>
            </a:r>
          </a:p>
        </p:txBody>
      </p:sp>
      <p:sp>
        <p:nvSpPr>
          <p:cNvPr id="16" name="文本占位符 4"/>
          <p:cNvSpPr txBox="1"/>
          <p:nvPr/>
        </p:nvSpPr>
        <p:spPr>
          <a:xfrm>
            <a:off x="3565520" y="1422180"/>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行车</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娱乐</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nvSpPr>
        <p:spPr>
          <a:xfrm>
            <a:off x="430628" y="2444533"/>
            <a:ext cx="1525188" cy="367793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行车</a:t>
            </a:r>
            <a:r>
              <a:rPr lang="en-US" altLang="zh-CN" sz="1200" b="1" dirty="0">
                <a:solidFill>
                  <a:srgbClr val="000000"/>
                </a:solidFill>
                <a:latin typeface="微软雅黑" panose="020B0503020204020204" pitchFamily="34" charset="-122"/>
                <a:ea typeface="微软雅黑" panose="020B0503020204020204" pitchFamily="34" charset="-122"/>
              </a:rPr>
              <a:t>K</a:t>
            </a:r>
            <a:r>
              <a:rPr lang="zh-CN" altLang="en-US" sz="1200" b="1" dirty="0">
                <a:solidFill>
                  <a:srgbClr val="000000"/>
                </a:solidFill>
                <a:latin typeface="微软雅黑" panose="020B0503020204020204" pitchFamily="34" charset="-122"/>
                <a:ea typeface="微软雅黑" panose="020B0503020204020204" pitchFamily="34" charset="-122"/>
              </a:rPr>
              <a:t>个</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行车打游戏</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227826" y="1383248"/>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57545" y="1415135"/>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718924" y="19070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953117" y="18024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97877" y="1382669"/>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5634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6" name="直接连接符 65"/>
          <p:cNvCxnSpPr>
            <a:cxnSpLocks/>
          </p:cNvCxnSpPr>
          <p:nvPr/>
        </p:nvCxnSpPr>
        <p:spPr>
          <a:xfrm>
            <a:off x="463913" y="4043160"/>
            <a:ext cx="6427599" cy="23902"/>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2710800" y="2236470"/>
            <a:ext cx="1800860" cy="17068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有运营活动比较好，可以获得优惠卷</a:t>
            </a:r>
            <a:endParaRPr lang="en-US" altLang="zh-CN" sz="1000" dirty="0"/>
          </a:p>
          <a:p>
            <a:pPr marL="171450" indent="-171450">
              <a:lnSpc>
                <a:spcPct val="150000"/>
              </a:lnSpc>
              <a:buFont typeface="Arial" panose="020B0604020202020204" pitchFamily="34" charset="0"/>
              <a:buChar char="•"/>
            </a:pPr>
            <a:r>
              <a:rPr lang="zh-CN" altLang="en-US" sz="1000" dirty="0"/>
              <a:t>可分享到小红书等</a:t>
            </a:r>
            <a:endParaRPr lang="en-US" altLang="zh-CN" sz="1000" dirty="0"/>
          </a:p>
          <a:p>
            <a:pPr marL="171450" indent="-171450">
              <a:lnSpc>
                <a:spcPct val="150000"/>
              </a:lnSpc>
              <a:buFont typeface="Arial" panose="020B0604020202020204" pitchFamily="34" charset="0"/>
              <a:buChar char="•"/>
            </a:pPr>
            <a:r>
              <a:rPr lang="zh-CN" altLang="en-US" sz="1000" dirty="0"/>
              <a:t>如果能扫描提供麦克风，冰箱里有冷饮更受年轻人喜欢，如果能够营造出</a:t>
            </a:r>
            <a:r>
              <a:rPr lang="en-US" altLang="zh-CN" sz="1000" dirty="0"/>
              <a:t>k</a:t>
            </a:r>
            <a:r>
              <a:rPr lang="zh-CN" altLang="en-US" sz="1000" dirty="0"/>
              <a:t>歌氛围，愿意付费</a:t>
            </a:r>
            <a:endParaRPr lang="en-US" altLang="zh-CN" sz="1000" dirty="0"/>
          </a:p>
        </p:txBody>
      </p:sp>
      <p:sp>
        <p:nvSpPr>
          <p:cNvPr id="3" name="文本框 2"/>
          <p:cNvSpPr txBox="1"/>
          <p:nvPr/>
        </p:nvSpPr>
        <p:spPr>
          <a:xfrm>
            <a:off x="6989986" y="3497453"/>
            <a:ext cx="723275" cy="253916"/>
          </a:xfrm>
          <a:prstGeom prst="rect">
            <a:avLst/>
          </a:prstGeom>
          <a:noFill/>
        </p:spPr>
        <p:txBody>
          <a:bodyPr wrap="none" rtlCol="0">
            <a:spAutoFit/>
          </a:bodyPr>
          <a:lstStyle/>
          <a:p>
            <a:r>
              <a:rPr lang="zh-CN" altLang="en-US" sz="1050" b="1" dirty="0"/>
              <a:t>机会点：</a:t>
            </a:r>
          </a:p>
        </p:txBody>
      </p:sp>
      <p:sp>
        <p:nvSpPr>
          <p:cNvPr id="4" name="文本框 3"/>
          <p:cNvSpPr txBox="1"/>
          <p:nvPr/>
        </p:nvSpPr>
        <p:spPr>
          <a:xfrm>
            <a:off x="6953117" y="5004225"/>
            <a:ext cx="588623" cy="253916"/>
          </a:xfrm>
          <a:prstGeom prst="rect">
            <a:avLst/>
          </a:prstGeom>
          <a:noFill/>
        </p:spPr>
        <p:txBody>
          <a:bodyPr wrap="none" rtlCol="0">
            <a:spAutoFit/>
          </a:bodyPr>
          <a:lstStyle/>
          <a:p>
            <a:r>
              <a:rPr lang="zh-CN" altLang="en-US" sz="1050" b="1" dirty="0"/>
              <a:t>展望：</a:t>
            </a:r>
          </a:p>
        </p:txBody>
      </p:sp>
      <p:sp>
        <p:nvSpPr>
          <p:cNvPr id="5" name="文本框 4"/>
          <p:cNvSpPr txBox="1"/>
          <p:nvPr/>
        </p:nvSpPr>
        <p:spPr>
          <a:xfrm>
            <a:off x="6953117" y="182460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1" name="文本框 10"/>
          <p:cNvSpPr txBox="1"/>
          <p:nvPr/>
        </p:nvSpPr>
        <p:spPr>
          <a:xfrm>
            <a:off x="1527783" y="2702488"/>
            <a:ext cx="1119699" cy="738664"/>
          </a:xfrm>
          <a:prstGeom prst="rect">
            <a:avLst/>
          </a:prstGeom>
          <a:noFill/>
        </p:spPr>
        <p:txBody>
          <a:bodyPr wrap="square" rtlCol="0">
            <a:spAutoFit/>
          </a:bodyPr>
          <a:lstStyle/>
          <a:p>
            <a:r>
              <a:rPr lang="en-US" altLang="zh-CN" sz="1050" dirty="0"/>
              <a:t>Robotaxi</a:t>
            </a:r>
            <a:r>
              <a:rPr lang="zh-CN" altLang="en-US" sz="1050" dirty="0"/>
              <a:t>用户更好私密性与自由感，作为娱乐空间使用</a:t>
            </a:r>
          </a:p>
        </p:txBody>
      </p:sp>
      <p:sp>
        <p:nvSpPr>
          <p:cNvPr id="17" name="文本框 16"/>
          <p:cNvSpPr txBox="1"/>
          <p:nvPr/>
        </p:nvSpPr>
        <p:spPr>
          <a:xfrm>
            <a:off x="1502517" y="4597944"/>
            <a:ext cx="1178961" cy="577081"/>
          </a:xfrm>
          <a:prstGeom prst="rect">
            <a:avLst/>
          </a:prstGeom>
          <a:noFill/>
        </p:spPr>
        <p:txBody>
          <a:bodyPr wrap="square">
            <a:spAutoFit/>
          </a:bodyPr>
          <a:lstStyle/>
          <a:p>
            <a:r>
              <a:rPr lang="en-US" altLang="zh-CN" sz="1050" dirty="0"/>
              <a:t>Robotaxi</a:t>
            </a:r>
            <a:r>
              <a:rPr lang="zh-CN" altLang="en-US" sz="1050" dirty="0"/>
              <a:t>用户希望用后排屏进行投屏打游戏</a:t>
            </a:r>
          </a:p>
        </p:txBody>
      </p:sp>
      <p:sp>
        <p:nvSpPr>
          <p:cNvPr id="19" name="文本框 18"/>
          <p:cNvSpPr txBox="1"/>
          <p:nvPr/>
        </p:nvSpPr>
        <p:spPr>
          <a:xfrm>
            <a:off x="2710800" y="4275295"/>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可以像家里一样当做娱乐空间的使用</a:t>
            </a:r>
          </a:p>
        </p:txBody>
      </p:sp>
      <p:sp>
        <p:nvSpPr>
          <p:cNvPr id="21" name="文本框 20"/>
          <p:cNvSpPr txBox="1"/>
          <p:nvPr/>
        </p:nvSpPr>
        <p:spPr>
          <a:xfrm>
            <a:off x="2710800" y="4597944"/>
            <a:ext cx="3150822" cy="52655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在家里经常投屏打游戏，更有沉浸感</a:t>
            </a:r>
            <a:endParaRPr lang="en-US" altLang="zh-CN" sz="1000" dirty="0"/>
          </a:p>
          <a:p>
            <a:pPr marL="171450" indent="-171450">
              <a:lnSpc>
                <a:spcPct val="150000"/>
              </a:lnSpc>
              <a:buFont typeface="Arial" panose="020B0604020202020204" pitchFamily="34" charset="0"/>
              <a:buChar char="•"/>
            </a:pPr>
            <a:r>
              <a:rPr lang="en-US" altLang="zh-CN" sz="1000" dirty="0"/>
              <a:t>Robotaxi</a:t>
            </a:r>
            <a:r>
              <a:rPr lang="zh-CN" altLang="en-US" sz="1000" dirty="0"/>
              <a:t>的屏幕希望也可以投屏打游戏</a:t>
            </a:r>
            <a:endParaRPr lang="en-US" altLang="zh-CN" sz="1000" dirty="0"/>
          </a:p>
        </p:txBody>
      </p:sp>
      <p:sp>
        <p:nvSpPr>
          <p:cNvPr id="39" name="文本框 38"/>
          <p:cNvSpPr txBox="1"/>
          <p:nvPr/>
        </p:nvSpPr>
        <p:spPr>
          <a:xfrm>
            <a:off x="7452592" y="2045418"/>
            <a:ext cx="4510586" cy="1531188"/>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智能座舱全民</a:t>
            </a:r>
            <a:r>
              <a:rPr lang="en-US" altLang="zh-CN" sz="1050" dirty="0"/>
              <a:t>k</a:t>
            </a:r>
            <a:r>
              <a:rPr lang="zh-CN" altLang="en-US" sz="1050" dirty="0"/>
              <a:t>歌支持无麦</a:t>
            </a:r>
            <a:r>
              <a:rPr lang="en-US" altLang="zh-CN" sz="1050" dirty="0"/>
              <a:t>k</a:t>
            </a:r>
            <a:r>
              <a:rPr lang="zh-CN" altLang="en-US" sz="1050" dirty="0"/>
              <a:t>歌，录制分享等</a:t>
            </a:r>
            <a:r>
              <a:rPr lang="en-US" altLang="zh-CN" sz="1050" dirty="0"/>
              <a:t>k</a:t>
            </a:r>
            <a:r>
              <a:rPr lang="zh-CN" altLang="en-US" sz="1050" dirty="0"/>
              <a:t>歌空间的体验，音质较好</a:t>
            </a:r>
            <a:endParaRPr lang="en-US" altLang="zh-CN" sz="1050" dirty="0"/>
          </a:p>
          <a:p>
            <a:pPr marL="285750" indent="-285750">
              <a:spcBef>
                <a:spcPts val="600"/>
              </a:spcBef>
              <a:buFont typeface="Wingdings" panose="05000000000000000000" pitchFamily="2" charset="2"/>
              <a:buChar char="ü"/>
            </a:pPr>
            <a:r>
              <a:rPr lang="zh-CN" altLang="en-US" sz="1050" dirty="0"/>
              <a:t>普遍都提供车载麦克风的商城配件</a:t>
            </a:r>
            <a:endParaRPr lang="en-US" altLang="zh-CN" sz="1050" dirty="0"/>
          </a:p>
          <a:p>
            <a:pPr marL="285750" indent="-285750">
              <a:spcBef>
                <a:spcPts val="600"/>
              </a:spcBef>
              <a:buFont typeface="Wingdings" panose="05000000000000000000" pitchFamily="2" charset="2"/>
              <a:buChar char="ü"/>
            </a:pPr>
            <a:r>
              <a:rPr lang="zh-CN" altLang="en-US" sz="1050" dirty="0"/>
              <a:t>智能座舱支持投屏或镜像等操作，</a:t>
            </a:r>
            <a:r>
              <a:rPr lang="en-US" altLang="zh-CN" sz="1050" dirty="0"/>
              <a:t>Robotaxi</a:t>
            </a:r>
            <a:r>
              <a:rPr lang="zh-CN" altLang="en-US" sz="1050" dirty="0"/>
              <a:t>不支持</a:t>
            </a:r>
            <a:endParaRPr lang="en-US" altLang="zh-CN" sz="1050" dirty="0"/>
          </a:p>
          <a:p>
            <a:pPr marL="285750" indent="-285750">
              <a:spcBef>
                <a:spcPts val="600"/>
              </a:spcBef>
              <a:buFont typeface="Wingdings" panose="05000000000000000000" pitchFamily="2" charset="2"/>
              <a:buChar char="ü"/>
            </a:pPr>
            <a:r>
              <a:rPr lang="zh-CN" altLang="en-US" sz="1050" dirty="0"/>
              <a:t>智能座舱也支持车载游戏，但车机专属的可玩性不足，丰富性也不够，</a:t>
            </a:r>
            <a:r>
              <a:rPr lang="en-US" altLang="zh-CN" sz="1050" dirty="0"/>
              <a:t>Robotaxi</a:t>
            </a:r>
            <a:r>
              <a:rPr lang="zh-CN" altLang="en-US" sz="1050" dirty="0"/>
              <a:t>未提供游戏</a:t>
            </a:r>
            <a:endParaRPr lang="en-US" altLang="zh-CN" sz="1050" dirty="0"/>
          </a:p>
          <a:p>
            <a:pPr marL="285750" indent="-285750">
              <a:spcBef>
                <a:spcPts val="600"/>
              </a:spcBef>
              <a:buFont typeface="Wingdings" panose="05000000000000000000" pitchFamily="2" charset="2"/>
              <a:buChar char="ü"/>
            </a:pPr>
            <a:r>
              <a:rPr lang="zh-CN" altLang="en-US" sz="1050" dirty="0"/>
              <a:t>车载冰箱很多车搭载</a:t>
            </a:r>
          </a:p>
        </p:txBody>
      </p:sp>
      <p:sp>
        <p:nvSpPr>
          <p:cNvPr id="6" name="文本框 5"/>
          <p:cNvSpPr txBox="1"/>
          <p:nvPr/>
        </p:nvSpPr>
        <p:spPr>
          <a:xfrm>
            <a:off x="2710800" y="1925925"/>
            <a:ext cx="17299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对于萝卜</a:t>
            </a:r>
            <a:r>
              <a:rPr lang="en-US" altLang="zh-CN" sz="1100" b="1" dirty="0"/>
              <a:t>K</a:t>
            </a:r>
            <a:r>
              <a:rPr lang="zh-CN" altLang="en-US" sz="1100" b="1" dirty="0"/>
              <a:t>歌满意度高</a:t>
            </a:r>
          </a:p>
        </p:txBody>
      </p:sp>
      <p:sp>
        <p:nvSpPr>
          <p:cNvPr id="8" name="文本框 7"/>
          <p:cNvSpPr txBox="1"/>
          <p:nvPr/>
        </p:nvSpPr>
        <p:spPr>
          <a:xfrm>
            <a:off x="7452592" y="3765085"/>
            <a:ext cx="4510586" cy="1215717"/>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将智能座舱的已有更多娱乐功能，迁移到</a:t>
            </a:r>
            <a:r>
              <a:rPr lang="en-US" altLang="zh-CN" sz="1050" dirty="0"/>
              <a:t>Robotaxi</a:t>
            </a:r>
            <a:r>
              <a:rPr lang="zh-CN" altLang="en-US" sz="1050" dirty="0"/>
              <a:t>的后排屏上，将基于后排屏为中心，打造成车载娱乐空间</a:t>
            </a:r>
            <a:endParaRPr lang="en-US" altLang="zh-CN" sz="1050" dirty="0"/>
          </a:p>
          <a:p>
            <a:pPr marL="285750" indent="-285750">
              <a:spcBef>
                <a:spcPts val="600"/>
              </a:spcBef>
              <a:buFont typeface="Wingdings" panose="05000000000000000000" pitchFamily="2" charset="2"/>
              <a:buChar char="ü"/>
            </a:pPr>
            <a:r>
              <a:rPr lang="zh-CN" altLang="en-US" sz="1050" dirty="0"/>
              <a:t>对于</a:t>
            </a:r>
            <a:r>
              <a:rPr lang="en-US" altLang="zh-CN" sz="1050" dirty="0"/>
              <a:t>Robotaxi</a:t>
            </a:r>
            <a:r>
              <a:rPr lang="zh-CN" altLang="en-US" sz="1050" dirty="0"/>
              <a:t>的专车等级，可提供沉浸式</a:t>
            </a:r>
            <a:r>
              <a:rPr lang="en-US" altLang="zh-CN" sz="1050" dirty="0"/>
              <a:t>k</a:t>
            </a:r>
            <a:r>
              <a:rPr lang="zh-CN" altLang="en-US" sz="1050" dirty="0"/>
              <a:t>歌场景，可扫描提供车载麦克风，车载冰箱中的冷饮，支持付费扫码支付开启，</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的后排屏支持投屏及使用车内音响，提供更沉浸服务，用户可以打游戏投屏，看片投屏</a:t>
            </a:r>
          </a:p>
        </p:txBody>
      </p:sp>
      <p:sp>
        <p:nvSpPr>
          <p:cNvPr id="9" name="文本框 8"/>
          <p:cNvSpPr txBox="1"/>
          <p:nvPr/>
        </p:nvSpPr>
        <p:spPr>
          <a:xfrm>
            <a:off x="7452592" y="5305946"/>
            <a:ext cx="4510586" cy="730969"/>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a:t>
            </a:r>
            <a:r>
              <a:rPr lang="zh-CN" altLang="en-US" sz="1050" dirty="0"/>
              <a:t>成为真正的放松及娱乐的移动空间，让出行不在枯燥</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分别</a:t>
            </a:r>
            <a:r>
              <a:rPr lang="en-US" altLang="zh-CN" sz="1050" dirty="0"/>
              <a:t>K</a:t>
            </a:r>
            <a:r>
              <a:rPr lang="zh-CN" altLang="en-US" sz="1050" dirty="0"/>
              <a:t>歌版，观影版，游戏版等车型，提供额外专属体验</a:t>
            </a:r>
            <a:endParaRPr lang="en-US" altLang="zh-CN" sz="1050" dirty="0"/>
          </a:p>
          <a:p>
            <a:pPr marL="285750" indent="-285750">
              <a:spcBef>
                <a:spcPts val="600"/>
              </a:spcBef>
              <a:buFont typeface="Wingdings" panose="05000000000000000000" pitchFamily="2" charset="2"/>
              <a:buChar char="ü"/>
            </a:pPr>
            <a:r>
              <a:rPr lang="zh-CN" altLang="en-US" sz="1050" dirty="0"/>
              <a:t>不同爱好的乘客，匹配不同娱乐属性的</a:t>
            </a:r>
            <a:r>
              <a:rPr lang="en-US" altLang="zh-CN" sz="1050" dirty="0"/>
              <a:t>Robotaxi</a:t>
            </a:r>
            <a:endParaRPr lang="zh-CN" altLang="en-US" sz="1050" dirty="0"/>
          </a:p>
        </p:txBody>
      </p:sp>
      <p:sp>
        <p:nvSpPr>
          <p:cNvPr id="7" name="文本框 6"/>
          <p:cNvSpPr txBox="1"/>
          <p:nvPr/>
        </p:nvSpPr>
        <p:spPr>
          <a:xfrm>
            <a:off x="4618356" y="2227278"/>
            <a:ext cx="2295525" cy="1815882"/>
          </a:xfrm>
          <a:prstGeom prst="rect">
            <a:avLst/>
          </a:prstGeom>
          <a:noFill/>
        </p:spPr>
        <p:txBody>
          <a:bodyPr wrap="square" rtlCol="0" anchor="t">
            <a:spAutoFit/>
          </a:bodyPr>
          <a:lstStyle/>
          <a:p>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我打无人车的话，有一个很核心的爽点，就是既不用和司机交流，也是一个比较密闭的私密空间，我想休息就休息，甚至能在车上唱会歌、看会电视</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00" i="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800" i="1">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就像我去</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 KTV </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的话，他们会有那种果盘，还有饮料，还有那些小吃之类的，如果真的想要坐那种车，那我觉得</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可能最少是</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 30 </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分钟到一到两个小时的长路程，那我就觉得你可以加更多，比如说车里面有冰箱，然后里面有一些水果的小果盘或者是冰镇的饮料，我扫码就拿，拿了多少自动扣费，然后再把麦克风打开，按小时计费</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p>
          <a:p>
            <a:pPr algn="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建材行业</a:t>
            </a: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行政喻先生</a:t>
            </a: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 26</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岁</a:t>
            </a:r>
            <a:endParaRPr lang="zh-CN" altLang="en-US" sz="800" i="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2710815" y="5283835"/>
            <a:ext cx="4204970" cy="830997"/>
          </a:xfrm>
          <a:prstGeom prst="rect">
            <a:avLst/>
          </a:prstGeom>
        </p:spPr>
        <p:txBody>
          <a:bodyPr wrap="square">
            <a:spAutoFit/>
          </a:bodyPr>
          <a:lstStyle/>
          <a:p>
            <a:pPr algn="l" defTabSz="914400">
              <a:lnSpc>
                <a:spcPct val="100000"/>
              </a:lnSpc>
              <a:buClrTx/>
              <a:buSzTx/>
              <a:buFontTx/>
            </a:pP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就是我如果说用豆包的话，比如说我打打游戏，以王者荣耀举例，我可以让豆包共享屏幕</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就相当于他就可以读我的屏幕，然后我就问他，我这局怎么打，他就会给我实时的一个反馈，原因是因为我给豆包了很特别高的权限，就是你都可以让他看你的手机屏幕了</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p>
          <a:p>
            <a:pPr algn="r" defTabSz="914400">
              <a:lnSpc>
                <a:spcPct val="100000"/>
              </a:lnSpc>
              <a:buClrTx/>
              <a:buSzTx/>
              <a:buFontTx/>
            </a:pP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建材行业</a:t>
            </a: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行政喻先生</a:t>
            </a: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 26</a:t>
            </a: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岁</a:t>
            </a:r>
            <a:endParaRPr lang="zh-CN" altLang="en-US" sz="800" i="1">
              <a:latin typeface="微软雅黑" panose="020B0503020204020204" pitchFamily="34" charset="-122"/>
              <a:ea typeface="微软雅黑" panose="020B0503020204020204" pitchFamily="34" charset="-122"/>
              <a:cs typeface="微软雅黑" panose="020B0503020204020204" pitchFamily="34" charset="-122"/>
            </a:endParaRPr>
          </a:p>
          <a:p>
            <a:pPr algn="l" defTabSz="914400">
              <a:lnSpc>
                <a:spcPct val="100000"/>
              </a:lnSpc>
              <a:buClrTx/>
              <a:buSzTx/>
              <a:buFontTx/>
            </a:pPr>
            <a:endParaRPr lang="en-US" altLang="zh-CN" sz="800" i="1">
              <a:latin typeface="微软雅黑" panose="020B0503020204020204" pitchFamily="34" charset="-122"/>
              <a:ea typeface="微软雅黑" panose="020B0503020204020204" pitchFamily="34" charset="-122"/>
              <a:cs typeface="微软雅黑" panose="020B0503020204020204" pitchFamily="34" charset="-122"/>
            </a:endParaRPr>
          </a:p>
          <a:p>
            <a:pPr algn="l" defTabSz="914400">
              <a:lnSpc>
                <a:spcPct val="100000"/>
              </a:lnSpc>
              <a:buClrTx/>
              <a:buSzTx/>
              <a:buFontTx/>
            </a:pPr>
            <a:endParaRPr lang="en-US" altLang="zh-CN" sz="800" i="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临时停车需求</a:t>
            </a:r>
          </a:p>
        </p:txBody>
      </p:sp>
      <p:sp>
        <p:nvSpPr>
          <p:cNvPr id="16" name="文本占位符 4"/>
          <p:cNvSpPr txBox="1"/>
          <p:nvPr/>
        </p:nvSpPr>
        <p:spPr>
          <a:xfrm>
            <a:off x="4251867"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临时停车需求</a:t>
            </a:r>
          </a:p>
        </p:txBody>
      </p:sp>
      <p:sp>
        <p:nvSpPr>
          <p:cNvPr id="10" name="文本框 9"/>
          <p:cNvSpPr txBox="1"/>
          <p:nvPr/>
        </p:nvSpPr>
        <p:spPr>
          <a:xfrm>
            <a:off x="424655" y="2348986"/>
            <a:ext cx="1525188" cy="412420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服务相关停靠，如身体不适</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购买停靠</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738417"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8446061"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410903" y="191355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175070" y="178274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171268"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769378"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723200" y="1938770"/>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临时接人</a:t>
            </a:r>
          </a:p>
        </p:txBody>
      </p:sp>
      <p:sp>
        <p:nvSpPr>
          <p:cNvPr id="15" name="文本框 14"/>
          <p:cNvSpPr txBox="1"/>
          <p:nvPr/>
        </p:nvSpPr>
        <p:spPr>
          <a:xfrm>
            <a:off x="3369600" y="1944369"/>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身体不适</a:t>
            </a:r>
          </a:p>
        </p:txBody>
      </p:sp>
      <p:sp>
        <p:nvSpPr>
          <p:cNvPr id="32" name="文本框 31"/>
          <p:cNvSpPr txBox="1"/>
          <p:nvPr/>
        </p:nvSpPr>
        <p:spPr>
          <a:xfrm>
            <a:off x="8642623" y="3263283"/>
            <a:ext cx="3416635" cy="233910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根据乘客状态，如醉酒晕车，不适，可语音指令找到路边停车，智驾判断哪里可安全停车，预计需要多久告知乘客</a:t>
            </a:r>
            <a:endParaRPr lang="en-US" altLang="zh-CN" sz="1050" dirty="0"/>
          </a:p>
          <a:p>
            <a:pPr marL="171450" indent="-171450">
              <a:spcBef>
                <a:spcPts val="600"/>
              </a:spcBef>
              <a:buFont typeface="Wingdings" panose="05000000000000000000" pitchFamily="2" charset="2"/>
              <a:buChar char="ü"/>
            </a:pPr>
            <a:r>
              <a:rPr lang="zh-CN" altLang="en-US" sz="1050" dirty="0"/>
              <a:t>智能监测判断乘客身体状态，乘客身体需要急救，系统立即拨打</a:t>
            </a:r>
            <a:r>
              <a:rPr lang="en-US" altLang="zh-CN" sz="1050" dirty="0"/>
              <a:t>120</a:t>
            </a:r>
            <a:r>
              <a:rPr lang="zh-CN" altLang="en-US" sz="1050" dirty="0"/>
              <a:t>，并靠边停车，并能跟</a:t>
            </a:r>
            <a:r>
              <a:rPr lang="en-US" altLang="zh-CN" sz="1050" dirty="0"/>
              <a:t>120</a:t>
            </a:r>
            <a:r>
              <a:rPr lang="zh-CN" altLang="en-US" sz="1050" dirty="0"/>
              <a:t>对话，告知位置与车牌号等信息</a:t>
            </a:r>
            <a:endParaRPr lang="en-US" altLang="zh-CN" sz="1050" dirty="0"/>
          </a:p>
          <a:p>
            <a:pPr marL="171450" indent="-171450">
              <a:spcBef>
                <a:spcPts val="600"/>
              </a:spcBef>
              <a:buFont typeface="Wingdings" panose="05000000000000000000" pitchFamily="2" charset="2"/>
              <a:buChar char="ü"/>
            </a:pPr>
            <a:r>
              <a:rPr lang="zh-CN" altLang="en-US" sz="1050" dirty="0"/>
              <a:t>对于沿途买东西场景，可以直接一句话语音就能支持，如沿途最方便的地方我要去买个烟，推荐最短路径方便下车的最佳</a:t>
            </a:r>
            <a:r>
              <a:rPr lang="en-US" altLang="zh-CN" sz="1050" dirty="0"/>
              <a:t>POI</a:t>
            </a:r>
            <a:r>
              <a:rPr lang="zh-CN" altLang="en-US" sz="1050" dirty="0"/>
              <a:t>点，确认同意后，会自动增加途经点，下车锁车支持临停模式</a:t>
            </a:r>
            <a:endParaRPr lang="en-US" altLang="zh-CN" sz="1050" dirty="0"/>
          </a:p>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8" name="文本框 47"/>
          <p:cNvSpPr txBox="1"/>
          <p:nvPr/>
        </p:nvSpPr>
        <p:spPr>
          <a:xfrm>
            <a:off x="1765556" y="4437690"/>
            <a:ext cx="1685392" cy="1531188"/>
          </a:xfrm>
          <a:prstGeom prst="rect">
            <a:avLst/>
          </a:prstGeom>
          <a:noFill/>
        </p:spPr>
        <p:txBody>
          <a:bodyPr wrap="square" rtlCol="0">
            <a:spAutoFit/>
          </a:bodyPr>
          <a:lstStyle/>
          <a:p>
            <a:pPr marL="228600" indent="-228600">
              <a:spcBef>
                <a:spcPts val="600"/>
              </a:spcBef>
              <a:buFont typeface="Arial" panose="020B0604020202020204" pitchFamily="34" charset="0"/>
              <a:buChar char="•"/>
            </a:pPr>
            <a:r>
              <a:rPr lang="zh-CN" altLang="en-US" sz="1050" dirty="0"/>
              <a:t>路边便利店买烟，买口罩</a:t>
            </a:r>
            <a:endParaRPr lang="en-US" altLang="zh-CN" sz="1050" dirty="0"/>
          </a:p>
          <a:p>
            <a:pPr marL="228600" indent="-228600">
              <a:spcBef>
                <a:spcPts val="600"/>
              </a:spcBef>
              <a:buFont typeface="Arial" panose="020B0604020202020204" pitchFamily="34" charset="0"/>
              <a:buChar char="•"/>
            </a:pPr>
            <a:r>
              <a:rPr lang="zh-CN" altLang="en-US" sz="1050" dirty="0"/>
              <a:t>购买特产</a:t>
            </a:r>
            <a:endParaRPr lang="en-US" altLang="zh-CN" sz="1050" dirty="0"/>
          </a:p>
          <a:p>
            <a:pPr marL="228600" indent="-228600">
              <a:spcBef>
                <a:spcPts val="600"/>
              </a:spcBef>
              <a:buFont typeface="Arial" panose="020B0604020202020204" pitchFamily="34" charset="0"/>
              <a:buChar char="•"/>
            </a:pPr>
            <a:r>
              <a:rPr lang="zh-CN" altLang="en-US" sz="1050" dirty="0"/>
              <a:t>客户提出特殊购物需求</a:t>
            </a:r>
            <a:endParaRPr lang="en-US" altLang="zh-CN" sz="1050" dirty="0"/>
          </a:p>
          <a:p>
            <a:pPr marL="228600" indent="-228600">
              <a:spcBef>
                <a:spcPts val="600"/>
              </a:spcBef>
              <a:buFont typeface="Arial" panose="020B0604020202020204" pitchFamily="34" charset="0"/>
              <a:buChar char="•"/>
            </a:pPr>
            <a:endParaRPr lang="en-US" altLang="zh-CN" sz="1050" dirty="0"/>
          </a:p>
          <a:p>
            <a:pPr marL="228600" indent="-228600">
              <a:spcBef>
                <a:spcPts val="600"/>
              </a:spcBef>
              <a:buFont typeface="Arial" panose="020B0604020202020204" pitchFamily="34" charset="0"/>
              <a:buChar char="•"/>
            </a:pPr>
            <a:endParaRPr lang="zh-CN" altLang="en-US" sz="1050" dirty="0"/>
          </a:p>
        </p:txBody>
      </p:sp>
      <p:sp>
        <p:nvSpPr>
          <p:cNvPr id="50" name="文本框 49"/>
          <p:cNvSpPr txBox="1"/>
          <p:nvPr/>
        </p:nvSpPr>
        <p:spPr>
          <a:xfrm>
            <a:off x="3369600" y="4002171"/>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平台目前对临时买东西情形没有规范</a:t>
            </a:r>
          </a:p>
        </p:txBody>
      </p:sp>
      <p:cxnSp>
        <p:nvCxnSpPr>
          <p:cNvPr id="66" name="直接连接符 65"/>
          <p:cNvCxnSpPr>
            <a:cxnSpLocks/>
          </p:cNvCxnSpPr>
          <p:nvPr/>
        </p:nvCxnSpPr>
        <p:spPr>
          <a:xfrm>
            <a:off x="463913" y="3617263"/>
            <a:ext cx="7711157"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369600" y="4315372"/>
            <a:ext cx="2419278" cy="67183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司机灵活掌握，路边看到就停，或者熟悉路线知道哪里有停</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或者司机自己也有需求也会停</a:t>
            </a:r>
          </a:p>
        </p:txBody>
      </p:sp>
      <p:sp>
        <p:nvSpPr>
          <p:cNvPr id="24" name="文本框 23"/>
          <p:cNvSpPr txBox="1"/>
          <p:nvPr/>
        </p:nvSpPr>
        <p:spPr>
          <a:xfrm>
            <a:off x="8783369" y="5550045"/>
            <a:ext cx="2890987" cy="73096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en-US" altLang="zh-CN" sz="1050" dirty="0"/>
              <a:t>Robotaxi </a:t>
            </a:r>
            <a:r>
              <a:rPr lang="zh-CN" altLang="en-US" sz="1050" dirty="0"/>
              <a:t>可提供选择性停靠服务</a:t>
            </a:r>
            <a:endParaRPr lang="en-US" altLang="zh-CN" sz="1050" dirty="0"/>
          </a:p>
          <a:p>
            <a:pPr marL="171450" indent="-171450">
              <a:spcBef>
                <a:spcPts val="600"/>
              </a:spcBef>
              <a:buFont typeface="Wingdings" panose="05000000000000000000" pitchFamily="2" charset="2"/>
              <a:buChar char="ü"/>
            </a:pPr>
            <a:r>
              <a:rPr lang="en-US" altLang="zh-CN" sz="1050" dirty="0"/>
              <a:t>Robotaxi </a:t>
            </a:r>
            <a:r>
              <a:rPr lang="zh-CN" altLang="en-US" sz="1050" dirty="0"/>
              <a:t>对于时间较长的临停需求可收费</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5" name="文本框 24"/>
          <p:cNvSpPr txBox="1"/>
          <p:nvPr/>
        </p:nvSpPr>
        <p:spPr>
          <a:xfrm>
            <a:off x="1765557" y="2238442"/>
            <a:ext cx="1645346" cy="1223412"/>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司机希望乘客在车外呕吐</a:t>
            </a:r>
            <a:endParaRPr lang="en-US" altLang="zh-CN" sz="1050" dirty="0"/>
          </a:p>
          <a:p>
            <a:pPr marL="171450" indent="-171450">
              <a:buFont typeface="Arial" panose="020B0604020202020204" pitchFamily="34" charset="0"/>
              <a:buChar char="•"/>
            </a:pPr>
            <a:r>
              <a:rPr lang="zh-CN" altLang="en-US" sz="1050" dirty="0"/>
              <a:t>（即使车内有呕吐带）</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临时接人</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急救场景</a:t>
            </a:r>
          </a:p>
        </p:txBody>
      </p:sp>
      <p:sp>
        <p:nvSpPr>
          <p:cNvPr id="27" name="文本框 26"/>
          <p:cNvSpPr txBox="1"/>
          <p:nvPr/>
        </p:nvSpPr>
        <p:spPr>
          <a:xfrm>
            <a:off x="5921508" y="4331302"/>
            <a:ext cx="2280468" cy="86550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司机也</a:t>
            </a:r>
            <a:r>
              <a:rPr lang="zh-CN" altLang="en-US" sz="1050"/>
              <a:t>不希望等太</a:t>
            </a:r>
            <a:r>
              <a:rPr lang="zh-CN" altLang="en-US" sz="1050" dirty="0"/>
              <a:t>长时间，影响自己下一单</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但大多数司机都是希望拒绝的</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停靠按一般等待计时计价</a:t>
            </a:r>
          </a:p>
        </p:txBody>
      </p:sp>
      <p:sp>
        <p:nvSpPr>
          <p:cNvPr id="33" name="文本框 32"/>
          <p:cNvSpPr txBox="1"/>
          <p:nvPr/>
        </p:nvSpPr>
        <p:spPr>
          <a:xfrm>
            <a:off x="3369600" y="2135667"/>
            <a:ext cx="1477622" cy="671830"/>
          </a:xfrm>
          <a:prstGeom prst="rect">
            <a:avLst/>
          </a:prstGeom>
          <a:noFill/>
        </p:spPr>
        <p:txBody>
          <a:bodyPr wrap="square">
            <a:spAutoFit/>
          </a:bodyPr>
          <a:lstStyle/>
          <a:p>
            <a:pPr marL="171450" indent="-171450">
              <a:lnSpc>
                <a:spcPct val="120000"/>
              </a:lnSpc>
              <a:spcBef>
                <a:spcPts val="0"/>
              </a:spcBef>
              <a:spcAft>
                <a:spcPts val="0"/>
              </a:spcAft>
              <a:buFont typeface="Arial" panose="020B0604020202020204" pitchFamily="34" charset="0"/>
              <a:buChar char="•"/>
            </a:pPr>
            <a:r>
              <a:rPr lang="zh-CN" altLang="en-US" sz="1050" dirty="0"/>
              <a:t>醉酒呕吐</a:t>
            </a:r>
            <a:endParaRPr lang="en-US" altLang="zh-CN" sz="1050" dirty="0"/>
          </a:p>
          <a:p>
            <a:pPr marL="171450" indent="-171450">
              <a:lnSpc>
                <a:spcPct val="120000"/>
              </a:lnSpc>
              <a:spcBef>
                <a:spcPts val="0"/>
              </a:spcBef>
              <a:spcAft>
                <a:spcPts val="0"/>
              </a:spcAft>
              <a:buFont typeface="Arial" panose="020B0604020202020204" pitchFamily="34" charset="0"/>
              <a:buChar char="•"/>
            </a:pPr>
            <a:r>
              <a:rPr lang="zh-CN" altLang="en-US" sz="1050" dirty="0"/>
              <a:t>晕车呕吐</a:t>
            </a:r>
            <a:endParaRPr lang="en-US" altLang="zh-CN" sz="1050" dirty="0"/>
          </a:p>
          <a:p>
            <a:pPr marL="171450" indent="-171450">
              <a:lnSpc>
                <a:spcPct val="120000"/>
              </a:lnSpc>
              <a:spcBef>
                <a:spcPts val="0"/>
              </a:spcBef>
              <a:spcAft>
                <a:spcPts val="0"/>
              </a:spcAft>
              <a:buFont typeface="Arial" panose="020B0604020202020204" pitchFamily="34" charset="0"/>
              <a:buChar char="•"/>
            </a:pPr>
            <a:r>
              <a:rPr lang="zh-CN" altLang="en-US" sz="1050" dirty="0"/>
              <a:t>身体不适车外休息</a:t>
            </a:r>
            <a:endParaRPr lang="en-US" altLang="zh-CN" sz="1050" dirty="0"/>
          </a:p>
        </p:txBody>
      </p:sp>
      <p:sp>
        <p:nvSpPr>
          <p:cNvPr id="35" name="文本框 34"/>
          <p:cNvSpPr txBox="1"/>
          <p:nvPr/>
        </p:nvSpPr>
        <p:spPr>
          <a:xfrm>
            <a:off x="5889924" y="3994822"/>
            <a:ext cx="219162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没有额外收费，司机是拒绝的</a:t>
            </a:r>
          </a:p>
        </p:txBody>
      </p:sp>
      <p:sp>
        <p:nvSpPr>
          <p:cNvPr id="37" name="文本框 36"/>
          <p:cNvSpPr txBox="1"/>
          <p:nvPr/>
        </p:nvSpPr>
        <p:spPr>
          <a:xfrm>
            <a:off x="4723200" y="2122409"/>
            <a:ext cx="1477622" cy="284480"/>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上车人在路测等待</a:t>
            </a:r>
          </a:p>
        </p:txBody>
      </p:sp>
      <p:sp>
        <p:nvSpPr>
          <p:cNvPr id="52" name="文本框 51"/>
          <p:cNvSpPr txBox="1"/>
          <p:nvPr/>
        </p:nvSpPr>
        <p:spPr>
          <a:xfrm>
            <a:off x="6530400" y="1938770"/>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急救场景</a:t>
            </a:r>
          </a:p>
        </p:txBody>
      </p:sp>
      <p:sp>
        <p:nvSpPr>
          <p:cNvPr id="54" name="文本框 53"/>
          <p:cNvSpPr txBox="1"/>
          <p:nvPr/>
        </p:nvSpPr>
        <p:spPr>
          <a:xfrm>
            <a:off x="6530400" y="2101317"/>
            <a:ext cx="1477622" cy="47815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司机掌握急救知识，拨打120</a:t>
            </a:r>
          </a:p>
        </p:txBody>
      </p:sp>
      <p:sp>
        <p:nvSpPr>
          <p:cNvPr id="63" name="文本框 62"/>
          <p:cNvSpPr txBox="1"/>
          <p:nvPr/>
        </p:nvSpPr>
        <p:spPr>
          <a:xfrm>
            <a:off x="4850829" y="3105447"/>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050" b="1" dirty="0"/>
              <a:t>安全地点临停</a:t>
            </a:r>
          </a:p>
        </p:txBody>
      </p:sp>
      <p:sp>
        <p:nvSpPr>
          <p:cNvPr id="3" name="文本框 2"/>
          <p:cNvSpPr txBox="1"/>
          <p:nvPr/>
        </p:nvSpPr>
        <p:spPr>
          <a:xfrm>
            <a:off x="8246513" y="2941846"/>
            <a:ext cx="723275" cy="253916"/>
          </a:xfrm>
          <a:prstGeom prst="rect">
            <a:avLst/>
          </a:prstGeom>
          <a:noFill/>
        </p:spPr>
        <p:txBody>
          <a:bodyPr wrap="none" rtlCol="0">
            <a:spAutoFit/>
          </a:bodyPr>
          <a:lstStyle/>
          <a:p>
            <a:r>
              <a:rPr lang="zh-CN" altLang="en-US" sz="1050" b="1" dirty="0"/>
              <a:t>机会点：</a:t>
            </a:r>
          </a:p>
        </p:txBody>
      </p:sp>
      <p:sp>
        <p:nvSpPr>
          <p:cNvPr id="4" name="文本框 3"/>
          <p:cNvSpPr txBox="1"/>
          <p:nvPr/>
        </p:nvSpPr>
        <p:spPr>
          <a:xfrm>
            <a:off x="8246513" y="5257449"/>
            <a:ext cx="588623" cy="253916"/>
          </a:xfrm>
          <a:prstGeom prst="rect">
            <a:avLst/>
          </a:prstGeom>
          <a:noFill/>
        </p:spPr>
        <p:txBody>
          <a:bodyPr wrap="none" rtlCol="0">
            <a:spAutoFit/>
          </a:bodyPr>
          <a:lstStyle/>
          <a:p>
            <a:r>
              <a:rPr lang="zh-CN" altLang="en-US" sz="1050" b="1" dirty="0"/>
              <a:t>展望：</a:t>
            </a:r>
          </a:p>
        </p:txBody>
      </p:sp>
      <p:sp>
        <p:nvSpPr>
          <p:cNvPr id="5" name="文本框 4"/>
          <p:cNvSpPr txBox="1"/>
          <p:nvPr/>
        </p:nvSpPr>
        <p:spPr>
          <a:xfrm>
            <a:off x="8201975" y="1863935"/>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9" name="文本框 8"/>
          <p:cNvSpPr txBox="1"/>
          <p:nvPr/>
        </p:nvSpPr>
        <p:spPr>
          <a:xfrm>
            <a:off x="8677375" y="2117851"/>
            <a:ext cx="3294167" cy="1061829"/>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050" dirty="0"/>
              <a:t>语音指令智驾靠边停车（理想），但是对于地点安全性没有考虑</a:t>
            </a:r>
            <a:endParaRPr lang="en-US" altLang="zh-CN" sz="1050" dirty="0"/>
          </a:p>
          <a:p>
            <a:pPr marL="285750" indent="-285750">
              <a:buFont typeface="Wingdings" panose="05000000000000000000" pitchFamily="2" charset="2"/>
              <a:buChar char="ü"/>
            </a:pPr>
            <a:r>
              <a:rPr lang="zh-CN" altLang="en-US" sz="1050" dirty="0"/>
              <a:t>语音指令支持添加途径点，但是没有跟临停模式结合，没有考虑到</a:t>
            </a:r>
            <a:endParaRPr lang="en-US" altLang="zh-CN" sz="1050" dirty="0"/>
          </a:p>
          <a:p>
            <a:pPr marL="285750" indent="-285750">
              <a:buFont typeface="Wingdings" panose="05000000000000000000" pitchFamily="2" charset="2"/>
              <a:buChar char="ü"/>
            </a:pPr>
            <a:r>
              <a:rPr lang="zh-CN" altLang="en-US" sz="1050" dirty="0"/>
              <a:t>语音指令支持沿途</a:t>
            </a:r>
            <a:r>
              <a:rPr lang="en-US" altLang="zh-CN" sz="1050" dirty="0"/>
              <a:t>POI</a:t>
            </a:r>
            <a:r>
              <a:rPr lang="zh-CN" altLang="en-US" sz="1050" dirty="0"/>
              <a:t>的推荐，但是不是很准</a:t>
            </a:r>
            <a:endParaRPr lang="en-US" altLang="zh-CN" sz="1050" dirty="0"/>
          </a:p>
          <a:p>
            <a:endParaRPr lang="zh-CN" altLang="en-US" sz="1050" dirty="0"/>
          </a:p>
        </p:txBody>
      </p:sp>
      <p:sp>
        <p:nvSpPr>
          <p:cNvPr id="7" name="文本框 6"/>
          <p:cNvSpPr txBox="1"/>
          <p:nvPr/>
        </p:nvSpPr>
        <p:spPr>
          <a:xfrm>
            <a:off x="3369600" y="2794635"/>
            <a:ext cx="1445895" cy="868045"/>
          </a:xfrm>
          <a:prstGeom prst="rect">
            <a:avLst/>
          </a:prstGeom>
        </p:spPr>
        <p:txBody>
          <a:bodyPr wrap="square">
            <a:spAutoFit/>
          </a:bodyPr>
          <a:lstStyle/>
          <a:p>
            <a:pPr indent="0">
              <a:lnSpc>
                <a:spcPct val="100000"/>
              </a:lnSpc>
            </a:pPr>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之前要吐过，包括生病的时候，喝醉酒，还是需要他能够及时帮我处理掉，比如说给我递呕吐</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袋，找</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一个地方</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停一下</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00" i="1" dirty="0">
              <a:latin typeface="微软雅黑" panose="020B0503020204020204" pitchFamily="34" charset="-122"/>
              <a:ea typeface="微软雅黑" panose="020B0503020204020204" pitchFamily="34" charset="-122"/>
              <a:cs typeface="微软雅黑" panose="020B0503020204020204" pitchFamily="34" charset="-122"/>
            </a:endParaRPr>
          </a:p>
          <a:p>
            <a:pPr algn="r">
              <a:lnSpc>
                <a:spcPct val="100000"/>
              </a:lnSpc>
              <a:spcBef>
                <a:spcPts val="300"/>
              </a:spcBef>
              <a:spcAft>
                <a:spcPts val="0"/>
              </a:spcAft>
              <a:buClrTx/>
              <a:buSzTx/>
              <a:buFontTx/>
            </a:pPr>
            <a:r>
              <a:rPr lang="zh-CN" altLang="en-US" sz="800" i="1"/>
              <a:t> --</a:t>
            </a:r>
            <a:r>
              <a:rPr lang="zh-CN" altLang="en-US" sz="800" i="1" dirty="0"/>
              <a:t>老师朱先生（快车） 27岁</a:t>
            </a:r>
          </a:p>
        </p:txBody>
      </p:sp>
      <p:sp>
        <p:nvSpPr>
          <p:cNvPr id="8" name="文本框 7"/>
          <p:cNvSpPr txBox="1"/>
          <p:nvPr/>
        </p:nvSpPr>
        <p:spPr>
          <a:xfrm>
            <a:off x="6530340" y="2540635"/>
            <a:ext cx="1630680" cy="744855"/>
          </a:xfrm>
          <a:prstGeom prst="rect">
            <a:avLst/>
          </a:prstGeom>
          <a:noFill/>
        </p:spPr>
        <p:txBody>
          <a:bodyPr wrap="square">
            <a:spAutoFit/>
          </a:bodyPr>
          <a:lstStyle/>
          <a:p>
            <a:pPr>
              <a:spcBef>
                <a:spcPts val="0"/>
              </a:spcBef>
              <a:spcAft>
                <a:spcPts val="0"/>
              </a:spcAft>
              <a:buClrTx/>
              <a:buSzTx/>
              <a:buFontTx/>
            </a:pP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我碰到司机载了一个昏迷的人，到家了之后，找不到人来接他，最后把他送到警局去了，那人醒来之后就在</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警局</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p>
          <a:p>
            <a:pPr algn="r">
              <a:spcBef>
                <a:spcPts val="300"/>
              </a:spcBef>
              <a:spcAft>
                <a:spcPts val="0"/>
              </a:spcAft>
              <a:buClrTx/>
              <a:buSzTx/>
              <a:buFontTx/>
            </a:pPr>
            <a:r>
              <a:rPr lang="zh-CN" altLang="en-US" sz="800" i="1" dirty="0"/>
              <a:t>--老师贾女士（快车） 34岁</a:t>
            </a:r>
          </a:p>
        </p:txBody>
      </p:sp>
      <p:sp>
        <p:nvSpPr>
          <p:cNvPr id="11" name="文本框 10"/>
          <p:cNvSpPr txBox="1"/>
          <p:nvPr/>
        </p:nvSpPr>
        <p:spPr>
          <a:xfrm>
            <a:off x="3369600" y="5329297"/>
            <a:ext cx="2243077" cy="499110"/>
          </a:xfrm>
          <a:prstGeom prst="rect">
            <a:avLst/>
          </a:prstGeom>
          <a:noFill/>
        </p:spPr>
        <p:txBody>
          <a:bodyPr wrap="square">
            <a:spAutoFit/>
          </a:bodyPr>
          <a:lstStyle/>
          <a:p>
            <a:r>
              <a:rPr lang="en-US" altLang="zh-CN" sz="8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有些临时看到便利店下来</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要买</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我</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只要看到好停的，我就让他</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停一下</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p>
          <a:p>
            <a:pPr algn="r">
              <a:spcBef>
                <a:spcPts val="300"/>
              </a:spcBef>
              <a:spcAft>
                <a:spcPts val="0"/>
              </a:spcAft>
              <a:buClrTx/>
              <a:buSzTx/>
              <a:buFontTx/>
            </a:pPr>
            <a:r>
              <a:rPr lang="zh-CN" altLang="en-US" sz="800" i="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sym typeface="+mn-ea"/>
              </a:rPr>
              <a:t>快车司机陈先生 26岁</a:t>
            </a:r>
          </a:p>
        </p:txBody>
      </p:sp>
      <p:sp>
        <p:nvSpPr>
          <p:cNvPr id="12" name="文本框 11"/>
          <p:cNvSpPr txBox="1"/>
          <p:nvPr/>
        </p:nvSpPr>
        <p:spPr>
          <a:xfrm>
            <a:off x="5938431" y="5324913"/>
            <a:ext cx="2209735" cy="499110"/>
          </a:xfrm>
          <a:prstGeom prst="rect">
            <a:avLst/>
          </a:prstGeom>
          <a:noFill/>
        </p:spPr>
        <p:txBody>
          <a:bodyPr wrap="square" rtlCol="0">
            <a:spAutoFit/>
          </a:bodyPr>
          <a:lstStyle/>
          <a:p>
            <a:pPr indent="0">
              <a:lnSpc>
                <a:spcPct val="100000"/>
              </a:lnSpc>
              <a:buFontTx/>
              <a:buNone/>
            </a:pP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假如说跑到陆家嘴去买个包什么，那金额就</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大了</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不要有服务了，就拒绝</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掉了</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00" i="1" dirty="0">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FontTx/>
              <a:buNone/>
            </a:pP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--专车司机杨先生 38岁</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4723200" y="2395855"/>
            <a:ext cx="1710055" cy="622300"/>
          </a:xfrm>
          <a:prstGeom prst="rect">
            <a:avLst/>
          </a:prstGeom>
          <a:noFill/>
        </p:spPr>
        <p:txBody>
          <a:bodyPr wrap="square" rtlCol="0" anchor="t">
            <a:spAutoFit/>
          </a:bodyPr>
          <a:lstStyle/>
          <a:p>
            <a:pPr marL="0" indent="0" algn="just" defTabSz="266700">
              <a:lnSpc>
                <a:spcPct val="100000"/>
              </a:lnSpc>
              <a:spcBef>
                <a:spcPct val="0"/>
              </a:spcBef>
              <a:spcAft>
                <a:spcPct val="0"/>
              </a:spcAft>
            </a:pPr>
            <a:r>
              <a:rPr lang="en-US" altLang="zh-CN" sz="800" i="1">
                <a:latin typeface="微软雅黑" panose="020B0503020204020204" pitchFamily="34" charset="-122"/>
                <a:ea typeface="微软雅黑" panose="020B0503020204020204" pitchFamily="34" charset="-122"/>
                <a:sym typeface="+mn-ea"/>
              </a:rPr>
              <a:t>”</a:t>
            </a:r>
            <a:r>
              <a:rPr lang="zh-CN" altLang="en-US" sz="800" i="1">
                <a:latin typeface="微软雅黑" panose="020B0503020204020204" pitchFamily="34" charset="-122"/>
                <a:ea typeface="微软雅黑" panose="020B0503020204020204" pitchFamily="34" charset="-122"/>
                <a:sym typeface="+mn-ea"/>
              </a:rPr>
              <a:t>要加途径点很多的</a:t>
            </a:r>
            <a:r>
              <a:rPr lang="en-US" altLang="zh-CN" sz="800" i="1">
                <a:latin typeface="微软雅黑" panose="020B0503020204020204" pitchFamily="34" charset="-122"/>
                <a:ea typeface="微软雅黑" panose="020B0503020204020204" pitchFamily="34" charset="-122"/>
                <a:sym typeface="+mn-ea"/>
              </a:rPr>
              <a:t>......</a:t>
            </a:r>
            <a:r>
              <a:rPr lang="zh-CN" altLang="en-US" sz="800" i="1">
                <a:latin typeface="微软雅黑" panose="020B0503020204020204" pitchFamily="34" charset="-122"/>
                <a:ea typeface="微软雅黑" panose="020B0503020204020204" pitchFamily="34" charset="-122"/>
                <a:sym typeface="+mn-ea"/>
              </a:rPr>
              <a:t>东西忘了拿，或者先到朋友那接个人，要一起走，或者要改变行程都可以</a:t>
            </a:r>
            <a:r>
              <a:rPr lang="en-US" altLang="zh-CN" sz="800" i="1">
                <a:latin typeface="微软雅黑" panose="020B0503020204020204" pitchFamily="34" charset="-122"/>
                <a:ea typeface="微软雅黑" panose="020B0503020204020204" pitchFamily="34" charset="-122"/>
                <a:sym typeface="+mn-ea"/>
              </a:rPr>
              <a:t>“          </a:t>
            </a:r>
            <a:endParaRPr lang="en-US" altLang="zh-CN" sz="800" i="1">
              <a:latin typeface="微软雅黑" panose="020B0503020204020204" pitchFamily="34" charset="-122"/>
              <a:ea typeface="微软雅黑" panose="020B0503020204020204" pitchFamily="34" charset="-122"/>
            </a:endParaRPr>
          </a:p>
          <a:p>
            <a:pPr marL="0" algn="r" defTabSz="914400">
              <a:lnSpc>
                <a:spcPct val="100000"/>
              </a:lnSpc>
              <a:spcBef>
                <a:spcPts val="300"/>
              </a:spcBef>
              <a:spcAft>
                <a:spcPts val="0"/>
              </a:spcAft>
              <a:buClrTx/>
              <a:buSzTx/>
              <a:buFontTx/>
            </a:pPr>
            <a:r>
              <a:rPr lang="en-US" altLang="zh-CN" sz="800" i="1" dirty="0">
                <a:sym typeface="+mn-ea"/>
              </a:rPr>
              <a:t>             </a:t>
            </a:r>
            <a:r>
              <a:rPr lang="zh-CN" altLang="en-US" sz="800" i="1" dirty="0">
                <a:sym typeface="+mn-ea"/>
              </a:rPr>
              <a:t>--专车司机杨先生 38岁</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停车位置沟通</a:t>
            </a:r>
          </a:p>
        </p:txBody>
      </p:sp>
      <p:sp>
        <p:nvSpPr>
          <p:cNvPr id="16" name="文本占位符 4"/>
          <p:cNvSpPr txBox="1"/>
          <p:nvPr/>
        </p:nvSpPr>
        <p:spPr>
          <a:xfrm>
            <a:off x="3698014" y="1384614"/>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951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停车位置沟通</a:t>
            </a:r>
          </a:p>
        </p:txBody>
      </p:sp>
      <p:sp>
        <p:nvSpPr>
          <p:cNvPr id="10" name="文本框 9"/>
          <p:cNvSpPr txBox="1"/>
          <p:nvPr/>
        </p:nvSpPr>
        <p:spPr>
          <a:xfrm>
            <a:off x="425035" y="2186095"/>
            <a:ext cx="1177193" cy="281615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定位偏差修正与确认</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403139" y="1384373"/>
            <a:ext cx="1605305"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48786" y="140709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800800" y="1951200"/>
            <a:ext cx="9973" cy="4115172"/>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404500" y="1325298"/>
            <a:ext cx="69839" cy="484497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483782" y="1390273"/>
            <a:ext cx="1088733"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602228" y="1951200"/>
            <a:ext cx="0" cy="410301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784552" y="1951200"/>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修正沟通方式</a:t>
            </a:r>
          </a:p>
        </p:txBody>
      </p:sp>
      <p:sp>
        <p:nvSpPr>
          <p:cNvPr id="15" name="文本框 14"/>
          <p:cNvSpPr txBox="1"/>
          <p:nvPr/>
        </p:nvSpPr>
        <p:spPr>
          <a:xfrm>
            <a:off x="2800800" y="1951200"/>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最终停车位置小幅修正场景</a:t>
            </a:r>
          </a:p>
        </p:txBody>
      </p:sp>
      <p:sp>
        <p:nvSpPr>
          <p:cNvPr id="32" name="文本框 31"/>
          <p:cNvSpPr txBox="1"/>
          <p:nvPr/>
        </p:nvSpPr>
        <p:spPr>
          <a:xfrm>
            <a:off x="7944120" y="2917997"/>
            <a:ext cx="3765569" cy="2338070"/>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能够接收客户语音指令集合路面特征进行微调最终停泊位置，如车辆往前一点，前面那个路口停一下，前面的牌子下面</a:t>
            </a:r>
            <a:endParaRPr lang="en-US" altLang="zh-CN" sz="1050" dirty="0"/>
          </a:p>
          <a:p>
            <a:pPr marL="171450" indent="-171450">
              <a:spcBef>
                <a:spcPts val="600"/>
              </a:spcBef>
              <a:buFont typeface="Wingdings" panose="05000000000000000000" pitchFamily="2" charset="2"/>
              <a:buChar char="ü"/>
            </a:pPr>
            <a:r>
              <a:rPr lang="zh-CN" altLang="en-US" sz="1050" dirty="0"/>
              <a:t>对于场站支持语音设置修正详细地址，如出发层第</a:t>
            </a:r>
            <a:r>
              <a:rPr lang="en-US" altLang="zh-CN" sz="1050" dirty="0"/>
              <a:t>8</a:t>
            </a:r>
            <a:r>
              <a:rPr lang="zh-CN" altLang="en-US" sz="1050" dirty="0"/>
              <a:t>个口，智驾按精准地址全程智驾过去</a:t>
            </a:r>
            <a:endParaRPr lang="en-US" altLang="zh-CN" sz="1050" dirty="0"/>
          </a:p>
          <a:p>
            <a:pPr marL="171450" indent="-171450">
              <a:spcBef>
                <a:spcPts val="600"/>
              </a:spcBef>
              <a:buFont typeface="Wingdings" panose="05000000000000000000" pitchFamily="2" charset="2"/>
              <a:buChar char="ü"/>
            </a:pPr>
            <a:r>
              <a:rPr lang="zh-CN" altLang="en-US" sz="1050" dirty="0"/>
              <a:t>最终停车地点可避开禁停标志区域，对于不能停的区域，根据乘客语音指令，智能寻找附件最近最方便的停车点</a:t>
            </a:r>
            <a:endParaRPr lang="en-US" altLang="zh-CN" sz="1050" dirty="0"/>
          </a:p>
          <a:p>
            <a:pPr marL="171450" indent="-171450">
              <a:spcBef>
                <a:spcPts val="600"/>
              </a:spcBef>
              <a:buFont typeface="Wingdings" panose="05000000000000000000" pitchFamily="2" charset="2"/>
              <a:buChar char="ü"/>
            </a:pPr>
            <a:r>
              <a:rPr lang="zh-CN" altLang="en-US" sz="1050" dirty="0"/>
              <a:t>去写字楼，酒店等地方，可在停在大厅门口，放下乘客后，然后语音指令自己找车位等</a:t>
            </a:r>
            <a:endParaRPr lang="en-US" altLang="zh-CN" sz="1050" dirty="0"/>
          </a:p>
          <a:p>
            <a:pPr marL="171450" indent="-171450">
              <a:spcBef>
                <a:spcPts val="600"/>
              </a:spcBef>
              <a:buFont typeface="Wingdings" panose="05000000000000000000" pitchFamily="2" charset="2"/>
              <a:buChar char="ü"/>
            </a:pPr>
            <a:r>
              <a:rPr lang="zh-CN" altLang="en-US" sz="1050" dirty="0"/>
              <a:t>下车时支持“</a:t>
            </a:r>
            <a:r>
              <a:rPr lang="en-US" altLang="zh-CN" sz="1050" dirty="0"/>
              <a:t>2</a:t>
            </a:r>
            <a:r>
              <a:rPr lang="zh-CN" altLang="en-US" sz="1050" dirty="0"/>
              <a:t>个小时后，还在这里接我”这样的语音指令，司机</a:t>
            </a:r>
            <a:r>
              <a:rPr lang="en-US" altLang="zh-CN" sz="1050" dirty="0"/>
              <a:t>agent</a:t>
            </a:r>
            <a:r>
              <a:rPr lang="zh-CN" altLang="en-US" sz="1050" dirty="0"/>
              <a:t>能自己找地方停车，然后</a:t>
            </a:r>
            <a:r>
              <a:rPr lang="en-US" altLang="zh-CN" sz="1050" dirty="0"/>
              <a:t>2</a:t>
            </a:r>
            <a:r>
              <a:rPr lang="zh-CN" altLang="en-US" sz="1050" dirty="0"/>
              <a:t>个小时后来原地来接乘客</a:t>
            </a:r>
            <a:endParaRPr lang="en-US" altLang="zh-CN" sz="1050" dirty="0"/>
          </a:p>
        </p:txBody>
      </p:sp>
      <p:sp>
        <p:nvSpPr>
          <p:cNvPr id="50" name="文本框 49"/>
          <p:cNvSpPr txBox="1"/>
          <p:nvPr/>
        </p:nvSpPr>
        <p:spPr>
          <a:xfrm>
            <a:off x="2800800" y="3975359"/>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终点定位地点无法停车场景</a:t>
            </a:r>
          </a:p>
        </p:txBody>
      </p:sp>
      <p:cxnSp>
        <p:nvCxnSpPr>
          <p:cNvPr id="66" name="直接连接符 65"/>
          <p:cNvCxnSpPr>
            <a:cxnSpLocks/>
          </p:cNvCxnSpPr>
          <p:nvPr/>
        </p:nvCxnSpPr>
        <p:spPr>
          <a:xfrm flipV="1">
            <a:off x="482311" y="3913968"/>
            <a:ext cx="6957108" cy="57202"/>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699198" y="2457994"/>
            <a:ext cx="1224930" cy="127426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停车位置经常会小幅修正</a:t>
            </a:r>
            <a:endParaRPr lang="en-US" altLang="zh-CN" sz="1050" dirty="0"/>
          </a:p>
          <a:p>
            <a:pPr marL="171450" indent="-171450">
              <a:lnSpc>
                <a:spcPct val="150000"/>
              </a:lnSpc>
              <a:buFont typeface="Arial" panose="020B0604020202020204" pitchFamily="34" charset="0"/>
              <a:buChar char="•"/>
            </a:pPr>
            <a:r>
              <a:rPr lang="zh-CN" altLang="en-US" sz="1050" dirty="0">
                <a:solidFill>
                  <a:srgbClr val="000000"/>
                </a:solidFill>
                <a:latin typeface="微软雅黑" panose="020B0503020204020204" pitchFamily="34" charset="-122"/>
                <a:ea typeface="微软雅黑" panose="020B0503020204020204" pitchFamily="34" charset="-122"/>
              </a:rPr>
              <a:t>场站结构复杂提前沟通</a:t>
            </a:r>
            <a:endParaRPr lang="en-US" altLang="zh-CN" sz="1050" dirty="0">
              <a:solidFill>
                <a:srgbClr val="000000"/>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endParaRPr lang="zh-CN" altLang="en-US" sz="1050" dirty="0"/>
          </a:p>
        </p:txBody>
      </p:sp>
      <p:sp>
        <p:nvSpPr>
          <p:cNvPr id="35" name="文本框 34"/>
          <p:cNvSpPr txBox="1"/>
          <p:nvPr/>
        </p:nvSpPr>
        <p:spPr>
          <a:xfrm>
            <a:off x="5158800" y="3971170"/>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沟通微调可停靠的停车地点</a:t>
            </a:r>
          </a:p>
        </p:txBody>
      </p:sp>
      <p:sp>
        <p:nvSpPr>
          <p:cNvPr id="37" name="文本框 36"/>
          <p:cNvSpPr txBox="1"/>
          <p:nvPr/>
        </p:nvSpPr>
        <p:spPr>
          <a:xfrm>
            <a:off x="4848333" y="2163600"/>
            <a:ext cx="1477622" cy="478155"/>
          </a:xfrm>
          <a:prstGeom prst="rect">
            <a:avLst/>
          </a:prstGeom>
          <a:noFill/>
        </p:spPr>
        <p:txBody>
          <a:bodyPr wrap="square">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更多语音沟通</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少量用手指的</a:t>
            </a:r>
          </a:p>
        </p:txBody>
      </p:sp>
      <p:sp>
        <p:nvSpPr>
          <p:cNvPr id="4" name="文本框 3"/>
          <p:cNvSpPr txBox="1"/>
          <p:nvPr/>
        </p:nvSpPr>
        <p:spPr>
          <a:xfrm>
            <a:off x="2800985" y="2163445"/>
            <a:ext cx="1154430" cy="601345"/>
          </a:xfrm>
          <a:prstGeom prst="rect">
            <a:avLst/>
          </a:prstGeom>
          <a:noFill/>
        </p:spPr>
        <p:txBody>
          <a:bodyPr wrap="none" rtlCol="0">
            <a:no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往前一点</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前面那个路口</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那个牌子下面</a:t>
            </a:r>
          </a:p>
          <a:p>
            <a:pPr>
              <a:lnSpc>
                <a:spcPct val="150000"/>
              </a:lnSpc>
            </a:pPr>
            <a:endParaRPr lang="zh-CN" altLang="en-US" sz="1050" dirty="0"/>
          </a:p>
        </p:txBody>
      </p:sp>
      <p:sp>
        <p:nvSpPr>
          <p:cNvPr id="5" name="文本框 4"/>
          <p:cNvSpPr txBox="1"/>
          <p:nvPr/>
        </p:nvSpPr>
        <p:spPr>
          <a:xfrm>
            <a:off x="2800800" y="4146441"/>
            <a:ext cx="1165704" cy="463460"/>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黄线区域</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禁停</a:t>
            </a:r>
            <a:r>
              <a:rPr lang="zh-CN" altLang="en-US" sz="1050"/>
              <a:t>标志区域</a:t>
            </a:r>
            <a:endParaRPr lang="zh-CN" altLang="en-US" sz="1050" dirty="0"/>
          </a:p>
        </p:txBody>
      </p:sp>
      <p:sp>
        <p:nvSpPr>
          <p:cNvPr id="7" name="文本框 6"/>
          <p:cNvSpPr txBox="1"/>
          <p:nvPr/>
        </p:nvSpPr>
        <p:spPr>
          <a:xfrm>
            <a:off x="5158800" y="4203029"/>
            <a:ext cx="1421130" cy="47815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让乘客更方便下车</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让乘客少走路</a:t>
            </a:r>
          </a:p>
        </p:txBody>
      </p:sp>
      <p:sp>
        <p:nvSpPr>
          <p:cNvPr id="9" name="文本框 8"/>
          <p:cNvSpPr txBox="1"/>
          <p:nvPr/>
        </p:nvSpPr>
        <p:spPr>
          <a:xfrm>
            <a:off x="1631941" y="4889452"/>
            <a:ext cx="1055184" cy="577081"/>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容易与客户发生争执，产生投诉</a:t>
            </a:r>
          </a:p>
        </p:txBody>
      </p:sp>
      <p:sp>
        <p:nvSpPr>
          <p:cNvPr id="12" name="文本框 11"/>
          <p:cNvSpPr txBox="1"/>
          <p:nvPr/>
        </p:nvSpPr>
        <p:spPr>
          <a:xfrm>
            <a:off x="6059260" y="1951200"/>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场站停车点场景</a:t>
            </a:r>
          </a:p>
        </p:txBody>
      </p:sp>
      <p:sp>
        <p:nvSpPr>
          <p:cNvPr id="13" name="文本框 12"/>
          <p:cNvSpPr txBox="1"/>
          <p:nvPr/>
        </p:nvSpPr>
        <p:spPr>
          <a:xfrm>
            <a:off x="6130442" y="2163600"/>
            <a:ext cx="1202192" cy="86550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哪个广场</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哪个层（达到、出发）</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哪个口（几号）</a:t>
            </a:r>
          </a:p>
        </p:txBody>
      </p:sp>
      <p:sp>
        <p:nvSpPr>
          <p:cNvPr id="11" name="文本框 10"/>
          <p:cNvSpPr txBox="1"/>
          <p:nvPr/>
        </p:nvSpPr>
        <p:spPr>
          <a:xfrm>
            <a:off x="366373" y="4880702"/>
            <a:ext cx="1402958" cy="646331"/>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禁停或者不方便区域调整停车地点</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7423267" y="2679694"/>
            <a:ext cx="723275" cy="253916"/>
          </a:xfrm>
          <a:prstGeom prst="rect">
            <a:avLst/>
          </a:prstGeom>
          <a:noFill/>
        </p:spPr>
        <p:txBody>
          <a:bodyPr wrap="none" rtlCol="0">
            <a:spAutoFit/>
          </a:bodyPr>
          <a:lstStyle/>
          <a:p>
            <a:r>
              <a:rPr lang="zh-CN" altLang="en-US" sz="1050" b="1" dirty="0"/>
              <a:t>机会点：</a:t>
            </a:r>
          </a:p>
        </p:txBody>
      </p:sp>
      <p:sp>
        <p:nvSpPr>
          <p:cNvPr id="27" name="文本框 26"/>
          <p:cNvSpPr txBox="1"/>
          <p:nvPr/>
        </p:nvSpPr>
        <p:spPr>
          <a:xfrm>
            <a:off x="7445045" y="5391426"/>
            <a:ext cx="588623" cy="253916"/>
          </a:xfrm>
          <a:prstGeom prst="rect">
            <a:avLst/>
          </a:prstGeom>
          <a:noFill/>
        </p:spPr>
        <p:txBody>
          <a:bodyPr wrap="none" rtlCol="0">
            <a:spAutoFit/>
          </a:bodyPr>
          <a:lstStyle/>
          <a:p>
            <a:r>
              <a:rPr lang="zh-CN" altLang="en-US" sz="1050" b="1" dirty="0"/>
              <a:t>展望：</a:t>
            </a:r>
          </a:p>
        </p:txBody>
      </p:sp>
      <p:sp>
        <p:nvSpPr>
          <p:cNvPr id="31" name="文本框 30"/>
          <p:cNvSpPr txBox="1"/>
          <p:nvPr/>
        </p:nvSpPr>
        <p:spPr>
          <a:xfrm>
            <a:off x="7386398" y="1939097"/>
            <a:ext cx="877926" cy="253916"/>
          </a:xfrm>
          <a:prstGeom prst="rect">
            <a:avLst/>
          </a:prstGeom>
          <a:noFill/>
        </p:spPr>
        <p:txBody>
          <a:bodyPr wrap="square" rtlCol="0">
            <a:spAutoFit/>
          </a:bodyPr>
          <a:lstStyle/>
          <a:p>
            <a:r>
              <a:rPr lang="zh-CN" altLang="en-US" sz="1050" dirty="0"/>
              <a:t> </a:t>
            </a:r>
            <a:r>
              <a:rPr lang="zh-CN" altLang="en-US" sz="1050" b="1" dirty="0"/>
              <a:t>已做到</a:t>
            </a:r>
            <a:r>
              <a:rPr lang="zh-CN" altLang="en-US" sz="1050" dirty="0"/>
              <a:t>：</a:t>
            </a:r>
          </a:p>
        </p:txBody>
      </p:sp>
      <p:sp>
        <p:nvSpPr>
          <p:cNvPr id="39" name="文本框 38"/>
          <p:cNvSpPr txBox="1"/>
          <p:nvPr/>
        </p:nvSpPr>
        <p:spPr>
          <a:xfrm>
            <a:off x="7944120" y="2141008"/>
            <a:ext cx="3765569"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可以定位到场站的出发口，但是会快进入场站是时候智驾会退出，让接管。</a:t>
            </a:r>
            <a:endParaRPr lang="en-US" altLang="zh-CN" sz="1050" dirty="0"/>
          </a:p>
          <a:p>
            <a:pPr marL="171450" indent="-171450">
              <a:spcBef>
                <a:spcPts val="600"/>
              </a:spcBef>
              <a:buFont typeface="Wingdings" panose="05000000000000000000" pitchFamily="2" charset="2"/>
              <a:buChar char="ü"/>
            </a:pPr>
            <a:r>
              <a:rPr lang="zh-CN" altLang="en-US" sz="1050" dirty="0"/>
              <a:t>相对封闭的有限停车场，支持</a:t>
            </a:r>
            <a:r>
              <a:rPr lang="en-US" altLang="zh-CN" sz="1050" dirty="0"/>
              <a:t>AVP</a:t>
            </a:r>
          </a:p>
          <a:p>
            <a:pPr marL="171450" indent="-171450">
              <a:spcBef>
                <a:spcPts val="600"/>
              </a:spcBef>
              <a:buFont typeface="Wingdings" panose="05000000000000000000" pitchFamily="2" charset="2"/>
              <a:buChar char="ü"/>
            </a:pPr>
            <a:endParaRPr lang="en-US" altLang="zh-CN" sz="1050" dirty="0"/>
          </a:p>
        </p:txBody>
      </p:sp>
      <p:sp>
        <p:nvSpPr>
          <p:cNvPr id="40" name="文本框 39"/>
          <p:cNvSpPr txBox="1"/>
          <p:nvPr/>
        </p:nvSpPr>
        <p:spPr>
          <a:xfrm>
            <a:off x="2800800" y="520978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私人司机场景</a:t>
            </a:r>
          </a:p>
        </p:txBody>
      </p:sp>
      <p:sp>
        <p:nvSpPr>
          <p:cNvPr id="42" name="文本框 41"/>
          <p:cNvSpPr txBox="1"/>
          <p:nvPr/>
        </p:nvSpPr>
        <p:spPr>
          <a:xfrm>
            <a:off x="2800800" y="5379085"/>
            <a:ext cx="3567430" cy="284480"/>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在不好停的地方，会约定在哪里下就在哪里上</a:t>
            </a:r>
          </a:p>
        </p:txBody>
      </p:sp>
      <p:sp>
        <p:nvSpPr>
          <p:cNvPr id="43" name="文本框 42"/>
          <p:cNvSpPr txBox="1"/>
          <p:nvPr/>
        </p:nvSpPr>
        <p:spPr>
          <a:xfrm>
            <a:off x="8033668" y="5792606"/>
            <a:ext cx="3320140"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支持多模交互，结合乘客语音与手势确定停车地点</a:t>
            </a:r>
          </a:p>
        </p:txBody>
      </p:sp>
      <p:sp>
        <p:nvSpPr>
          <p:cNvPr id="3" name="文本框 2"/>
          <p:cNvSpPr txBox="1"/>
          <p:nvPr/>
        </p:nvSpPr>
        <p:spPr>
          <a:xfrm>
            <a:off x="2800800" y="2954655"/>
            <a:ext cx="1670050" cy="845185"/>
          </a:xfrm>
          <a:prstGeom prst="rect">
            <a:avLst/>
          </a:prstGeom>
          <a:noFill/>
        </p:spPr>
        <p:txBody>
          <a:bodyPr wrap="square" rtlCol="0">
            <a:spAutoFit/>
          </a:bodyPr>
          <a:lstStyle/>
          <a:p>
            <a:pPr>
              <a:lnSpc>
                <a:spcPct val="100000"/>
              </a:lnSpc>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再帮我开到前面去一点，非常模糊的这种描述，公交站前面，或者哪个牌子</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gn="r">
              <a:lnSpc>
                <a:spcPct val="100000"/>
              </a:lnSpc>
              <a:spcBef>
                <a:spcPts val="300"/>
              </a:spcBef>
              <a:spcAft>
                <a:spcPts val="0"/>
              </a:spcAft>
            </a:pPr>
            <a:r>
              <a:rPr lang="en-US" altLang="zh-CN" sz="900" i="1">
                <a:solidFill>
                  <a:schemeClr val="tx1">
                    <a:lumMod val="75000"/>
                    <a:lumOff val="25000"/>
                  </a:schemeClr>
                </a:solidFill>
              </a:rPr>
              <a:t>-- </a:t>
            </a:r>
            <a:r>
              <a:rPr lang="zh-CN" altLang="en-US" sz="900" i="1">
                <a:solidFill>
                  <a:schemeClr val="tx1">
                    <a:lumMod val="75000"/>
                    <a:lumOff val="25000"/>
                  </a:schemeClr>
                </a:solidFill>
              </a:rPr>
              <a:t>专车司机黄女士</a:t>
            </a:r>
            <a:r>
              <a:rPr lang="en-US" altLang="zh-CN" sz="900" i="1">
                <a:solidFill>
                  <a:schemeClr val="tx1">
                    <a:lumMod val="75000"/>
                    <a:lumOff val="25000"/>
                  </a:schemeClr>
                </a:solidFill>
              </a:rPr>
              <a:t> 38</a:t>
            </a:r>
            <a:r>
              <a:rPr lang="zh-CN" altLang="en-US" sz="900" i="1">
                <a:solidFill>
                  <a:schemeClr val="tx1">
                    <a:lumMod val="75000"/>
                    <a:lumOff val="25000"/>
                  </a:schemeClr>
                </a:solidFill>
              </a:rPr>
              <a:t>岁</a:t>
            </a:r>
            <a:r>
              <a:rPr lang="en-US" altLang="zh-CN" sz="900"/>
              <a:t>	</a:t>
            </a:r>
            <a:endParaRPr lang="en-US" altLang="zh-CN" sz="900" dirty="0"/>
          </a:p>
        </p:txBody>
      </p:sp>
      <p:sp>
        <p:nvSpPr>
          <p:cNvPr id="8" name="文本框 7"/>
          <p:cNvSpPr txBox="1"/>
          <p:nvPr/>
        </p:nvSpPr>
        <p:spPr>
          <a:xfrm>
            <a:off x="5877042" y="3049662"/>
            <a:ext cx="1546225" cy="822325"/>
          </a:xfrm>
          <a:prstGeom prst="rect">
            <a:avLst/>
          </a:prstGeom>
          <a:noFill/>
        </p:spPr>
        <p:txBody>
          <a:bodyPr wrap="square" rtlCol="0">
            <a:spAutoFit/>
          </a:bodyPr>
          <a:lstStyle/>
          <a:p>
            <a:r>
              <a:rPr lang="en-US" altLang="zh-CN" sz="9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前</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阵子碰到</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P10</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进去</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rPr>
              <a:t>通知</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你在</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rPr>
              <a:t>BM1</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rPr>
              <a:t>层，直接</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滑到</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rPr>
              <a:t>BM2</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rPr>
              <a:t>去，要绕很大一圈</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才能上楼</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00000"/>
              </a:lnSpc>
              <a:spcBef>
                <a:spcPts val="300"/>
              </a:spcBef>
              <a:spcAft>
                <a:spcPts val="0"/>
              </a:spcAft>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rPr>
              <a:t>--专/快车司机徐先生 37岁</a:t>
            </a:r>
          </a:p>
        </p:txBody>
      </p:sp>
      <p:sp>
        <p:nvSpPr>
          <p:cNvPr id="14" name="文本框 13"/>
          <p:cNvSpPr txBox="1"/>
          <p:nvPr/>
        </p:nvSpPr>
        <p:spPr>
          <a:xfrm>
            <a:off x="2806035" y="4583211"/>
            <a:ext cx="2347766" cy="683895"/>
          </a:xfrm>
          <a:prstGeom prst="rect">
            <a:avLst/>
          </a:prstGeom>
          <a:noFill/>
        </p:spPr>
        <p:txBody>
          <a:bodyPr wrap="square" rtlCol="0">
            <a:spAutoFit/>
          </a:bodyPr>
          <a:lstStyle/>
          <a:p>
            <a:pPr>
              <a:buClrTx/>
              <a:buSzTx/>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最不合理的就是叫你黄线停车，我一定不会给他停，我一定会往前面开，开到没有黄线</a:t>
            </a:r>
            <a:r>
              <a:rPr lang="zh-CN" altLang="en-US" sz="900" i="1">
                <a:latin typeface="微软雅黑" panose="020B0503020204020204" pitchFamily="34" charset="-122"/>
                <a:ea typeface="微软雅黑" panose="020B0503020204020204" pitchFamily="34" charset="-122"/>
                <a:cs typeface="微软雅黑" panose="020B0503020204020204" pitchFamily="34" charset="-122"/>
              </a:rPr>
              <a:t>的地方</a:t>
            </a: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r">
              <a:spcBef>
                <a:spcPts val="300"/>
              </a:spcBef>
              <a:spcAft>
                <a:spcPts val="0"/>
              </a:spcAft>
              <a:buClrTx/>
              <a:buSzTx/>
              <a:buFontTx/>
              <a:buNone/>
            </a:pPr>
            <a:r>
              <a:rPr lang="en-US" altLang="zh-CN" sz="900" i="1">
                <a:sym typeface="+mn-ea"/>
              </a:rPr>
              <a:t>                     </a:t>
            </a:r>
            <a:r>
              <a:rPr lang="en-US" altLang="zh-CN" sz="900" i="1" dirty="0">
                <a:sym typeface="+mn-ea"/>
              </a:rPr>
              <a:t>--快车司机陈先生 26岁</a:t>
            </a:r>
            <a:endParaRPr lang="en-US" altLang="zh-CN" sz="900" i="1" dirty="0"/>
          </a:p>
        </p:txBody>
      </p:sp>
      <p:sp>
        <p:nvSpPr>
          <p:cNvPr id="17" name="文本框 16"/>
          <p:cNvSpPr txBox="1"/>
          <p:nvPr/>
        </p:nvSpPr>
        <p:spPr>
          <a:xfrm>
            <a:off x="5240263" y="4610421"/>
            <a:ext cx="2186837" cy="544830"/>
          </a:xfrm>
          <a:prstGeom prst="rect">
            <a:avLst/>
          </a:prstGeom>
          <a:noFill/>
        </p:spPr>
        <p:txBody>
          <a:bodyPr wrap="square" rtlCol="0">
            <a:spAutoFit/>
          </a:bodyPr>
          <a:lstStyle/>
          <a:p>
            <a:pPr indent="0">
              <a:lnSpc>
                <a:spcPct val="100000"/>
              </a:lnSpc>
              <a:buNone/>
            </a:pP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rPr>
              <a:t>我会跟他说让他走另外一根路进来，这样我就不用</a:t>
            </a:r>
            <a:r>
              <a:rPr lang="zh-CN" altLang="en-US" sz="900" i="1">
                <a:latin typeface="微软雅黑" panose="020B0503020204020204" pitchFamily="34" charset="-122"/>
                <a:ea typeface="微软雅黑" panose="020B0503020204020204" pitchFamily="34" charset="-122"/>
                <a:cs typeface="微软雅黑" panose="020B0503020204020204" pitchFamily="34" charset="-122"/>
              </a:rPr>
              <a:t>走很多</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rPr>
              <a:t>”</a:t>
            </a:r>
          </a:p>
          <a:p>
            <a:pPr algn="r">
              <a:lnSpc>
                <a:spcPct val="100000"/>
              </a:lnSpc>
              <a:spcBef>
                <a:spcPts val="300"/>
              </a:spcBef>
              <a:spcAft>
                <a:spcPts val="0"/>
              </a:spcAft>
              <a:buClrTx/>
              <a:buSzTx/>
              <a:buFontTx/>
              <a:buNone/>
            </a:pPr>
            <a:r>
              <a:rPr lang="en-US" altLang="zh-CN" sz="900" i="1" dirty="0"/>
              <a:t>--</a:t>
            </a:r>
            <a:r>
              <a:rPr lang="zh-CN" altLang="en-US" sz="900" i="1" dirty="0"/>
              <a:t>海</a:t>
            </a:r>
            <a:r>
              <a:rPr lang="en-US" altLang="zh-CN" sz="900" i="1" dirty="0"/>
              <a:t>外投资林先生（快车） 38岁</a:t>
            </a:r>
          </a:p>
        </p:txBody>
      </p:sp>
      <p:sp>
        <p:nvSpPr>
          <p:cNvPr id="20" name="文本框 19"/>
          <p:cNvSpPr txBox="1"/>
          <p:nvPr/>
        </p:nvSpPr>
        <p:spPr>
          <a:xfrm>
            <a:off x="2800800" y="5641340"/>
            <a:ext cx="4531360" cy="544830"/>
          </a:xfrm>
          <a:prstGeom prst="rect">
            <a:avLst/>
          </a:prstGeom>
        </p:spPr>
        <p:txBody>
          <a:bodyPr wrap="square">
            <a:spAutoFit/>
          </a:bodyPr>
          <a:lstStyle/>
          <a:p>
            <a:pPr defTabSz="266700"/>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在市中心不能停车的地方，他也知道不能停车，他说这个车子这么堵</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那我说我就在这个位置等你上车</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a:t>
            </a:r>
          </a:p>
          <a:p>
            <a:pPr algn="r" defTabSz="914400">
              <a:spcBef>
                <a:spcPts val="300"/>
              </a:spcBef>
              <a:spcAft>
                <a:spcPts val="0"/>
              </a:spcAft>
              <a:buClrTx/>
              <a:buSzTx/>
              <a:buFont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900" i="1" dirty="0">
                <a:solidFill>
                  <a:schemeClr val="tx1">
                    <a:lumMod val="75000"/>
                    <a:lumOff val="25000"/>
                  </a:schemeClr>
                </a:solidFill>
              </a:rPr>
              <a:t>私人司机王先生 36岁</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停车位置沟通</a:t>
            </a:r>
          </a:p>
        </p:txBody>
      </p:sp>
      <p:sp>
        <p:nvSpPr>
          <p:cNvPr id="16" name="文本占位符 4"/>
          <p:cNvSpPr txBox="1"/>
          <p:nvPr/>
        </p:nvSpPr>
        <p:spPr>
          <a:xfrm>
            <a:off x="4280205" y="1384066"/>
            <a:ext cx="2093231"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停车位置沟通</a:t>
            </a:r>
          </a:p>
        </p:txBody>
      </p:sp>
      <p:sp>
        <p:nvSpPr>
          <p:cNvPr id="10" name="文本框 9"/>
          <p:cNvSpPr txBox="1"/>
          <p:nvPr/>
        </p:nvSpPr>
        <p:spPr>
          <a:xfrm>
            <a:off x="506726" y="700491"/>
            <a:ext cx="1525188" cy="255454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小区门口或者进小区</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2143529" y="1384066"/>
            <a:ext cx="152518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686169" y="1390744"/>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733800"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85523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483782" y="1390273"/>
            <a:ext cx="144949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933280"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4" name="文本框 13"/>
          <p:cNvSpPr txBox="1"/>
          <p:nvPr/>
        </p:nvSpPr>
        <p:spPr>
          <a:xfrm>
            <a:off x="2045479" y="2399455"/>
            <a:ext cx="1718579" cy="79066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专车可按客户需求进入小区</a:t>
            </a:r>
            <a:endParaRPr lang="en-US" altLang="zh-CN" sz="1050" dirty="0"/>
          </a:p>
          <a:p>
            <a:pPr marL="171450" indent="-171450">
              <a:lnSpc>
                <a:spcPct val="150000"/>
              </a:lnSpc>
              <a:buFont typeface="Arial" panose="020B0604020202020204" pitchFamily="34" charset="0"/>
              <a:buChar char="•"/>
            </a:pPr>
            <a:r>
              <a:rPr lang="zh-CN" altLang="en-US" sz="1050" dirty="0"/>
              <a:t>快车大多到小区门口</a:t>
            </a:r>
          </a:p>
        </p:txBody>
      </p:sp>
      <p:sp>
        <p:nvSpPr>
          <p:cNvPr id="19" name="文本框 18"/>
          <p:cNvSpPr txBox="1"/>
          <p:nvPr/>
        </p:nvSpPr>
        <p:spPr>
          <a:xfrm>
            <a:off x="3753200" y="1977764"/>
            <a:ext cx="2358338"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行车不便小区，司机都不爱去</a:t>
            </a:r>
          </a:p>
        </p:txBody>
      </p:sp>
      <p:sp>
        <p:nvSpPr>
          <p:cNvPr id="20" name="文本框 19"/>
          <p:cNvSpPr txBox="1"/>
          <p:nvPr/>
        </p:nvSpPr>
        <p:spPr>
          <a:xfrm>
            <a:off x="3753200" y="2193268"/>
            <a:ext cx="2620236" cy="496570"/>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老小区，可能需要倒出来，耽误时间</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快车司机没这项服务</a:t>
            </a:r>
          </a:p>
        </p:txBody>
      </p:sp>
      <p:sp>
        <p:nvSpPr>
          <p:cNvPr id="21" name="文本框 20"/>
          <p:cNvSpPr txBox="1"/>
          <p:nvPr/>
        </p:nvSpPr>
        <p:spPr>
          <a:xfrm>
            <a:off x="3753200" y="2849325"/>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高端小区</a:t>
            </a:r>
          </a:p>
        </p:txBody>
      </p:sp>
      <p:sp>
        <p:nvSpPr>
          <p:cNvPr id="23" name="文本框 22"/>
          <p:cNvSpPr txBox="1"/>
          <p:nvPr/>
        </p:nvSpPr>
        <p:spPr>
          <a:xfrm>
            <a:off x="3753200" y="3055066"/>
            <a:ext cx="2620236" cy="29400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还需要保安协调放行</a:t>
            </a:r>
          </a:p>
        </p:txBody>
      </p:sp>
      <p:sp>
        <p:nvSpPr>
          <p:cNvPr id="30" name="文本框 29"/>
          <p:cNvSpPr txBox="1"/>
          <p:nvPr/>
        </p:nvSpPr>
        <p:spPr>
          <a:xfrm>
            <a:off x="7154063" y="3040951"/>
            <a:ext cx="4864942" cy="2331407"/>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目的是小区门口，可提前跟乘客语音提示，是否需要送到小区具体几号楼的楼下</a:t>
            </a:r>
            <a:endParaRPr lang="en-US" altLang="zh-CN" sz="1050" dirty="0"/>
          </a:p>
          <a:p>
            <a:pPr marL="171450" indent="-171450">
              <a:spcBef>
                <a:spcPts val="600"/>
              </a:spcBef>
              <a:buFont typeface="Wingdings" panose="05000000000000000000" pitchFamily="2" charset="2"/>
              <a:buChar char="ü"/>
            </a:pPr>
            <a:r>
              <a:rPr lang="zh-CN" altLang="en-US" sz="1050" dirty="0"/>
              <a:t>如果目的地就是小区楼号，可支持智驾导航到地面楼门口</a:t>
            </a:r>
            <a:endParaRPr lang="en-US" altLang="zh-CN" sz="1050" dirty="0"/>
          </a:p>
          <a:p>
            <a:pPr marL="171450" indent="-171450">
              <a:spcBef>
                <a:spcPts val="600"/>
              </a:spcBef>
              <a:buFont typeface="Wingdings" panose="05000000000000000000" pitchFamily="2" charset="2"/>
              <a:buChar char="ü"/>
            </a:pPr>
            <a:r>
              <a:rPr lang="zh-CN" altLang="en-US" sz="1050" dirty="0"/>
              <a:t>如果目的地是写字楼与或者高档酒店，智驾可语音提示是否需要停在专属下客区还是停车场</a:t>
            </a:r>
            <a:r>
              <a:rPr lang="en-US" altLang="zh-CN" sz="1050" dirty="0"/>
              <a:t>or</a:t>
            </a:r>
            <a:r>
              <a:rPr lang="zh-CN" altLang="en-US" sz="1050" dirty="0"/>
              <a:t> 门口下车</a:t>
            </a:r>
            <a:r>
              <a:rPr lang="en-US" altLang="zh-CN" sz="1050" dirty="0"/>
              <a:t>(</a:t>
            </a:r>
            <a:r>
              <a:rPr lang="zh-CN" altLang="en-US" sz="1050" dirty="0"/>
              <a:t>前提是</a:t>
            </a:r>
            <a:r>
              <a:rPr lang="en-US" altLang="zh-CN" sz="1050" dirty="0"/>
              <a:t>NOA</a:t>
            </a:r>
            <a:r>
              <a:rPr lang="zh-CN" altLang="en-US" sz="1050" dirty="0"/>
              <a:t>支持）（距离目的地是</a:t>
            </a:r>
            <a:r>
              <a:rPr lang="en-US" altLang="zh-CN" sz="1050" dirty="0"/>
              <a:t>50-100</a:t>
            </a:r>
            <a:r>
              <a:rPr lang="zh-CN" altLang="en-US" sz="1050" dirty="0"/>
              <a:t>米时提示）</a:t>
            </a:r>
            <a:endParaRPr lang="en-US" altLang="zh-CN" sz="1050" dirty="0"/>
          </a:p>
          <a:p>
            <a:pPr marL="171450" indent="-171450">
              <a:spcBef>
                <a:spcPts val="600"/>
              </a:spcBef>
              <a:buFont typeface="Wingdings" panose="05000000000000000000" pitchFamily="2" charset="2"/>
              <a:buChar char="ü"/>
            </a:pPr>
            <a:r>
              <a:rPr lang="zh-CN" altLang="en-US" sz="1050" dirty="0"/>
              <a:t>对于收费停车场可绑定车牌号授权支持自动缴费（如支付宝小程序）</a:t>
            </a:r>
            <a:endParaRPr lang="en-US" altLang="zh-CN" sz="1050" dirty="0"/>
          </a:p>
          <a:p>
            <a:pPr marL="171450" indent="-171450">
              <a:spcBef>
                <a:spcPts val="600"/>
              </a:spcBef>
              <a:buFont typeface="Wingdings" panose="05000000000000000000" pitchFamily="2" charset="2"/>
              <a:buChar char="ü"/>
            </a:pPr>
            <a:r>
              <a:rPr lang="zh-CN" altLang="en-US" sz="1050" dirty="0"/>
              <a:t>智驾能够识别简单的小区保安，酒店接待人员手势，停一下或者继续行驶</a:t>
            </a:r>
            <a:endParaRPr lang="en-US" altLang="zh-CN" sz="1050" dirty="0"/>
          </a:p>
          <a:p>
            <a:pPr marL="171450" indent="-171450">
              <a:spcBef>
                <a:spcPts val="600"/>
              </a:spcBef>
              <a:buFont typeface="Wingdings" panose="05000000000000000000" pitchFamily="2" charset="2"/>
              <a:buChar char="ü"/>
            </a:pPr>
            <a:r>
              <a:rPr lang="zh-CN" altLang="en-US" sz="1050" dirty="0"/>
              <a:t>对于目的地是老小区不好停车的，提前提醒乘客，目的地不好停车，是否提前下车或泊车</a:t>
            </a:r>
            <a:endParaRPr lang="en-US" altLang="zh-CN" sz="1050" dirty="0"/>
          </a:p>
          <a:p>
            <a:pPr>
              <a:spcBef>
                <a:spcPts val="600"/>
              </a:spcBef>
            </a:pPr>
            <a:endParaRPr lang="en-US" altLang="zh-CN" sz="1050" dirty="0"/>
          </a:p>
        </p:txBody>
      </p:sp>
      <p:sp>
        <p:nvSpPr>
          <p:cNvPr id="8" name="文本框 7"/>
          <p:cNvSpPr txBox="1"/>
          <p:nvPr/>
        </p:nvSpPr>
        <p:spPr>
          <a:xfrm>
            <a:off x="388246" y="5022894"/>
            <a:ext cx="1718578" cy="276999"/>
          </a:xfrm>
          <a:prstGeom prst="rect">
            <a:avLst/>
          </a:prstGeom>
          <a:noFill/>
        </p:spPr>
        <p:txBody>
          <a:bodyPr wrap="square" rtlCol="0">
            <a:spAutoFit/>
          </a:bodyPr>
          <a:lstStyle/>
          <a:p>
            <a:pPr marL="285750" indent="-285750">
              <a:buFont typeface="Wingdings" panose="05000000000000000000" pitchFamily="2" charset="2"/>
              <a:buChar char="p"/>
            </a:pPr>
            <a:r>
              <a:rPr lang="zh-CN" altLang="en-US" sz="1200" b="1" dirty="0"/>
              <a:t>商务接待区下车</a:t>
            </a:r>
          </a:p>
        </p:txBody>
      </p:sp>
      <p:cxnSp>
        <p:nvCxnSpPr>
          <p:cNvPr id="11" name="直接连接符 10"/>
          <p:cNvCxnSpPr/>
          <p:nvPr/>
        </p:nvCxnSpPr>
        <p:spPr>
          <a:xfrm>
            <a:off x="582834" y="4149097"/>
            <a:ext cx="6242577"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015221" y="4549082"/>
            <a:ext cx="1718579" cy="5482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商务接待区下车，直接进大厅，节省时间</a:t>
            </a:r>
          </a:p>
        </p:txBody>
      </p:sp>
      <p:sp>
        <p:nvSpPr>
          <p:cNvPr id="31" name="文本框 30"/>
          <p:cNvSpPr txBox="1"/>
          <p:nvPr/>
        </p:nvSpPr>
        <p:spPr>
          <a:xfrm>
            <a:off x="3753200" y="4316841"/>
            <a:ext cx="1323080"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商务接待区</a:t>
            </a:r>
          </a:p>
        </p:txBody>
      </p:sp>
      <p:sp>
        <p:nvSpPr>
          <p:cNvPr id="33" name="文本框 32"/>
          <p:cNvSpPr txBox="1"/>
          <p:nvPr/>
        </p:nvSpPr>
        <p:spPr>
          <a:xfrm>
            <a:off x="3753200" y="4532934"/>
            <a:ext cx="1052830" cy="699135"/>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商务写字楼</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高端酒店</a:t>
            </a:r>
          </a:p>
          <a:p>
            <a:pPr marL="171450" indent="-171450" algn="l">
              <a:lnSpc>
                <a:spcPct val="120000"/>
              </a:lnSpc>
              <a:spcBef>
                <a:spcPts val="0"/>
              </a:spcBef>
              <a:spcAft>
                <a:spcPts val="0"/>
              </a:spcAft>
              <a:buClrTx/>
              <a:buSzTx/>
              <a:buFont typeface="Arial" panose="020B0604020202020204" pitchFamily="34" charset="0"/>
              <a:buChar char="•"/>
            </a:pPr>
            <a:r>
              <a:rPr lang="zh-CN" altLang="en-US" sz="1100" dirty="0"/>
              <a:t>高端饭店</a:t>
            </a:r>
          </a:p>
        </p:txBody>
      </p:sp>
      <p:sp>
        <p:nvSpPr>
          <p:cNvPr id="39" name="文本框 38"/>
          <p:cNvSpPr txBox="1"/>
          <p:nvPr/>
        </p:nvSpPr>
        <p:spPr>
          <a:xfrm>
            <a:off x="6792426" y="2764136"/>
            <a:ext cx="723275" cy="253916"/>
          </a:xfrm>
          <a:prstGeom prst="rect">
            <a:avLst/>
          </a:prstGeom>
          <a:noFill/>
        </p:spPr>
        <p:txBody>
          <a:bodyPr wrap="none" rtlCol="0">
            <a:spAutoFit/>
          </a:bodyPr>
          <a:lstStyle/>
          <a:p>
            <a:r>
              <a:rPr lang="zh-CN" altLang="en-US" sz="1050" b="1" dirty="0"/>
              <a:t>机会点：</a:t>
            </a:r>
          </a:p>
        </p:txBody>
      </p:sp>
      <p:sp>
        <p:nvSpPr>
          <p:cNvPr id="40" name="文本框 39"/>
          <p:cNvSpPr txBox="1"/>
          <p:nvPr/>
        </p:nvSpPr>
        <p:spPr>
          <a:xfrm>
            <a:off x="6841246" y="5118443"/>
            <a:ext cx="588623" cy="253916"/>
          </a:xfrm>
          <a:prstGeom prst="rect">
            <a:avLst/>
          </a:prstGeom>
          <a:noFill/>
        </p:spPr>
        <p:txBody>
          <a:bodyPr wrap="none" rtlCol="0">
            <a:spAutoFit/>
          </a:bodyPr>
          <a:lstStyle/>
          <a:p>
            <a:r>
              <a:rPr lang="zh-CN" altLang="en-US" sz="1050" b="1" dirty="0"/>
              <a:t>展望：</a:t>
            </a:r>
          </a:p>
        </p:txBody>
      </p:sp>
      <p:sp>
        <p:nvSpPr>
          <p:cNvPr id="41" name="文本框 40"/>
          <p:cNvSpPr txBox="1"/>
          <p:nvPr/>
        </p:nvSpPr>
        <p:spPr>
          <a:xfrm>
            <a:off x="6790662" y="182847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43" name="文本框 42"/>
          <p:cNvSpPr txBox="1"/>
          <p:nvPr/>
        </p:nvSpPr>
        <p:spPr>
          <a:xfrm>
            <a:off x="7154064" y="2039650"/>
            <a:ext cx="4970272" cy="790666"/>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通过提前学习泊车，部分场景支持</a:t>
            </a:r>
            <a:r>
              <a:rPr lang="en-US" altLang="zh-CN" sz="1050" dirty="0"/>
              <a:t>D2D</a:t>
            </a:r>
            <a:r>
              <a:rPr lang="zh-CN" altLang="en-US" sz="1050" dirty="0"/>
              <a:t>场景，但是对于陌生地点不支持</a:t>
            </a:r>
            <a:endParaRPr lang="en-US" altLang="zh-CN" sz="1050" dirty="0"/>
          </a:p>
          <a:p>
            <a:pPr marL="285750" indent="-285750">
              <a:lnSpc>
                <a:spcPct val="150000"/>
              </a:lnSpc>
              <a:buFont typeface="Wingdings" panose="05000000000000000000" pitchFamily="2" charset="2"/>
              <a:buChar char="ü"/>
            </a:pPr>
            <a:r>
              <a:rPr lang="zh-CN" altLang="en-US" sz="1050" dirty="0"/>
              <a:t>智驾可提前记忆车位，但不支持记忆临停位置，不支持陌生小区或者园区内行驶，到闸机口智驾就退出了</a:t>
            </a:r>
          </a:p>
        </p:txBody>
      </p:sp>
      <p:sp>
        <p:nvSpPr>
          <p:cNvPr id="4" name="文本框 3"/>
          <p:cNvSpPr txBox="1"/>
          <p:nvPr/>
        </p:nvSpPr>
        <p:spPr>
          <a:xfrm>
            <a:off x="7104652" y="5416367"/>
            <a:ext cx="4833202"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支持</a:t>
            </a:r>
            <a:r>
              <a:rPr lang="en-US" altLang="zh-CN" sz="1050" dirty="0"/>
              <a:t>L4</a:t>
            </a:r>
            <a:r>
              <a:rPr lang="zh-CN" altLang="en-US" sz="1050" dirty="0"/>
              <a:t>全场景，解决所有最后</a:t>
            </a:r>
            <a:r>
              <a:rPr lang="en-US" altLang="zh-CN" sz="1050" dirty="0"/>
              <a:t>100</a:t>
            </a:r>
            <a:r>
              <a:rPr lang="zh-CN" altLang="en-US" sz="1050" dirty="0"/>
              <a:t>米的场景，园区内，小区，地上地下停车场，做到真正的车位到车位（</a:t>
            </a:r>
            <a:r>
              <a:rPr lang="en-US" altLang="zh-CN" sz="1050" dirty="0"/>
              <a:t>D2D</a:t>
            </a:r>
            <a:r>
              <a:rPr lang="zh-CN" altLang="en-US" sz="1050" dirty="0"/>
              <a:t>）</a:t>
            </a:r>
            <a:endParaRPr lang="en-US" altLang="zh-CN" sz="1050" dirty="0"/>
          </a:p>
          <a:p>
            <a:pPr marL="171450" indent="-171450">
              <a:spcBef>
                <a:spcPts val="600"/>
              </a:spcBef>
              <a:buFont typeface="Wingdings" panose="05000000000000000000" pitchFamily="2" charset="2"/>
              <a:buChar char="ü"/>
            </a:pPr>
            <a:r>
              <a:rPr lang="zh-CN" altLang="en-US" sz="1050" dirty="0"/>
              <a:t>能够车外语音交互控制智驾，支持小区保安或管理人员指导停车</a:t>
            </a:r>
            <a:endParaRPr lang="en-US" altLang="zh-CN" sz="1050" dirty="0"/>
          </a:p>
          <a:p>
            <a:pPr marL="171450" indent="-171450">
              <a:spcBef>
                <a:spcPts val="600"/>
              </a:spcBef>
              <a:buFont typeface="Wingdings" panose="05000000000000000000" pitchFamily="2" charset="2"/>
              <a:buChar char="ü"/>
            </a:pPr>
            <a:endParaRPr lang="zh-CN" altLang="en-US" sz="1050" dirty="0"/>
          </a:p>
        </p:txBody>
      </p:sp>
      <p:sp>
        <p:nvSpPr>
          <p:cNvPr id="3" name="文本框 2"/>
          <p:cNvSpPr txBox="1"/>
          <p:nvPr/>
        </p:nvSpPr>
        <p:spPr>
          <a:xfrm>
            <a:off x="3753200" y="3448633"/>
            <a:ext cx="2868018" cy="683895"/>
          </a:xfrm>
          <a:prstGeom prst="rect">
            <a:avLst/>
          </a:prstGeom>
          <a:noFill/>
        </p:spPr>
        <p:txBody>
          <a:bodyPr wrap="square" rtlCol="0">
            <a:spAutoFit/>
          </a:bodyPr>
          <a:lstStyle/>
          <a:p>
            <a:pPr indent="0">
              <a:lnSpc>
                <a:spcPct val="100000"/>
              </a:lnSpc>
              <a:buNone/>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最不合理的就是进小区，因为他没有设在里面，他是设在小区门口，非要你进小区，万一时间超了，或者大小区，绕路的我要报备，这个是比较</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麻烦的</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indent="0" algn="r">
              <a:lnSpc>
                <a:spcPct val="100000"/>
              </a:lnSpc>
              <a:spcBef>
                <a:spcPts val="300"/>
              </a:spcBef>
              <a:spcAft>
                <a:spcPts val="0"/>
              </a:spcAft>
              <a:buNone/>
            </a:pPr>
            <a:r>
              <a:rPr lang="en-US" altLang="zh-CN" sz="900" i="1">
                <a:solidFill>
                  <a:schemeClr val="tx1">
                    <a:lumMod val="75000"/>
                    <a:lumOff val="25000"/>
                  </a:schemeClr>
                </a:solidFill>
              </a:rPr>
              <a:t>                                          </a:t>
            </a:r>
            <a:r>
              <a:rPr lang="en-US" altLang="zh-CN" sz="900" i="1" dirty="0">
                <a:solidFill>
                  <a:schemeClr val="tx1">
                    <a:lumMod val="75000"/>
                    <a:lumOff val="25000"/>
                  </a:schemeClr>
                </a:solidFill>
              </a:rPr>
              <a:t>--</a:t>
            </a:r>
            <a:r>
              <a:rPr lang="zh-CN" altLang="en-US" sz="900" i="1" dirty="0">
                <a:solidFill>
                  <a:schemeClr val="tx1">
                    <a:lumMod val="75000"/>
                    <a:lumOff val="25000"/>
                  </a:schemeClr>
                </a:solidFill>
              </a:rPr>
              <a:t>专/快车司机徐先生 </a:t>
            </a:r>
            <a:r>
              <a:rPr lang="zh-CN" altLang="en-US" sz="900" i="1">
                <a:solidFill>
                  <a:schemeClr val="tx1">
                    <a:lumMod val="75000"/>
                    <a:lumOff val="25000"/>
                  </a:schemeClr>
                </a:solidFill>
              </a:rPr>
              <a:t>37岁</a:t>
            </a:r>
            <a:endParaRPr lang="en-US" altLang="zh-CN" sz="900" i="1" dirty="0">
              <a:solidFill>
                <a:schemeClr val="tx1">
                  <a:lumMod val="75000"/>
                  <a:lumOff val="25000"/>
                </a:schemeClr>
              </a:solidFill>
            </a:endParaRPr>
          </a:p>
        </p:txBody>
      </p:sp>
      <p:sp>
        <p:nvSpPr>
          <p:cNvPr id="5" name="文本框 4"/>
          <p:cNvSpPr txBox="1"/>
          <p:nvPr/>
        </p:nvSpPr>
        <p:spPr>
          <a:xfrm>
            <a:off x="3753200" y="5395595"/>
            <a:ext cx="3108325" cy="683895"/>
          </a:xfrm>
          <a:prstGeom prst="rect">
            <a:avLst/>
          </a:prstGeom>
        </p:spPr>
        <p:txBody>
          <a:bodyPr wrap="square">
            <a:spAutoFit/>
          </a:bodyPr>
          <a:lstStyle/>
          <a:p>
            <a:pPr defTabSz="266700"/>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作为一个司机，你本能反应就是这个地方附近，我哪里可以停车，或者他去商务楼的话，你就直接往商务楼下面停就行了</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a:t>
            </a:r>
          </a:p>
          <a:p>
            <a:pPr algn="r" defTabSz="266700">
              <a:lnSpc>
                <a:spcPct val="100000"/>
              </a:lnSpc>
              <a:spcBef>
                <a:spcPts val="300"/>
              </a:spcBef>
              <a:spcAft>
                <a:spcPts val="0"/>
              </a:spcAft>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私人司机王先生</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 36</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安全提醒</a:t>
            </a:r>
          </a:p>
        </p:txBody>
      </p:sp>
      <p:sp>
        <p:nvSpPr>
          <p:cNvPr id="16" name="文本占位符 4"/>
          <p:cNvSpPr txBox="1"/>
          <p:nvPr/>
        </p:nvSpPr>
        <p:spPr>
          <a:xfrm>
            <a:off x="3244871"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安全提醒</a:t>
            </a:r>
          </a:p>
        </p:txBody>
      </p:sp>
      <p:sp>
        <p:nvSpPr>
          <p:cNvPr id="10" name="文本框 9"/>
          <p:cNvSpPr txBox="1"/>
          <p:nvPr/>
        </p:nvSpPr>
        <p:spPr>
          <a:xfrm>
            <a:off x="425035" y="2186095"/>
            <a:ext cx="1169602" cy="3708708"/>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开门刹等安全提醒</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遗留物品与行李提醒</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特殊乘客安全提醒</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266839" y="1401439"/>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080252"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599084"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493824"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217565" y="1396060"/>
            <a:ext cx="129871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575549"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396220" y="1910582"/>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恶劣天气下车提醒</a:t>
            </a:r>
          </a:p>
        </p:txBody>
      </p:sp>
      <p:sp>
        <p:nvSpPr>
          <p:cNvPr id="15" name="文本框 14"/>
          <p:cNvSpPr txBox="1"/>
          <p:nvPr/>
        </p:nvSpPr>
        <p:spPr>
          <a:xfrm>
            <a:off x="2610000" y="1903729"/>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特殊路段提醒场景</a:t>
            </a:r>
          </a:p>
        </p:txBody>
      </p:sp>
      <p:sp>
        <p:nvSpPr>
          <p:cNvPr id="50" name="文本框 49"/>
          <p:cNvSpPr txBox="1"/>
          <p:nvPr/>
        </p:nvSpPr>
        <p:spPr>
          <a:xfrm>
            <a:off x="2610000" y="3278357"/>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车内物品</a:t>
            </a:r>
          </a:p>
        </p:txBody>
      </p:sp>
      <p:cxnSp>
        <p:nvCxnSpPr>
          <p:cNvPr id="66" name="直接连接符 65"/>
          <p:cNvCxnSpPr/>
          <p:nvPr/>
        </p:nvCxnSpPr>
        <p:spPr>
          <a:xfrm>
            <a:off x="748037" y="3249731"/>
            <a:ext cx="5745787"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560677" y="2145921"/>
            <a:ext cx="807000" cy="7895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后方来车提醒</a:t>
            </a:r>
            <a:endParaRPr lang="en-US" altLang="zh-CN" sz="1050" dirty="0"/>
          </a:p>
          <a:p>
            <a:pPr marL="171450" indent="-171450">
              <a:lnSpc>
                <a:spcPct val="150000"/>
              </a:lnSpc>
              <a:buFont typeface="Arial" panose="020B0604020202020204" pitchFamily="34" charset="0"/>
              <a:buChar char="•"/>
            </a:pPr>
            <a:endParaRPr lang="zh-CN" altLang="en-US" sz="1050" dirty="0"/>
          </a:p>
        </p:txBody>
      </p:sp>
      <p:sp>
        <p:nvSpPr>
          <p:cNvPr id="35" name="文本框 34"/>
          <p:cNvSpPr txBox="1"/>
          <p:nvPr/>
        </p:nvSpPr>
        <p:spPr>
          <a:xfrm>
            <a:off x="4882725" y="3268238"/>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后备箱行李提醒</a:t>
            </a:r>
          </a:p>
        </p:txBody>
      </p:sp>
      <p:cxnSp>
        <p:nvCxnSpPr>
          <p:cNvPr id="3" name="直接连接符 2"/>
          <p:cNvCxnSpPr/>
          <p:nvPr/>
        </p:nvCxnSpPr>
        <p:spPr>
          <a:xfrm>
            <a:off x="551709" y="4757172"/>
            <a:ext cx="5942115"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583950" y="3397621"/>
            <a:ext cx="1137635" cy="103304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车内物品遗落提醒</a:t>
            </a:r>
            <a:endParaRPr lang="en-US" altLang="zh-CN" sz="1050" dirty="0"/>
          </a:p>
          <a:p>
            <a:pPr marL="171450" indent="-171450">
              <a:lnSpc>
                <a:spcPct val="150000"/>
              </a:lnSpc>
              <a:buFont typeface="Arial" panose="020B0604020202020204" pitchFamily="34" charset="0"/>
              <a:buChar char="•"/>
            </a:pPr>
            <a:r>
              <a:rPr lang="zh-CN" altLang="en-US" sz="1050" dirty="0"/>
              <a:t>后备箱行李提醒</a:t>
            </a:r>
          </a:p>
        </p:txBody>
      </p:sp>
      <p:sp>
        <p:nvSpPr>
          <p:cNvPr id="12" name="文本框 11"/>
          <p:cNvSpPr txBox="1"/>
          <p:nvPr/>
        </p:nvSpPr>
        <p:spPr>
          <a:xfrm>
            <a:off x="2610000" y="4822616"/>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特殊群体下车提醒</a:t>
            </a:r>
          </a:p>
        </p:txBody>
      </p:sp>
      <p:sp>
        <p:nvSpPr>
          <p:cNvPr id="8" name="文本框 7"/>
          <p:cNvSpPr txBox="1"/>
          <p:nvPr/>
        </p:nvSpPr>
        <p:spPr>
          <a:xfrm>
            <a:off x="2610000" y="2116800"/>
            <a:ext cx="887730" cy="575945"/>
          </a:xfrm>
          <a:prstGeom prst="rect">
            <a:avLst/>
          </a:prstGeom>
          <a:noFill/>
        </p:spPr>
        <p:txBody>
          <a:bodyPr wrap="none" rtlCol="0">
            <a:spAutoFit/>
          </a:bodyPr>
          <a:lstStyle/>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繁忙路段</a:t>
            </a:r>
          </a:p>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夜间</a:t>
            </a:r>
          </a:p>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电动车等</a:t>
            </a:r>
          </a:p>
        </p:txBody>
      </p:sp>
      <p:sp>
        <p:nvSpPr>
          <p:cNvPr id="11" name="文本框 10"/>
          <p:cNvSpPr txBox="1"/>
          <p:nvPr/>
        </p:nvSpPr>
        <p:spPr>
          <a:xfrm>
            <a:off x="4419259" y="2116800"/>
            <a:ext cx="1421130" cy="414020"/>
          </a:xfrm>
          <a:prstGeom prst="rect">
            <a:avLst/>
          </a:prstGeom>
          <a:noFill/>
        </p:spPr>
        <p:txBody>
          <a:bodyPr wrap="none" rtlCol="0">
            <a:spAutoFit/>
          </a:bodyPr>
          <a:lstStyle/>
          <a:p>
            <a:pPr marL="171450" indent="-171450" algn="l">
              <a:spcBef>
                <a:spcPts val="0"/>
              </a:spcBef>
              <a:spcAft>
                <a:spcPts val="0"/>
              </a:spcAft>
              <a:buClrTx/>
              <a:buSzTx/>
              <a:buFont typeface="Arial" panose="020B0604020202020204" pitchFamily="34" charset="0"/>
              <a:buChar char="•"/>
            </a:pPr>
            <a:r>
              <a:rPr lang="zh-CN" altLang="en-US" sz="1050" dirty="0"/>
              <a:t>雨雪天，注意路滑</a:t>
            </a:r>
          </a:p>
          <a:p>
            <a:pPr marL="171450" indent="-171450" algn="l">
              <a:spcBef>
                <a:spcPts val="0"/>
              </a:spcBef>
              <a:spcAft>
                <a:spcPts val="0"/>
              </a:spcAft>
              <a:buClrTx/>
              <a:buSzTx/>
              <a:buFont typeface="Arial" panose="020B0604020202020204" pitchFamily="34" charset="0"/>
              <a:buChar char="•"/>
            </a:pPr>
            <a:r>
              <a:rPr lang="zh-CN" altLang="en-US" sz="1050" dirty="0"/>
              <a:t>冰雪路面</a:t>
            </a:r>
          </a:p>
        </p:txBody>
      </p:sp>
      <p:sp>
        <p:nvSpPr>
          <p:cNvPr id="17" name="文本框 16"/>
          <p:cNvSpPr txBox="1"/>
          <p:nvPr/>
        </p:nvSpPr>
        <p:spPr>
          <a:xfrm>
            <a:off x="2610000" y="5030980"/>
            <a:ext cx="1421130" cy="575945"/>
          </a:xfrm>
          <a:prstGeom prst="rect">
            <a:avLst/>
          </a:prstGeom>
          <a:noFill/>
        </p:spPr>
        <p:txBody>
          <a:bodyPr wrap="none" rtlCol="0">
            <a:spAutoFit/>
          </a:bodyPr>
          <a:lstStyle/>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醉酒，不下车报警</a:t>
            </a:r>
          </a:p>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小孩</a:t>
            </a:r>
          </a:p>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宠物等</a:t>
            </a:r>
          </a:p>
        </p:txBody>
      </p:sp>
      <p:sp>
        <p:nvSpPr>
          <p:cNvPr id="22" name="文本框 21"/>
          <p:cNvSpPr txBox="1"/>
          <p:nvPr/>
        </p:nvSpPr>
        <p:spPr>
          <a:xfrm>
            <a:off x="2610000" y="3495600"/>
            <a:ext cx="2179993" cy="575945"/>
          </a:xfrm>
          <a:prstGeom prst="rect">
            <a:avLst/>
          </a:prstGeom>
          <a:noFill/>
        </p:spPr>
        <p:txBody>
          <a:bodyPr wrap="square" rtlCol="0">
            <a:spAutoFit/>
          </a:bodyPr>
          <a:lstStyle/>
          <a:p>
            <a:pPr marL="171450" indent="-171450" algn="l">
              <a:spcBef>
                <a:spcPts val="0"/>
              </a:spcBef>
              <a:spcAft>
                <a:spcPts val="0"/>
              </a:spcAft>
              <a:buClrTx/>
              <a:buSzTx/>
              <a:buFont typeface="Arial" panose="020B0604020202020204" pitchFamily="34" charset="0"/>
              <a:buChar char="•"/>
            </a:pPr>
            <a:r>
              <a:rPr lang="zh-CN" altLang="en-US" sz="1050" dirty="0"/>
              <a:t>司机不愿意无偿服务，认为遗落物品时乘客的责任</a:t>
            </a:r>
          </a:p>
          <a:p>
            <a:pPr marL="171450" indent="-171450" algn="l">
              <a:spcBef>
                <a:spcPts val="0"/>
              </a:spcBef>
              <a:spcAft>
                <a:spcPts val="0"/>
              </a:spcAft>
              <a:buClrTx/>
              <a:buSzTx/>
              <a:buFont typeface="Arial" panose="020B0604020202020204" pitchFamily="34" charset="0"/>
              <a:buChar char="•"/>
            </a:pPr>
            <a:r>
              <a:rPr lang="zh-CN" altLang="en-US" sz="1050" dirty="0"/>
              <a:t>贵重物品提醒</a:t>
            </a:r>
          </a:p>
        </p:txBody>
      </p:sp>
      <p:sp>
        <p:nvSpPr>
          <p:cNvPr id="27" name="文本框 26"/>
          <p:cNvSpPr txBox="1"/>
          <p:nvPr/>
        </p:nvSpPr>
        <p:spPr>
          <a:xfrm>
            <a:off x="4888882" y="3495600"/>
            <a:ext cx="1421863" cy="414020"/>
          </a:xfrm>
          <a:prstGeom prst="rect">
            <a:avLst/>
          </a:prstGeom>
          <a:noFill/>
        </p:spPr>
        <p:txBody>
          <a:bodyPr wrap="square" rtlCol="0">
            <a:spAutoFit/>
          </a:bodyPr>
          <a:lstStyle/>
          <a:p>
            <a:pPr marL="171450" indent="-171450" algn="l">
              <a:spcBef>
                <a:spcPts val="0"/>
              </a:spcBef>
              <a:spcAft>
                <a:spcPts val="0"/>
              </a:spcAft>
              <a:buClrTx/>
              <a:buSzTx/>
              <a:buFont typeface="Arial" panose="020B0604020202020204" pitchFamily="34" charset="0"/>
              <a:buChar char="•"/>
            </a:pPr>
            <a:r>
              <a:rPr lang="zh-CN" altLang="en-US" sz="1050" dirty="0"/>
              <a:t>提醒拿行李</a:t>
            </a:r>
          </a:p>
          <a:p>
            <a:pPr marL="171450" indent="-171450" algn="l">
              <a:spcBef>
                <a:spcPts val="0"/>
              </a:spcBef>
              <a:spcAft>
                <a:spcPts val="0"/>
              </a:spcAft>
              <a:buClrTx/>
              <a:buSzTx/>
              <a:buFont typeface="Arial" panose="020B0604020202020204" pitchFamily="34" charset="0"/>
              <a:buChar char="•"/>
            </a:pPr>
            <a:r>
              <a:rPr lang="zh-CN" altLang="en-US" sz="1050" dirty="0"/>
              <a:t>帮助拿行</a:t>
            </a:r>
            <a:r>
              <a:rPr lang="zh-CN" altLang="en-US" sz="1050"/>
              <a:t>李</a:t>
            </a:r>
            <a:endParaRPr lang="en-US" altLang="zh-CN" sz="1050" dirty="0"/>
          </a:p>
        </p:txBody>
      </p:sp>
      <p:sp>
        <p:nvSpPr>
          <p:cNvPr id="31" name="文本框 30"/>
          <p:cNvSpPr txBox="1"/>
          <p:nvPr/>
        </p:nvSpPr>
        <p:spPr>
          <a:xfrm>
            <a:off x="6989092" y="3037592"/>
            <a:ext cx="4978493" cy="2546851"/>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下车根据特殊路段与天气场景进行针对性提醒，避免开门刹，如繁忙路段，夜间，电动车穿行等场景进行分别针对性语音提醒，针对雨雪天气及雨雪路面（传感器识别）进行语音提醒</a:t>
            </a:r>
            <a:endParaRPr lang="en-US" altLang="zh-CN" sz="1050" dirty="0"/>
          </a:p>
          <a:p>
            <a:pPr marL="171450" indent="-171450">
              <a:spcBef>
                <a:spcPts val="600"/>
              </a:spcBef>
              <a:buFont typeface="Wingdings" panose="05000000000000000000" pitchFamily="2" charset="2"/>
              <a:buChar char="ü"/>
            </a:pPr>
            <a:r>
              <a:rPr lang="zh-CN" altLang="en-US" sz="1050" dirty="0"/>
              <a:t>下车时语音提醒拿好车内物品与行李箱，能够车内精准识别哪些用户拿了车内物品与行李箱，对于没有车内物品或者没有行李箱的乘客不提醒</a:t>
            </a:r>
            <a:endParaRPr lang="en-US" altLang="zh-CN" sz="1050" dirty="0"/>
          </a:p>
          <a:p>
            <a:pPr marL="171450" indent="-171450">
              <a:spcBef>
                <a:spcPts val="600"/>
              </a:spcBef>
              <a:buFont typeface="Wingdings" panose="05000000000000000000" pitchFamily="2" charset="2"/>
              <a:buChar char="ü"/>
            </a:pPr>
            <a:r>
              <a:rPr lang="zh-CN" altLang="en-US" sz="1050" dirty="0"/>
              <a:t>下车时，针对特殊人群准备相应安全话术，进行提醒，如</a:t>
            </a:r>
            <a:endParaRPr lang="en-US" altLang="zh-CN" sz="1050" dirty="0"/>
          </a:p>
          <a:p>
            <a:pPr marL="171450" indent="-171450">
              <a:spcBef>
                <a:spcPts val="600"/>
              </a:spcBef>
              <a:buFont typeface="Arial" panose="020B0604020202020204" pitchFamily="34" charset="0"/>
              <a:buChar char="•"/>
            </a:pPr>
            <a:r>
              <a:rPr lang="en-US" altLang="zh-CN" sz="1000" dirty="0"/>
              <a:t>Robotaxi</a:t>
            </a:r>
            <a:r>
              <a:rPr lang="zh-CN" altLang="en-US" sz="1000" dirty="0"/>
              <a:t>对于醉酒人员要特殊提醒</a:t>
            </a:r>
            <a:endParaRPr lang="en-US" altLang="zh-CN" sz="1000" dirty="0"/>
          </a:p>
          <a:p>
            <a:pPr marL="171450" indent="-171450">
              <a:spcBef>
                <a:spcPts val="600"/>
              </a:spcBef>
              <a:buFont typeface="Arial" panose="020B0604020202020204" pitchFamily="34" charset="0"/>
              <a:buChar char="•"/>
            </a:pPr>
            <a:r>
              <a:rPr lang="en-US" altLang="zh-CN" sz="1000" dirty="0"/>
              <a:t>Robotaxi</a:t>
            </a:r>
            <a:r>
              <a:rPr lang="zh-CN" altLang="en-US" sz="1000" dirty="0"/>
              <a:t>对于有小孩的提醒下车时照看好小孩</a:t>
            </a:r>
            <a:endParaRPr lang="en-US" altLang="zh-CN" sz="1000" dirty="0"/>
          </a:p>
          <a:p>
            <a:pPr marL="171450" indent="-171450">
              <a:spcBef>
                <a:spcPts val="600"/>
              </a:spcBef>
              <a:buFont typeface="Arial" panose="020B0604020202020204" pitchFamily="34" charset="0"/>
              <a:buChar char="•"/>
            </a:pPr>
            <a:r>
              <a:rPr lang="en-US" altLang="zh-CN" sz="1000" dirty="0"/>
              <a:t>Robotaxi</a:t>
            </a:r>
            <a:r>
              <a:rPr lang="zh-CN" altLang="en-US" sz="1000" dirty="0"/>
              <a:t>对于有宠物的提醒下车时避免宠物乱跑</a:t>
            </a:r>
            <a:endParaRPr lang="en-US" altLang="zh-CN" sz="1000" dirty="0"/>
          </a:p>
          <a:p>
            <a:pPr marL="171450" indent="-171450">
              <a:spcBef>
                <a:spcPts val="600"/>
              </a:spcBef>
              <a:buFont typeface="Wingdings" panose="05000000000000000000" pitchFamily="2" charset="2"/>
              <a:buChar char="ü"/>
            </a:pPr>
            <a:r>
              <a:rPr lang="en-US" altLang="zh-CN" sz="1050" dirty="0"/>
              <a:t>Robotaxi</a:t>
            </a:r>
            <a:r>
              <a:rPr lang="zh-CN" altLang="en-US" sz="1050" dirty="0"/>
              <a:t>情况，还是遗忘物品的乘客，能够车内与后背箱拍照，并即使通知运营人员，进行处理</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38" name="文本框 37"/>
          <p:cNvSpPr txBox="1"/>
          <p:nvPr/>
        </p:nvSpPr>
        <p:spPr>
          <a:xfrm>
            <a:off x="1537402" y="5075823"/>
            <a:ext cx="1156698"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100" dirty="0"/>
              <a:t>特殊乘客提醒免责</a:t>
            </a:r>
            <a:endParaRPr lang="en-US" altLang="zh-CN" sz="1100" dirty="0"/>
          </a:p>
        </p:txBody>
      </p:sp>
      <p:sp>
        <p:nvSpPr>
          <p:cNvPr id="7" name="文本框 6"/>
          <p:cNvSpPr txBox="1"/>
          <p:nvPr/>
        </p:nvSpPr>
        <p:spPr>
          <a:xfrm>
            <a:off x="6452634" y="2658194"/>
            <a:ext cx="723275" cy="253916"/>
          </a:xfrm>
          <a:prstGeom prst="rect">
            <a:avLst/>
          </a:prstGeom>
          <a:noFill/>
        </p:spPr>
        <p:txBody>
          <a:bodyPr wrap="none" rtlCol="0">
            <a:spAutoFit/>
          </a:bodyPr>
          <a:lstStyle/>
          <a:p>
            <a:r>
              <a:rPr lang="zh-CN" altLang="en-US" sz="1050" b="1" dirty="0"/>
              <a:t>机会点：</a:t>
            </a:r>
          </a:p>
        </p:txBody>
      </p:sp>
      <p:sp>
        <p:nvSpPr>
          <p:cNvPr id="13" name="文本框 12"/>
          <p:cNvSpPr txBox="1"/>
          <p:nvPr/>
        </p:nvSpPr>
        <p:spPr>
          <a:xfrm>
            <a:off x="6522356" y="5250513"/>
            <a:ext cx="588623" cy="253916"/>
          </a:xfrm>
          <a:prstGeom prst="rect">
            <a:avLst/>
          </a:prstGeom>
          <a:noFill/>
        </p:spPr>
        <p:txBody>
          <a:bodyPr wrap="none" rtlCol="0">
            <a:spAutoFit/>
          </a:bodyPr>
          <a:lstStyle/>
          <a:p>
            <a:r>
              <a:rPr lang="zh-CN" altLang="en-US" sz="1050" b="1" dirty="0"/>
              <a:t>展望：</a:t>
            </a:r>
          </a:p>
        </p:txBody>
      </p:sp>
      <p:sp>
        <p:nvSpPr>
          <p:cNvPr id="14" name="文本框 13"/>
          <p:cNvSpPr txBox="1"/>
          <p:nvPr/>
        </p:nvSpPr>
        <p:spPr>
          <a:xfrm>
            <a:off x="6430582" y="187816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9" name="文本框 18"/>
          <p:cNvSpPr txBox="1"/>
          <p:nvPr/>
        </p:nvSpPr>
        <p:spPr>
          <a:xfrm>
            <a:off x="6989092" y="2165249"/>
            <a:ext cx="4423006" cy="569964"/>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100" dirty="0"/>
              <a:t>智能座舱能够做到日程提醒，手机遗忘提醒（放在无线充电板）</a:t>
            </a:r>
            <a:endParaRPr lang="en-US" altLang="zh-CN" sz="1100" dirty="0"/>
          </a:p>
          <a:p>
            <a:pPr marL="285750" indent="-285750">
              <a:lnSpc>
                <a:spcPct val="150000"/>
              </a:lnSpc>
              <a:buFont typeface="Wingdings" panose="05000000000000000000" pitchFamily="2" charset="2"/>
              <a:buChar char="ü"/>
            </a:pPr>
            <a:r>
              <a:rPr lang="zh-CN" altLang="en-US" sz="1100" dirty="0"/>
              <a:t>声音开门预警</a:t>
            </a:r>
            <a:r>
              <a:rPr lang="en-US" altLang="zh-CN" sz="1100" dirty="0"/>
              <a:t>+</a:t>
            </a:r>
            <a:r>
              <a:rPr lang="zh-CN" altLang="en-US" sz="1100" dirty="0"/>
              <a:t>后视镜盲区预警</a:t>
            </a:r>
          </a:p>
        </p:txBody>
      </p:sp>
      <p:sp>
        <p:nvSpPr>
          <p:cNvPr id="20" name="文本框 19"/>
          <p:cNvSpPr txBox="1"/>
          <p:nvPr/>
        </p:nvSpPr>
        <p:spPr>
          <a:xfrm>
            <a:off x="6989092" y="5516550"/>
            <a:ext cx="4108817" cy="548292"/>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050" dirty="0"/>
              <a:t>机器人能够帮助拿行李，照看小孩与宠物，搀扶醉酒人员下车</a:t>
            </a:r>
            <a:endParaRPr lang="en-US" altLang="zh-CN" sz="1050" dirty="0"/>
          </a:p>
          <a:p>
            <a:pPr marL="285750" indent="-285750">
              <a:lnSpc>
                <a:spcPct val="150000"/>
              </a:lnSpc>
              <a:buFont typeface="Wingdings" panose="05000000000000000000" pitchFamily="2" charset="2"/>
              <a:buChar char="ü"/>
            </a:pPr>
            <a:r>
              <a:rPr lang="zh-CN" altLang="en-US" sz="1050" dirty="0"/>
              <a:t>机器人对车内遗漏物品进行二次检查</a:t>
            </a:r>
          </a:p>
        </p:txBody>
      </p:sp>
      <p:sp>
        <p:nvSpPr>
          <p:cNvPr id="4" name="文本框 3"/>
          <p:cNvSpPr txBox="1"/>
          <p:nvPr/>
        </p:nvSpPr>
        <p:spPr>
          <a:xfrm>
            <a:off x="4281805" y="2673350"/>
            <a:ext cx="2249805" cy="622300"/>
          </a:xfrm>
          <a:prstGeom prst="rect">
            <a:avLst/>
          </a:prstGeom>
          <a:noFill/>
        </p:spPr>
        <p:txBody>
          <a:bodyPr wrap="square" rtlCol="0">
            <a:spAutoFit/>
          </a:bodyPr>
          <a:lstStyle/>
          <a:p>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提醒乘客带</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好东西，</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碰到一般下雨天，如果小区或者商务楼能开进去的，那我也可以跟他说开到里面，送</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到里面</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p>
          <a:p>
            <a:pPr algn="r">
              <a:spcBef>
                <a:spcPts val="300"/>
              </a:spcBef>
              <a:spcAft>
                <a:spcPts val="0"/>
              </a:spcAft>
              <a:buClrTx/>
              <a:buSzTx/>
              <a:buFontTx/>
            </a:pPr>
            <a:r>
              <a:rPr lang="en-US" altLang="zh-CN" sz="800" i="1"/>
              <a:t>      --</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专车司机杨先生 38岁</a:t>
            </a:r>
          </a:p>
        </p:txBody>
      </p:sp>
      <p:sp>
        <p:nvSpPr>
          <p:cNvPr id="5" name="文本框 4"/>
          <p:cNvSpPr txBox="1"/>
          <p:nvPr/>
        </p:nvSpPr>
        <p:spPr>
          <a:xfrm>
            <a:off x="2609850" y="4097020"/>
            <a:ext cx="2111005" cy="583565"/>
          </a:xfrm>
          <a:prstGeom prst="rect">
            <a:avLst/>
          </a:prstGeom>
          <a:noFill/>
        </p:spPr>
        <p:txBody>
          <a:bodyPr wrap="square" rtlCol="0">
            <a:spAutoFit/>
          </a:bodyPr>
          <a:lstStyle/>
          <a:p>
            <a:pPr indent="0">
              <a:lnSpc>
                <a:spcPct val="100000"/>
              </a:lnSpc>
              <a:spcBef>
                <a:spcPts val="0"/>
              </a:spcBef>
              <a:spcAft>
                <a:spcPts val="0"/>
              </a:spcAft>
              <a:buNone/>
            </a:pP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有些叫你免费送的，我说给你放派出所，有些是因为他自己的原因，他掉</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了手机</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不可能帮</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你白送</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00" i="1"/>
              <a:t>      </a:t>
            </a:r>
          </a:p>
          <a:p>
            <a:pPr indent="0" algn="r">
              <a:lnSpc>
                <a:spcPct val="100000"/>
              </a:lnSpc>
              <a:spcBef>
                <a:spcPts val="0"/>
              </a:spcBef>
              <a:spcAft>
                <a:spcPts val="0"/>
              </a:spcAft>
              <a:buNone/>
            </a:pPr>
            <a:r>
              <a:rPr lang="en-US" altLang="zh-CN" sz="800" i="1"/>
              <a:t>--</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快车司机陈先生 26岁</a:t>
            </a:r>
          </a:p>
        </p:txBody>
      </p:sp>
      <p:sp>
        <p:nvSpPr>
          <p:cNvPr id="21" name="文本框 20"/>
          <p:cNvSpPr txBox="1"/>
          <p:nvPr/>
        </p:nvSpPr>
        <p:spPr>
          <a:xfrm>
            <a:off x="2609850" y="5540375"/>
            <a:ext cx="2040890" cy="622300"/>
          </a:xfrm>
          <a:prstGeom prst="rect">
            <a:avLst/>
          </a:prstGeom>
          <a:noFill/>
        </p:spPr>
        <p:txBody>
          <a:bodyPr wrap="square" rtlCol="0">
            <a:spAutoFit/>
          </a:bodyPr>
          <a:lstStyle/>
          <a:p>
            <a:r>
              <a:rPr lang="en-US" altLang="zh-CN" sz="800" i="1" dirty="0">
                <a:latin typeface="微软雅黑" panose="020B0503020204020204" pitchFamily="34" charset="-122"/>
                <a:ea typeface="+mj-ea"/>
                <a:cs typeface="微软雅黑" panose="020B0503020204020204" pitchFamily="34" charset="-122"/>
              </a:rPr>
              <a:t>“</a:t>
            </a:r>
            <a:r>
              <a:rPr lang="zh-CN" altLang="en-US" sz="800" i="1" dirty="0">
                <a:latin typeface="微软雅黑" panose="020B0503020204020204" pitchFamily="34" charset="-122"/>
                <a:ea typeface="+mj-ea"/>
                <a:cs typeface="微软雅黑" panose="020B0503020204020204" pitchFamily="34" charset="-122"/>
              </a:rPr>
              <a:t>送小孩总归门口都有护卫，你就给他送到人行道上，或者送到哪里，碰到有些不方便的或者怎么样的，就</a:t>
            </a:r>
            <a:r>
              <a:rPr lang="zh-CN" altLang="en-US" sz="800" i="1">
                <a:latin typeface="微软雅黑" panose="020B0503020204020204" pitchFamily="34" charset="-122"/>
                <a:ea typeface="+mj-ea"/>
                <a:cs typeface="微软雅黑" panose="020B0503020204020204" pitchFamily="34" charset="-122"/>
              </a:rPr>
              <a:t>可以下车</a:t>
            </a:r>
            <a:r>
              <a:rPr lang="en-US" altLang="zh-CN" sz="800" i="1" dirty="0">
                <a:latin typeface="微软雅黑" panose="020B0503020204020204" pitchFamily="34" charset="-122"/>
                <a:ea typeface="+mj-ea"/>
                <a:cs typeface="微软雅黑" panose="020B0503020204020204" pitchFamily="34" charset="-122"/>
              </a:rPr>
              <a:t>”</a:t>
            </a:r>
            <a:endParaRPr lang="zh-CN" altLang="en-US" sz="800" i="1" dirty="0">
              <a:latin typeface="微软雅黑" panose="020B0503020204020204" pitchFamily="34" charset="-122"/>
              <a:ea typeface="+mj-ea"/>
              <a:cs typeface="微软雅黑" panose="020B0503020204020204" pitchFamily="34" charset="-122"/>
            </a:endParaRPr>
          </a:p>
          <a:p>
            <a:pPr algn="r">
              <a:spcBef>
                <a:spcPts val="300"/>
              </a:spcBef>
              <a:spcAft>
                <a:spcPts val="0"/>
              </a:spcAft>
              <a:buClrTx/>
              <a:buSzTx/>
              <a:buFontTx/>
            </a:pPr>
            <a:r>
              <a:rPr lang="en-US" altLang="zh-CN" sz="800" i="1">
                <a:latin typeface="微软雅黑" panose="020B0503020204020204" pitchFamily="34" charset="-122"/>
                <a:ea typeface="+mj-ea"/>
                <a:cs typeface="微软雅黑" panose="020B0503020204020204" pitchFamily="34" charset="-122"/>
              </a:rPr>
              <a:t>      -</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-专车司机黄女士 </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38岁</a:t>
            </a:r>
            <a:endParaRPr lang="en-US" altLang="zh-CN" sz="800" i="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框 22"/>
          <p:cNvSpPr txBox="1"/>
          <p:nvPr/>
        </p:nvSpPr>
        <p:spPr>
          <a:xfrm>
            <a:off x="5019040" y="4100195"/>
            <a:ext cx="1473200" cy="744855"/>
          </a:xfrm>
          <a:prstGeom prst="rect">
            <a:avLst/>
          </a:prstGeom>
          <a:noFill/>
        </p:spPr>
        <p:txBody>
          <a:bodyPr wrap="square" rtlCol="0">
            <a:spAutoFit/>
          </a:bodyPr>
          <a:lstStyle/>
          <a:p>
            <a:pPr indent="0">
              <a:lnSpc>
                <a:spcPct val="100000"/>
              </a:lnSpc>
              <a:spcBef>
                <a:spcPts val="0"/>
              </a:spcBef>
              <a:spcAft>
                <a:spcPts val="0"/>
              </a:spcAft>
              <a:buNone/>
            </a:pP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看到有行李箱的，我会帮他打开后备厢，有些人客气一点的，我就帮他拿一下</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00" i="1" dirty="0">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800" i="1" dirty="0"/>
              <a:t>--</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专车司机杨先生 38岁</a:t>
            </a:r>
            <a:r>
              <a:rPr lang="zh-CN" altLang="en-US" sz="800" i="1" dirty="0"/>
              <a:t>	</a:t>
            </a:r>
            <a:endParaRPr lang="en-US" altLang="zh-CN" sz="800" i="1" dirty="0"/>
          </a:p>
        </p:txBody>
      </p:sp>
      <p:sp>
        <p:nvSpPr>
          <p:cNvPr id="24" name="文本框 23"/>
          <p:cNvSpPr txBox="1"/>
          <p:nvPr/>
        </p:nvSpPr>
        <p:spPr>
          <a:xfrm>
            <a:off x="2610000" y="2664460"/>
            <a:ext cx="1808480" cy="622300"/>
          </a:xfrm>
          <a:prstGeom prst="rect">
            <a:avLst/>
          </a:prstGeom>
          <a:noFill/>
        </p:spPr>
        <p:txBody>
          <a:bodyPr wrap="square" rtlCol="0">
            <a:spAutoFit/>
          </a:bodyPr>
          <a:lstStyle/>
          <a:p>
            <a:pPr indent="0" algn="l">
              <a:buNone/>
            </a:pPr>
            <a:r>
              <a:rPr lang="en-US" sz="8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dirty="0">
                <a:latin typeface="微软雅黑" panose="020B0503020204020204" pitchFamily="34" charset="-122"/>
                <a:ea typeface="微软雅黑" panose="020B0503020204020204" pitchFamily="34" charset="-122"/>
                <a:cs typeface="微软雅黑" panose="020B0503020204020204" pitchFamily="34" charset="-122"/>
              </a:rPr>
              <a:t>你开门当心一点，后面有没有助动车，这个很重要，因为有些车在那种非机动车道的时候</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a:t>
            </a:r>
          </a:p>
          <a:p>
            <a:pPr algn="r">
              <a:spcBef>
                <a:spcPts val="300"/>
              </a:spcBef>
              <a:spcAft>
                <a:spcPts val="0"/>
              </a:spcAft>
              <a:buClrTx/>
              <a:buSzTx/>
              <a:buFontTx/>
              <a:buNone/>
            </a:pPr>
            <a:r>
              <a:rPr lang="en-US" altLang="zh-CN" sz="800" i="1" dirty="0"/>
              <a:t>-</a:t>
            </a:r>
            <a:r>
              <a:rPr lang="en-US" altLang="zh-CN" sz="800" i="1" dirty="0">
                <a:latin typeface="微软雅黑" panose="020B0503020204020204" pitchFamily="34" charset="-122"/>
                <a:ea typeface="微软雅黑" panose="020B0503020204020204" pitchFamily="34" charset="-122"/>
                <a:cs typeface="微软雅黑" panose="020B0503020204020204" pitchFamily="34" charset="-122"/>
              </a:rPr>
              <a:t>-保险业务施女士（专车） 29岁</a:t>
            </a:r>
            <a:endParaRPr lang="en-US" altLang="zh-CN" sz="800" i="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文本框 29"/>
          <p:cNvSpPr txBox="1"/>
          <p:nvPr/>
        </p:nvSpPr>
        <p:spPr>
          <a:xfrm>
            <a:off x="4650475" y="4824000"/>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隐私保护</a:t>
            </a:r>
          </a:p>
        </p:txBody>
      </p:sp>
      <p:sp>
        <p:nvSpPr>
          <p:cNvPr id="32" name="文本框 31"/>
          <p:cNvSpPr txBox="1"/>
          <p:nvPr/>
        </p:nvSpPr>
        <p:spPr>
          <a:xfrm>
            <a:off x="4688840" y="5028565"/>
            <a:ext cx="1805305" cy="575945"/>
          </a:xfrm>
          <a:prstGeom prst="rect">
            <a:avLst/>
          </a:prstGeom>
          <a:noFill/>
        </p:spPr>
        <p:txBody>
          <a:bodyPr wrap="square" rtlCol="0">
            <a:spAutoFit/>
          </a:bodyPr>
          <a:lstStyle/>
          <a:p>
            <a:pPr marL="171450" indent="-171450" algn="l">
              <a:lnSpc>
                <a:spcPct val="100000"/>
              </a:lnSpc>
              <a:spcBef>
                <a:spcPts val="0"/>
              </a:spcBef>
              <a:spcAft>
                <a:spcPts val="0"/>
              </a:spcAft>
              <a:buClrTx/>
              <a:buSzTx/>
              <a:buFont typeface="Arial" panose="020B0604020202020204" pitchFamily="34" charset="0"/>
              <a:buChar char="•"/>
            </a:pPr>
            <a:r>
              <a:rPr lang="zh-CN" altLang="en-US" sz="1050" dirty="0"/>
              <a:t>未系安全带或者虚系安全带会有电话主打打来，感觉被窥视</a:t>
            </a:r>
          </a:p>
        </p:txBody>
      </p:sp>
      <p:sp>
        <p:nvSpPr>
          <p:cNvPr id="33" name="文本框 32"/>
          <p:cNvSpPr txBox="1"/>
          <p:nvPr/>
        </p:nvSpPr>
        <p:spPr>
          <a:xfrm>
            <a:off x="4790440" y="5540375"/>
            <a:ext cx="1703705" cy="499110"/>
          </a:xfrm>
          <a:prstGeom prst="rect">
            <a:avLst/>
          </a:prstGeom>
          <a:noFill/>
        </p:spPr>
        <p:txBody>
          <a:bodyPr wrap="square" rtlCol="0" anchor="t">
            <a:spAutoFit/>
          </a:bodyPr>
          <a:lstStyle/>
          <a:p>
            <a:pPr>
              <a:lnSpc>
                <a:spcPct val="100000"/>
              </a:lnSpc>
              <a:spcBef>
                <a:spcPts val="300"/>
              </a:spcBef>
              <a:spcAft>
                <a:spcPts val="0"/>
              </a:spcAft>
            </a:pP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还有现在抓的很严的，我们要提醒他系安全带</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a:t>
            </a:r>
          </a:p>
          <a:p>
            <a:pPr indent="0" algn="r" fontAlgn="auto">
              <a:spcBef>
                <a:spcPts val="300"/>
              </a:spcBef>
            </a:pP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专车司机黄女士</a:t>
            </a:r>
            <a:r>
              <a:rPr lang="en-US" altLang="zh-CN" sz="800" i="1">
                <a:latin typeface="微软雅黑" panose="020B0503020204020204" pitchFamily="34" charset="-122"/>
                <a:ea typeface="微软雅黑" panose="020B0503020204020204" pitchFamily="34" charset="-122"/>
                <a:cs typeface="微软雅黑" panose="020B0503020204020204" pitchFamily="34" charset="-122"/>
              </a:rPr>
              <a:t> 38</a:t>
            </a:r>
            <a:r>
              <a:rPr lang="zh-CN" altLang="en-US" sz="800" i="1">
                <a:latin typeface="微软雅黑" panose="020B0503020204020204" pitchFamily="34" charset="-122"/>
                <a:ea typeface="微软雅黑" panose="020B0503020204020204" pitchFamily="34" charset="-122"/>
                <a:cs typeface="微软雅黑" panose="020B0503020204020204" pitchFamily="34" charset="-122"/>
              </a:rPr>
              <a:t>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服务评价</a:t>
            </a:r>
          </a:p>
        </p:txBody>
      </p:sp>
      <p:sp>
        <p:nvSpPr>
          <p:cNvPr id="16" name="文本占位符 4"/>
          <p:cNvSpPr txBox="1"/>
          <p:nvPr/>
        </p:nvSpPr>
        <p:spPr>
          <a:xfrm>
            <a:off x="3621050"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服务评价</a:t>
            </a:r>
          </a:p>
        </p:txBody>
      </p:sp>
      <p:sp>
        <p:nvSpPr>
          <p:cNvPr id="10" name="文本框 9"/>
          <p:cNvSpPr txBox="1"/>
          <p:nvPr/>
        </p:nvSpPr>
        <p:spPr>
          <a:xfrm>
            <a:off x="425036" y="2186095"/>
            <a:ext cx="1120018" cy="347787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司机主动索要好评</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客户服务后红包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有客户打车看评分</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629127" y="1408424"/>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699498"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33014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308776"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275439" y="1390273"/>
            <a:ext cx="1194839"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55486"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3330000" y="1902724"/>
            <a:ext cx="162736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无特殊服务索要好评</a:t>
            </a:r>
          </a:p>
        </p:txBody>
      </p:sp>
      <p:sp>
        <p:nvSpPr>
          <p:cNvPr id="50" name="文本框 49"/>
          <p:cNvSpPr txBox="1"/>
          <p:nvPr/>
        </p:nvSpPr>
        <p:spPr>
          <a:xfrm>
            <a:off x="3330000" y="3139495"/>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专车司机素质更高</a:t>
            </a:r>
          </a:p>
        </p:txBody>
      </p:sp>
      <p:cxnSp>
        <p:nvCxnSpPr>
          <p:cNvPr id="66" name="直接连接符 65"/>
          <p:cNvCxnSpPr/>
          <p:nvPr/>
        </p:nvCxnSpPr>
        <p:spPr>
          <a:xfrm>
            <a:off x="748037" y="2934004"/>
            <a:ext cx="656073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532000" y="2184569"/>
            <a:ext cx="1704313" cy="305918"/>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乘客普遍反感索要好评</a:t>
            </a:r>
          </a:p>
        </p:txBody>
      </p:sp>
      <p:sp>
        <p:nvSpPr>
          <p:cNvPr id="35" name="文本框 34"/>
          <p:cNvSpPr txBox="1"/>
          <p:nvPr/>
        </p:nvSpPr>
        <p:spPr>
          <a:xfrm>
            <a:off x="5028629" y="3139200"/>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专车好评率更高</a:t>
            </a:r>
          </a:p>
        </p:txBody>
      </p:sp>
      <p:cxnSp>
        <p:nvCxnSpPr>
          <p:cNvPr id="3" name="直接连接符 2"/>
          <p:cNvCxnSpPr/>
          <p:nvPr/>
        </p:nvCxnSpPr>
        <p:spPr>
          <a:xfrm flipV="1">
            <a:off x="551709" y="4889713"/>
            <a:ext cx="6757067" cy="53207"/>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529226" y="3325113"/>
            <a:ext cx="1718579" cy="127541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专车司机服务水平更高，人群素质更高，好评率更高</a:t>
            </a:r>
            <a:endParaRPr lang="en-US" altLang="zh-CN" sz="1050" dirty="0"/>
          </a:p>
          <a:p>
            <a:pPr marL="171450" indent="-171450">
              <a:lnSpc>
                <a:spcPct val="150000"/>
              </a:lnSpc>
              <a:buFont typeface="Arial" panose="020B0604020202020204" pitchFamily="34" charset="0"/>
              <a:buChar char="•"/>
            </a:pPr>
            <a:r>
              <a:rPr lang="zh-CN" altLang="en-US" sz="1050" dirty="0"/>
              <a:t>司机非常在意客户红包，觉得是对自己认可</a:t>
            </a:r>
            <a:endParaRPr lang="en-US" altLang="zh-CN" sz="1050" dirty="0"/>
          </a:p>
        </p:txBody>
      </p:sp>
      <p:sp>
        <p:nvSpPr>
          <p:cNvPr id="12" name="文本框 11"/>
          <p:cNvSpPr txBox="1"/>
          <p:nvPr/>
        </p:nvSpPr>
        <p:spPr>
          <a:xfrm>
            <a:off x="3330000" y="5021491"/>
            <a:ext cx="162736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打车后主动查看评分</a:t>
            </a:r>
          </a:p>
        </p:txBody>
      </p:sp>
      <p:sp>
        <p:nvSpPr>
          <p:cNvPr id="30" name="文本框 29"/>
          <p:cNvSpPr txBox="1"/>
          <p:nvPr/>
        </p:nvSpPr>
        <p:spPr>
          <a:xfrm>
            <a:off x="7727702" y="4669602"/>
            <a:ext cx="3976742" cy="415498"/>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en-US" altLang="zh-CN" sz="1050" dirty="0"/>
              <a:t>Robotaxi</a:t>
            </a:r>
            <a:r>
              <a:rPr lang="zh-CN" altLang="en-US" sz="1050" dirty="0"/>
              <a:t>，建立服务勋章制度，人格化的</a:t>
            </a:r>
            <a:r>
              <a:rPr lang="en-US" altLang="zh-CN" sz="1050" dirty="0"/>
              <a:t>Agent</a:t>
            </a:r>
            <a:r>
              <a:rPr lang="zh-CN" altLang="en-US" sz="1050" dirty="0"/>
              <a:t>，每辆车都有独立人格的</a:t>
            </a:r>
            <a:r>
              <a:rPr lang="en-US" altLang="zh-CN" sz="1050" dirty="0"/>
              <a:t>agent</a:t>
            </a:r>
            <a:r>
              <a:rPr lang="zh-CN" altLang="en-US" sz="1050" dirty="0"/>
              <a:t>， 他是被他所服务的群体塑造</a:t>
            </a:r>
            <a:endParaRPr lang="en-US" altLang="zh-CN" sz="1050" dirty="0"/>
          </a:p>
        </p:txBody>
      </p:sp>
      <p:sp>
        <p:nvSpPr>
          <p:cNvPr id="8" name="文本框 7"/>
          <p:cNvSpPr txBox="1"/>
          <p:nvPr/>
        </p:nvSpPr>
        <p:spPr>
          <a:xfrm>
            <a:off x="3330000" y="2150411"/>
            <a:ext cx="1300356" cy="253916"/>
          </a:xfrm>
          <a:prstGeom prst="rect">
            <a:avLst/>
          </a:prstGeom>
          <a:noFill/>
        </p:spPr>
        <p:txBody>
          <a:bodyPr wrap="none" rtlCol="0">
            <a:spAutoFit/>
          </a:bodyPr>
          <a:lstStyle/>
          <a:p>
            <a:pPr marL="171450" indent="-171450" algn="l">
              <a:spcBef>
                <a:spcPts val="0"/>
              </a:spcBef>
              <a:spcAft>
                <a:spcPts val="0"/>
              </a:spcAft>
              <a:buClrTx/>
              <a:buSzTx/>
              <a:buFont typeface="Arial" panose="020B0604020202020204" pitchFamily="34" charset="0"/>
              <a:buChar char="•"/>
            </a:pPr>
            <a:r>
              <a:rPr lang="zh-CN" altLang="en-US" sz="1050" dirty="0"/>
              <a:t>下车</a:t>
            </a:r>
            <a:r>
              <a:rPr lang="zh-CN" altLang="en-US" sz="1050"/>
              <a:t>时索要好评</a:t>
            </a:r>
            <a:endParaRPr lang="zh-CN" altLang="en-US" sz="1050" dirty="0"/>
          </a:p>
        </p:txBody>
      </p:sp>
      <p:sp>
        <p:nvSpPr>
          <p:cNvPr id="17" name="文本框 16"/>
          <p:cNvSpPr txBox="1"/>
          <p:nvPr/>
        </p:nvSpPr>
        <p:spPr>
          <a:xfrm>
            <a:off x="3330000" y="5237391"/>
            <a:ext cx="2221230" cy="527050"/>
          </a:xfrm>
          <a:prstGeom prst="rect">
            <a:avLst/>
          </a:prstGeom>
          <a:noFill/>
        </p:spPr>
        <p:txBody>
          <a:bodyPr wrap="non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特殊群体打车，如女性单独打车</a:t>
            </a:r>
          </a:p>
          <a:p>
            <a:pPr marL="285750" indent="-285750">
              <a:lnSpc>
                <a:spcPct val="150000"/>
              </a:lnSpc>
              <a:buFont typeface="Arial" panose="020B0604020202020204" pitchFamily="34" charset="0"/>
              <a:buChar char="•"/>
            </a:pPr>
            <a:endParaRPr lang="en-US" altLang="zh-CN" sz="1050" dirty="0"/>
          </a:p>
        </p:txBody>
      </p:sp>
      <p:sp>
        <p:nvSpPr>
          <p:cNvPr id="22" name="文本框 21"/>
          <p:cNvSpPr txBox="1"/>
          <p:nvPr/>
        </p:nvSpPr>
        <p:spPr>
          <a:xfrm>
            <a:off x="3330000" y="3342869"/>
            <a:ext cx="2179993" cy="71691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同理心强</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从业人员过去背景更好</a:t>
            </a:r>
          </a:p>
          <a:p>
            <a:pPr marL="285750" indent="-285750">
              <a:spcBef>
                <a:spcPts val="600"/>
              </a:spcBef>
              <a:buFont typeface="Arial" panose="020B0604020202020204" pitchFamily="34" charset="0"/>
              <a:buChar char="•"/>
            </a:pPr>
            <a:endParaRPr lang="en-US" altLang="zh-CN" sz="1050" dirty="0"/>
          </a:p>
        </p:txBody>
      </p:sp>
      <p:sp>
        <p:nvSpPr>
          <p:cNvPr id="27" name="文本框 26"/>
          <p:cNvSpPr txBox="1"/>
          <p:nvPr/>
        </p:nvSpPr>
        <p:spPr>
          <a:xfrm>
            <a:off x="5135374" y="3353057"/>
            <a:ext cx="2463401" cy="478155"/>
          </a:xfrm>
          <a:prstGeom prst="rect">
            <a:avLst/>
          </a:prstGeom>
          <a:noFill/>
        </p:spPr>
        <p:txBody>
          <a:bodyPr wrap="square" rtlCol="0">
            <a:spAutoFit/>
          </a:bodyPr>
          <a:lstStyle/>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平台规定的专业相关服务要求</a:t>
            </a:r>
          </a:p>
          <a:p>
            <a:pPr marL="171450" indent="-171450" algn="l">
              <a:lnSpc>
                <a:spcPct val="120000"/>
              </a:lnSpc>
              <a:spcBef>
                <a:spcPts val="0"/>
              </a:spcBef>
              <a:spcAft>
                <a:spcPts val="0"/>
              </a:spcAft>
              <a:buClrTx/>
              <a:buSzTx/>
              <a:buFont typeface="Arial" panose="020B0604020202020204" pitchFamily="34" charset="0"/>
              <a:buChar char="•"/>
            </a:pPr>
            <a:r>
              <a:rPr lang="zh-CN" altLang="en-US" sz="1050" dirty="0"/>
              <a:t>乘客素质更高</a:t>
            </a:r>
          </a:p>
        </p:txBody>
      </p:sp>
      <p:sp>
        <p:nvSpPr>
          <p:cNvPr id="38" name="文本框 37"/>
          <p:cNvSpPr txBox="1"/>
          <p:nvPr/>
        </p:nvSpPr>
        <p:spPr>
          <a:xfrm>
            <a:off x="1470278" y="5021823"/>
            <a:ext cx="1738198"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100" dirty="0"/>
              <a:t>打车后主动查看司机评分</a:t>
            </a:r>
            <a:endParaRPr lang="en-US" altLang="zh-CN" sz="1100" dirty="0"/>
          </a:p>
        </p:txBody>
      </p:sp>
      <p:sp>
        <p:nvSpPr>
          <p:cNvPr id="5" name="文本框 4"/>
          <p:cNvSpPr txBox="1"/>
          <p:nvPr/>
        </p:nvSpPr>
        <p:spPr>
          <a:xfrm>
            <a:off x="7843752" y="2220820"/>
            <a:ext cx="2469370" cy="49244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已建立网约车司机评价服务体系</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的评价服务体系</a:t>
            </a:r>
            <a:endParaRPr lang="en-US" altLang="zh-CN" sz="1050" dirty="0"/>
          </a:p>
        </p:txBody>
      </p:sp>
      <p:sp>
        <p:nvSpPr>
          <p:cNvPr id="7" name="文本框 6"/>
          <p:cNvSpPr txBox="1"/>
          <p:nvPr/>
        </p:nvSpPr>
        <p:spPr>
          <a:xfrm>
            <a:off x="7323352" y="2727885"/>
            <a:ext cx="723275" cy="253916"/>
          </a:xfrm>
          <a:prstGeom prst="rect">
            <a:avLst/>
          </a:prstGeom>
          <a:noFill/>
        </p:spPr>
        <p:txBody>
          <a:bodyPr wrap="none" rtlCol="0">
            <a:spAutoFit/>
          </a:bodyPr>
          <a:lstStyle/>
          <a:p>
            <a:r>
              <a:rPr lang="zh-CN" altLang="en-US" sz="1050" b="1" dirty="0"/>
              <a:t>机会点：</a:t>
            </a:r>
          </a:p>
        </p:txBody>
      </p:sp>
      <p:sp>
        <p:nvSpPr>
          <p:cNvPr id="11" name="文本框 10"/>
          <p:cNvSpPr txBox="1"/>
          <p:nvPr/>
        </p:nvSpPr>
        <p:spPr>
          <a:xfrm>
            <a:off x="7352171" y="4363993"/>
            <a:ext cx="588623" cy="253916"/>
          </a:xfrm>
          <a:prstGeom prst="rect">
            <a:avLst/>
          </a:prstGeom>
          <a:noFill/>
        </p:spPr>
        <p:txBody>
          <a:bodyPr wrap="none" rtlCol="0">
            <a:spAutoFit/>
          </a:bodyPr>
          <a:lstStyle/>
          <a:p>
            <a:r>
              <a:rPr lang="zh-CN" altLang="en-US" sz="1050" b="1" dirty="0"/>
              <a:t>展望：</a:t>
            </a:r>
          </a:p>
        </p:txBody>
      </p:sp>
      <p:sp>
        <p:nvSpPr>
          <p:cNvPr id="14" name="文本框 13"/>
          <p:cNvSpPr txBox="1"/>
          <p:nvPr/>
        </p:nvSpPr>
        <p:spPr>
          <a:xfrm>
            <a:off x="7301300" y="194785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21" name="文本框 20"/>
          <p:cNvSpPr txBox="1"/>
          <p:nvPr/>
        </p:nvSpPr>
        <p:spPr>
          <a:xfrm>
            <a:off x="7715653" y="3154593"/>
            <a:ext cx="4051311" cy="1292662"/>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en-US" altLang="zh-CN" sz="1050" dirty="0"/>
              <a:t>Robotaxi</a:t>
            </a:r>
            <a:r>
              <a:rPr lang="zh-CN" altLang="en-US" sz="1050" dirty="0"/>
              <a:t>未来也会分等级，不同</a:t>
            </a:r>
            <a:r>
              <a:rPr lang="en-US" altLang="zh-CN" sz="1050" dirty="0"/>
              <a:t>Robotaxi</a:t>
            </a:r>
            <a:r>
              <a:rPr lang="zh-CN" altLang="en-US" sz="1050" dirty="0"/>
              <a:t>，</a:t>
            </a:r>
            <a:r>
              <a:rPr lang="en-US" altLang="zh-CN" sz="1050" dirty="0"/>
              <a:t>Agent</a:t>
            </a:r>
            <a:r>
              <a:rPr lang="zh-CN" altLang="en-US" sz="1050" dirty="0"/>
              <a:t>建立不同服务评价机制</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对于差评建立审核机制，服务过程通过</a:t>
            </a:r>
            <a:r>
              <a:rPr lang="en-US" altLang="zh-CN" sz="1050" dirty="0"/>
              <a:t>AI</a:t>
            </a:r>
            <a:r>
              <a:rPr lang="zh-CN" altLang="en-US" sz="1050" dirty="0"/>
              <a:t>自动</a:t>
            </a:r>
            <a:r>
              <a:rPr lang="en-US" altLang="zh-CN" sz="1050" dirty="0"/>
              <a:t>review</a:t>
            </a:r>
          </a:p>
          <a:p>
            <a:pPr marL="171450" indent="-171450">
              <a:spcBef>
                <a:spcPts val="600"/>
              </a:spcBef>
              <a:buFont typeface="Wingdings" panose="05000000000000000000" pitchFamily="2" charset="2"/>
              <a:buChar char="ü"/>
            </a:pPr>
            <a:r>
              <a:rPr lang="en-US" altLang="zh-CN" sz="1050" dirty="0"/>
              <a:t>Robotaxi</a:t>
            </a:r>
            <a:r>
              <a:rPr lang="zh-CN" altLang="en-US" sz="1050" dirty="0"/>
              <a:t>利用</a:t>
            </a:r>
            <a:r>
              <a:rPr lang="en-US" altLang="zh-CN" sz="1050" dirty="0"/>
              <a:t>AI</a:t>
            </a:r>
            <a:r>
              <a:rPr lang="zh-CN" altLang="en-US" sz="1050" dirty="0"/>
              <a:t>自动学习能力，进行司机</a:t>
            </a:r>
            <a:r>
              <a:rPr lang="en-US" altLang="zh-CN" sz="1050" dirty="0"/>
              <a:t>Agent</a:t>
            </a:r>
            <a:r>
              <a:rPr lang="zh-CN" altLang="en-US" sz="1050" dirty="0"/>
              <a:t>服务自我进化机制</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 name="文本框 3"/>
          <p:cNvSpPr txBox="1"/>
          <p:nvPr/>
        </p:nvSpPr>
        <p:spPr>
          <a:xfrm>
            <a:off x="3329940" y="2487666"/>
            <a:ext cx="2809875" cy="406400"/>
          </a:xfrm>
          <a:prstGeom prst="rect">
            <a:avLst/>
          </a:prstGeom>
          <a:noFill/>
        </p:spPr>
        <p:txBody>
          <a:bodyPr wrap="square" rtlCol="0">
            <a:spAutoFit/>
          </a:bodyPr>
          <a:lstStyle/>
          <a:p>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讨厌司机的行为：“这种让你直接给他好评 </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r">
              <a:spcBef>
                <a:spcPts val="300"/>
              </a:spcBef>
              <a:spcAft>
                <a:spcPts val="0"/>
              </a:spcAft>
              <a:buClrTx/>
              <a:buSzTx/>
              <a:buFontTx/>
            </a:pPr>
            <a:r>
              <a:rPr lang="en-US" altLang="zh-CN" sz="900" i="1" dirty="0">
                <a:solidFill>
                  <a:schemeClr val="tx1">
                    <a:lumMod val="75000"/>
                    <a:lumOff val="25000"/>
                  </a:schemeClr>
                </a:solidFill>
              </a:rPr>
              <a:t>--海外投资林先生（快车） 38岁</a:t>
            </a:r>
          </a:p>
        </p:txBody>
      </p:sp>
      <p:sp>
        <p:nvSpPr>
          <p:cNvPr id="6" name="文本框 5"/>
          <p:cNvSpPr txBox="1"/>
          <p:nvPr/>
        </p:nvSpPr>
        <p:spPr>
          <a:xfrm>
            <a:off x="3329940" y="5584190"/>
            <a:ext cx="2295525" cy="368300"/>
          </a:xfrm>
          <a:prstGeom prst="rect">
            <a:avLst/>
          </a:prstGeom>
          <a:noFill/>
        </p:spPr>
        <p:txBody>
          <a:bodyPr wrap="square" rtlCol="0">
            <a:spAutoFit/>
          </a:bodyPr>
          <a:lstStyle/>
          <a:p>
            <a:pPr algn="l">
              <a:lnSpc>
                <a:spcPct val="100000"/>
              </a:lnSpc>
              <a:spcBef>
                <a:spcPts val="0"/>
              </a:spcBef>
              <a:buClrTx/>
              <a:buSzTx/>
              <a:buFont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看还有多长时间到，司机评分 </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r">
              <a:lnSpc>
                <a:spcPct val="100000"/>
              </a:lnSpc>
              <a:spcBef>
                <a:spcPts val="0"/>
              </a:spcBef>
              <a:buClrTx/>
              <a:buSzTx/>
              <a:buFontTx/>
              <a:buNone/>
            </a:pPr>
            <a:r>
              <a:rPr lang="en-US" altLang="zh-CN" sz="900" i="1">
                <a:solidFill>
                  <a:schemeClr val="tx1">
                    <a:lumMod val="75000"/>
                    <a:lumOff val="25000"/>
                  </a:schemeClr>
                </a:solidFill>
                <a:sym typeface="+mn-ea"/>
              </a:rPr>
              <a:t>--老师王女士（专车） 25岁</a:t>
            </a:r>
            <a:endParaRPr lang="en-US" altLang="zh-CN" sz="900" i="1">
              <a:solidFill>
                <a:schemeClr val="tx1">
                  <a:lumMod val="75000"/>
                  <a:lumOff val="25000"/>
                </a:schemeClr>
              </a:solidFill>
            </a:endParaRPr>
          </a:p>
        </p:txBody>
      </p:sp>
      <p:sp>
        <p:nvSpPr>
          <p:cNvPr id="13" name="文本框 12"/>
          <p:cNvSpPr txBox="1"/>
          <p:nvPr/>
        </p:nvSpPr>
        <p:spPr>
          <a:xfrm>
            <a:off x="3329940" y="3877769"/>
            <a:ext cx="2087880" cy="683895"/>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“我也是专车稍微多一点......服务态度，气味，还有的时候车里会有备一些充电宝，纸巾，水这种，还蛮方便的”</a:t>
            </a:r>
          </a:p>
          <a:p>
            <a:pPr indent="0" algn="r">
              <a:lnSpc>
                <a:spcPct val="100000"/>
              </a:lnSpc>
              <a:spcBef>
                <a:spcPts val="300"/>
              </a:spcBef>
              <a:spcAft>
                <a:spcPts val="0"/>
              </a:spcAft>
              <a:buNone/>
            </a:pP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--老师王女士（专车） 25岁</a:t>
            </a:r>
          </a:p>
        </p:txBody>
      </p:sp>
      <p:sp>
        <p:nvSpPr>
          <p:cNvPr id="19" name="文本框 18"/>
          <p:cNvSpPr txBox="1"/>
          <p:nvPr/>
        </p:nvSpPr>
        <p:spPr>
          <a:xfrm>
            <a:off x="5467985" y="3739339"/>
            <a:ext cx="1826895" cy="1238801"/>
          </a:xfrm>
          <a:prstGeom prst="rect">
            <a:avLst/>
          </a:prstGeom>
          <a:noFill/>
        </p:spPr>
        <p:txBody>
          <a:bodyPr wrap="square" rtlCol="0">
            <a:spAutoFit/>
          </a:bodyPr>
          <a:lstStyle/>
          <a:p>
            <a:pPr algn="l">
              <a:lnSpc>
                <a:spcPct val="100000"/>
              </a:lnSpc>
              <a:spcBef>
                <a:spcPts val="0"/>
              </a:spcBef>
              <a:spcAft>
                <a:spcPts val="0"/>
              </a:spcAft>
              <a:buClrTx/>
              <a:buSzTx/>
              <a:buFontTx/>
            </a:pPr>
            <a:r>
              <a:rPr lang="en-US" altLang="zh-CN" sz="900" i="1">
                <a:latin typeface="微软雅黑" panose="020B0503020204020204" pitchFamily="34" charset="-122"/>
                <a:ea typeface="微软雅黑" panose="020B0503020204020204" pitchFamily="34" charset="-122"/>
                <a:cs typeface="Arial" panose="020B0604020202020204" pitchFamily="34" charset="0"/>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我们是以服务为主</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...通过无限的服务</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，给乘客潘多拉</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式</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的服务</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乘客说不定给你潘多拉的评价......虽然不多</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，有时候五元的红包......其实自己的一份服务也得到了对方的一份认可”</a:t>
            </a:r>
          </a:p>
          <a:p>
            <a:pPr indent="0" algn="r">
              <a:lnSpc>
                <a:spcPct val="100000"/>
              </a:lnSpc>
              <a:spcBef>
                <a:spcPts val="300"/>
              </a:spcBef>
              <a:spcAft>
                <a:spcPts val="0"/>
              </a:spcAft>
              <a:buNone/>
            </a:pPr>
            <a:r>
              <a:rPr lang="en-US" altLang="zh-CN" sz="900" i="1" dirty="0">
                <a:solidFill>
                  <a:schemeClr val="tx1">
                    <a:lumMod val="75000"/>
                    <a:lumOff val="25000"/>
                  </a:schemeClr>
                </a:solidFill>
              </a:rPr>
              <a:t>--专车司机黄女士 38岁</a:t>
            </a:r>
            <a:r>
              <a:rPr lang="zh-CN" altLang="en-US" sz="900" i="1" dirty="0">
                <a:solidFill>
                  <a:schemeClr val="tx1">
                    <a:lumMod val="75000"/>
                    <a:lumOff val="25000"/>
                  </a:schemeClr>
                </a:solidFill>
              </a:rPr>
              <a:t>	</a:t>
            </a:r>
            <a:endParaRPr lang="en-US" altLang="zh-CN" sz="900" i="1" dirty="0">
              <a:solidFill>
                <a:schemeClr val="tx1">
                  <a:lumMod val="75000"/>
                  <a:lumOff val="25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p:cNvSpPr txBox="1"/>
          <p:nvPr/>
        </p:nvSpPr>
        <p:spPr>
          <a:xfrm>
            <a:off x="3692927" y="1389619"/>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p:cNvSpPr txBox="1"/>
          <p:nvPr/>
        </p:nvSpPr>
        <p:spPr>
          <a:xfrm>
            <a:off x="424815" y="3176905"/>
            <a:ext cx="1030605" cy="1022350"/>
          </a:xfrm>
          <a:prstGeom prst="rect">
            <a:avLst/>
          </a:prstGeom>
          <a:noFill/>
        </p:spPr>
        <p:txBody>
          <a:bodyPr wrap="square">
            <a:no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司机驾驶风格</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223341"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77473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210844" y="184490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939367" y="1771831"/>
            <a:ext cx="3810" cy="450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344887" y="1390273"/>
            <a:ext cx="1111045"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78034"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27694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3283200" y="1859630"/>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平稳型</a:t>
            </a:r>
          </a:p>
        </p:txBody>
      </p:sp>
      <p:sp>
        <p:nvSpPr>
          <p:cNvPr id="25" name="文本框 24"/>
          <p:cNvSpPr txBox="1"/>
          <p:nvPr/>
        </p:nvSpPr>
        <p:spPr>
          <a:xfrm>
            <a:off x="1478034" y="2599097"/>
            <a:ext cx="1724248" cy="151663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平稳型（更受欢迎）</a:t>
            </a:r>
            <a:endParaRPr lang="en-US" altLang="zh-CN" sz="1050" dirty="0"/>
          </a:p>
          <a:p>
            <a:pPr marL="171450" indent="-171450">
              <a:lnSpc>
                <a:spcPct val="150000"/>
              </a:lnSpc>
              <a:buFont typeface="Arial" panose="020B0604020202020204" pitchFamily="34" charset="0"/>
              <a:buChar char="•"/>
            </a:pPr>
            <a:r>
              <a:rPr lang="zh-CN" altLang="en-US" sz="1050" dirty="0"/>
              <a:t>激进型（不受欢迎）</a:t>
            </a:r>
            <a:endParaRPr lang="en-US" altLang="zh-CN" sz="1050" dirty="0"/>
          </a:p>
          <a:p>
            <a:pPr marL="171450" indent="-171450">
              <a:lnSpc>
                <a:spcPct val="150000"/>
              </a:lnSpc>
              <a:buFont typeface="Arial" panose="020B0604020202020204" pitchFamily="34" charset="0"/>
              <a:buChar char="•"/>
            </a:pPr>
            <a:r>
              <a:rPr lang="zh-CN" altLang="en-US" sz="1050" dirty="0"/>
              <a:t>合规安全型（都需要遵守，但不能延迟太多）</a:t>
            </a:r>
            <a:endParaRPr lang="en-US" altLang="zh-CN" sz="1050" dirty="0"/>
          </a:p>
          <a:p>
            <a:pPr marL="171450" indent="-171450">
              <a:lnSpc>
                <a:spcPct val="150000"/>
              </a:lnSpc>
              <a:buFont typeface="Arial" panose="020B0604020202020204" pitchFamily="34" charset="0"/>
              <a:buChar char="•"/>
            </a:pPr>
            <a:r>
              <a:rPr lang="zh-CN" altLang="en-US" sz="1050" dirty="0"/>
              <a:t>灵活型，能够灵活应变</a:t>
            </a:r>
            <a:r>
              <a:rPr lang="en-US" altLang="zh-CN" sz="1050" dirty="0"/>
              <a:t>(</a:t>
            </a:r>
            <a:r>
              <a:rPr lang="en-US" altLang="zh-CN" sz="1050" dirty="0" err="1"/>
              <a:t>Rototaxi</a:t>
            </a:r>
            <a:r>
              <a:rPr lang="zh-CN" altLang="en-US" sz="1050" dirty="0"/>
              <a:t>的常用者）</a:t>
            </a:r>
          </a:p>
        </p:txBody>
      </p:sp>
      <p:sp>
        <p:nvSpPr>
          <p:cNvPr id="5" name="文本框 4"/>
          <p:cNvSpPr txBox="1"/>
          <p:nvPr/>
        </p:nvSpPr>
        <p:spPr>
          <a:xfrm>
            <a:off x="7550912" y="2801648"/>
            <a:ext cx="4381846" cy="2893100"/>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r>
              <a:rPr lang="zh-CN" altLang="en-US" sz="1050" dirty="0"/>
              <a:t>智驾缺省模式为平稳型</a:t>
            </a:r>
            <a:r>
              <a:rPr lang="en-US" altLang="zh-CN" sz="1050" dirty="0"/>
              <a:t>+</a:t>
            </a:r>
            <a:r>
              <a:rPr lang="zh-CN" altLang="en-US" sz="1050" dirty="0"/>
              <a:t>安全合规型，在安全平稳行驶过程中且路面车辆较少的时候，可通过语音切换，，切换为激进型</a:t>
            </a:r>
            <a:endParaRPr lang="en-US" altLang="zh-CN" sz="1050" dirty="0"/>
          </a:p>
          <a:p>
            <a:pPr marL="171450" indent="-171450">
              <a:spcBef>
                <a:spcPts val="600"/>
              </a:spcBef>
              <a:buFont typeface="Wingdings" panose="05000000000000000000" pitchFamily="2" charset="2"/>
              <a:buChar char="ü"/>
            </a:pPr>
            <a:r>
              <a:rPr lang="zh-CN" altLang="en-US" sz="1050" dirty="0"/>
              <a:t>对于</a:t>
            </a:r>
            <a:r>
              <a:rPr lang="en-US" altLang="zh-CN" sz="1050" dirty="0"/>
              <a:t>Robotaxi</a:t>
            </a:r>
            <a:r>
              <a:rPr lang="zh-CN" altLang="en-US" sz="1050" dirty="0"/>
              <a:t>，乘客可合理车速范围内，控制车速快一点，慢一点等，给乘客更多语音控制智驾的条件，但需要路段与安全车速范围内。</a:t>
            </a:r>
            <a:endParaRPr lang="en-US" altLang="zh-CN" sz="1050" dirty="0"/>
          </a:p>
          <a:p>
            <a:pPr marL="171450" indent="-171450">
              <a:spcBef>
                <a:spcPts val="600"/>
              </a:spcBef>
              <a:buFont typeface="Wingdings" panose="05000000000000000000" pitchFamily="2" charset="2"/>
              <a:buChar char="ü"/>
            </a:pPr>
            <a:r>
              <a:rPr lang="zh-CN" altLang="en-US" sz="1050" dirty="0"/>
              <a:t>能够智能识别乘客状态或者进行语音主动对话是否需要，对于晕车乘客，醉酒乘客，有孩子乘客，强制为平稳驾驶，避免急加速，急减速</a:t>
            </a:r>
            <a:endParaRPr lang="en-US" altLang="zh-CN" sz="1050" dirty="0"/>
          </a:p>
          <a:p>
            <a:pPr marL="171450" indent="-171450">
              <a:spcBef>
                <a:spcPts val="600"/>
              </a:spcBef>
              <a:buFont typeface="Wingdings" panose="05000000000000000000" pitchFamily="2" charset="2"/>
              <a:buChar char="ü"/>
            </a:pPr>
            <a:r>
              <a:rPr lang="zh-CN" altLang="en-US" sz="1050" dirty="0"/>
              <a:t>语音控智驾的需求，与当前行车环境与安全法规相抵触，进行相应语音提醒拒绝用户的指令</a:t>
            </a:r>
            <a:endParaRPr lang="en-US" altLang="zh-CN" sz="1050" dirty="0"/>
          </a:p>
          <a:p>
            <a:pPr marL="171450" indent="-171450">
              <a:spcBef>
                <a:spcPts val="600"/>
              </a:spcBef>
              <a:buFont typeface="Wingdings" panose="05000000000000000000" pitchFamily="2" charset="2"/>
              <a:buChar char="ü"/>
            </a:pPr>
            <a:r>
              <a:rPr lang="zh-CN" altLang="en-US" sz="1050" dirty="0"/>
              <a:t>语音情景控制智驾，如赶飞机赶不上，能快一些吗，身体有点不舒服，可以稳一点，正常与网约车对话方式，对进行与司机</a:t>
            </a:r>
            <a:r>
              <a:rPr lang="en-US" altLang="zh-CN" sz="1050" dirty="0"/>
              <a:t>Agent</a:t>
            </a:r>
            <a:r>
              <a:rPr lang="zh-CN" altLang="en-US" sz="1050" dirty="0"/>
              <a:t>对话</a:t>
            </a:r>
            <a:endParaRPr lang="en-US" altLang="zh-CN" sz="1050" dirty="0"/>
          </a:p>
          <a:p>
            <a:pPr marL="171450" indent="-171450">
              <a:spcBef>
                <a:spcPts val="600"/>
              </a:spcBef>
              <a:buFont typeface="Wingdings" panose="05000000000000000000" pitchFamily="2" charset="2"/>
              <a:buChar char="ü"/>
            </a:pPr>
            <a:r>
              <a:rPr lang="zh-CN" altLang="en-US" sz="1050" dirty="0"/>
              <a:t>对于出发前时间预估相比发生可能延迟要进行语音提醒，避免乘客抱怨（超过</a:t>
            </a:r>
            <a:r>
              <a:rPr lang="en-US" altLang="zh-CN" sz="1050" dirty="0"/>
              <a:t>5</a:t>
            </a:r>
            <a:r>
              <a:rPr lang="zh-CN" altLang="en-US" sz="1050" dirty="0"/>
              <a:t>分钟以上）</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 name="文本框 3"/>
          <p:cNvSpPr txBox="1"/>
          <p:nvPr/>
        </p:nvSpPr>
        <p:spPr>
          <a:xfrm>
            <a:off x="3283200" y="3041871"/>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激进型</a:t>
            </a:r>
          </a:p>
        </p:txBody>
      </p:sp>
      <p:sp>
        <p:nvSpPr>
          <p:cNvPr id="6" name="文本框 5"/>
          <p:cNvSpPr txBox="1"/>
          <p:nvPr/>
        </p:nvSpPr>
        <p:spPr>
          <a:xfrm>
            <a:off x="3283200" y="4299019"/>
            <a:ext cx="1127232"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合规安全性</a:t>
            </a:r>
          </a:p>
        </p:txBody>
      </p:sp>
      <p:sp>
        <p:nvSpPr>
          <p:cNvPr id="7" name="Rectangle 1"/>
          <p:cNvSpPr>
            <a:spLocks noChangeArrowheads="1"/>
          </p:cNvSpPr>
          <p:nvPr/>
        </p:nvSpPr>
        <p:spPr bwMode="auto">
          <a:xfrm>
            <a:off x="3283200" y="2077647"/>
            <a:ext cx="352929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71450" marR="0" lvl="0" indent="-171450" algn="l" defTabSz="914400" rtl="0" eaLnBrk="0" fontAlgn="base" latinLnBrk="0" hangingPunct="0">
              <a:spcBef>
                <a:spcPct val="0"/>
              </a:spcBef>
              <a:spcAft>
                <a:spcPct val="0"/>
              </a:spcAft>
              <a:buClrTx/>
              <a:buSzTx/>
              <a:buFont typeface="Arial" panose="020B0604020202020204" pitchFamily="34" charset="0"/>
              <a:buChar char="•"/>
            </a:pPr>
            <a:r>
              <a:rPr kumimoji="0" lang="zh-CN" altLang="zh-CN" sz="1050" b="1" i="0" u="none" strike="noStrike" cap="none" normalizeH="0" baseline="0" dirty="0">
                <a:ln>
                  <a:noFill/>
                </a:ln>
                <a:solidFill>
                  <a:schemeClr val="tx1"/>
                </a:solidFill>
                <a:effectLst/>
                <a:latin typeface="Arial" panose="020B0604020202020204" pitchFamily="34" charset="0"/>
              </a:rPr>
              <a:t>日常舒适需求</a:t>
            </a:r>
            <a:r>
              <a:rPr kumimoji="0" lang="zh-CN" altLang="zh-CN" sz="1050" b="0" i="0" u="none" strike="noStrike" cap="none" normalizeH="0" baseline="0" dirty="0">
                <a:ln>
                  <a:noFill/>
                </a:ln>
                <a:solidFill>
                  <a:schemeClr val="tx1"/>
                </a:solidFill>
                <a:effectLst/>
                <a:latin typeface="Arial" panose="020B0604020202020204" pitchFamily="34" charset="0"/>
              </a:rPr>
              <a:t>：乘客反感颠簸（乘客因颠簸投诉）</a:t>
            </a:r>
          </a:p>
          <a:p>
            <a:pPr marL="171450" marR="0" lvl="0" indent="-171450" algn="l" defTabSz="914400" rtl="0" eaLnBrk="0" fontAlgn="base" latinLnBrk="0" hangingPunct="0">
              <a:spcBef>
                <a:spcPct val="0"/>
              </a:spcBef>
              <a:spcAft>
                <a:spcPct val="0"/>
              </a:spcAft>
              <a:buClrTx/>
              <a:buSzTx/>
              <a:buFont typeface="Arial" panose="020B0604020202020204" pitchFamily="34" charset="0"/>
              <a:buChar char="•"/>
            </a:pPr>
            <a:r>
              <a:rPr lang="zh-CN" altLang="zh-CN" sz="1050" b="1" dirty="0">
                <a:latin typeface="Arial" panose="020B0604020202020204" pitchFamily="34" charset="0"/>
              </a:rPr>
              <a:t>复杂路况谨慎</a:t>
            </a:r>
            <a:r>
              <a:rPr lang="zh-CN" altLang="zh-CN" sz="1050" dirty="0">
                <a:latin typeface="Arial" panose="020B0604020202020204" pitchFamily="34" charset="0"/>
              </a:rPr>
              <a:t>：雨雪天气“减速慢行”但保持平稳</a:t>
            </a:r>
          </a:p>
          <a:p>
            <a:pPr marL="171450" marR="0" lvl="0" indent="-171450" algn="l" defTabSz="914400" rtl="0" eaLnBrk="0" fontAlgn="base" latinLnBrk="0" hangingPunct="0">
              <a:spcBef>
                <a:spcPct val="0"/>
              </a:spcBef>
              <a:spcAft>
                <a:spcPct val="0"/>
              </a:spcAft>
              <a:buClrTx/>
              <a:buSzTx/>
              <a:buFont typeface="Arial" panose="020B0604020202020204" pitchFamily="34" charset="0"/>
              <a:buChar char="•"/>
            </a:pPr>
            <a:r>
              <a:rPr lang="zh-CN" altLang="en-US" sz="1050" b="1" dirty="0">
                <a:latin typeface="Arial" panose="020B0604020202020204" pitchFamily="34" charset="0"/>
              </a:rPr>
              <a:t>需要照顾的人群更喜欢</a:t>
            </a:r>
            <a:r>
              <a:rPr lang="zh-CN" altLang="en-US" sz="1050" dirty="0">
                <a:latin typeface="Arial" panose="020B0604020202020204" pitchFamily="34" charset="0"/>
              </a:rPr>
              <a:t>，如晕车，醉酒，有孩子等</a:t>
            </a:r>
            <a:endParaRPr kumimoji="0" lang="zh-CN" altLang="zh-CN" sz="1050" b="0" i="0" u="none" strike="noStrike" cap="none" normalizeH="0" baseline="0" dirty="0">
              <a:ln>
                <a:noFill/>
              </a:ln>
              <a:solidFill>
                <a:schemeClr val="tx1"/>
              </a:solidFill>
              <a:effectLst/>
              <a:latin typeface="Arial" panose="020B0604020202020204" pitchFamily="34" charset="0"/>
            </a:endParaRPr>
          </a:p>
        </p:txBody>
      </p:sp>
      <p:sp>
        <p:nvSpPr>
          <p:cNvPr id="14" name="Rectangle 3"/>
          <p:cNvSpPr>
            <a:spLocks noChangeArrowheads="1"/>
          </p:cNvSpPr>
          <p:nvPr/>
        </p:nvSpPr>
        <p:spPr bwMode="auto">
          <a:xfrm>
            <a:off x="3282950" y="3259127"/>
            <a:ext cx="3642995" cy="737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71450" marR="0" lvl="0" indent="-171450" algn="l" defTabSz="914400" rtl="0" eaLnBrk="0" fontAlgn="base" latinLnBrk="0" hangingPunct="0">
              <a:buClrTx/>
              <a:buSzTx/>
              <a:buFont typeface="Arial" panose="020B0604020202020204" pitchFamily="34" charset="0"/>
              <a:buChar char="•"/>
            </a:pPr>
            <a:r>
              <a:rPr kumimoji="0" lang="zh-CN" altLang="zh-CN" sz="1050" b="1" i="0" u="none" strike="noStrike" cap="none" normalizeH="0" baseline="0" dirty="0">
                <a:solidFill>
                  <a:schemeClr val="tx1"/>
                </a:solidFill>
                <a:latin typeface="Arial" panose="020B0604020202020204" pitchFamily="34" charset="0"/>
              </a:rPr>
              <a:t>日常乘坐体验破坏</a:t>
            </a:r>
          </a:p>
          <a:p>
            <a:pPr marL="171450" marR="0" lvl="0" indent="-171450" algn="l" defTabSz="914400" rtl="0" eaLnBrk="0" fontAlgn="base" latinLnBrk="0" hangingPunct="0">
              <a:buClrTx/>
              <a:buSzTx/>
              <a:buFont typeface="Arial" panose="020B0604020202020204" pitchFamily="34" charset="0"/>
              <a:buChar char="•"/>
            </a:pPr>
            <a:r>
              <a:rPr kumimoji="0" lang="zh-CN" altLang="zh-CN" sz="1050" b="1" i="0" u="none" strike="noStrike" cap="none" normalizeH="0" baseline="0" dirty="0">
                <a:solidFill>
                  <a:schemeClr val="tx1"/>
                </a:solidFill>
                <a:latin typeface="Arial" panose="020B0604020202020204" pitchFamily="34" charset="0"/>
              </a:rPr>
              <a:t>特殊乘客伤害：</a:t>
            </a:r>
            <a:r>
              <a:rPr kumimoji="0" lang="zh-CN" altLang="zh-CN" sz="1050" i="0" u="none" strike="noStrike" cap="none" normalizeH="0" baseline="0" dirty="0">
                <a:solidFill>
                  <a:schemeClr val="tx1"/>
                </a:solidFill>
                <a:latin typeface="Arial" panose="020B0604020202020204" pitchFamily="34" charset="0"/>
              </a:rPr>
              <a:t>醉酒者（急转弯加重呕吐）、儿童（急刹易受伤）</a:t>
            </a:r>
          </a:p>
          <a:p>
            <a:pPr marL="171450" marR="0" lvl="0" indent="-171450" algn="l" defTabSz="914400" rtl="0" eaLnBrk="0" fontAlgn="base" latinLnBrk="0" hangingPunct="0">
              <a:buClrTx/>
              <a:buSzTx/>
              <a:buFont typeface="Arial" panose="020B0604020202020204" pitchFamily="34" charset="0"/>
              <a:buChar char="•"/>
            </a:pPr>
            <a:r>
              <a:rPr kumimoji="0" lang="zh-CN" altLang="zh-CN" sz="1050" b="1" i="0" u="none" strike="noStrike" cap="none" normalizeH="0" baseline="0" dirty="0">
                <a:solidFill>
                  <a:schemeClr val="tx1"/>
                </a:solidFill>
                <a:latin typeface="Arial" panose="020B0604020202020204" pitchFamily="34" charset="0"/>
              </a:rPr>
              <a:t>规则违反：</a:t>
            </a:r>
            <a:r>
              <a:rPr kumimoji="0" lang="zh-CN" altLang="zh-CN" sz="1050" i="0" u="none" strike="noStrike" cap="none" normalizeH="0" baseline="0" dirty="0">
                <a:solidFill>
                  <a:schemeClr val="tx1"/>
                </a:solidFill>
                <a:latin typeface="Arial" panose="020B0604020202020204" pitchFamily="34" charset="0"/>
              </a:rPr>
              <a:t>闯红灯、急刹车（被投诉</a:t>
            </a:r>
            <a:r>
              <a:rPr lang="zh-CN" altLang="zh-CN" sz="1050">
                <a:latin typeface="Arial" panose="020B0604020202020204" pitchFamily="34" charset="0"/>
              </a:rPr>
              <a:t>‘危险驾驶’）</a:t>
            </a:r>
            <a:endParaRPr lang="zh-CN" altLang="zh-CN" sz="900" i="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Rectangle 4"/>
          <p:cNvSpPr>
            <a:spLocks noChangeArrowheads="1"/>
          </p:cNvSpPr>
          <p:nvPr/>
        </p:nvSpPr>
        <p:spPr bwMode="auto">
          <a:xfrm>
            <a:off x="3283200" y="4440752"/>
            <a:ext cx="3511485" cy="818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sz="1050" b="1" i="0" u="none" strike="noStrike" cap="none" normalizeH="0" baseline="0" dirty="0">
                <a:ln>
                  <a:noFill/>
                </a:ln>
                <a:solidFill>
                  <a:schemeClr val="tx1"/>
                </a:solidFill>
                <a:effectLst/>
                <a:latin typeface="Arial" panose="020B0604020202020204" pitchFamily="34" charset="0"/>
              </a:rPr>
              <a:t>不延迟情况下受欢迎</a:t>
            </a:r>
            <a:endParaRPr kumimoji="0" lang="en-US" altLang="zh-CN" sz="105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sz="1050" b="1" i="0" u="none" strike="noStrike" cap="none" normalizeH="0" baseline="0" dirty="0">
                <a:ln>
                  <a:noFill/>
                </a:ln>
                <a:solidFill>
                  <a:schemeClr val="tx1"/>
                </a:solidFill>
                <a:effectLst/>
                <a:latin typeface="Arial" panose="020B0604020202020204" pitchFamily="34" charset="0"/>
              </a:rPr>
              <a:t>过度延误未沟通</a:t>
            </a:r>
            <a:r>
              <a:rPr kumimoji="0" lang="zh-CN" altLang="zh-CN" sz="1050" b="0" i="0" u="none" strike="noStrike" cap="none" normalizeH="0" baseline="0" dirty="0">
                <a:ln>
                  <a:noFill/>
                </a:ln>
                <a:solidFill>
                  <a:schemeClr val="tx1"/>
                </a:solidFill>
                <a:effectLst/>
                <a:latin typeface="Arial" panose="020B0604020202020204" pitchFamily="34" charset="0"/>
              </a:rPr>
              <a:t>：如“雨天降速晚到10分钟未被理解”（“乘客以‘未达时效承诺’投诉”）</a:t>
            </a:r>
          </a:p>
        </p:txBody>
      </p:sp>
      <p:sp>
        <p:nvSpPr>
          <p:cNvPr id="8" name="文本框 7"/>
          <p:cNvSpPr txBox="1"/>
          <p:nvPr/>
        </p:nvSpPr>
        <p:spPr>
          <a:xfrm>
            <a:off x="6964954" y="2954836"/>
            <a:ext cx="723275" cy="253916"/>
          </a:xfrm>
          <a:prstGeom prst="rect">
            <a:avLst/>
          </a:prstGeom>
          <a:noFill/>
        </p:spPr>
        <p:txBody>
          <a:bodyPr wrap="none" rtlCol="0">
            <a:spAutoFit/>
          </a:bodyPr>
          <a:lstStyle/>
          <a:p>
            <a:r>
              <a:rPr lang="zh-CN" altLang="en-US" sz="1050" b="1" dirty="0"/>
              <a:t>机会点：</a:t>
            </a:r>
          </a:p>
        </p:txBody>
      </p:sp>
      <p:sp>
        <p:nvSpPr>
          <p:cNvPr id="9" name="文本框 8"/>
          <p:cNvSpPr txBox="1"/>
          <p:nvPr/>
        </p:nvSpPr>
        <p:spPr>
          <a:xfrm>
            <a:off x="6990140" y="5335380"/>
            <a:ext cx="588623" cy="253916"/>
          </a:xfrm>
          <a:prstGeom prst="rect">
            <a:avLst/>
          </a:prstGeom>
          <a:noFill/>
        </p:spPr>
        <p:txBody>
          <a:bodyPr wrap="none" rtlCol="0">
            <a:spAutoFit/>
          </a:bodyPr>
          <a:lstStyle/>
          <a:p>
            <a:r>
              <a:rPr lang="zh-CN" altLang="en-US" sz="1050" b="1" dirty="0"/>
              <a:t>展望：</a:t>
            </a:r>
          </a:p>
        </p:txBody>
      </p:sp>
      <p:sp>
        <p:nvSpPr>
          <p:cNvPr id="11" name="文本框 10"/>
          <p:cNvSpPr txBox="1"/>
          <p:nvPr/>
        </p:nvSpPr>
        <p:spPr>
          <a:xfrm>
            <a:off x="6964954" y="189516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2" name="文本框 11"/>
          <p:cNvSpPr txBox="1"/>
          <p:nvPr/>
        </p:nvSpPr>
        <p:spPr>
          <a:xfrm>
            <a:off x="3283200" y="5169263"/>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灵活型</a:t>
            </a:r>
          </a:p>
        </p:txBody>
      </p:sp>
      <p:sp>
        <p:nvSpPr>
          <p:cNvPr id="17" name="文本框 16"/>
          <p:cNvSpPr txBox="1"/>
          <p:nvPr/>
        </p:nvSpPr>
        <p:spPr>
          <a:xfrm>
            <a:off x="3283200" y="5383206"/>
            <a:ext cx="3462905" cy="415498"/>
          </a:xfrm>
          <a:prstGeom prst="rect">
            <a:avLst/>
          </a:prstGeom>
          <a:noFill/>
        </p:spPr>
        <p:txBody>
          <a:bodyPr wrap="square" rtlCol="0">
            <a:spAutoFit/>
          </a:bodyPr>
          <a:lstStyle/>
          <a:p>
            <a:pPr marL="171450" indent="-171450" algn="l" eaLnBrk="0" fontAlgn="base" hangingPunct="0">
              <a:buClrTx/>
              <a:buSzTx/>
              <a:buFont typeface="Arial" panose="020B0604020202020204" pitchFamily="34" charset="0"/>
              <a:buChar char="•"/>
            </a:pPr>
            <a:r>
              <a:rPr lang="zh-CN" altLang="en-US" sz="1050" dirty="0">
                <a:ln>
                  <a:noFill/>
                </a:ln>
                <a:effectLst/>
                <a:latin typeface="Arial" panose="020B0604020202020204" pitchFamily="34" charset="0"/>
              </a:rPr>
              <a:t>乘客追求对司机Agent的更多控制权，司机agent可以灵活响应乘客要求</a:t>
            </a:r>
          </a:p>
        </p:txBody>
      </p:sp>
      <p:sp>
        <p:nvSpPr>
          <p:cNvPr id="19" name="文本框 18"/>
          <p:cNvSpPr txBox="1"/>
          <p:nvPr/>
        </p:nvSpPr>
        <p:spPr>
          <a:xfrm>
            <a:off x="7578763" y="2095707"/>
            <a:ext cx="4140877" cy="822726"/>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100" dirty="0"/>
              <a:t>通过语音指令控制人驾时驾驶模式，运动模式，舒适模式等</a:t>
            </a:r>
            <a:endParaRPr lang="en-US" altLang="zh-CN" sz="1100" dirty="0"/>
          </a:p>
          <a:p>
            <a:pPr marL="285750" indent="-285750">
              <a:lnSpc>
                <a:spcPct val="150000"/>
              </a:lnSpc>
              <a:buFont typeface="Wingdings" panose="05000000000000000000" pitchFamily="2" charset="2"/>
              <a:buChar char="ü"/>
            </a:pPr>
            <a:r>
              <a:rPr lang="zh-CN" altLang="en-US" sz="1100" dirty="0"/>
              <a:t>通过语音指令控制智能驾驶超过前车等（理想）</a:t>
            </a:r>
            <a:endParaRPr lang="en-US" altLang="zh-CN" sz="1100" dirty="0"/>
          </a:p>
          <a:p>
            <a:pPr marL="285750" indent="-285750">
              <a:lnSpc>
                <a:spcPct val="150000"/>
              </a:lnSpc>
              <a:buFont typeface="Wingdings" panose="05000000000000000000" pitchFamily="2" charset="2"/>
              <a:buChar char="ü"/>
            </a:pPr>
            <a:r>
              <a:rPr lang="zh-CN" altLang="en-US" sz="1100" dirty="0"/>
              <a:t>智能驾驶模式分为平稳型，激进型等，语音不可切换</a:t>
            </a:r>
          </a:p>
        </p:txBody>
      </p:sp>
      <p:sp>
        <p:nvSpPr>
          <p:cNvPr id="27" name="文本框 26"/>
          <p:cNvSpPr txBox="1"/>
          <p:nvPr/>
        </p:nvSpPr>
        <p:spPr>
          <a:xfrm>
            <a:off x="7550150" y="5611495"/>
            <a:ext cx="4421505" cy="57594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050" dirty="0"/>
              <a:t>语音能够自然语音交互的方式完全控制智驾，包括但不限于智驾风格，行车动作等，司机</a:t>
            </a:r>
            <a:r>
              <a:rPr lang="en-US" altLang="zh-CN" sz="1050" dirty="0"/>
              <a:t>Agent</a:t>
            </a:r>
            <a:r>
              <a:rPr lang="zh-CN" altLang="en-US" sz="1050" dirty="0"/>
              <a:t>在驾驶方面，在安全合规下，可以完全被语音控制。</a:t>
            </a:r>
          </a:p>
        </p:txBody>
      </p:sp>
      <p:sp>
        <p:nvSpPr>
          <p:cNvPr id="3" name="文本框 2"/>
          <p:cNvSpPr txBox="1"/>
          <p:nvPr/>
        </p:nvSpPr>
        <p:spPr>
          <a:xfrm>
            <a:off x="3484880" y="2593340"/>
            <a:ext cx="3308350" cy="544830"/>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现在很多电车，有些乘客一上来就说我晕车，师傅你驾驶平稳一点，特别是电车可能也那个，一上来就会提他的诉求</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专车司机黄</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女士 38岁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3377565" y="5734685"/>
            <a:ext cx="3437890" cy="544830"/>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希望可以选择路线，像高德一样先选路线再叫车，或途中与司机交流改路线，但萝卜不行</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建材</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行政喻先生</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26岁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nvSpPr>
        <p:spPr>
          <a:xfrm>
            <a:off x="3484880" y="3933190"/>
            <a:ext cx="3308985" cy="506730"/>
          </a:xfrm>
          <a:prstGeom prst="rect">
            <a:avLst/>
          </a:prstGeom>
          <a:noFill/>
        </p:spPr>
        <p:txBody>
          <a:bodyPr wrap="square" rtlCol="0" anchor="t">
            <a:spAutoFit/>
          </a:bodyPr>
          <a:lstStyle/>
          <a:p>
            <a:pPr marR="0" lvl="0" algn="l" fontAlgn="base">
              <a:buClrTx/>
              <a:buSzTx/>
            </a:pP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sym typeface="+mn-ea"/>
              </a:rPr>
              <a:t>“还有时候停车线会急刹，转弯，转弯，不会减速，乘坐体验不会好。”</a:t>
            </a:r>
            <a:endParaRPr lang="zh-CN" altLang="en-US" sz="900" i="1">
              <a:solidFill>
                <a:schemeClr val="tx1">
                  <a:lumMod val="75000"/>
                  <a:lumOff val="25000"/>
                </a:schemeClr>
              </a:solidFill>
              <a:latin typeface="微软雅黑" panose="020B0503020204020204" pitchFamily="34" charset="-122"/>
              <a:ea typeface="微软雅黑" panose="020B0503020204020204" pitchFamily="34" charset="-122"/>
            </a:endParaRPr>
          </a:p>
          <a:p>
            <a:pPr marR="0" lvl="0" algn="r" fontAlgn="base">
              <a:buClrTx/>
              <a:buSz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sym typeface="+mn-ea"/>
              </a:rPr>
              <a:t>海外投资者林先生（快车）</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sym typeface="+mn-ea"/>
              </a:rPr>
              <a:t>38</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sym typeface="+mn-ea"/>
              </a:rPr>
              <a:t>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p:cNvSpPr txBox="1"/>
          <p:nvPr/>
        </p:nvSpPr>
        <p:spPr>
          <a:xfrm>
            <a:off x="306546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87166" y="3150881"/>
            <a:ext cx="376623"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p:cNvSpPr txBox="1"/>
          <p:nvPr/>
        </p:nvSpPr>
        <p:spPr>
          <a:xfrm>
            <a:off x="424815" y="2795905"/>
            <a:ext cx="1089660" cy="1649095"/>
          </a:xfrm>
          <a:prstGeom prst="rect">
            <a:avLst/>
          </a:prstGeom>
          <a:noFill/>
        </p:spPr>
        <p:txBody>
          <a:bodyPr wrap="square">
            <a:no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司机素质与品格</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622670" y="1384066"/>
            <a:ext cx="1089197"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14391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868827"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215487" y="182658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414335" y="1390273"/>
            <a:ext cx="1030657"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1429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23" name="文本框 22"/>
          <p:cNvSpPr txBox="1"/>
          <p:nvPr/>
        </p:nvSpPr>
        <p:spPr>
          <a:xfrm>
            <a:off x="1398015" y="3627934"/>
            <a:ext cx="1450322" cy="8238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100" dirty="0"/>
              <a:t>核心欢迎素质</a:t>
            </a:r>
            <a:endParaRPr lang="en-US" altLang="zh-CN" sz="1100" dirty="0"/>
          </a:p>
          <a:p>
            <a:pPr marL="285750" indent="-285750">
              <a:lnSpc>
                <a:spcPct val="150000"/>
              </a:lnSpc>
              <a:buFont typeface="Arial" panose="020B0604020202020204" pitchFamily="34" charset="0"/>
              <a:buChar char="•"/>
            </a:pPr>
            <a:r>
              <a:rPr lang="zh-CN" altLang="en-US" sz="1100" dirty="0"/>
              <a:t>场景化加分项</a:t>
            </a:r>
            <a:endParaRPr lang="en-US" altLang="zh-CN" sz="1100" dirty="0"/>
          </a:p>
          <a:p>
            <a:pPr marL="285750" indent="-285750">
              <a:lnSpc>
                <a:spcPct val="150000"/>
              </a:lnSpc>
              <a:buFont typeface="Arial" panose="020B0604020202020204" pitchFamily="34" charset="0"/>
              <a:buChar char="•"/>
            </a:pPr>
            <a:r>
              <a:rPr lang="zh-CN" altLang="en-US" sz="1100" dirty="0"/>
              <a:t>绝对禁忌</a:t>
            </a:r>
          </a:p>
        </p:txBody>
      </p:sp>
      <p:sp>
        <p:nvSpPr>
          <p:cNvPr id="24" name="文本框 22"/>
          <p:cNvSpPr txBox="1"/>
          <p:nvPr/>
        </p:nvSpPr>
        <p:spPr>
          <a:xfrm>
            <a:off x="2847600" y="1894968"/>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核心欢迎素质</a:t>
            </a:r>
            <a:endParaRPr lang="en-US" altLang="zh-CN" sz="1100" b="1" dirty="0"/>
          </a:p>
        </p:txBody>
      </p:sp>
      <p:sp>
        <p:nvSpPr>
          <p:cNvPr id="31" name="文本框 30"/>
          <p:cNvSpPr txBox="1"/>
          <p:nvPr/>
        </p:nvSpPr>
        <p:spPr>
          <a:xfrm>
            <a:off x="2899684" y="2081924"/>
            <a:ext cx="1300356" cy="79066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礼貌与尊重</a:t>
            </a:r>
            <a:endParaRPr lang="en-US" altLang="zh-CN" sz="1050" dirty="0"/>
          </a:p>
          <a:p>
            <a:pPr marL="171450" indent="-171450">
              <a:lnSpc>
                <a:spcPct val="150000"/>
              </a:lnSpc>
              <a:buFont typeface="Arial" panose="020B0604020202020204" pitchFamily="34" charset="0"/>
              <a:buChar char="•"/>
            </a:pPr>
            <a:r>
              <a:rPr lang="zh-CN" altLang="en-US" sz="1050" dirty="0"/>
              <a:t>耐心</a:t>
            </a:r>
            <a:endParaRPr lang="en-US" altLang="zh-CN" sz="1050" dirty="0"/>
          </a:p>
          <a:p>
            <a:pPr marL="171450" indent="-171450">
              <a:lnSpc>
                <a:spcPct val="150000"/>
              </a:lnSpc>
              <a:buFont typeface="Arial" panose="020B0604020202020204" pitchFamily="34" charset="0"/>
              <a:buChar char="•"/>
            </a:pPr>
            <a:r>
              <a:rPr lang="zh-CN" altLang="en-US" sz="1050" dirty="0"/>
              <a:t>责任心与专业性</a:t>
            </a:r>
          </a:p>
        </p:txBody>
      </p:sp>
      <p:sp>
        <p:nvSpPr>
          <p:cNvPr id="32" name="文本框 22"/>
          <p:cNvSpPr txBox="1"/>
          <p:nvPr/>
        </p:nvSpPr>
        <p:spPr>
          <a:xfrm>
            <a:off x="2847600" y="3020076"/>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场景化加分项</a:t>
            </a:r>
            <a:endParaRPr lang="en-US" altLang="zh-CN" sz="1100" b="1" dirty="0"/>
          </a:p>
        </p:txBody>
      </p:sp>
      <p:sp>
        <p:nvSpPr>
          <p:cNvPr id="33" name="文本框 32"/>
          <p:cNvSpPr txBox="1"/>
          <p:nvPr/>
        </p:nvSpPr>
        <p:spPr>
          <a:xfrm>
            <a:off x="2875052" y="3290044"/>
            <a:ext cx="896399" cy="79066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灵活应变</a:t>
            </a:r>
            <a:endParaRPr lang="en-US" altLang="zh-CN" sz="1050" dirty="0"/>
          </a:p>
          <a:p>
            <a:pPr marL="171450" indent="-171450">
              <a:lnSpc>
                <a:spcPct val="150000"/>
              </a:lnSpc>
              <a:buFont typeface="Arial" panose="020B0604020202020204" pitchFamily="34" charset="0"/>
              <a:buChar char="•"/>
            </a:pPr>
            <a:r>
              <a:rPr lang="zh-CN" altLang="en-US" sz="1050" dirty="0"/>
              <a:t>人文关怀</a:t>
            </a:r>
            <a:endParaRPr lang="en-US" altLang="zh-CN" sz="1050" dirty="0"/>
          </a:p>
          <a:p>
            <a:pPr marL="171450" indent="-171450">
              <a:lnSpc>
                <a:spcPct val="150000"/>
              </a:lnSpc>
              <a:buFont typeface="Arial" panose="020B0604020202020204" pitchFamily="34" charset="0"/>
              <a:buChar char="•"/>
            </a:pPr>
            <a:r>
              <a:rPr lang="zh-CN" altLang="en-US" sz="1050" dirty="0"/>
              <a:t>同理心</a:t>
            </a:r>
          </a:p>
        </p:txBody>
      </p:sp>
      <p:sp>
        <p:nvSpPr>
          <p:cNvPr id="37" name="文本框 22"/>
          <p:cNvSpPr txBox="1"/>
          <p:nvPr/>
        </p:nvSpPr>
        <p:spPr>
          <a:xfrm>
            <a:off x="2847600" y="4419254"/>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绝对禁忌</a:t>
            </a:r>
            <a:endParaRPr lang="en-US" altLang="zh-CN" sz="1100" b="1" dirty="0"/>
          </a:p>
        </p:txBody>
      </p:sp>
      <p:sp>
        <p:nvSpPr>
          <p:cNvPr id="40" name="文本框 39"/>
          <p:cNvSpPr txBox="1"/>
          <p:nvPr/>
        </p:nvSpPr>
        <p:spPr>
          <a:xfrm>
            <a:off x="2847600" y="4614197"/>
            <a:ext cx="2475604" cy="1060450"/>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050" dirty="0"/>
              <a:t>危险驾驶</a:t>
            </a:r>
          </a:p>
          <a:p>
            <a:pPr marL="171450" indent="-171450" algn="l">
              <a:lnSpc>
                <a:spcPct val="150000"/>
              </a:lnSpc>
              <a:buClrTx/>
              <a:buSzTx/>
              <a:buFont typeface="Arial" panose="020B0604020202020204" pitchFamily="34" charset="0"/>
              <a:buChar char="•"/>
            </a:pPr>
            <a:r>
              <a:rPr lang="zh-CN" altLang="en-US" sz="1050" dirty="0"/>
              <a:t>欺诈行为（绕路，贪利加价等）</a:t>
            </a:r>
          </a:p>
          <a:p>
            <a:pPr marL="171450" indent="-171450" algn="l">
              <a:lnSpc>
                <a:spcPct val="150000"/>
              </a:lnSpc>
              <a:buClrTx/>
              <a:buSzTx/>
              <a:buFont typeface="Arial" panose="020B0604020202020204" pitchFamily="34" charset="0"/>
              <a:buChar char="•"/>
            </a:pPr>
            <a:r>
              <a:rPr lang="zh-CN" altLang="en-US" sz="1050" dirty="0"/>
              <a:t>态度恶劣（大吼大叫等）</a:t>
            </a:r>
          </a:p>
          <a:p>
            <a:pPr marL="171450" indent="-171450" algn="l">
              <a:lnSpc>
                <a:spcPct val="150000"/>
              </a:lnSpc>
              <a:buClrTx/>
              <a:buSzTx/>
              <a:buFont typeface="Arial" panose="020B0604020202020204" pitchFamily="34" charset="0"/>
              <a:buChar char="•"/>
            </a:pPr>
            <a:r>
              <a:rPr lang="zh-CN" altLang="en-US" sz="1050" dirty="0"/>
              <a:t>不尊重隐私</a:t>
            </a:r>
          </a:p>
        </p:txBody>
      </p:sp>
      <p:sp>
        <p:nvSpPr>
          <p:cNvPr id="41" name="文本框 40"/>
          <p:cNvSpPr txBox="1"/>
          <p:nvPr/>
        </p:nvSpPr>
        <p:spPr>
          <a:xfrm>
            <a:off x="6740135" y="3568663"/>
            <a:ext cx="5013924" cy="206210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语音沟通可以做到类人化的表达，抑扬起伏，结合视觉或者其他多模传感器等，能够理解乘客的情绪，至少能够通过交互做到核心素质礼貌，耐心，责任心与专业性</a:t>
            </a:r>
            <a:endParaRPr lang="en-US" altLang="zh-CN" sz="1050" dirty="0"/>
          </a:p>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能够不仅是语音理解，更是场景化理解乘客状态，需要重点发力，理解客户车内的场景，灵活应对，提供场景式服务</a:t>
            </a:r>
            <a:endParaRPr lang="en-US" altLang="zh-CN" sz="1050" dirty="0"/>
          </a:p>
          <a:p>
            <a:pPr marL="628650" lvl="1" indent="-171450">
              <a:spcBef>
                <a:spcPts val="600"/>
              </a:spcBef>
              <a:buFont typeface="Arial" panose="020B0604020202020204" pitchFamily="34" charset="0"/>
              <a:buChar char="•"/>
            </a:pPr>
            <a:r>
              <a:rPr lang="zh-CN" altLang="en-US" sz="1000" dirty="0"/>
              <a:t>乘客比较疲劳</a:t>
            </a:r>
            <a:r>
              <a:rPr lang="en-US" altLang="zh-CN" sz="1000" dirty="0"/>
              <a:t>——</a:t>
            </a:r>
            <a:r>
              <a:rPr lang="zh-CN" altLang="en-US" sz="1000" dirty="0"/>
              <a:t>主动提示可提供小憩模式，</a:t>
            </a:r>
            <a:endParaRPr lang="en-US" altLang="zh-CN" sz="1000" dirty="0"/>
          </a:p>
          <a:p>
            <a:pPr marL="628650" lvl="1" indent="-171450">
              <a:spcBef>
                <a:spcPts val="600"/>
              </a:spcBef>
              <a:buFont typeface="Arial" panose="020B0604020202020204" pitchFamily="34" charset="0"/>
              <a:buChar char="•"/>
            </a:pPr>
            <a:r>
              <a:rPr lang="zh-CN" altLang="en-US" sz="1000" dirty="0"/>
              <a:t>乘客晕车，醉酒</a:t>
            </a:r>
            <a:r>
              <a:rPr lang="en-US" altLang="zh-CN" sz="1000" dirty="0"/>
              <a:t>——</a:t>
            </a:r>
            <a:r>
              <a:rPr lang="zh-CN" altLang="en-US" sz="1000" dirty="0"/>
              <a:t>降低车速等</a:t>
            </a:r>
            <a:endParaRPr lang="en-US" altLang="zh-CN" sz="1000" dirty="0"/>
          </a:p>
          <a:p>
            <a:pPr marL="628650" lvl="1" indent="-171450">
              <a:spcBef>
                <a:spcPts val="600"/>
              </a:spcBef>
              <a:buFont typeface="Arial" panose="020B0604020202020204" pitchFamily="34" charset="0"/>
              <a:buChar char="•"/>
            </a:pPr>
            <a:r>
              <a:rPr lang="zh-CN" altLang="en-US" sz="1000" dirty="0"/>
              <a:t>乘客焦急赶时间</a:t>
            </a:r>
            <a:r>
              <a:rPr lang="en-US" altLang="zh-CN" sz="1000" dirty="0"/>
              <a:t>——</a:t>
            </a:r>
            <a:r>
              <a:rPr lang="zh-CN" altLang="en-US" sz="1000" dirty="0"/>
              <a:t>适当提高车速，并进行语音提示进行安抚，提示到达时间是否来得及</a:t>
            </a:r>
            <a:endParaRPr lang="en-US" altLang="zh-CN" sz="1000" dirty="0"/>
          </a:p>
          <a:p>
            <a:pPr marL="171450" indent="-171450">
              <a:spcBef>
                <a:spcPts val="600"/>
              </a:spcBef>
              <a:buFont typeface="Wingdings" panose="05000000000000000000" pitchFamily="2" charset="2"/>
              <a:buChar char="ü"/>
            </a:pPr>
            <a:endParaRPr lang="en-US" altLang="zh-CN" sz="1050" dirty="0"/>
          </a:p>
        </p:txBody>
      </p:sp>
      <p:sp>
        <p:nvSpPr>
          <p:cNvPr id="8" name="文本框 7"/>
          <p:cNvSpPr txBox="1"/>
          <p:nvPr/>
        </p:nvSpPr>
        <p:spPr>
          <a:xfrm>
            <a:off x="6298617" y="3300773"/>
            <a:ext cx="723275" cy="253916"/>
          </a:xfrm>
          <a:prstGeom prst="rect">
            <a:avLst/>
          </a:prstGeom>
          <a:noFill/>
        </p:spPr>
        <p:txBody>
          <a:bodyPr wrap="none" rtlCol="0">
            <a:spAutoFit/>
          </a:bodyPr>
          <a:lstStyle/>
          <a:p>
            <a:r>
              <a:rPr lang="zh-CN" altLang="en-US" sz="1050" b="1" dirty="0"/>
              <a:t>机会点：</a:t>
            </a:r>
          </a:p>
        </p:txBody>
      </p:sp>
      <p:sp>
        <p:nvSpPr>
          <p:cNvPr id="9" name="文本框 8"/>
          <p:cNvSpPr txBox="1"/>
          <p:nvPr/>
        </p:nvSpPr>
        <p:spPr>
          <a:xfrm>
            <a:off x="6311383" y="5376850"/>
            <a:ext cx="588623" cy="253916"/>
          </a:xfrm>
          <a:prstGeom prst="rect">
            <a:avLst/>
          </a:prstGeom>
          <a:noFill/>
        </p:spPr>
        <p:txBody>
          <a:bodyPr wrap="none" rtlCol="0">
            <a:spAutoFit/>
          </a:bodyPr>
          <a:lstStyle/>
          <a:p>
            <a:r>
              <a:rPr lang="zh-CN" altLang="en-US" sz="1050" b="1" dirty="0"/>
              <a:t>展望：</a:t>
            </a:r>
          </a:p>
        </p:txBody>
      </p:sp>
      <p:sp>
        <p:nvSpPr>
          <p:cNvPr id="11" name="文本框 10"/>
          <p:cNvSpPr txBox="1"/>
          <p:nvPr/>
        </p:nvSpPr>
        <p:spPr>
          <a:xfrm>
            <a:off x="6155773" y="182426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2" name="文本框 11"/>
          <p:cNvSpPr txBox="1"/>
          <p:nvPr/>
        </p:nvSpPr>
        <p:spPr>
          <a:xfrm>
            <a:off x="6753041" y="2172233"/>
            <a:ext cx="5013924" cy="113107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智能座舱能够被动满足乘客绝大部分需要，如能够场景模式及自定义，满足乘客的各个场景功能性需求</a:t>
            </a:r>
            <a:endParaRPr lang="en-US" altLang="zh-CN" sz="1050" dirty="0"/>
          </a:p>
          <a:p>
            <a:pPr marL="171450" indent="-171450">
              <a:spcBef>
                <a:spcPts val="600"/>
              </a:spcBef>
              <a:buFont typeface="Wingdings" panose="05000000000000000000" pitchFamily="2" charset="2"/>
              <a:buChar char="ü"/>
            </a:pPr>
            <a:r>
              <a:rPr lang="zh-CN" altLang="en-US" sz="1050" dirty="0"/>
              <a:t>大模型应用，也能做到陪聊，但无法做到情绪化的陪伴，缺少情绪价值</a:t>
            </a:r>
            <a:endParaRPr lang="en-US" altLang="zh-CN" sz="1050" dirty="0"/>
          </a:p>
          <a:p>
            <a:pPr marL="171450" indent="-171450">
              <a:spcBef>
                <a:spcPts val="600"/>
              </a:spcBef>
              <a:buFont typeface="Wingdings" panose="05000000000000000000" pitchFamily="2" charset="2"/>
              <a:buChar char="ü"/>
            </a:pPr>
            <a:r>
              <a:rPr lang="zh-CN" altLang="en-US" sz="1050" dirty="0"/>
              <a:t>语音的音色等虽然进步很大，但是还无法做到完全拟人，或者类人化表达</a:t>
            </a:r>
            <a:endParaRPr lang="en-US" altLang="zh-CN" sz="1050" dirty="0"/>
          </a:p>
          <a:p>
            <a:pPr marL="171450" indent="-171450">
              <a:spcBef>
                <a:spcPts val="600"/>
              </a:spcBef>
              <a:buFont typeface="Wingdings" panose="05000000000000000000" pitchFamily="2" charset="2"/>
              <a:buChar char="ü"/>
            </a:pPr>
            <a:r>
              <a:rPr lang="zh-CN" altLang="en-US" sz="1050" dirty="0"/>
              <a:t>语音的泛化与自然度已经提升很多，但是视觉等融合不足，理解力依然有限</a:t>
            </a:r>
            <a:endParaRPr lang="en-US" altLang="zh-CN" sz="1050" dirty="0"/>
          </a:p>
        </p:txBody>
      </p:sp>
      <p:sp>
        <p:nvSpPr>
          <p:cNvPr id="13" name="文本框 12"/>
          <p:cNvSpPr txBox="1"/>
          <p:nvPr/>
        </p:nvSpPr>
        <p:spPr>
          <a:xfrm>
            <a:off x="6726555" y="5654675"/>
            <a:ext cx="5040630" cy="42989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司机</a:t>
            </a:r>
            <a:r>
              <a:rPr lang="en-US" altLang="zh-CN" sz="1100" dirty="0"/>
              <a:t>Agent</a:t>
            </a:r>
            <a:r>
              <a:rPr lang="zh-CN" altLang="en-US" sz="1100" dirty="0"/>
              <a:t>成为乘客的朋友与知己，不仅能提供专业的服务，还能够真的懂你，成为同理心的伯牙子期</a:t>
            </a:r>
          </a:p>
        </p:txBody>
      </p:sp>
      <p:sp>
        <p:nvSpPr>
          <p:cNvPr id="3" name="文本框 2"/>
          <p:cNvSpPr txBox="1"/>
          <p:nvPr/>
        </p:nvSpPr>
        <p:spPr>
          <a:xfrm>
            <a:off x="4142129" y="2126643"/>
            <a:ext cx="2070370" cy="961802"/>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我们专车有这个话术要求的，接到乘客以后，电话或者短信给乘客。第二个就是检查物料的，还有卫生情况，物料的话我们有专用水提供的，是否具备三瓶水</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专车司机黄</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女士 38岁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965924" y="3312607"/>
            <a:ext cx="2070370" cy="961802"/>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假如说从医院出来，一个行动不大方便的，走路很慢的，手要插腰的，我就人下来，把他门开好，搀他一把，让他快点上车，不要影响后面的交通。看他走的情况，我就跟他主动提了</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专车司机黄先生</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38岁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4142128" y="5388988"/>
            <a:ext cx="1953871" cy="684803"/>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不跟你聊天，会跟别人聊天，一直发语音，公放的那种，就一直在那聊，不看路</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海外投资者林先生（快车）</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38</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岁</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p:cNvSpPr txBox="1"/>
          <p:nvPr/>
        </p:nvSpPr>
        <p:spPr>
          <a:xfrm>
            <a:off x="3728252" y="1384066"/>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87166" y="3150881"/>
            <a:ext cx="376623"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p:cNvSpPr txBox="1"/>
          <p:nvPr/>
        </p:nvSpPr>
        <p:spPr>
          <a:xfrm>
            <a:off x="522113" y="270311"/>
            <a:ext cx="953743" cy="3785652"/>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充分信任与专属服务</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495829" y="1384066"/>
            <a:ext cx="1355319"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97302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992441" y="18101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129887" y="1884236"/>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191682" y="1390273"/>
            <a:ext cx="128417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1429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3" name="文本框 42"/>
          <p:cNvSpPr txBox="1"/>
          <p:nvPr/>
        </p:nvSpPr>
        <p:spPr>
          <a:xfrm>
            <a:off x="1571638" y="2900166"/>
            <a:ext cx="1325022" cy="13317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100" dirty="0"/>
              <a:t>内向社恐型</a:t>
            </a:r>
            <a:endParaRPr lang="en-US" altLang="zh-CN" sz="1100" dirty="0"/>
          </a:p>
          <a:p>
            <a:pPr marL="285750" indent="-285750">
              <a:lnSpc>
                <a:spcPct val="150000"/>
              </a:lnSpc>
              <a:buFont typeface="Arial" panose="020B0604020202020204" pitchFamily="34" charset="0"/>
              <a:buChar char="•"/>
            </a:pPr>
            <a:r>
              <a:rPr lang="zh-CN" altLang="en-US" sz="1100" dirty="0"/>
              <a:t>注重细节型</a:t>
            </a:r>
            <a:endParaRPr lang="en-US" altLang="zh-CN" sz="1100" dirty="0"/>
          </a:p>
          <a:p>
            <a:pPr marL="285750" indent="-285750">
              <a:lnSpc>
                <a:spcPct val="150000"/>
              </a:lnSpc>
              <a:buFont typeface="Arial" panose="020B0604020202020204" pitchFamily="34" charset="0"/>
              <a:buChar char="•"/>
            </a:pPr>
            <a:r>
              <a:rPr lang="zh-CN" altLang="en-US" sz="1100" dirty="0"/>
              <a:t>高效务实型</a:t>
            </a:r>
            <a:endParaRPr lang="en-US" altLang="zh-CN" sz="1100" dirty="0"/>
          </a:p>
          <a:p>
            <a:pPr marL="285750" indent="-285750">
              <a:lnSpc>
                <a:spcPct val="150000"/>
              </a:lnSpc>
              <a:buFont typeface="Arial" panose="020B0604020202020204" pitchFamily="34" charset="0"/>
              <a:buChar char="•"/>
            </a:pPr>
            <a:r>
              <a:rPr lang="zh-CN" altLang="en-US" sz="1100" dirty="0"/>
              <a:t>包容体谅型</a:t>
            </a:r>
            <a:endParaRPr lang="en-US" altLang="zh-CN" sz="1100" dirty="0"/>
          </a:p>
          <a:p>
            <a:pPr marL="285750" indent="-285750">
              <a:lnSpc>
                <a:spcPct val="150000"/>
              </a:lnSpc>
              <a:buFont typeface="Arial" panose="020B0604020202020204" pitchFamily="34" charset="0"/>
              <a:buChar char="•"/>
            </a:pPr>
            <a:r>
              <a:rPr lang="zh-CN" altLang="en-US" sz="1100" dirty="0"/>
              <a:t>强势维权型</a:t>
            </a:r>
          </a:p>
        </p:txBody>
      </p:sp>
      <p:sp>
        <p:nvSpPr>
          <p:cNvPr id="45" name="文本框 44"/>
          <p:cNvSpPr txBox="1"/>
          <p:nvPr/>
        </p:nvSpPr>
        <p:spPr>
          <a:xfrm>
            <a:off x="3139440" y="2192655"/>
            <a:ext cx="3983355" cy="2376170"/>
          </a:xfrm>
          <a:prstGeom prst="rect">
            <a:avLst/>
          </a:prstGeom>
          <a:noFill/>
        </p:spPr>
        <p:txBody>
          <a:bodyPr wrap="square">
            <a:spAutoFit/>
          </a:bodyPr>
          <a:lstStyle/>
          <a:p>
            <a:pPr marL="171450" indent="-171450">
              <a:lnSpc>
                <a:spcPct val="150000"/>
              </a:lnSpc>
              <a:buFont typeface="Wingdings" panose="05000000000000000000" pitchFamily="2" charset="2"/>
              <a:buChar char="Ø"/>
            </a:pPr>
            <a:r>
              <a:rPr lang="zh-CN" altLang="en-US" sz="1100" b="1" dirty="0"/>
              <a:t>减少沟通、保持安静、不被打扰</a:t>
            </a:r>
            <a:r>
              <a:rPr lang="en-US" altLang="zh-CN" sz="1100" dirty="0"/>
              <a:t>——</a:t>
            </a:r>
            <a:r>
              <a:rPr lang="zh-CN" altLang="en-US" sz="1100" dirty="0"/>
              <a:t>摇手表示停止聊天，司机要有眼力见</a:t>
            </a:r>
            <a:endParaRPr lang="en-US" altLang="zh-CN" sz="1100" dirty="0"/>
          </a:p>
          <a:p>
            <a:pPr marL="171450" indent="-171450">
              <a:lnSpc>
                <a:spcPct val="150000"/>
              </a:lnSpc>
              <a:buFont typeface="Wingdings" panose="05000000000000000000" pitchFamily="2" charset="2"/>
              <a:buChar char="Ø"/>
            </a:pPr>
            <a:r>
              <a:rPr lang="zh-CN" altLang="en-US" sz="1100" b="1" dirty="0"/>
              <a:t>体验精致、细节到位</a:t>
            </a:r>
            <a:r>
              <a:rPr lang="en-US" altLang="zh-CN" sz="1100" dirty="0"/>
              <a:t>——</a:t>
            </a:r>
            <a:r>
              <a:rPr lang="zh-CN" altLang="en-US" sz="1100" dirty="0"/>
              <a:t>车辆整洁干净，备至物品充分（充电线，呕吐带，纸斤），驾驶细节</a:t>
            </a:r>
            <a:endParaRPr lang="en-US" altLang="zh-CN" sz="1100" dirty="0"/>
          </a:p>
          <a:p>
            <a:pPr marL="171450" indent="-171450">
              <a:lnSpc>
                <a:spcPct val="150000"/>
              </a:lnSpc>
              <a:buFont typeface="Wingdings" panose="05000000000000000000" pitchFamily="2" charset="2"/>
              <a:buChar char="Ø"/>
            </a:pPr>
            <a:r>
              <a:rPr lang="zh-CN" altLang="en-US" sz="1100" b="1" dirty="0"/>
              <a:t>安全、准时、高效到达目的地</a:t>
            </a:r>
            <a:r>
              <a:rPr lang="en-US" altLang="zh-CN" sz="1100" dirty="0"/>
              <a:t>——</a:t>
            </a:r>
            <a:r>
              <a:rPr lang="zh-CN" altLang="en-US" sz="1100" dirty="0"/>
              <a:t>司机龟速行驶、绕路、开错道等行为零容忍，最优路线</a:t>
            </a:r>
            <a:endParaRPr lang="en-US" altLang="zh-CN" sz="1100" dirty="0"/>
          </a:p>
          <a:p>
            <a:pPr marL="171450" indent="-171450">
              <a:lnSpc>
                <a:spcPct val="150000"/>
              </a:lnSpc>
              <a:buFont typeface="Wingdings" panose="05000000000000000000" pitchFamily="2" charset="2"/>
              <a:buChar char="Ø"/>
            </a:pPr>
            <a:r>
              <a:rPr lang="zh-CN" altLang="en-US" sz="1100" b="1" dirty="0"/>
              <a:t>互相理解、友好沟通</a:t>
            </a:r>
            <a:r>
              <a:rPr lang="en-US" altLang="zh-CN" sz="1100" dirty="0"/>
              <a:t>——</a:t>
            </a:r>
            <a:r>
              <a:rPr lang="zh-CN" altLang="en-US" sz="1100" dirty="0"/>
              <a:t>遇到问题能主动沟通、真诚致歉，不推卸责任</a:t>
            </a:r>
            <a:endParaRPr lang="en-US" altLang="zh-CN" sz="1100" dirty="0"/>
          </a:p>
          <a:p>
            <a:pPr marL="171450" indent="-171450">
              <a:lnSpc>
                <a:spcPct val="150000"/>
              </a:lnSpc>
              <a:buFont typeface="Wingdings" panose="05000000000000000000" pitchFamily="2" charset="2"/>
              <a:buChar char="Ø"/>
            </a:pPr>
            <a:r>
              <a:rPr lang="zh-CN" altLang="en-US" sz="1100" b="1" dirty="0"/>
              <a:t>遵守规则、保障自身权益</a:t>
            </a:r>
            <a:r>
              <a:rPr lang="en-US" altLang="zh-CN" sz="1100" dirty="0"/>
              <a:t>——</a:t>
            </a:r>
            <a:r>
              <a:rPr lang="zh-CN" altLang="en-US" sz="1100" dirty="0"/>
              <a:t>不会因司机的刁难而妥协</a:t>
            </a:r>
          </a:p>
        </p:txBody>
      </p:sp>
      <p:sp>
        <p:nvSpPr>
          <p:cNvPr id="46" name="文本框 45"/>
          <p:cNvSpPr txBox="1"/>
          <p:nvPr/>
        </p:nvSpPr>
        <p:spPr>
          <a:xfrm>
            <a:off x="3170606" y="1960049"/>
            <a:ext cx="944880" cy="275590"/>
          </a:xfrm>
          <a:prstGeom prst="rect">
            <a:avLst/>
          </a:prstGeom>
          <a:noFill/>
        </p:spPr>
        <p:txBody>
          <a:bodyPr wrap="none" rtlCol="0">
            <a:spAutoFit/>
          </a:bodyPr>
          <a:lstStyle/>
          <a:p>
            <a:r>
              <a:rPr lang="zh-CN" altLang="en-US" sz="1200" b="1" dirty="0"/>
              <a:t>核心诉求：</a:t>
            </a:r>
          </a:p>
        </p:txBody>
      </p:sp>
      <p:sp>
        <p:nvSpPr>
          <p:cNvPr id="56" name="文本框 55"/>
          <p:cNvSpPr txBox="1"/>
          <p:nvPr/>
        </p:nvSpPr>
        <p:spPr>
          <a:xfrm>
            <a:off x="1391910" y="2430205"/>
            <a:ext cx="1736373" cy="261610"/>
          </a:xfrm>
          <a:prstGeom prst="rect">
            <a:avLst/>
          </a:prstGeom>
          <a:noFill/>
        </p:spPr>
        <p:txBody>
          <a:bodyPr wrap="none" rtlCol="0">
            <a:spAutoFit/>
          </a:bodyPr>
          <a:lstStyle/>
          <a:p>
            <a:r>
              <a:rPr lang="zh-CN" altLang="en-US" sz="1100" dirty="0"/>
              <a:t>以下个性，还存在复合型</a:t>
            </a:r>
          </a:p>
        </p:txBody>
      </p:sp>
      <p:sp>
        <p:nvSpPr>
          <p:cNvPr id="57" name="文本框 56"/>
          <p:cNvSpPr txBox="1"/>
          <p:nvPr/>
        </p:nvSpPr>
        <p:spPr>
          <a:xfrm>
            <a:off x="7430538" y="3344826"/>
            <a:ext cx="4328444" cy="2346796"/>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记录乘客习惯，乘客个性化标签以提供个性化服务</a:t>
            </a:r>
            <a:endParaRPr lang="en-US" altLang="zh-CN" sz="1050" dirty="0"/>
          </a:p>
          <a:p>
            <a:pPr marL="628650" lvl="1" indent="-171450">
              <a:spcBef>
                <a:spcPts val="600"/>
              </a:spcBef>
              <a:buFont typeface="Arial" panose="020B0604020202020204" pitchFamily="34" charset="0"/>
              <a:buChar char="•"/>
            </a:pPr>
            <a:r>
              <a:rPr lang="zh-CN" altLang="en-US" sz="1000" dirty="0"/>
              <a:t>个性化情景服务</a:t>
            </a:r>
            <a:endParaRPr lang="en-US" altLang="zh-CN" sz="1000" dirty="0"/>
          </a:p>
          <a:p>
            <a:pPr marL="1143000" lvl="2" indent="-228600">
              <a:spcBef>
                <a:spcPts val="600"/>
              </a:spcBef>
              <a:buFont typeface="+mj-ea"/>
              <a:buAutoNum type="circleNumDbPlain"/>
            </a:pPr>
            <a:r>
              <a:rPr lang="zh-CN" altLang="en-US" sz="1000" dirty="0"/>
              <a:t>识别乘客个人风格，提供与乘客个人风格相对应不同语音</a:t>
            </a:r>
            <a:r>
              <a:rPr lang="en-US" altLang="zh-CN" sz="1000" dirty="0"/>
              <a:t>Agent</a:t>
            </a:r>
            <a:r>
              <a:rPr lang="zh-CN" altLang="en-US" sz="1000" dirty="0"/>
              <a:t>风格，内向社恐型提供简洁型，注意细节型提供细致主动型</a:t>
            </a:r>
            <a:endParaRPr lang="en-US" altLang="zh-CN" sz="1000" dirty="0"/>
          </a:p>
          <a:p>
            <a:pPr marL="1143000" lvl="2" indent="-228600">
              <a:spcBef>
                <a:spcPts val="600"/>
              </a:spcBef>
              <a:buFont typeface="+mj-ea"/>
              <a:buAutoNum type="circleNumDbPlain"/>
            </a:pPr>
            <a:r>
              <a:rPr lang="zh-CN" altLang="en-US" sz="1000" dirty="0"/>
              <a:t>根据乘客当前情绪，能够灵活对应不同</a:t>
            </a:r>
            <a:r>
              <a:rPr lang="en-US" altLang="zh-CN" sz="1000" dirty="0"/>
              <a:t>Agent</a:t>
            </a:r>
            <a:r>
              <a:rPr lang="zh-CN" altLang="en-US" sz="1000" dirty="0"/>
              <a:t>的提示与语音服务</a:t>
            </a:r>
            <a:endParaRPr lang="en-US" altLang="zh-CN" sz="1000" dirty="0"/>
          </a:p>
          <a:p>
            <a:pPr marL="628650" lvl="1" indent="-171450">
              <a:spcBef>
                <a:spcPts val="600"/>
              </a:spcBef>
              <a:buFont typeface="Arial" panose="020B0604020202020204" pitchFamily="34" charset="0"/>
              <a:buChar char="•"/>
            </a:pPr>
            <a:r>
              <a:rPr lang="zh-CN" altLang="en-US" sz="1000" dirty="0"/>
              <a:t>个性化场景服务</a:t>
            </a:r>
            <a:endParaRPr lang="en-US" altLang="zh-CN" sz="1000" dirty="0"/>
          </a:p>
          <a:p>
            <a:pPr marL="1143000" lvl="2" indent="-228600">
              <a:spcBef>
                <a:spcPts val="600"/>
              </a:spcBef>
              <a:buFont typeface="+mj-ea"/>
              <a:buAutoNum type="circleNumDbPlain"/>
            </a:pPr>
            <a:r>
              <a:rPr lang="zh-CN" altLang="en-US" sz="900" dirty="0">
                <a:latin typeface="+mn-ea"/>
              </a:rPr>
              <a:t>硬件使用习惯的场景服务，如座椅，空调，</a:t>
            </a:r>
            <a:r>
              <a:rPr lang="en-US" altLang="zh-CN" sz="900" dirty="0">
                <a:latin typeface="+mn-ea"/>
              </a:rPr>
              <a:t>HUD,</a:t>
            </a:r>
            <a:r>
              <a:rPr lang="zh-CN" altLang="en-US" sz="900" dirty="0">
                <a:latin typeface="+mn-ea"/>
              </a:rPr>
              <a:t>音源播放的优先级等</a:t>
            </a:r>
            <a:endParaRPr lang="en-US" altLang="zh-CN" sz="900" dirty="0">
              <a:latin typeface="+mn-ea"/>
            </a:endParaRPr>
          </a:p>
          <a:p>
            <a:pPr marL="1143000" lvl="2" indent="-228600">
              <a:spcBef>
                <a:spcPts val="600"/>
              </a:spcBef>
              <a:buFont typeface="+mj-ea"/>
              <a:buAutoNum type="circleNumDbPlain"/>
            </a:pPr>
            <a:r>
              <a:rPr lang="zh-CN" altLang="en-US" sz="900" dirty="0">
                <a:latin typeface="+mn-ea"/>
              </a:rPr>
              <a:t>软件相关使用习惯的场景服务：常用</a:t>
            </a:r>
            <a:r>
              <a:rPr lang="en-US" altLang="zh-CN" sz="900" dirty="0">
                <a:latin typeface="+mn-ea"/>
              </a:rPr>
              <a:t>APP</a:t>
            </a:r>
            <a:r>
              <a:rPr lang="zh-CN" altLang="en-US" sz="900" dirty="0">
                <a:latin typeface="+mn-ea"/>
              </a:rPr>
              <a:t>推进，</a:t>
            </a:r>
            <a:r>
              <a:rPr lang="en-US" altLang="zh-CN" sz="900" dirty="0">
                <a:latin typeface="+mn-ea"/>
              </a:rPr>
              <a:t>APP</a:t>
            </a:r>
            <a:r>
              <a:rPr lang="zh-CN" altLang="en-US" sz="900" dirty="0">
                <a:latin typeface="+mn-ea"/>
              </a:rPr>
              <a:t>个性化可自定义，交互界面，</a:t>
            </a:r>
            <a:r>
              <a:rPr lang="en-US" altLang="zh-CN" sz="900" dirty="0">
                <a:latin typeface="+mn-ea"/>
              </a:rPr>
              <a:t>app</a:t>
            </a:r>
            <a:r>
              <a:rPr lang="zh-CN" altLang="en-US" sz="900" dirty="0">
                <a:latin typeface="+mn-ea"/>
              </a:rPr>
              <a:t>常用选项的个性化</a:t>
            </a:r>
            <a:endParaRPr lang="en-US" altLang="zh-CN" sz="1050" dirty="0"/>
          </a:p>
        </p:txBody>
      </p:sp>
      <p:sp>
        <p:nvSpPr>
          <p:cNvPr id="4" name="文本框 3"/>
          <p:cNvSpPr txBox="1"/>
          <p:nvPr/>
        </p:nvSpPr>
        <p:spPr>
          <a:xfrm>
            <a:off x="7031329" y="3093980"/>
            <a:ext cx="723275" cy="253916"/>
          </a:xfrm>
          <a:prstGeom prst="rect">
            <a:avLst/>
          </a:prstGeom>
          <a:noFill/>
        </p:spPr>
        <p:txBody>
          <a:bodyPr wrap="none" rtlCol="0">
            <a:spAutoFit/>
          </a:bodyPr>
          <a:lstStyle/>
          <a:p>
            <a:r>
              <a:rPr lang="zh-CN" altLang="en-US" sz="1050" b="1" dirty="0"/>
              <a:t>机会点：</a:t>
            </a:r>
          </a:p>
        </p:txBody>
      </p:sp>
      <p:sp>
        <p:nvSpPr>
          <p:cNvPr id="5" name="文本框 4"/>
          <p:cNvSpPr txBox="1"/>
          <p:nvPr/>
        </p:nvSpPr>
        <p:spPr>
          <a:xfrm>
            <a:off x="7076549" y="5625377"/>
            <a:ext cx="588623" cy="253916"/>
          </a:xfrm>
          <a:prstGeom prst="rect">
            <a:avLst/>
          </a:prstGeom>
          <a:noFill/>
        </p:spPr>
        <p:txBody>
          <a:bodyPr wrap="none" rtlCol="0">
            <a:spAutoFit/>
          </a:bodyPr>
          <a:lstStyle/>
          <a:p>
            <a:r>
              <a:rPr lang="zh-CN" altLang="en-US" sz="1050" b="1" dirty="0"/>
              <a:t>展望：</a:t>
            </a:r>
          </a:p>
        </p:txBody>
      </p:sp>
      <p:sp>
        <p:nvSpPr>
          <p:cNvPr id="6" name="文本框 5"/>
          <p:cNvSpPr txBox="1"/>
          <p:nvPr/>
        </p:nvSpPr>
        <p:spPr>
          <a:xfrm>
            <a:off x="7012896" y="187019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8" name="文本框 7"/>
          <p:cNvSpPr txBox="1"/>
          <p:nvPr/>
        </p:nvSpPr>
        <p:spPr>
          <a:xfrm>
            <a:off x="7474339" y="2124115"/>
            <a:ext cx="4532010" cy="1033040"/>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zh-CN" altLang="en-US" sz="1050" dirty="0"/>
              <a:t>座椅舒适度，</a:t>
            </a:r>
            <a:r>
              <a:rPr lang="en-US" altLang="zh-CN" sz="1050" dirty="0"/>
              <a:t>HUD</a:t>
            </a:r>
            <a:r>
              <a:rPr lang="zh-CN" altLang="en-US" sz="1050" dirty="0"/>
              <a:t>显示位置能够做到个性化的自动调节</a:t>
            </a:r>
            <a:endParaRPr lang="en-US" altLang="zh-CN" sz="1050" dirty="0"/>
          </a:p>
          <a:p>
            <a:pPr marL="171450" indent="-171450">
              <a:lnSpc>
                <a:spcPct val="150000"/>
              </a:lnSpc>
              <a:buFont typeface="Wingdings" panose="05000000000000000000" pitchFamily="2" charset="2"/>
              <a:buChar char="ü"/>
            </a:pPr>
            <a:r>
              <a:rPr lang="zh-CN" altLang="en-US" sz="1050" dirty="0"/>
              <a:t>设置部分的参数跟账户绑定做个性化的记忆，账号切换时进行偏好同步</a:t>
            </a:r>
            <a:endParaRPr lang="en-US" altLang="zh-CN" sz="1050" dirty="0"/>
          </a:p>
          <a:p>
            <a:pPr marL="171450" indent="-171450">
              <a:lnSpc>
                <a:spcPct val="150000"/>
              </a:lnSpc>
              <a:buFont typeface="Wingdings" panose="05000000000000000000" pitchFamily="2" charset="2"/>
              <a:buChar char="ü"/>
            </a:pPr>
            <a:r>
              <a:rPr lang="zh-CN" altLang="en-US" sz="1050" dirty="0"/>
              <a:t>部分车企可生成个性化的界面（理想），但生成效率低，个性化不足</a:t>
            </a:r>
            <a:endParaRPr lang="en-US" altLang="zh-CN" sz="1050" dirty="0"/>
          </a:p>
          <a:p>
            <a:pPr marL="171450" indent="-171450">
              <a:lnSpc>
                <a:spcPct val="150000"/>
              </a:lnSpc>
              <a:buFont typeface="Wingdings" panose="05000000000000000000" pitchFamily="2" charset="2"/>
              <a:buChar char="ü"/>
            </a:pPr>
            <a:r>
              <a:rPr lang="zh-CN" altLang="en-US" sz="1050" dirty="0"/>
              <a:t>个性化的推荐服务几乎没有</a:t>
            </a:r>
            <a:r>
              <a:rPr lang="en-US" altLang="zh-CN" sz="1050" dirty="0"/>
              <a:t>,</a:t>
            </a:r>
            <a:r>
              <a:rPr lang="zh-CN" altLang="en-US" sz="1050" dirty="0"/>
              <a:t>常用</a:t>
            </a:r>
            <a:r>
              <a:rPr lang="en-US" altLang="zh-CN" sz="1050" dirty="0"/>
              <a:t>app</a:t>
            </a:r>
            <a:r>
              <a:rPr lang="zh-CN" altLang="en-US" sz="1050" dirty="0"/>
              <a:t>推荐</a:t>
            </a:r>
          </a:p>
        </p:txBody>
      </p:sp>
      <p:sp>
        <p:nvSpPr>
          <p:cNvPr id="12" name="文本框 11"/>
          <p:cNvSpPr txBox="1"/>
          <p:nvPr/>
        </p:nvSpPr>
        <p:spPr>
          <a:xfrm>
            <a:off x="7619952" y="5715501"/>
            <a:ext cx="2646878"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真正的个性化座舱，千人千面真正实现</a:t>
            </a:r>
            <a:endParaRPr lang="en-US" altLang="zh-CN" sz="1050" dirty="0"/>
          </a:p>
        </p:txBody>
      </p:sp>
      <p:cxnSp>
        <p:nvCxnSpPr>
          <p:cNvPr id="15" name="直接箭头连接符 14"/>
          <p:cNvCxnSpPr/>
          <p:nvPr/>
        </p:nvCxnSpPr>
        <p:spPr>
          <a:xfrm flipV="1">
            <a:off x="2717270" y="2429135"/>
            <a:ext cx="501650" cy="546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2717437" y="2941421"/>
            <a:ext cx="501650" cy="389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2698019" y="3413399"/>
            <a:ext cx="527050" cy="20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723829" y="3857788"/>
            <a:ext cx="495300" cy="3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704737" y="4124027"/>
            <a:ext cx="529590" cy="288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005455" y="4559935"/>
            <a:ext cx="4116705" cy="1592744"/>
          </a:xfrm>
          <a:prstGeom prst="rect">
            <a:avLst/>
          </a:prstGeom>
          <a:noFill/>
        </p:spPr>
        <p:txBody>
          <a:bodyPr wrap="square" rtlCol="0">
            <a:spAutoFit/>
          </a:bodyPr>
          <a:lstStyle/>
          <a:p>
            <a:pPr indent="0" algn="l">
              <a:lnSpc>
                <a:spcPct val="100000"/>
              </a:lnSpc>
              <a:spcBef>
                <a:spcPts val="0"/>
              </a:spcBef>
              <a:spcAft>
                <a:spcPts val="0"/>
              </a:spcAft>
              <a:buClrTx/>
              <a:buSzTx/>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我希望自己可以备一个粘毛器。这个可能比较小众，基本上不太会有的，如果狗下去了，他的车上肯定会有毛，包括狗的气味也会比较重，清新剂去清新一下</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老师</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贾女士（快车）</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rPr>
              <a:t>34</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rPr>
              <a:t>岁</a:t>
            </a:r>
          </a:p>
          <a:p>
            <a:pPr indent="0" algn="just">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我第二次的时候才发现它是会记录你的登录的，就是我第一次登录了网易云的这个账号以后，它就和我的百度的账号关联。我第二次用那个萝卜的时候，我一坐进去</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就是我不需要再额外的二次登录。对它是相当于它是有记忆的。如果它能实现这种记录功能，那我每一次乘坐的就是（按照）我的一些需求</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现在 </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AI </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也挺发达，它后面可能根据我的驾驶习惯就出来一个模型”</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p>
          <a:p>
            <a:pPr indent="0" algn="r">
              <a:lnSpc>
                <a:spcPct val="100000"/>
              </a:lnSpc>
              <a:spcBef>
                <a:spcPts val="300"/>
              </a:spcBef>
              <a:spcAft>
                <a:spcPts val="0"/>
              </a:spcAft>
              <a:buNone/>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建材</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行政喻先生</a:t>
            </a: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26岁</a:t>
            </a:r>
            <a:endPar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p:cNvSpPr txBox="1"/>
          <p:nvPr/>
        </p:nvSpPr>
        <p:spPr>
          <a:xfrm>
            <a:off x="3702072"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87166" y="3150881"/>
            <a:ext cx="376623"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p:cNvSpPr txBox="1"/>
          <p:nvPr/>
        </p:nvSpPr>
        <p:spPr>
          <a:xfrm>
            <a:off x="521970" y="594360"/>
            <a:ext cx="1005840" cy="341503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专属服务</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129857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7896265"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2992441" y="18101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054474" y="187019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373823" y="1390273"/>
            <a:ext cx="104402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41429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7072270" y="3093980"/>
            <a:ext cx="723275" cy="253916"/>
          </a:xfrm>
          <a:prstGeom prst="rect">
            <a:avLst/>
          </a:prstGeom>
          <a:noFill/>
        </p:spPr>
        <p:txBody>
          <a:bodyPr wrap="none" rtlCol="0">
            <a:spAutoFit/>
          </a:bodyPr>
          <a:lstStyle/>
          <a:p>
            <a:r>
              <a:rPr lang="zh-CN" altLang="en-US" sz="1050" b="1" dirty="0"/>
              <a:t>机会点：</a:t>
            </a:r>
          </a:p>
        </p:txBody>
      </p:sp>
      <p:sp>
        <p:nvSpPr>
          <p:cNvPr id="5" name="文本框 4"/>
          <p:cNvSpPr txBox="1"/>
          <p:nvPr/>
        </p:nvSpPr>
        <p:spPr>
          <a:xfrm>
            <a:off x="7101885" y="5305822"/>
            <a:ext cx="588623" cy="253916"/>
          </a:xfrm>
          <a:prstGeom prst="rect">
            <a:avLst/>
          </a:prstGeom>
          <a:noFill/>
        </p:spPr>
        <p:txBody>
          <a:bodyPr wrap="none" rtlCol="0">
            <a:spAutoFit/>
          </a:bodyPr>
          <a:lstStyle/>
          <a:p>
            <a:r>
              <a:rPr lang="zh-CN" altLang="en-US" sz="1050" b="1" dirty="0"/>
              <a:t>展望：</a:t>
            </a:r>
          </a:p>
        </p:txBody>
      </p:sp>
      <p:sp>
        <p:nvSpPr>
          <p:cNvPr id="6" name="文本框 5"/>
          <p:cNvSpPr txBox="1"/>
          <p:nvPr/>
        </p:nvSpPr>
        <p:spPr>
          <a:xfrm>
            <a:off x="7006023" y="184031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8" name="文本框 7"/>
          <p:cNvSpPr txBox="1"/>
          <p:nvPr/>
        </p:nvSpPr>
        <p:spPr>
          <a:xfrm>
            <a:off x="7426556" y="3470456"/>
            <a:ext cx="4460715" cy="1759008"/>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司机</a:t>
            </a:r>
            <a:r>
              <a:rPr lang="en-US" altLang="zh-CN" sz="1050" dirty="0"/>
              <a:t>Agent</a:t>
            </a:r>
            <a:r>
              <a:rPr lang="zh-CN" altLang="en-US" sz="1050" dirty="0"/>
              <a:t>帮老板做行程规划，比如明天</a:t>
            </a:r>
            <a:r>
              <a:rPr lang="en-US" altLang="zh-CN" sz="1050" dirty="0"/>
              <a:t>9</a:t>
            </a:r>
            <a:r>
              <a:rPr lang="zh-CN" altLang="en-US" sz="1050" dirty="0"/>
              <a:t>点在目的地开会，需要几点出发，第二天系统自动导航到目的地</a:t>
            </a:r>
            <a:endParaRPr lang="en-US" altLang="zh-CN" sz="1050" dirty="0"/>
          </a:p>
          <a:p>
            <a:pPr marL="171450" indent="-171450">
              <a:lnSpc>
                <a:spcPct val="150000"/>
              </a:lnSpc>
              <a:buFont typeface="Wingdings" panose="05000000000000000000" pitchFamily="2" charset="2"/>
              <a:buChar char="ü"/>
            </a:pPr>
            <a:r>
              <a:rPr lang="zh-CN" altLang="en-US" sz="1050" dirty="0"/>
              <a:t>老板下车时对司机</a:t>
            </a:r>
            <a:r>
              <a:rPr lang="en-US" altLang="zh-CN" sz="1050" dirty="0"/>
              <a:t>Agent</a:t>
            </a:r>
            <a:r>
              <a:rPr lang="zh-CN" altLang="en-US" sz="1050" dirty="0"/>
              <a:t>说</a:t>
            </a:r>
            <a:r>
              <a:rPr lang="en-US" altLang="zh-CN" sz="1050" dirty="0"/>
              <a:t>2</a:t>
            </a:r>
            <a:r>
              <a:rPr lang="zh-CN" altLang="en-US" sz="1050" dirty="0"/>
              <a:t>个小时后在下车点来接我，司机</a:t>
            </a:r>
            <a:r>
              <a:rPr lang="en-US" altLang="zh-CN" sz="1050" dirty="0"/>
              <a:t>Agent</a:t>
            </a:r>
            <a:r>
              <a:rPr lang="zh-CN" altLang="en-US" sz="1050" dirty="0"/>
              <a:t>能够到点从附近停车场开出，判断老板实时距离，或者</a:t>
            </a:r>
            <a:r>
              <a:rPr lang="en-US" altLang="zh-CN" sz="1050" dirty="0"/>
              <a:t>2</a:t>
            </a:r>
            <a:r>
              <a:rPr lang="zh-CN" altLang="en-US" sz="1050" dirty="0"/>
              <a:t>个小时时候主动电话老板，是否到下车点来接老板。</a:t>
            </a:r>
            <a:endParaRPr lang="en-US" altLang="zh-CN" sz="1050" dirty="0"/>
          </a:p>
          <a:p>
            <a:pPr marL="171450" indent="-171450">
              <a:lnSpc>
                <a:spcPct val="150000"/>
              </a:lnSpc>
              <a:buFont typeface="Wingdings" panose="05000000000000000000" pitchFamily="2" charset="2"/>
              <a:buChar char="ü"/>
            </a:pPr>
            <a:r>
              <a:rPr lang="zh-CN" altLang="en-US" sz="1050" dirty="0"/>
              <a:t>有客人送老板时，老板接近车辆时，自动开门，仪式感拉满</a:t>
            </a:r>
            <a:endParaRPr lang="en-US" altLang="zh-CN" sz="1050" dirty="0"/>
          </a:p>
          <a:p>
            <a:pPr marL="171450" indent="-171450">
              <a:lnSpc>
                <a:spcPct val="150000"/>
              </a:lnSpc>
              <a:buFont typeface="Wingdings" panose="05000000000000000000" pitchFamily="2" charset="2"/>
              <a:buChar char="ü"/>
            </a:pPr>
            <a:r>
              <a:rPr lang="zh-CN" altLang="en-US" sz="1050" dirty="0"/>
              <a:t>能够根据老板心情，行驶过程中进行陪伴式聊天</a:t>
            </a:r>
          </a:p>
        </p:txBody>
      </p:sp>
      <p:sp>
        <p:nvSpPr>
          <p:cNvPr id="12" name="文本框 11"/>
          <p:cNvSpPr txBox="1"/>
          <p:nvPr/>
        </p:nvSpPr>
        <p:spPr>
          <a:xfrm>
            <a:off x="7432371" y="5554800"/>
            <a:ext cx="3454792" cy="789512"/>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zh-CN" altLang="en-US" sz="1050" dirty="0"/>
              <a:t>机器人助手帮助老板拿东西上车，送东西到老板酒局</a:t>
            </a:r>
            <a:endParaRPr lang="en-US" altLang="zh-CN" sz="1050" dirty="0"/>
          </a:p>
          <a:p>
            <a:pPr marL="171450" indent="-171450">
              <a:lnSpc>
                <a:spcPct val="150000"/>
              </a:lnSpc>
              <a:buFont typeface="Wingdings" panose="05000000000000000000" pitchFamily="2" charset="2"/>
              <a:buChar char="ü"/>
            </a:pPr>
            <a:r>
              <a:rPr lang="zh-CN" altLang="en-US" sz="1050" dirty="0"/>
              <a:t>老板喝多时候</a:t>
            </a:r>
            <a:r>
              <a:rPr lang="zh-CN" altLang="en-US" sz="1050"/>
              <a:t>，机器人递</a:t>
            </a:r>
            <a:r>
              <a:rPr lang="zh-CN" altLang="en-US" sz="1050" dirty="0"/>
              <a:t>上呕吐袋与冷饮</a:t>
            </a:r>
            <a:endParaRPr lang="en-US" altLang="zh-CN" sz="1050" dirty="0"/>
          </a:p>
          <a:p>
            <a:pPr marL="171450" indent="-171450">
              <a:lnSpc>
                <a:spcPct val="150000"/>
              </a:lnSpc>
              <a:buFont typeface="Wingdings" panose="05000000000000000000" pitchFamily="2" charset="2"/>
              <a:buChar char="ü"/>
            </a:pPr>
            <a:endParaRPr lang="zh-CN" altLang="en-US" sz="1050" dirty="0"/>
          </a:p>
        </p:txBody>
      </p:sp>
      <p:sp>
        <p:nvSpPr>
          <p:cNvPr id="13" name="文本框 12"/>
          <p:cNvSpPr txBox="1"/>
          <p:nvPr/>
        </p:nvSpPr>
        <p:spPr>
          <a:xfrm>
            <a:off x="1528601" y="3513075"/>
            <a:ext cx="1555757" cy="1162434"/>
          </a:xfrm>
          <a:prstGeom prst="rect">
            <a:avLst/>
          </a:prstGeom>
          <a:noFill/>
        </p:spPr>
        <p:txBody>
          <a:bodyPr wrap="square" rtlCol="0">
            <a:spAutoFit/>
          </a:bodyPr>
          <a:lstStyle/>
          <a:p>
            <a:r>
              <a:rPr lang="zh-CN" altLang="en-US" sz="1100" b="1" dirty="0"/>
              <a:t>私人专职司机提供专属服务能力：</a:t>
            </a:r>
            <a:endParaRPr lang="en-US" altLang="zh-CN" sz="1100" b="1" dirty="0"/>
          </a:p>
          <a:p>
            <a:pPr marL="171450" indent="-171450">
              <a:lnSpc>
                <a:spcPct val="150000"/>
              </a:lnSpc>
              <a:buFont typeface="Arial" panose="020B0604020202020204" pitchFamily="34" charset="0"/>
              <a:buChar char="•"/>
            </a:pPr>
            <a:r>
              <a:rPr lang="zh-CN" altLang="en-US" sz="1100" dirty="0"/>
              <a:t>建立信任</a:t>
            </a:r>
            <a:endParaRPr lang="en-US" altLang="zh-CN" sz="1100" dirty="0"/>
          </a:p>
          <a:p>
            <a:pPr marL="171450" indent="-171450">
              <a:lnSpc>
                <a:spcPct val="150000"/>
              </a:lnSpc>
              <a:buFont typeface="Arial" panose="020B0604020202020204" pitchFamily="34" charset="0"/>
              <a:buChar char="•"/>
            </a:pPr>
            <a:r>
              <a:rPr lang="zh-CN" altLang="en-US" sz="1100" dirty="0"/>
              <a:t>性格脾气</a:t>
            </a:r>
            <a:endParaRPr lang="en-US" altLang="zh-CN" sz="1100" dirty="0"/>
          </a:p>
          <a:p>
            <a:pPr marL="171450" indent="-171450">
              <a:lnSpc>
                <a:spcPct val="150000"/>
              </a:lnSpc>
              <a:buFont typeface="Arial" panose="020B0604020202020204" pitchFamily="34" charset="0"/>
              <a:buChar char="•"/>
            </a:pPr>
            <a:r>
              <a:rPr lang="zh-CN" altLang="en-US" sz="1100" dirty="0"/>
              <a:t>个性化需求</a:t>
            </a:r>
          </a:p>
        </p:txBody>
      </p:sp>
      <p:sp>
        <p:nvSpPr>
          <p:cNvPr id="47" name="文本框 46"/>
          <p:cNvSpPr txBox="1"/>
          <p:nvPr/>
        </p:nvSpPr>
        <p:spPr>
          <a:xfrm>
            <a:off x="3045600" y="1862402"/>
            <a:ext cx="3395292" cy="276999"/>
          </a:xfrm>
          <a:prstGeom prst="rect">
            <a:avLst/>
          </a:prstGeom>
          <a:noFill/>
        </p:spPr>
        <p:txBody>
          <a:bodyPr wrap="square" rtlCol="0">
            <a:spAutoFit/>
          </a:bodyPr>
          <a:lstStyle/>
          <a:p>
            <a:pPr marL="171450" indent="-171450">
              <a:buFont typeface="Wingdings" panose="05000000000000000000" pitchFamily="2" charset="2"/>
              <a:buChar char="Ø"/>
            </a:pPr>
            <a:r>
              <a:rPr lang="zh-CN" altLang="en-US" sz="1200" b="1" dirty="0"/>
              <a:t>建立信任</a:t>
            </a:r>
          </a:p>
        </p:txBody>
      </p:sp>
      <p:sp>
        <p:nvSpPr>
          <p:cNvPr id="59" name="文本框 58"/>
          <p:cNvSpPr txBox="1"/>
          <p:nvPr/>
        </p:nvSpPr>
        <p:spPr>
          <a:xfrm>
            <a:off x="3045600" y="3671920"/>
            <a:ext cx="3395292" cy="276999"/>
          </a:xfrm>
          <a:prstGeom prst="rect">
            <a:avLst/>
          </a:prstGeom>
          <a:noFill/>
        </p:spPr>
        <p:txBody>
          <a:bodyPr wrap="square" rtlCol="0">
            <a:spAutoFit/>
          </a:bodyPr>
          <a:lstStyle/>
          <a:p>
            <a:pPr marL="171450" indent="-171450">
              <a:buFont typeface="Wingdings" panose="05000000000000000000" pitchFamily="2" charset="2"/>
              <a:buChar char="Ø"/>
            </a:pPr>
            <a:r>
              <a:rPr lang="zh-CN" altLang="en-US" sz="1200" b="1" dirty="0"/>
              <a:t>性格与脾气</a:t>
            </a:r>
          </a:p>
        </p:txBody>
      </p:sp>
      <p:sp>
        <p:nvSpPr>
          <p:cNvPr id="61" name="文本框 60"/>
          <p:cNvSpPr txBox="1"/>
          <p:nvPr/>
        </p:nvSpPr>
        <p:spPr>
          <a:xfrm>
            <a:off x="3047014" y="4798869"/>
            <a:ext cx="3395292" cy="276999"/>
          </a:xfrm>
          <a:prstGeom prst="rect">
            <a:avLst/>
          </a:prstGeom>
          <a:noFill/>
        </p:spPr>
        <p:txBody>
          <a:bodyPr wrap="square" rtlCol="0">
            <a:spAutoFit/>
          </a:bodyPr>
          <a:lstStyle/>
          <a:p>
            <a:pPr marL="171450" indent="-171450">
              <a:buFont typeface="Wingdings" panose="05000000000000000000" pitchFamily="2" charset="2"/>
              <a:buChar char="Ø"/>
            </a:pPr>
            <a:r>
              <a:rPr lang="zh-CN" altLang="en-US" sz="1200" b="1" dirty="0"/>
              <a:t>个性化需求</a:t>
            </a:r>
          </a:p>
        </p:txBody>
      </p:sp>
      <p:sp>
        <p:nvSpPr>
          <p:cNvPr id="62" name="文本框 61"/>
          <p:cNvSpPr txBox="1"/>
          <p:nvPr/>
        </p:nvSpPr>
        <p:spPr>
          <a:xfrm>
            <a:off x="3082600" y="2059297"/>
            <a:ext cx="3185487" cy="1239057"/>
          </a:xfrm>
          <a:prstGeom prst="rect">
            <a:avLst/>
          </a:prstGeom>
          <a:noFill/>
        </p:spPr>
        <p:txBody>
          <a:bodyPr wrap="none" rtlCol="0">
            <a:spAutoFit/>
          </a:bodyPr>
          <a:lstStyle/>
          <a:p>
            <a:pPr marL="171450" indent="-171450">
              <a:lnSpc>
                <a:spcPct val="120000"/>
              </a:lnSpc>
              <a:buFont typeface="Arial" panose="020B0604020202020204" pitchFamily="34" charset="0"/>
              <a:buChar char="•"/>
            </a:pPr>
            <a:r>
              <a:rPr lang="zh-CN" altLang="en-US" sz="1050" dirty="0"/>
              <a:t>平稳行驶</a:t>
            </a:r>
            <a:endParaRPr lang="en-US" altLang="zh-CN" sz="1050" dirty="0"/>
          </a:p>
          <a:p>
            <a:pPr marL="171450" indent="-171450">
              <a:lnSpc>
                <a:spcPct val="120000"/>
              </a:lnSpc>
              <a:buFont typeface="Arial" panose="020B0604020202020204" pitchFamily="34" charset="0"/>
              <a:buChar char="•"/>
            </a:pPr>
            <a:r>
              <a:rPr lang="zh-CN" altLang="en-US" sz="1050" dirty="0"/>
              <a:t>按自己经验的最佳路线选择，准时出发与到达</a:t>
            </a:r>
            <a:endParaRPr lang="en-US" altLang="zh-CN" sz="1050" dirty="0"/>
          </a:p>
          <a:p>
            <a:pPr marL="171450" indent="-171450">
              <a:lnSpc>
                <a:spcPct val="120000"/>
              </a:lnSpc>
              <a:buFont typeface="Arial" panose="020B0604020202020204" pitchFamily="34" charset="0"/>
              <a:buChar char="•"/>
            </a:pPr>
            <a:r>
              <a:rPr lang="zh-CN" altLang="en-US" sz="1050" dirty="0"/>
              <a:t>行程计算与用时跟老板提前通知</a:t>
            </a:r>
            <a:endParaRPr lang="en-US" altLang="zh-CN" sz="1050" dirty="0"/>
          </a:p>
          <a:p>
            <a:pPr marL="171450" indent="-171450">
              <a:lnSpc>
                <a:spcPct val="120000"/>
              </a:lnSpc>
              <a:buFont typeface="Arial" panose="020B0604020202020204" pitchFamily="34" charset="0"/>
              <a:buChar char="•"/>
            </a:pPr>
            <a:r>
              <a:rPr lang="zh-CN" altLang="en-US" sz="1050" dirty="0"/>
              <a:t>不碰老板私人物品</a:t>
            </a:r>
            <a:endParaRPr lang="en-US" altLang="zh-CN" sz="1050" dirty="0"/>
          </a:p>
          <a:p>
            <a:pPr marL="171450" indent="-171450">
              <a:lnSpc>
                <a:spcPct val="120000"/>
              </a:lnSpc>
              <a:buFont typeface="Arial" panose="020B0604020202020204" pitchFamily="34" charset="0"/>
              <a:buChar char="•"/>
            </a:pPr>
            <a:r>
              <a:rPr lang="zh-CN" altLang="en-US" sz="1050" dirty="0"/>
              <a:t>不聊隐私</a:t>
            </a:r>
            <a:endParaRPr lang="en-US" altLang="zh-CN" sz="1050" dirty="0"/>
          </a:p>
          <a:p>
            <a:pPr marL="171450" indent="-171450">
              <a:lnSpc>
                <a:spcPct val="120000"/>
              </a:lnSpc>
              <a:buFont typeface="Arial" panose="020B0604020202020204" pitchFamily="34" charset="0"/>
              <a:buChar char="•"/>
            </a:pPr>
            <a:r>
              <a:rPr lang="zh-CN" altLang="en-US" sz="1050" dirty="0"/>
              <a:t>老板需求针对场景的特殊准备（呕吐袋，冷饮）</a:t>
            </a:r>
          </a:p>
        </p:txBody>
      </p:sp>
      <p:sp>
        <p:nvSpPr>
          <p:cNvPr id="63" name="文本框 62"/>
          <p:cNvSpPr txBox="1"/>
          <p:nvPr/>
        </p:nvSpPr>
        <p:spPr>
          <a:xfrm>
            <a:off x="3082056" y="3886818"/>
            <a:ext cx="2108269" cy="657359"/>
          </a:xfrm>
          <a:prstGeom prst="rect">
            <a:avLst/>
          </a:prstGeom>
          <a:noFill/>
        </p:spPr>
        <p:txBody>
          <a:bodyPr wrap="none" rtlCol="0">
            <a:spAutoFit/>
          </a:bodyPr>
          <a:lstStyle/>
          <a:p>
            <a:pPr marL="171450" indent="-171450">
              <a:lnSpc>
                <a:spcPct val="120000"/>
              </a:lnSpc>
              <a:buFont typeface="Arial" panose="020B0604020202020204" pitchFamily="34" charset="0"/>
              <a:buChar char="•"/>
            </a:pPr>
            <a:r>
              <a:rPr lang="zh-CN" altLang="en-US" sz="1050" dirty="0"/>
              <a:t>察言观色</a:t>
            </a:r>
            <a:endParaRPr lang="en-US" altLang="zh-CN" sz="1050" dirty="0"/>
          </a:p>
          <a:p>
            <a:pPr marL="171450" indent="-171450">
              <a:lnSpc>
                <a:spcPct val="120000"/>
              </a:lnSpc>
              <a:buFont typeface="Arial" panose="020B0604020202020204" pitchFamily="34" charset="0"/>
              <a:buChar char="•"/>
            </a:pPr>
            <a:r>
              <a:rPr lang="zh-CN" altLang="en-US" sz="1050" dirty="0"/>
              <a:t>恰到好处的陪聊</a:t>
            </a:r>
            <a:endParaRPr lang="en-US" altLang="zh-CN" sz="1050" dirty="0"/>
          </a:p>
          <a:p>
            <a:pPr marL="171450" indent="-171450">
              <a:lnSpc>
                <a:spcPct val="120000"/>
              </a:lnSpc>
              <a:buFont typeface="Arial" panose="020B0604020202020204" pitchFamily="34" charset="0"/>
              <a:buChar char="•"/>
            </a:pPr>
            <a:r>
              <a:rPr lang="zh-CN" altLang="en-US" sz="1050" dirty="0"/>
              <a:t>心情不好时候安静行驶不打扰</a:t>
            </a:r>
          </a:p>
        </p:txBody>
      </p:sp>
      <p:sp>
        <p:nvSpPr>
          <p:cNvPr id="64" name="文本框 63"/>
          <p:cNvSpPr txBox="1"/>
          <p:nvPr/>
        </p:nvSpPr>
        <p:spPr>
          <a:xfrm>
            <a:off x="3082290" y="5041381"/>
            <a:ext cx="3715385" cy="657359"/>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050" dirty="0"/>
              <a:t>送东西（烟酒）到老板饭局等</a:t>
            </a:r>
            <a:endParaRPr lang="en-US" altLang="zh-CN" sz="1050" dirty="0"/>
          </a:p>
          <a:p>
            <a:pPr marL="171450" indent="-171450">
              <a:lnSpc>
                <a:spcPct val="120000"/>
              </a:lnSpc>
              <a:buFont typeface="Arial" panose="020B0604020202020204" pitchFamily="34" charset="0"/>
              <a:buChar char="•"/>
            </a:pPr>
            <a:r>
              <a:rPr lang="zh-CN" altLang="en-US" sz="1050" dirty="0"/>
              <a:t>了解老板出行之外需求，如见客户要面子等</a:t>
            </a:r>
            <a:endParaRPr lang="en-US" altLang="zh-CN" sz="1050" dirty="0"/>
          </a:p>
          <a:p>
            <a:pPr marL="171450" indent="-171450">
              <a:lnSpc>
                <a:spcPct val="120000"/>
              </a:lnSpc>
              <a:buFont typeface="Arial" panose="020B0604020202020204" pitchFamily="34" charset="0"/>
              <a:buChar char="•"/>
            </a:pPr>
            <a:r>
              <a:rPr lang="zh-CN" altLang="en-US" sz="1050" dirty="0"/>
              <a:t>恰到好处的服务，如老板见客户之后，帮老板拿东西上车</a:t>
            </a:r>
          </a:p>
        </p:txBody>
      </p:sp>
      <p:sp>
        <p:nvSpPr>
          <p:cNvPr id="66" name="文本框 65"/>
          <p:cNvSpPr txBox="1"/>
          <p:nvPr/>
        </p:nvSpPr>
        <p:spPr>
          <a:xfrm>
            <a:off x="7426557" y="2130942"/>
            <a:ext cx="4460715" cy="1516634"/>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智能座舱只能做到被动式的有限服务，无法识别客户情绪状态，陪聊也是比较机械</a:t>
            </a:r>
            <a:endParaRPr lang="en-US" altLang="zh-CN" sz="1050" dirty="0"/>
          </a:p>
          <a:p>
            <a:pPr marL="171450" indent="-171450">
              <a:lnSpc>
                <a:spcPct val="150000"/>
              </a:lnSpc>
              <a:buFont typeface="Wingdings" panose="05000000000000000000" pitchFamily="2" charset="2"/>
              <a:buChar char="ü"/>
            </a:pPr>
            <a:r>
              <a:rPr lang="zh-CN" altLang="en-US" sz="1050" dirty="0"/>
              <a:t>智能驾驶做到</a:t>
            </a:r>
            <a:r>
              <a:rPr lang="en-US" altLang="zh-CN" sz="1050" dirty="0"/>
              <a:t>AVP,</a:t>
            </a:r>
            <a:r>
              <a:rPr lang="zh-CN" altLang="en-US" sz="1050" dirty="0"/>
              <a:t>一键招呼，但是应用场景非常有限，只能是比较封闭或者简单场景才支持</a:t>
            </a:r>
            <a:endParaRPr lang="en-US" altLang="zh-CN" sz="1050" dirty="0"/>
          </a:p>
          <a:p>
            <a:pPr marL="171450" indent="-171450">
              <a:lnSpc>
                <a:spcPct val="150000"/>
              </a:lnSpc>
              <a:buFont typeface="Wingdings" panose="05000000000000000000" pitchFamily="2" charset="2"/>
              <a:buChar char="ü"/>
            </a:pPr>
            <a:endParaRPr lang="en-US" altLang="zh-CN" sz="1050" dirty="0"/>
          </a:p>
          <a:p>
            <a:pPr marL="171450" indent="-171450">
              <a:lnSpc>
                <a:spcPct val="150000"/>
              </a:lnSpc>
              <a:buFont typeface="Wingdings" panose="05000000000000000000" pitchFamily="2" charset="2"/>
              <a:buChar char="ü"/>
            </a:pPr>
            <a:endParaRPr lang="en-US" altLang="zh-CN" sz="1050" dirty="0"/>
          </a:p>
        </p:txBody>
      </p:sp>
      <p:sp>
        <p:nvSpPr>
          <p:cNvPr id="3" name="文本框 2">
            <a:extLst>
              <a:ext uri="{FF2B5EF4-FFF2-40B4-BE49-F238E27FC236}">
                <a16:creationId xmlns:a16="http://schemas.microsoft.com/office/drawing/2014/main" id="{92702D13-33DD-8BA4-91C0-09130A63B738}"/>
              </a:ext>
            </a:extLst>
          </p:cNvPr>
          <p:cNvSpPr txBox="1"/>
          <p:nvPr/>
        </p:nvSpPr>
        <p:spPr>
          <a:xfrm>
            <a:off x="3128300" y="3238729"/>
            <a:ext cx="3790315" cy="485775"/>
          </a:xfrm>
          <a:prstGeom prst="rect">
            <a:avLst/>
          </a:prstGeom>
          <a:noFill/>
        </p:spPr>
        <p:txBody>
          <a:bodyPr wrap="square" rtlCol="0" anchor="t">
            <a:noAutofit/>
          </a:bodyPr>
          <a:lstStyle/>
          <a:p>
            <a:r>
              <a:rPr lang="en-US" altLang="zh-CN" sz="900" i="1">
                <a:latin typeface="微软雅黑" panose="020B0503020204020204" pitchFamily="34" charset="-122"/>
                <a:ea typeface="微软雅黑" panose="020B0503020204020204" pitchFamily="34" charset="-122"/>
              </a:rPr>
              <a:t>“</a:t>
            </a:r>
            <a:r>
              <a:rPr lang="zh-CN" altLang="en-US" sz="900" i="1"/>
              <a:t>有一次他赶飞机来不及了</a:t>
            </a:r>
            <a:r>
              <a:rPr lang="en-US" altLang="zh-CN" sz="900" i="1"/>
              <a:t>......</a:t>
            </a:r>
            <a:r>
              <a:rPr lang="zh-CN" altLang="en-US" sz="900" i="1"/>
              <a:t>然后我我抄近道，走的是刚刚好，大概正好登机干嘛，正好没有迟到，这件事做的非常</a:t>
            </a:r>
            <a:r>
              <a:rPr lang="en-US" altLang="zh-CN" sz="900" i="1"/>
              <a:t> nice…</a:t>
            </a:r>
            <a:r>
              <a:rPr lang="en-US" altLang="zh-CN" sz="900" i="1">
                <a:latin typeface="+mj-ea"/>
                <a:ea typeface="+mj-ea"/>
              </a:rPr>
              <a:t>”</a:t>
            </a:r>
          </a:p>
          <a:p>
            <a:pPr algn="r" defTabSz="914400">
              <a:spcBef>
                <a:spcPts val="300"/>
              </a:spcBef>
              <a:spcAft>
                <a:spcPts val="0"/>
              </a:spcAft>
              <a:buClrTx/>
              <a:buSzTx/>
              <a:buFontTx/>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en-US" altLang="zh-CN" sz="900" i="1" dirty="0">
                <a:solidFill>
                  <a:schemeClr val="tx1">
                    <a:lumMod val="75000"/>
                    <a:lumOff val="25000"/>
                  </a:schemeClr>
                </a:solidFill>
                <a:sym typeface="+mn-ea"/>
              </a:rPr>
              <a:t>私人司机王先生 36岁</a:t>
            </a:r>
          </a:p>
        </p:txBody>
      </p:sp>
      <p:sp>
        <p:nvSpPr>
          <p:cNvPr id="7" name="文本框 6">
            <a:extLst>
              <a:ext uri="{FF2B5EF4-FFF2-40B4-BE49-F238E27FC236}">
                <a16:creationId xmlns:a16="http://schemas.microsoft.com/office/drawing/2014/main" id="{6F5D4BD6-57D0-DB3B-507F-130D94E98765}"/>
              </a:ext>
            </a:extLst>
          </p:cNvPr>
          <p:cNvSpPr txBox="1"/>
          <p:nvPr/>
        </p:nvSpPr>
        <p:spPr>
          <a:xfrm>
            <a:off x="3120813" y="4460496"/>
            <a:ext cx="3693571" cy="369332"/>
          </a:xfrm>
          <a:prstGeom prst="rect">
            <a:avLst/>
          </a:prstGeom>
        </p:spPr>
        <p:txBody>
          <a:bodyPr wrap="square">
            <a:spAutoFit/>
          </a:bodyPr>
          <a:lstStyle/>
          <a:p>
            <a:pPr defTabSz="266700"/>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脸色就是像拉下来一样的就不好看</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dirty="0">
                <a:latin typeface="微软雅黑" panose="020B0503020204020204" pitchFamily="34" charset="-122"/>
                <a:ea typeface="微软雅黑" panose="020B0503020204020204" pitchFamily="34" charset="-122"/>
                <a:cs typeface="微软雅黑" panose="020B0503020204020204" pitchFamily="34" charset="-122"/>
                <a:sym typeface="+mn-ea"/>
              </a:rPr>
              <a:t>他上来就抽烟，那我就我就知道心情不好了，大家少说话吧</a:t>
            </a:r>
            <a:r>
              <a:rPr lang="en-US" altLang="zh-CN" sz="900" i="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--私人司机王先生 36岁</a:t>
            </a:r>
            <a:endParaRPr lang="zh-CN" altLang="en-US" sz="900" i="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70C02523-241E-911E-8CFD-EA9AC4DA7DA6}"/>
              </a:ext>
            </a:extLst>
          </p:cNvPr>
          <p:cNvSpPr txBox="1"/>
          <p:nvPr/>
        </p:nvSpPr>
        <p:spPr>
          <a:xfrm>
            <a:off x="3062880" y="5670583"/>
            <a:ext cx="3790314" cy="544830"/>
          </a:xfrm>
          <a:prstGeom prst="rect">
            <a:avLst/>
          </a:prstGeom>
        </p:spPr>
        <p:txBody>
          <a:bodyPr wrap="square">
            <a:spAutoFit/>
          </a:bodyPr>
          <a:lstStyle/>
          <a:p>
            <a:pPr defTabSz="266700"/>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i="1">
                <a:latin typeface="微软雅黑" panose="020B0503020204020204" pitchFamily="34" charset="-122"/>
                <a:ea typeface="微软雅黑" panose="020B0503020204020204" pitchFamily="34" charset="-122"/>
                <a:cs typeface="微软雅黑" panose="020B0503020204020204" pitchFamily="34" charset="-122"/>
              </a:rPr>
              <a:t>如果他是要见客户了，或者是他喝好酒下来了</a:t>
            </a:r>
            <a:r>
              <a:rPr lang="en-US" altLang="zh-CN" sz="900" i="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i="1">
                <a:latin typeface="微软雅黑" panose="020B0503020204020204" pitchFamily="34" charset="-122"/>
                <a:ea typeface="微软雅黑" panose="020B0503020204020204" pitchFamily="34" charset="-122"/>
                <a:cs typeface="微软雅黑" panose="020B0503020204020204" pitchFamily="34" charset="-122"/>
              </a:rPr>
              <a:t>那我先第一时间让他先上车，然后我再把他东西放在后备箱，这个是必须的</a:t>
            </a:r>
            <a:r>
              <a:rPr lang="en-US" altLang="zh-CN" sz="900" i="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900" i="1">
              <a:latin typeface="微软雅黑" panose="020B0503020204020204" pitchFamily="34" charset="-122"/>
              <a:ea typeface="微软雅黑" panose="020B0503020204020204" pitchFamily="34" charset="-122"/>
              <a:cs typeface="微软雅黑" panose="020B0503020204020204" pitchFamily="34" charset="-122"/>
            </a:endParaRPr>
          </a:p>
          <a:p>
            <a:pPr algn="r" defTabSz="266700">
              <a:lnSpc>
                <a:spcPct val="100000"/>
              </a:lnSpc>
              <a:spcBef>
                <a:spcPts val="300"/>
              </a:spcBef>
              <a:spcAft>
                <a:spcPts val="0"/>
              </a:spcAft>
            </a:pPr>
            <a:r>
              <a:rPr lang="en-US" altLang="zh-CN" sz="900" i="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i="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私人司机王先生 36岁</a:t>
            </a:r>
            <a:endParaRPr lang="zh-CN" altLang="en-US" sz="900" i="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73b7c9ea-8de7-4122-a4ca-550f9828a6b1"/>
</p:tagLst>
</file>

<file path=ppt/theme/theme1.xml><?xml version="1.0" encoding="utf-8"?>
<a:theme xmlns:a="http://schemas.openxmlformats.org/drawingml/2006/main" name="主题5">
  <a:themeElements>
    <a:clrScheme name="房利美">
      <a:dk1>
        <a:srgbClr val="000000"/>
      </a:dk1>
      <a:lt1>
        <a:srgbClr val="FFFFFF"/>
      </a:lt1>
      <a:dk2>
        <a:srgbClr val="768395"/>
      </a:dk2>
      <a:lt2>
        <a:srgbClr val="F0F0F0"/>
      </a:lt2>
      <a:accent1>
        <a:srgbClr val="008FD4"/>
      </a:accent1>
      <a:accent2>
        <a:srgbClr val="4BC3FF"/>
      </a:accent2>
      <a:accent3>
        <a:srgbClr val="585858"/>
      </a:accent3>
      <a:accent4>
        <a:srgbClr val="6E737A"/>
      </a:accent4>
      <a:accent5>
        <a:srgbClr val="93989E"/>
      </a:accent5>
      <a:accent6>
        <a:srgbClr val="B7B8B9"/>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15467</TotalTime>
  <Words>12294</Words>
  <Application>Microsoft Office PowerPoint</Application>
  <PresentationFormat>宽屏</PresentationFormat>
  <Paragraphs>1491</Paragraphs>
  <Slides>26</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等线</vt:lpstr>
      <vt:lpstr>微软雅黑</vt:lpstr>
      <vt:lpstr>Arial</vt:lpstr>
      <vt:lpstr>Arial Black</vt:lpstr>
      <vt:lpstr>Calibri</vt:lpstr>
      <vt:lpstr>Impact</vt:lpstr>
      <vt:lpstr>Wingdings</vt:lpstr>
      <vt:lpstr>主题5</vt:lpstr>
      <vt:lpstr>项目执行概况 ——圆桌访谈(定性)</vt:lpstr>
      <vt:lpstr>项目执行概况 ——1V1深访(定性)</vt:lpstr>
      <vt:lpstr>PowerPoint 演示文稿</vt:lpstr>
      <vt:lpstr>上车前阶段——行前沟通</vt:lpstr>
      <vt:lpstr>上车前阶段——行前沟通</vt:lpstr>
      <vt:lpstr>上车前阶段——行前沟通</vt:lpstr>
      <vt:lpstr>上车前阶段——定位与接驾</vt:lpstr>
      <vt:lpstr>上车前阶段——定位与接驾</vt:lpstr>
      <vt:lpstr>上车前阶段——定位与接驾</vt:lpstr>
      <vt:lpstr>上车时阶段——协助上车&amp;行程确认</vt:lpstr>
      <vt:lpstr>上车时阶段——协助上车&amp;行程确认</vt:lpstr>
      <vt:lpstr>上车时阶段——行程确认</vt:lpstr>
      <vt:lpstr>行驶阶段——车内环境舒适调整旅程</vt:lpstr>
      <vt:lpstr>行驶阶段——车内环境舒适调整旅程</vt:lpstr>
      <vt:lpstr>行驶阶段——行程控制权</vt:lpstr>
      <vt:lpstr>行驶阶段——行程娱乐（Robotaxi）</vt:lpstr>
      <vt:lpstr>行驶阶段——临时停车需求</vt:lpstr>
      <vt:lpstr>到达阶段——停车位置沟通</vt:lpstr>
      <vt:lpstr>到达阶段——停车位置沟通</vt:lpstr>
      <vt:lpstr>到达阶段——安全提醒</vt:lpstr>
      <vt:lpstr>到达阶段——服务评价</vt:lpstr>
      <vt:lpstr>跨阶段</vt:lpstr>
      <vt:lpstr>跨阶段</vt:lpstr>
      <vt:lpstr>跨阶段</vt:lpstr>
      <vt:lpstr>跨阶段</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hailong liu</cp:lastModifiedBy>
  <cp:revision>2232</cp:revision>
  <cp:lastPrinted>2019-03-18T16:00:00Z</cp:lastPrinted>
  <dcterms:created xsi:type="dcterms:W3CDTF">2019-03-18T16:00:00Z</dcterms:created>
  <dcterms:modified xsi:type="dcterms:W3CDTF">2026-03-13T10:52:45Z</dcterms:modified>
  <dc:description>﻿﻿﻿﻿​﻿⁠﻿﻿﻿﻿﻿﻿﻿﻿﻿﻿﻿﻿﻿‍​‌⁢﻿⁡﻿‍</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D9BEB7119B5B45F0B14428D565C34882_13</vt:lpwstr>
  </property>
  <property fmtid="{D5CDD505-2E9C-101B-9397-08002B2CF9AE}" pid="4" name="KSOProductBuildVer">
    <vt:lpwstr>2052-12.1.0.24657</vt:lpwstr>
  </property>
</Properties>
</file>